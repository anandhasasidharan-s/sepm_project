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7" r:id="rId1"/>
  </p:sldMasterIdLst>
  <p:sldIdLst>
    <p:sldId id="256" r:id="rId2"/>
    <p:sldId id="257" r:id="rId3"/>
    <p:sldId id="314" r:id="rId4"/>
    <p:sldId id="315" r:id="rId5"/>
    <p:sldId id="316" r:id="rId6"/>
    <p:sldId id="317" r:id="rId7"/>
    <p:sldId id="260" r:id="rId8"/>
    <p:sldId id="298" r:id="rId9"/>
    <p:sldId id="299" r:id="rId10"/>
    <p:sldId id="318" r:id="rId11"/>
    <p:sldId id="319" r:id="rId12"/>
    <p:sldId id="320" r:id="rId13"/>
    <p:sldId id="321" r:id="rId14"/>
    <p:sldId id="300" r:id="rId15"/>
    <p:sldId id="322" r:id="rId16"/>
    <p:sldId id="323" r:id="rId17"/>
    <p:sldId id="324" r:id="rId18"/>
    <p:sldId id="325" r:id="rId19"/>
    <p:sldId id="326" r:id="rId20"/>
    <p:sldId id="301" r:id="rId21"/>
    <p:sldId id="302" r:id="rId22"/>
    <p:sldId id="303" r:id="rId23"/>
    <p:sldId id="304" r:id="rId24"/>
    <p:sldId id="305" r:id="rId25"/>
    <p:sldId id="306" r:id="rId26"/>
    <p:sldId id="307" r:id="rId27"/>
    <p:sldId id="270" r:id="rId28"/>
    <p:sldId id="295" r:id="rId29"/>
    <p:sldId id="297" r:id="rId30"/>
    <p:sldId id="296" r:id="rId31"/>
    <p:sldId id="308" r:id="rId32"/>
    <p:sldId id="261" r:id="rId33"/>
    <p:sldId id="262" r:id="rId34"/>
    <p:sldId id="263" r:id="rId35"/>
    <p:sldId id="264" r:id="rId36"/>
    <p:sldId id="265" r:id="rId37"/>
    <p:sldId id="266" r:id="rId38"/>
    <p:sldId id="267" r:id="rId39"/>
    <p:sldId id="268" r:id="rId40"/>
    <p:sldId id="269" r:id="rId41"/>
    <p:sldId id="293" r:id="rId42"/>
    <p:sldId id="271" r:id="rId43"/>
    <p:sldId id="272" r:id="rId44"/>
    <p:sldId id="273" r:id="rId45"/>
    <p:sldId id="274" r:id="rId46"/>
    <p:sldId id="276" r:id="rId47"/>
    <p:sldId id="277" r:id="rId48"/>
    <p:sldId id="278" r:id="rId49"/>
    <p:sldId id="279" r:id="rId50"/>
    <p:sldId id="280" r:id="rId51"/>
    <p:sldId id="282" r:id="rId52"/>
    <p:sldId id="283" r:id="rId53"/>
    <p:sldId id="285" r:id="rId54"/>
    <p:sldId id="286" r:id="rId55"/>
    <p:sldId id="287" r:id="rId56"/>
    <p:sldId id="289" r:id="rId57"/>
    <p:sldId id="294" r:id="rId58"/>
    <p:sldId id="327" r:id="rId59"/>
    <p:sldId id="330" r:id="rId60"/>
    <p:sldId id="331" r:id="rId61"/>
    <p:sldId id="329" r:id="rId62"/>
    <p:sldId id="332" r:id="rId63"/>
    <p:sldId id="333" r:id="rId64"/>
    <p:sldId id="258" r:id="rId65"/>
    <p:sldId id="259" r:id="rId66"/>
    <p:sldId id="334" r:id="rId67"/>
    <p:sldId id="335" r:id="rId68"/>
    <p:sldId id="336" r:id="rId69"/>
    <p:sldId id="337" r:id="rId70"/>
    <p:sldId id="338" r:id="rId71"/>
    <p:sldId id="339" r:id="rId72"/>
    <p:sldId id="284" r:id="rId73"/>
    <p:sldId id="340" r:id="rId74"/>
    <p:sldId id="341"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8" r:id="rId89"/>
    <p:sldId id="357" r:id="rId90"/>
    <p:sldId id="356" r:id="rId91"/>
    <p:sldId id="355" r:id="rId92"/>
    <p:sldId id="361" r:id="rId93"/>
    <p:sldId id="360" r:id="rId94"/>
    <p:sldId id="364" r:id="rId95"/>
    <p:sldId id="363" r:id="rId96"/>
    <p:sldId id="359" r:id="rId97"/>
    <p:sldId id="362" r:id="rId98"/>
    <p:sldId id="365" r:id="rId99"/>
    <p:sldId id="275" r:id="rId100"/>
    <p:sldId id="366" r:id="rId101"/>
    <p:sldId id="367" r:id="rId102"/>
    <p:sldId id="368" r:id="rId103"/>
    <p:sldId id="370" r:id="rId104"/>
    <p:sldId id="371" r:id="rId105"/>
    <p:sldId id="372" r:id="rId106"/>
    <p:sldId id="369" r:id="rId107"/>
  </p:sldIdLst>
  <p:sldSz cx="8102600" cy="6070600"/>
  <p:notesSz cx="8102600" cy="6070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052" y="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7695" y="1885821"/>
            <a:ext cx="6887210" cy="1301244"/>
          </a:xfrm>
        </p:spPr>
        <p:txBody>
          <a:bodyPr/>
          <a:lstStyle/>
          <a:p>
            <a:r>
              <a:rPr lang="en-US"/>
              <a:t>Click to edit Master title style</a:t>
            </a:r>
          </a:p>
        </p:txBody>
      </p:sp>
      <p:sp>
        <p:nvSpPr>
          <p:cNvPr id="3" name="Subtitle 2"/>
          <p:cNvSpPr>
            <a:spLocks noGrp="1"/>
          </p:cNvSpPr>
          <p:nvPr>
            <p:ph type="subTitle" idx="1"/>
          </p:nvPr>
        </p:nvSpPr>
        <p:spPr>
          <a:xfrm>
            <a:off x="1215390" y="3440006"/>
            <a:ext cx="5671820" cy="1551376"/>
          </a:xfrm>
        </p:spPr>
        <p:txBody>
          <a:bodyPr/>
          <a:lstStyle>
            <a:lvl1pPr marL="0" indent="0" algn="ctr">
              <a:buNone/>
              <a:defRPr>
                <a:solidFill>
                  <a:schemeClr val="tx1">
                    <a:tint val="75000"/>
                  </a:schemeClr>
                </a:solidFill>
              </a:defRPr>
            </a:lvl1pPr>
            <a:lvl2pPr marL="404713" indent="0" algn="ctr">
              <a:buNone/>
              <a:defRPr>
                <a:solidFill>
                  <a:schemeClr val="tx1">
                    <a:tint val="75000"/>
                  </a:schemeClr>
                </a:solidFill>
              </a:defRPr>
            </a:lvl2pPr>
            <a:lvl3pPr marL="809427" indent="0" algn="ctr">
              <a:buNone/>
              <a:defRPr>
                <a:solidFill>
                  <a:schemeClr val="tx1">
                    <a:tint val="75000"/>
                  </a:schemeClr>
                </a:solidFill>
              </a:defRPr>
            </a:lvl3pPr>
            <a:lvl4pPr marL="1214140" indent="0" algn="ctr">
              <a:buNone/>
              <a:defRPr>
                <a:solidFill>
                  <a:schemeClr val="tx1">
                    <a:tint val="75000"/>
                  </a:schemeClr>
                </a:solidFill>
              </a:defRPr>
            </a:lvl4pPr>
            <a:lvl5pPr marL="1618854" indent="0" algn="ctr">
              <a:buNone/>
              <a:defRPr>
                <a:solidFill>
                  <a:schemeClr val="tx1">
                    <a:tint val="75000"/>
                  </a:schemeClr>
                </a:solidFill>
              </a:defRPr>
            </a:lvl5pPr>
            <a:lvl6pPr marL="2023567" indent="0" algn="ctr">
              <a:buNone/>
              <a:defRPr>
                <a:solidFill>
                  <a:schemeClr val="tx1">
                    <a:tint val="75000"/>
                  </a:schemeClr>
                </a:solidFill>
              </a:defRPr>
            </a:lvl6pPr>
            <a:lvl7pPr marL="2428281" indent="0" algn="ctr">
              <a:buNone/>
              <a:defRPr>
                <a:solidFill>
                  <a:schemeClr val="tx1">
                    <a:tint val="75000"/>
                  </a:schemeClr>
                </a:solidFill>
              </a:defRPr>
            </a:lvl7pPr>
            <a:lvl8pPr marL="2832994" indent="0" algn="ctr">
              <a:buNone/>
              <a:defRPr>
                <a:solidFill>
                  <a:schemeClr val="tx1">
                    <a:tint val="75000"/>
                  </a:schemeClr>
                </a:solidFill>
              </a:defRPr>
            </a:lvl8pPr>
            <a:lvl9pPr marL="323770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2897272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3/2/2025</a:t>
            </a:fld>
            <a:endParaRPr lang="en-US"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641552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40050" y="3900923"/>
            <a:ext cx="6887210" cy="1205689"/>
          </a:xfrm>
        </p:spPr>
        <p:txBody>
          <a:bodyPr anchor="t"/>
          <a:lstStyle>
            <a:lvl1pPr algn="l">
              <a:defRPr sz="3541" b="1" cap="all"/>
            </a:lvl1pPr>
          </a:lstStyle>
          <a:p>
            <a:r>
              <a:rPr lang="en-US"/>
              <a:t>Click to edit Master title style</a:t>
            </a:r>
          </a:p>
        </p:txBody>
      </p:sp>
      <p:sp>
        <p:nvSpPr>
          <p:cNvPr id="3" name="Text Placeholder 2"/>
          <p:cNvSpPr>
            <a:spLocks noGrp="1"/>
          </p:cNvSpPr>
          <p:nvPr>
            <p:ph type="body" idx="1"/>
          </p:nvPr>
        </p:nvSpPr>
        <p:spPr>
          <a:xfrm>
            <a:off x="640050" y="2572980"/>
            <a:ext cx="6887210" cy="1327943"/>
          </a:xfrm>
        </p:spPr>
        <p:txBody>
          <a:bodyPr anchor="b"/>
          <a:lstStyle>
            <a:lvl1pPr marL="0" indent="0">
              <a:buNone/>
              <a:defRPr sz="1770">
                <a:solidFill>
                  <a:schemeClr val="tx1">
                    <a:tint val="75000"/>
                  </a:schemeClr>
                </a:solidFill>
              </a:defRPr>
            </a:lvl1pPr>
            <a:lvl2pPr marL="404713" indent="0">
              <a:buNone/>
              <a:defRPr sz="1593">
                <a:solidFill>
                  <a:schemeClr val="tx1">
                    <a:tint val="75000"/>
                  </a:schemeClr>
                </a:solidFill>
              </a:defRPr>
            </a:lvl2pPr>
            <a:lvl3pPr marL="809427" indent="0">
              <a:buNone/>
              <a:defRPr sz="1416">
                <a:solidFill>
                  <a:schemeClr val="tx1">
                    <a:tint val="75000"/>
                  </a:schemeClr>
                </a:solidFill>
              </a:defRPr>
            </a:lvl3pPr>
            <a:lvl4pPr marL="1214140" indent="0">
              <a:buNone/>
              <a:defRPr sz="1239">
                <a:solidFill>
                  <a:schemeClr val="tx1">
                    <a:tint val="75000"/>
                  </a:schemeClr>
                </a:solidFill>
              </a:defRPr>
            </a:lvl4pPr>
            <a:lvl5pPr marL="1618854" indent="0">
              <a:buNone/>
              <a:defRPr sz="1239">
                <a:solidFill>
                  <a:schemeClr val="tx1">
                    <a:tint val="75000"/>
                  </a:schemeClr>
                </a:solidFill>
              </a:defRPr>
            </a:lvl5pPr>
            <a:lvl6pPr marL="2023567" indent="0">
              <a:buNone/>
              <a:defRPr sz="1239">
                <a:solidFill>
                  <a:schemeClr val="tx1">
                    <a:tint val="75000"/>
                  </a:schemeClr>
                </a:solidFill>
              </a:defRPr>
            </a:lvl6pPr>
            <a:lvl7pPr marL="2428281" indent="0">
              <a:buNone/>
              <a:defRPr sz="1239">
                <a:solidFill>
                  <a:schemeClr val="tx1">
                    <a:tint val="75000"/>
                  </a:schemeClr>
                </a:solidFill>
              </a:defRPr>
            </a:lvl7pPr>
            <a:lvl8pPr marL="2832994" indent="0">
              <a:buNone/>
              <a:defRPr sz="1239">
                <a:solidFill>
                  <a:schemeClr val="tx1">
                    <a:tint val="75000"/>
                  </a:schemeClr>
                </a:solidFill>
              </a:defRPr>
            </a:lvl8pPr>
            <a:lvl9pPr marL="3237708" indent="0">
              <a:buNone/>
              <a:defRPr sz="123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958880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5130" y="1416474"/>
            <a:ext cx="3578648" cy="4006315"/>
          </a:xfrm>
        </p:spPr>
        <p:txBody>
          <a:bodyPr/>
          <a:lstStyle>
            <a:lvl1pPr>
              <a:defRPr sz="2479"/>
            </a:lvl1pPr>
            <a:lvl2pPr>
              <a:defRPr sz="2124"/>
            </a:lvl2pPr>
            <a:lvl3pPr>
              <a:defRPr sz="1770"/>
            </a:lvl3pPr>
            <a:lvl4pPr>
              <a:defRPr sz="1593"/>
            </a:lvl4pPr>
            <a:lvl5pPr>
              <a:defRPr sz="1593"/>
            </a:lvl5pPr>
            <a:lvl6pPr>
              <a:defRPr sz="1593"/>
            </a:lvl6pPr>
            <a:lvl7pPr>
              <a:defRPr sz="1593"/>
            </a:lvl7pPr>
            <a:lvl8pPr>
              <a:defRPr sz="1593"/>
            </a:lvl8pPr>
            <a:lvl9pPr>
              <a:defRPr sz="15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18822" y="1416474"/>
            <a:ext cx="3578648" cy="4006315"/>
          </a:xfrm>
        </p:spPr>
        <p:txBody>
          <a:bodyPr/>
          <a:lstStyle>
            <a:lvl1pPr>
              <a:defRPr sz="2479"/>
            </a:lvl1pPr>
            <a:lvl2pPr>
              <a:defRPr sz="2124"/>
            </a:lvl2pPr>
            <a:lvl3pPr>
              <a:defRPr sz="1770"/>
            </a:lvl3pPr>
            <a:lvl4pPr>
              <a:defRPr sz="1593"/>
            </a:lvl4pPr>
            <a:lvl5pPr>
              <a:defRPr sz="1593"/>
            </a:lvl5pPr>
            <a:lvl6pPr>
              <a:defRPr sz="1593"/>
            </a:lvl6pPr>
            <a:lvl7pPr>
              <a:defRPr sz="1593"/>
            </a:lvl7pPr>
            <a:lvl8pPr>
              <a:defRPr sz="1593"/>
            </a:lvl8pPr>
            <a:lvl9pPr>
              <a:defRPr sz="15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256099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05130" y="1358859"/>
            <a:ext cx="3580055" cy="566308"/>
          </a:xfrm>
        </p:spPr>
        <p:txBody>
          <a:bodyPr anchor="b"/>
          <a:lstStyle>
            <a:lvl1pPr marL="0" indent="0">
              <a:buNone/>
              <a:defRPr sz="2124" b="1"/>
            </a:lvl1pPr>
            <a:lvl2pPr marL="404713" indent="0">
              <a:buNone/>
              <a:defRPr sz="1770" b="1"/>
            </a:lvl2pPr>
            <a:lvl3pPr marL="809427" indent="0">
              <a:buNone/>
              <a:defRPr sz="1593" b="1"/>
            </a:lvl3pPr>
            <a:lvl4pPr marL="1214140" indent="0">
              <a:buNone/>
              <a:defRPr sz="1416" b="1"/>
            </a:lvl4pPr>
            <a:lvl5pPr marL="1618854" indent="0">
              <a:buNone/>
              <a:defRPr sz="1416" b="1"/>
            </a:lvl5pPr>
            <a:lvl6pPr marL="2023567" indent="0">
              <a:buNone/>
              <a:defRPr sz="1416" b="1"/>
            </a:lvl6pPr>
            <a:lvl7pPr marL="2428281" indent="0">
              <a:buNone/>
              <a:defRPr sz="1416" b="1"/>
            </a:lvl7pPr>
            <a:lvl8pPr marL="2832994" indent="0">
              <a:buNone/>
              <a:defRPr sz="1416" b="1"/>
            </a:lvl8pPr>
            <a:lvl9pPr marL="3237708" indent="0">
              <a:buNone/>
              <a:defRPr sz="1416" b="1"/>
            </a:lvl9pPr>
          </a:lstStyle>
          <a:p>
            <a:pPr lvl="0"/>
            <a:r>
              <a:rPr lang="en-US"/>
              <a:t>Click to edit Master text styles</a:t>
            </a:r>
          </a:p>
        </p:txBody>
      </p:sp>
      <p:sp>
        <p:nvSpPr>
          <p:cNvPr id="4" name="Content Placeholder 3"/>
          <p:cNvSpPr>
            <a:spLocks noGrp="1"/>
          </p:cNvSpPr>
          <p:nvPr>
            <p:ph sz="half" idx="2"/>
          </p:nvPr>
        </p:nvSpPr>
        <p:spPr>
          <a:xfrm>
            <a:off x="405130" y="1925167"/>
            <a:ext cx="3580055" cy="3497622"/>
          </a:xfrm>
        </p:spPr>
        <p:txBody>
          <a:bodyPr/>
          <a:lstStyle>
            <a:lvl1pPr>
              <a:defRPr sz="2124"/>
            </a:lvl1pPr>
            <a:lvl2pPr>
              <a:defRPr sz="1770"/>
            </a:lvl2pPr>
            <a:lvl3pPr>
              <a:defRPr sz="1593"/>
            </a:lvl3pPr>
            <a:lvl4pPr>
              <a:defRPr sz="1416"/>
            </a:lvl4pPr>
            <a:lvl5pPr>
              <a:defRPr sz="1416"/>
            </a:lvl5pPr>
            <a:lvl6pPr>
              <a:defRPr sz="1416"/>
            </a:lvl6pPr>
            <a:lvl7pPr>
              <a:defRPr sz="1416"/>
            </a:lvl7pPr>
            <a:lvl8pPr>
              <a:defRPr sz="1416"/>
            </a:lvl8pPr>
            <a:lvl9pPr>
              <a:defRPr sz="14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16009" y="1358859"/>
            <a:ext cx="3581462" cy="566308"/>
          </a:xfrm>
        </p:spPr>
        <p:txBody>
          <a:bodyPr anchor="b"/>
          <a:lstStyle>
            <a:lvl1pPr marL="0" indent="0">
              <a:buNone/>
              <a:defRPr sz="2124" b="1"/>
            </a:lvl1pPr>
            <a:lvl2pPr marL="404713" indent="0">
              <a:buNone/>
              <a:defRPr sz="1770" b="1"/>
            </a:lvl2pPr>
            <a:lvl3pPr marL="809427" indent="0">
              <a:buNone/>
              <a:defRPr sz="1593" b="1"/>
            </a:lvl3pPr>
            <a:lvl4pPr marL="1214140" indent="0">
              <a:buNone/>
              <a:defRPr sz="1416" b="1"/>
            </a:lvl4pPr>
            <a:lvl5pPr marL="1618854" indent="0">
              <a:buNone/>
              <a:defRPr sz="1416" b="1"/>
            </a:lvl5pPr>
            <a:lvl6pPr marL="2023567" indent="0">
              <a:buNone/>
              <a:defRPr sz="1416" b="1"/>
            </a:lvl6pPr>
            <a:lvl7pPr marL="2428281" indent="0">
              <a:buNone/>
              <a:defRPr sz="1416" b="1"/>
            </a:lvl7pPr>
            <a:lvl8pPr marL="2832994" indent="0">
              <a:buNone/>
              <a:defRPr sz="1416" b="1"/>
            </a:lvl8pPr>
            <a:lvl9pPr marL="3237708" indent="0">
              <a:buNone/>
              <a:defRPr sz="1416" b="1"/>
            </a:lvl9pPr>
          </a:lstStyle>
          <a:p>
            <a:pPr lvl="0"/>
            <a:r>
              <a:rPr lang="en-US"/>
              <a:t>Click to edit Master text styles</a:t>
            </a:r>
          </a:p>
        </p:txBody>
      </p:sp>
      <p:sp>
        <p:nvSpPr>
          <p:cNvPr id="6" name="Content Placeholder 5"/>
          <p:cNvSpPr>
            <a:spLocks noGrp="1"/>
          </p:cNvSpPr>
          <p:nvPr>
            <p:ph sz="quarter" idx="4"/>
          </p:nvPr>
        </p:nvSpPr>
        <p:spPr>
          <a:xfrm>
            <a:off x="4116009" y="1925167"/>
            <a:ext cx="3581462" cy="3497622"/>
          </a:xfrm>
        </p:spPr>
        <p:txBody>
          <a:bodyPr/>
          <a:lstStyle>
            <a:lvl1pPr>
              <a:defRPr sz="2124"/>
            </a:lvl1pPr>
            <a:lvl2pPr>
              <a:defRPr sz="1770"/>
            </a:lvl2pPr>
            <a:lvl3pPr>
              <a:defRPr sz="1593"/>
            </a:lvl3pPr>
            <a:lvl4pPr>
              <a:defRPr sz="1416"/>
            </a:lvl4pPr>
            <a:lvl5pPr>
              <a:defRPr sz="1416"/>
            </a:lvl5pPr>
            <a:lvl6pPr>
              <a:defRPr sz="1416"/>
            </a:lvl6pPr>
            <a:lvl7pPr>
              <a:defRPr sz="1416"/>
            </a:lvl7pPr>
            <a:lvl8pPr>
              <a:defRPr sz="1416"/>
            </a:lvl8pPr>
            <a:lvl9pPr>
              <a:defRPr sz="141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490905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288124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3/2/2025</a:t>
            </a:fld>
            <a:endParaRPr lang="en-US"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2246761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5130" y="241700"/>
            <a:ext cx="2665700" cy="1028629"/>
          </a:xfrm>
        </p:spPr>
        <p:txBody>
          <a:bodyPr anchor="b"/>
          <a:lstStyle>
            <a:lvl1pPr algn="l">
              <a:defRPr sz="1770" b="1"/>
            </a:lvl1pPr>
          </a:lstStyle>
          <a:p>
            <a:r>
              <a:rPr lang="en-US"/>
              <a:t>Click to edit Master title style</a:t>
            </a:r>
          </a:p>
        </p:txBody>
      </p:sp>
      <p:sp>
        <p:nvSpPr>
          <p:cNvPr id="3" name="Content Placeholder 2"/>
          <p:cNvSpPr>
            <a:spLocks noGrp="1"/>
          </p:cNvSpPr>
          <p:nvPr>
            <p:ph idx="1"/>
          </p:nvPr>
        </p:nvSpPr>
        <p:spPr>
          <a:xfrm>
            <a:off x="3167892" y="241700"/>
            <a:ext cx="4529578" cy="5181089"/>
          </a:xfrm>
        </p:spPr>
        <p:txBody>
          <a:bodyPr/>
          <a:lstStyle>
            <a:lvl1pPr>
              <a:defRPr sz="2833"/>
            </a:lvl1pPr>
            <a:lvl2pPr>
              <a:defRPr sz="2479"/>
            </a:lvl2pPr>
            <a:lvl3pPr>
              <a:defRPr sz="2124"/>
            </a:lvl3pPr>
            <a:lvl4pPr>
              <a:defRPr sz="1770"/>
            </a:lvl4pPr>
            <a:lvl5pPr>
              <a:defRPr sz="1770"/>
            </a:lvl5pPr>
            <a:lvl6pPr>
              <a:defRPr sz="1770"/>
            </a:lvl6pPr>
            <a:lvl7pPr>
              <a:defRPr sz="1770"/>
            </a:lvl7pPr>
            <a:lvl8pPr>
              <a:defRPr sz="1770"/>
            </a:lvl8pPr>
            <a:lvl9pPr>
              <a:defRPr sz="177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05130" y="1270330"/>
            <a:ext cx="2665700" cy="4152459"/>
          </a:xfrm>
        </p:spPr>
        <p:txBody>
          <a:bodyPr/>
          <a:lstStyle>
            <a:lvl1pPr marL="0" indent="0">
              <a:buNone/>
              <a:defRPr sz="1239"/>
            </a:lvl1pPr>
            <a:lvl2pPr marL="404713" indent="0">
              <a:buNone/>
              <a:defRPr sz="1062"/>
            </a:lvl2pPr>
            <a:lvl3pPr marL="809427" indent="0">
              <a:buNone/>
              <a:defRPr sz="885"/>
            </a:lvl3pPr>
            <a:lvl4pPr marL="1214140" indent="0">
              <a:buNone/>
              <a:defRPr sz="797"/>
            </a:lvl4pPr>
            <a:lvl5pPr marL="1618854" indent="0">
              <a:buNone/>
              <a:defRPr sz="797"/>
            </a:lvl5pPr>
            <a:lvl6pPr marL="2023567" indent="0">
              <a:buNone/>
              <a:defRPr sz="797"/>
            </a:lvl6pPr>
            <a:lvl7pPr marL="2428281" indent="0">
              <a:buNone/>
              <a:defRPr sz="797"/>
            </a:lvl7pPr>
            <a:lvl8pPr marL="2832994" indent="0">
              <a:buNone/>
              <a:defRPr sz="797"/>
            </a:lvl8pPr>
            <a:lvl9pPr marL="3237708" indent="0">
              <a:buNone/>
              <a:defRPr sz="797"/>
            </a:lvl9pPr>
          </a:lstStyle>
          <a:p>
            <a:pPr lvl="0"/>
            <a:r>
              <a:rPr lang="en-US"/>
              <a:t>Click to edit Master text styles</a:t>
            </a:r>
          </a:p>
        </p:txBody>
      </p:sp>
      <p:sp>
        <p:nvSpPr>
          <p:cNvPr id="5" name="Date Placeholder 4"/>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459990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88166" y="4249420"/>
            <a:ext cx="4861560" cy="501668"/>
          </a:xfrm>
        </p:spPr>
        <p:txBody>
          <a:bodyPr anchor="b"/>
          <a:lstStyle>
            <a:lvl1pPr algn="l">
              <a:defRPr sz="1770" b="1"/>
            </a:lvl1pPr>
          </a:lstStyle>
          <a:p>
            <a:r>
              <a:rPr lang="en-US"/>
              <a:t>Click to edit Master title style</a:t>
            </a:r>
          </a:p>
        </p:txBody>
      </p:sp>
      <p:sp>
        <p:nvSpPr>
          <p:cNvPr id="3" name="Picture Placeholder 2"/>
          <p:cNvSpPr>
            <a:spLocks noGrp="1"/>
          </p:cNvSpPr>
          <p:nvPr>
            <p:ph type="pic" idx="1"/>
          </p:nvPr>
        </p:nvSpPr>
        <p:spPr>
          <a:xfrm>
            <a:off x="1588166" y="542419"/>
            <a:ext cx="4861560" cy="3642360"/>
          </a:xfrm>
        </p:spPr>
        <p:txBody>
          <a:bodyPr/>
          <a:lstStyle>
            <a:lvl1pPr marL="0" indent="0">
              <a:buNone/>
              <a:defRPr sz="2833"/>
            </a:lvl1pPr>
            <a:lvl2pPr marL="404713" indent="0">
              <a:buNone/>
              <a:defRPr sz="2479"/>
            </a:lvl2pPr>
            <a:lvl3pPr marL="809427" indent="0">
              <a:buNone/>
              <a:defRPr sz="2124"/>
            </a:lvl3pPr>
            <a:lvl4pPr marL="1214140" indent="0">
              <a:buNone/>
              <a:defRPr sz="1770"/>
            </a:lvl4pPr>
            <a:lvl5pPr marL="1618854" indent="0">
              <a:buNone/>
              <a:defRPr sz="1770"/>
            </a:lvl5pPr>
            <a:lvl6pPr marL="2023567" indent="0">
              <a:buNone/>
              <a:defRPr sz="1770"/>
            </a:lvl6pPr>
            <a:lvl7pPr marL="2428281" indent="0">
              <a:buNone/>
              <a:defRPr sz="1770"/>
            </a:lvl7pPr>
            <a:lvl8pPr marL="2832994" indent="0">
              <a:buNone/>
              <a:defRPr sz="1770"/>
            </a:lvl8pPr>
            <a:lvl9pPr marL="3237708" indent="0">
              <a:buNone/>
              <a:defRPr sz="1770"/>
            </a:lvl9pPr>
          </a:lstStyle>
          <a:p>
            <a:r>
              <a:rPr lang="en-US" dirty="0"/>
              <a:t>Click icon to add picture</a:t>
            </a:r>
          </a:p>
        </p:txBody>
      </p:sp>
      <p:sp>
        <p:nvSpPr>
          <p:cNvPr id="4" name="Text Placeholder 3"/>
          <p:cNvSpPr>
            <a:spLocks noGrp="1"/>
          </p:cNvSpPr>
          <p:nvPr>
            <p:ph type="body" sz="half" idx="2"/>
          </p:nvPr>
        </p:nvSpPr>
        <p:spPr>
          <a:xfrm>
            <a:off x="1588166" y="4751088"/>
            <a:ext cx="4861560" cy="712452"/>
          </a:xfrm>
        </p:spPr>
        <p:txBody>
          <a:bodyPr/>
          <a:lstStyle>
            <a:lvl1pPr marL="0" indent="0">
              <a:buNone/>
              <a:defRPr sz="1239"/>
            </a:lvl1pPr>
            <a:lvl2pPr marL="404713" indent="0">
              <a:buNone/>
              <a:defRPr sz="1062"/>
            </a:lvl2pPr>
            <a:lvl3pPr marL="809427" indent="0">
              <a:buNone/>
              <a:defRPr sz="885"/>
            </a:lvl3pPr>
            <a:lvl4pPr marL="1214140" indent="0">
              <a:buNone/>
              <a:defRPr sz="797"/>
            </a:lvl4pPr>
            <a:lvl5pPr marL="1618854" indent="0">
              <a:buNone/>
              <a:defRPr sz="797"/>
            </a:lvl5pPr>
            <a:lvl6pPr marL="2023567" indent="0">
              <a:buNone/>
              <a:defRPr sz="797"/>
            </a:lvl6pPr>
            <a:lvl7pPr marL="2428281" indent="0">
              <a:buNone/>
              <a:defRPr sz="797"/>
            </a:lvl7pPr>
            <a:lvl8pPr marL="2832994" indent="0">
              <a:buNone/>
              <a:defRPr sz="797"/>
            </a:lvl8pPr>
            <a:lvl9pPr marL="3237708" indent="0">
              <a:buNone/>
              <a:defRPr sz="797"/>
            </a:lvl9pPr>
          </a:lstStyle>
          <a:p>
            <a:pPr lvl="0"/>
            <a:r>
              <a:rPr lang="en-US"/>
              <a:t>Click to edit Master text styles</a:t>
            </a:r>
          </a:p>
        </p:txBody>
      </p:sp>
      <p:sp>
        <p:nvSpPr>
          <p:cNvPr id="5" name="Date Placeholder 4"/>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816463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15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874385" y="243106"/>
            <a:ext cx="1823085" cy="517968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05130" y="243106"/>
            <a:ext cx="5334212" cy="5179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CC276A-7357-4190-9B6F-38F22CE4D3F2}" type="datetimeFigureOut">
              <a:rPr lang="en-US" smtClean="0"/>
              <a:pPr/>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134937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41" b="0" i="0">
                <a:solidFill>
                  <a:srgbClr val="003366"/>
                </a:solidFill>
                <a:latin typeface="Arial"/>
                <a:cs typeface="Arial"/>
              </a:defRPr>
            </a:lvl1pPr>
          </a:lstStyle>
          <a:p>
            <a:endParaRPr/>
          </a:p>
        </p:txBody>
      </p:sp>
      <p:sp>
        <p:nvSpPr>
          <p:cNvPr id="3" name="Holder 3"/>
          <p:cNvSpPr>
            <a:spLocks noGrp="1"/>
          </p:cNvSpPr>
          <p:nvPr>
            <p:ph sz="half" idx="2"/>
          </p:nvPr>
        </p:nvSpPr>
        <p:spPr>
          <a:xfrm>
            <a:off x="405130" y="1396238"/>
            <a:ext cx="3524631" cy="43595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172839" y="1396238"/>
            <a:ext cx="3524631" cy="43595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3/2/2025</a:t>
            </a:fld>
            <a:endParaRPr lang="en-US" dirty="0"/>
          </a:p>
        </p:txBody>
      </p:sp>
      <p:sp>
        <p:nvSpPr>
          <p:cNvPr id="7" name="Holder 7"/>
          <p:cNvSpPr>
            <a:spLocks noGrp="1"/>
          </p:cNvSpPr>
          <p:nvPr>
            <p:ph type="sldNum" sz="quarter" idx="7"/>
          </p:nvPr>
        </p:nvSpPr>
        <p:spPr/>
        <p:txBody>
          <a:bodyPr lIns="0" tIns="0" rIns="0" bIns="0"/>
          <a:lstStyle>
            <a:lvl1pPr>
              <a:defRPr sz="885" b="0" i="0">
                <a:solidFill>
                  <a:schemeClr val="tx1"/>
                </a:solidFill>
                <a:latin typeface="Arial"/>
                <a:cs typeface="Arial"/>
              </a:defRPr>
            </a:lvl1pPr>
          </a:lstStyle>
          <a:p>
            <a:pPr marL="22484">
              <a:lnSpc>
                <a:spcPts val="947"/>
              </a:lnSpc>
            </a:pPr>
            <a:fld id="{81D60167-4931-47E6-BA6A-407CBD079E47}" type="slidenum">
              <a:rPr lang="en-IN" smtClean="0"/>
              <a:pPr marL="22484">
                <a:lnSpc>
                  <a:spcPts val="947"/>
                </a:lnSpc>
              </a:pPr>
              <a:t>‹#›</a:t>
            </a:fld>
            <a:endParaRPr lang="en-IN" dirty="0"/>
          </a:p>
        </p:txBody>
      </p:sp>
    </p:spTree>
    <p:extLst>
      <p:ext uri="{BB962C8B-B14F-4D97-AF65-F5344CB8AC3E}">
        <p14:creationId xmlns:p14="http://schemas.microsoft.com/office/powerpoint/2010/main" val="1541874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5130" y="243105"/>
            <a:ext cx="7292340" cy="101176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05130" y="1416474"/>
            <a:ext cx="7292340" cy="40063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05130" y="5626547"/>
            <a:ext cx="1890607" cy="323203"/>
          </a:xfrm>
          <a:prstGeom prst="rect">
            <a:avLst/>
          </a:prstGeom>
        </p:spPr>
        <p:txBody>
          <a:bodyPr vert="horz" lIns="91440" tIns="45720" rIns="91440" bIns="45720" rtlCol="0" anchor="ctr"/>
          <a:lstStyle>
            <a:lvl1pPr algn="l">
              <a:defRPr sz="1062">
                <a:solidFill>
                  <a:schemeClr val="tx1">
                    <a:tint val="75000"/>
                  </a:schemeClr>
                </a:solidFill>
              </a:defRPr>
            </a:lvl1pPr>
          </a:lstStyle>
          <a:p>
            <a:fld id="{98CC276A-7357-4190-9B6F-38F22CE4D3F2}" type="datetimeFigureOut">
              <a:rPr lang="en-US" smtClean="0"/>
              <a:pPr/>
              <a:t>3/2/2025</a:t>
            </a:fld>
            <a:endParaRPr lang="en-US" dirty="0"/>
          </a:p>
        </p:txBody>
      </p:sp>
      <p:sp>
        <p:nvSpPr>
          <p:cNvPr id="5" name="Footer Placeholder 4"/>
          <p:cNvSpPr>
            <a:spLocks noGrp="1"/>
          </p:cNvSpPr>
          <p:nvPr>
            <p:ph type="ftr" sz="quarter" idx="3"/>
          </p:nvPr>
        </p:nvSpPr>
        <p:spPr>
          <a:xfrm>
            <a:off x="2768389" y="5626547"/>
            <a:ext cx="2565823" cy="323203"/>
          </a:xfrm>
          <a:prstGeom prst="rect">
            <a:avLst/>
          </a:prstGeom>
        </p:spPr>
        <p:txBody>
          <a:bodyPr vert="horz" lIns="91440" tIns="45720" rIns="91440" bIns="45720" rtlCol="0" anchor="ctr"/>
          <a:lstStyle>
            <a:lvl1pPr algn="ctr">
              <a:defRPr sz="1062">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806863" y="5626547"/>
            <a:ext cx="1890607" cy="323203"/>
          </a:xfrm>
          <a:prstGeom prst="rect">
            <a:avLst/>
          </a:prstGeom>
        </p:spPr>
        <p:txBody>
          <a:bodyPr vert="horz" lIns="91440" tIns="45720" rIns="91440" bIns="45720" rtlCol="0" anchor="ctr"/>
          <a:lstStyle>
            <a:lvl1pPr algn="r">
              <a:defRPr sz="1062">
                <a:solidFill>
                  <a:schemeClr val="tx1">
                    <a:tint val="75000"/>
                  </a:schemeClr>
                </a:solidFill>
              </a:defRPr>
            </a:lvl1pPr>
          </a:lstStyle>
          <a:p>
            <a:fld id="{B6F15528-21DE-4FAA-801E-634DDDAF4B2B}" type="slidenum">
              <a:rPr lang="en-IN" smtClean="0"/>
              <a:t>‹#›</a:t>
            </a:fld>
            <a:endParaRPr lang="en-IN" dirty="0"/>
          </a:p>
        </p:txBody>
      </p:sp>
      <p:pic>
        <p:nvPicPr>
          <p:cNvPr id="7" name="Picture 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353509" y="-64964"/>
            <a:ext cx="1749090" cy="672024"/>
          </a:xfrm>
          <a:prstGeom prst="rect">
            <a:avLst/>
          </a:prstGeom>
        </p:spPr>
      </p:pic>
    </p:spTree>
    <p:extLst>
      <p:ext uri="{BB962C8B-B14F-4D97-AF65-F5344CB8AC3E}">
        <p14:creationId xmlns:p14="http://schemas.microsoft.com/office/powerpoint/2010/main" val="275711559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ctr" defTabSz="809427" rtl="0" eaLnBrk="1" latinLnBrk="0" hangingPunct="1">
        <a:spcBef>
          <a:spcPct val="0"/>
        </a:spcBef>
        <a:buNone/>
        <a:defRPr sz="3895" kern="1200">
          <a:solidFill>
            <a:schemeClr val="tx1"/>
          </a:solidFill>
          <a:latin typeface="+mj-lt"/>
          <a:ea typeface="+mj-ea"/>
          <a:cs typeface="+mj-cs"/>
        </a:defRPr>
      </a:lvl1pPr>
    </p:titleStyle>
    <p:bodyStyle>
      <a:lvl1pPr marL="303535" indent="-303535" algn="l" defTabSz="809427" rtl="0" eaLnBrk="1" latinLnBrk="0" hangingPunct="1">
        <a:spcBef>
          <a:spcPct val="20000"/>
        </a:spcBef>
        <a:buFont typeface="Arial" pitchFamily="34" charset="0"/>
        <a:buChar char="•"/>
        <a:defRPr sz="2833" kern="1200">
          <a:solidFill>
            <a:schemeClr val="tx1"/>
          </a:solidFill>
          <a:latin typeface="+mn-lt"/>
          <a:ea typeface="+mn-ea"/>
          <a:cs typeface="+mn-cs"/>
        </a:defRPr>
      </a:lvl1pPr>
      <a:lvl2pPr marL="657659" indent="-252946" algn="l" defTabSz="809427" rtl="0" eaLnBrk="1" latinLnBrk="0" hangingPunct="1">
        <a:spcBef>
          <a:spcPct val="20000"/>
        </a:spcBef>
        <a:buFont typeface="Arial" pitchFamily="34" charset="0"/>
        <a:buChar char="–"/>
        <a:defRPr sz="2479" kern="1200">
          <a:solidFill>
            <a:schemeClr val="tx1"/>
          </a:solidFill>
          <a:latin typeface="+mn-lt"/>
          <a:ea typeface="+mn-ea"/>
          <a:cs typeface="+mn-cs"/>
        </a:defRPr>
      </a:lvl2pPr>
      <a:lvl3pPr marL="1011784" indent="-202357" algn="l" defTabSz="809427" rtl="0" eaLnBrk="1" latinLnBrk="0" hangingPunct="1">
        <a:spcBef>
          <a:spcPct val="20000"/>
        </a:spcBef>
        <a:buFont typeface="Arial" pitchFamily="34" charset="0"/>
        <a:buChar char="•"/>
        <a:defRPr sz="2124" kern="1200">
          <a:solidFill>
            <a:schemeClr val="tx1"/>
          </a:solidFill>
          <a:latin typeface="+mn-lt"/>
          <a:ea typeface="+mn-ea"/>
          <a:cs typeface="+mn-cs"/>
        </a:defRPr>
      </a:lvl3pPr>
      <a:lvl4pPr marL="1416497" indent="-202357" algn="l" defTabSz="809427" rtl="0" eaLnBrk="1" latinLnBrk="0" hangingPunct="1">
        <a:spcBef>
          <a:spcPct val="20000"/>
        </a:spcBef>
        <a:buFont typeface="Arial" pitchFamily="34" charset="0"/>
        <a:buChar char="–"/>
        <a:defRPr sz="1770" kern="1200">
          <a:solidFill>
            <a:schemeClr val="tx1"/>
          </a:solidFill>
          <a:latin typeface="+mn-lt"/>
          <a:ea typeface="+mn-ea"/>
          <a:cs typeface="+mn-cs"/>
        </a:defRPr>
      </a:lvl4pPr>
      <a:lvl5pPr marL="1821210" indent="-202357" algn="l" defTabSz="809427" rtl="0" eaLnBrk="1" latinLnBrk="0" hangingPunct="1">
        <a:spcBef>
          <a:spcPct val="20000"/>
        </a:spcBef>
        <a:buFont typeface="Arial" pitchFamily="34" charset="0"/>
        <a:buChar char="»"/>
        <a:defRPr sz="1770" kern="1200">
          <a:solidFill>
            <a:schemeClr val="tx1"/>
          </a:solidFill>
          <a:latin typeface="+mn-lt"/>
          <a:ea typeface="+mn-ea"/>
          <a:cs typeface="+mn-cs"/>
        </a:defRPr>
      </a:lvl5pPr>
      <a:lvl6pPr marL="2225924" indent="-202357" algn="l" defTabSz="809427" rtl="0" eaLnBrk="1" latinLnBrk="0" hangingPunct="1">
        <a:spcBef>
          <a:spcPct val="20000"/>
        </a:spcBef>
        <a:buFont typeface="Arial" pitchFamily="34" charset="0"/>
        <a:buChar char="•"/>
        <a:defRPr sz="1770" kern="1200">
          <a:solidFill>
            <a:schemeClr val="tx1"/>
          </a:solidFill>
          <a:latin typeface="+mn-lt"/>
          <a:ea typeface="+mn-ea"/>
          <a:cs typeface="+mn-cs"/>
        </a:defRPr>
      </a:lvl6pPr>
      <a:lvl7pPr marL="2630637" indent="-202357" algn="l" defTabSz="809427" rtl="0" eaLnBrk="1" latinLnBrk="0" hangingPunct="1">
        <a:spcBef>
          <a:spcPct val="20000"/>
        </a:spcBef>
        <a:buFont typeface="Arial" pitchFamily="34" charset="0"/>
        <a:buChar char="•"/>
        <a:defRPr sz="1770" kern="1200">
          <a:solidFill>
            <a:schemeClr val="tx1"/>
          </a:solidFill>
          <a:latin typeface="+mn-lt"/>
          <a:ea typeface="+mn-ea"/>
          <a:cs typeface="+mn-cs"/>
        </a:defRPr>
      </a:lvl7pPr>
      <a:lvl8pPr marL="3035351" indent="-202357" algn="l" defTabSz="809427" rtl="0" eaLnBrk="1" latinLnBrk="0" hangingPunct="1">
        <a:spcBef>
          <a:spcPct val="20000"/>
        </a:spcBef>
        <a:buFont typeface="Arial" pitchFamily="34" charset="0"/>
        <a:buChar char="•"/>
        <a:defRPr sz="1770" kern="1200">
          <a:solidFill>
            <a:schemeClr val="tx1"/>
          </a:solidFill>
          <a:latin typeface="+mn-lt"/>
          <a:ea typeface="+mn-ea"/>
          <a:cs typeface="+mn-cs"/>
        </a:defRPr>
      </a:lvl8pPr>
      <a:lvl9pPr marL="3440064" indent="-202357" algn="l" defTabSz="809427" rtl="0" eaLnBrk="1" latinLnBrk="0" hangingPunct="1">
        <a:spcBef>
          <a:spcPct val="20000"/>
        </a:spcBef>
        <a:buFont typeface="Arial" pitchFamily="34" charset="0"/>
        <a:buChar char="•"/>
        <a:defRPr sz="1770" kern="1200">
          <a:solidFill>
            <a:schemeClr val="tx1"/>
          </a:solidFill>
          <a:latin typeface="+mn-lt"/>
          <a:ea typeface="+mn-ea"/>
          <a:cs typeface="+mn-cs"/>
        </a:defRPr>
      </a:lvl9pPr>
    </p:bodyStyle>
    <p:otherStyle>
      <a:defPPr>
        <a:defRPr lang="en-US"/>
      </a:defPPr>
      <a:lvl1pPr marL="0" algn="l" defTabSz="809427" rtl="0" eaLnBrk="1" latinLnBrk="0" hangingPunct="1">
        <a:defRPr sz="1593" kern="1200">
          <a:solidFill>
            <a:schemeClr val="tx1"/>
          </a:solidFill>
          <a:latin typeface="+mn-lt"/>
          <a:ea typeface="+mn-ea"/>
          <a:cs typeface="+mn-cs"/>
        </a:defRPr>
      </a:lvl1pPr>
      <a:lvl2pPr marL="404713" algn="l" defTabSz="809427" rtl="0" eaLnBrk="1" latinLnBrk="0" hangingPunct="1">
        <a:defRPr sz="1593" kern="1200">
          <a:solidFill>
            <a:schemeClr val="tx1"/>
          </a:solidFill>
          <a:latin typeface="+mn-lt"/>
          <a:ea typeface="+mn-ea"/>
          <a:cs typeface="+mn-cs"/>
        </a:defRPr>
      </a:lvl2pPr>
      <a:lvl3pPr marL="809427" algn="l" defTabSz="809427" rtl="0" eaLnBrk="1" latinLnBrk="0" hangingPunct="1">
        <a:defRPr sz="1593" kern="1200">
          <a:solidFill>
            <a:schemeClr val="tx1"/>
          </a:solidFill>
          <a:latin typeface="+mn-lt"/>
          <a:ea typeface="+mn-ea"/>
          <a:cs typeface="+mn-cs"/>
        </a:defRPr>
      </a:lvl3pPr>
      <a:lvl4pPr marL="1214140" algn="l" defTabSz="809427" rtl="0" eaLnBrk="1" latinLnBrk="0" hangingPunct="1">
        <a:defRPr sz="1593" kern="1200">
          <a:solidFill>
            <a:schemeClr val="tx1"/>
          </a:solidFill>
          <a:latin typeface="+mn-lt"/>
          <a:ea typeface="+mn-ea"/>
          <a:cs typeface="+mn-cs"/>
        </a:defRPr>
      </a:lvl4pPr>
      <a:lvl5pPr marL="1618854" algn="l" defTabSz="809427" rtl="0" eaLnBrk="1" latinLnBrk="0" hangingPunct="1">
        <a:defRPr sz="1593" kern="1200">
          <a:solidFill>
            <a:schemeClr val="tx1"/>
          </a:solidFill>
          <a:latin typeface="+mn-lt"/>
          <a:ea typeface="+mn-ea"/>
          <a:cs typeface="+mn-cs"/>
        </a:defRPr>
      </a:lvl5pPr>
      <a:lvl6pPr marL="2023567" algn="l" defTabSz="809427" rtl="0" eaLnBrk="1" latinLnBrk="0" hangingPunct="1">
        <a:defRPr sz="1593" kern="1200">
          <a:solidFill>
            <a:schemeClr val="tx1"/>
          </a:solidFill>
          <a:latin typeface="+mn-lt"/>
          <a:ea typeface="+mn-ea"/>
          <a:cs typeface="+mn-cs"/>
        </a:defRPr>
      </a:lvl6pPr>
      <a:lvl7pPr marL="2428281" algn="l" defTabSz="809427" rtl="0" eaLnBrk="1" latinLnBrk="0" hangingPunct="1">
        <a:defRPr sz="1593" kern="1200">
          <a:solidFill>
            <a:schemeClr val="tx1"/>
          </a:solidFill>
          <a:latin typeface="+mn-lt"/>
          <a:ea typeface="+mn-ea"/>
          <a:cs typeface="+mn-cs"/>
        </a:defRPr>
      </a:lvl7pPr>
      <a:lvl8pPr marL="2832994" algn="l" defTabSz="809427" rtl="0" eaLnBrk="1" latinLnBrk="0" hangingPunct="1">
        <a:defRPr sz="1593" kern="1200">
          <a:solidFill>
            <a:schemeClr val="tx1"/>
          </a:solidFill>
          <a:latin typeface="+mn-lt"/>
          <a:ea typeface="+mn-ea"/>
          <a:cs typeface="+mn-cs"/>
        </a:defRPr>
      </a:lvl8pPr>
      <a:lvl9pPr marL="3237708" algn="l" defTabSz="809427" rtl="0" eaLnBrk="1" latinLnBrk="0" hangingPunct="1">
        <a:defRPr sz="159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7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7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8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83.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84.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s>
</file>

<file path=ppt/slides/_rels/slide85.xml.rels><?xml version="1.0" encoding="UTF-8" standalone="yes"?>
<Relationships xmlns="http://schemas.openxmlformats.org/package/2006/relationships"><Relationship Id="rId2" Type="http://schemas.openxmlformats.org/officeDocument/2006/relationships/hyperlink" Target="https://www.geeksforgeeks.org/software-engineering-software-product/"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https://www.geeksforgeeks.org/software-processes-in-software-engineering/"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0.gi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hyperlink" Target="https://www.geeksforgeeks.org/cost-estimation-models-in-software-engineering/"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69900" y="2221970"/>
            <a:ext cx="7162800" cy="3298980"/>
          </a:xfrm>
          <a:prstGeom prst="rect">
            <a:avLst/>
          </a:prstGeom>
        </p:spPr>
        <p:txBody>
          <a:bodyPr vert="horz" wrap="square" lIns="0" tIns="13335" rIns="0" bIns="0" rtlCol="0">
            <a:spAutoFit/>
          </a:bodyPr>
          <a:lstStyle/>
          <a:p>
            <a:pPr marR="211454" algn="ctr">
              <a:lnSpc>
                <a:spcPts val="3835"/>
              </a:lnSpc>
              <a:spcBef>
                <a:spcPts val="105"/>
              </a:spcBef>
            </a:pPr>
            <a:r>
              <a:rPr lang="en-US" sz="3350" spc="-220" dirty="0">
                <a:latin typeface="Arial MT"/>
                <a:cs typeface="Arial MT"/>
              </a:rPr>
              <a:t>21CSC303J – SOFTWARE ENGINEERING AND PROJECT MANAGEMENT</a:t>
            </a:r>
          </a:p>
          <a:p>
            <a:pPr marR="211454" algn="ctr">
              <a:lnSpc>
                <a:spcPts val="3835"/>
              </a:lnSpc>
              <a:spcBef>
                <a:spcPts val="105"/>
              </a:spcBef>
            </a:pPr>
            <a:r>
              <a:rPr lang="en-US" sz="3350" spc="-220" dirty="0">
                <a:latin typeface="Arial MT"/>
                <a:cs typeface="Arial MT"/>
              </a:rPr>
              <a:t>UNIT II</a:t>
            </a:r>
            <a:endParaRPr sz="3350" dirty="0">
              <a:latin typeface="Arial MT"/>
              <a:cs typeface="Arial MT"/>
            </a:endParaRPr>
          </a:p>
          <a:p>
            <a:pPr marL="12700">
              <a:lnSpc>
                <a:spcPts val="3535"/>
              </a:lnSpc>
            </a:pPr>
            <a:endParaRPr sz="3100" dirty="0">
              <a:latin typeface="Arial MT"/>
              <a:cs typeface="Arial MT"/>
            </a:endParaRPr>
          </a:p>
          <a:p>
            <a:pPr>
              <a:lnSpc>
                <a:spcPct val="100000"/>
              </a:lnSpc>
              <a:spcBef>
                <a:spcPts val="3110"/>
              </a:spcBef>
            </a:pPr>
            <a:endParaRPr sz="3100" dirty="0">
              <a:latin typeface="Arial MT"/>
              <a:cs typeface="Arial MT"/>
            </a:endParaRPr>
          </a:p>
        </p:txBody>
      </p:sp>
      <p:pic>
        <p:nvPicPr>
          <p:cNvPr id="4098" name="Picture 2" descr="Profile for SRM Institute of Science and Technology">
            <a:extLst>
              <a:ext uri="{FF2B5EF4-FFF2-40B4-BE49-F238E27FC236}">
                <a16:creationId xmlns:a16="http://schemas.microsoft.com/office/drawing/2014/main" id="{090EC70A-99BE-6EC5-FB5B-5B78464E0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560" y="150989"/>
            <a:ext cx="4022725" cy="1426845"/>
          </a:xfrm>
          <a:prstGeom prst="rect">
            <a:avLst/>
          </a:prstGeom>
        </p:spPr>
        <p:txBody>
          <a:bodyPr vert="horz" wrap="square" lIns="0" tIns="101600" rIns="0" bIns="0" rtlCol="0">
            <a:spAutoFit/>
          </a:bodyPr>
          <a:lstStyle/>
          <a:p>
            <a:pPr marL="12700" marR="5080">
              <a:lnSpc>
                <a:spcPts val="5200"/>
              </a:lnSpc>
              <a:spcBef>
                <a:spcPts val="800"/>
              </a:spcBef>
            </a:pPr>
            <a:r>
              <a:rPr sz="4850" spc="90" dirty="0">
                <a:latin typeface="Arial MT"/>
                <a:cs typeface="Arial MT"/>
              </a:rPr>
              <a:t>Requirements </a:t>
            </a:r>
            <a:r>
              <a:rPr sz="4850" spc="100" dirty="0">
                <a:latin typeface="Arial MT"/>
                <a:cs typeface="Arial MT"/>
              </a:rPr>
              <a:t>Engineering</a:t>
            </a:r>
            <a:endParaRPr sz="4850" dirty="0">
              <a:latin typeface="Arial MT"/>
              <a:cs typeface="Arial MT"/>
            </a:endParaRPr>
          </a:p>
        </p:txBody>
      </p:sp>
      <p:sp>
        <p:nvSpPr>
          <p:cNvPr id="3" name="object 3"/>
          <p:cNvSpPr txBox="1"/>
          <p:nvPr/>
        </p:nvSpPr>
        <p:spPr>
          <a:xfrm>
            <a:off x="619902" y="1584148"/>
            <a:ext cx="6853555" cy="418465"/>
          </a:xfrm>
          <a:prstGeom prst="rect">
            <a:avLst/>
          </a:prstGeom>
        </p:spPr>
        <p:txBody>
          <a:bodyPr vert="horz" wrap="square" lIns="0" tIns="15875" rIns="0" bIns="0" rtlCol="0">
            <a:spAutoFit/>
          </a:bodyPr>
          <a:lstStyle/>
          <a:p>
            <a:pPr marL="12700">
              <a:lnSpc>
                <a:spcPct val="100000"/>
              </a:lnSpc>
              <a:spcBef>
                <a:spcPts val="125"/>
              </a:spcBef>
              <a:tabLst>
                <a:tab pos="650875" algn="l"/>
                <a:tab pos="1816735" algn="l"/>
                <a:tab pos="2247900" algn="l"/>
                <a:tab pos="3921125" algn="l"/>
                <a:tab pos="4523105" algn="l"/>
                <a:tab pos="5724525" algn="l"/>
                <a:tab pos="6423025" algn="l"/>
              </a:tabLst>
            </a:pPr>
            <a:r>
              <a:rPr sz="2550" spc="-25" dirty="0">
                <a:latin typeface="Calibri"/>
                <a:cs typeface="Calibri"/>
              </a:rPr>
              <a:t>The</a:t>
            </a:r>
            <a:r>
              <a:rPr sz="2550" dirty="0">
                <a:latin typeface="Calibri"/>
                <a:cs typeface="Calibri"/>
              </a:rPr>
              <a:t>	</a:t>
            </a:r>
            <a:r>
              <a:rPr sz="2550" spc="-10" dirty="0">
                <a:latin typeface="Calibri"/>
                <a:cs typeface="Calibri"/>
              </a:rPr>
              <a:t>process</a:t>
            </a:r>
            <a:r>
              <a:rPr sz="2550" dirty="0">
                <a:latin typeface="Calibri"/>
                <a:cs typeface="Calibri"/>
              </a:rPr>
              <a:t>	</a:t>
            </a:r>
            <a:r>
              <a:rPr sz="2550" spc="-25" dirty="0">
                <a:latin typeface="Calibri"/>
                <a:cs typeface="Calibri"/>
              </a:rPr>
              <a:t>of</a:t>
            </a:r>
            <a:r>
              <a:rPr sz="2550" dirty="0">
                <a:latin typeface="Calibri"/>
                <a:cs typeface="Calibri"/>
              </a:rPr>
              <a:t>	</a:t>
            </a:r>
            <a:r>
              <a:rPr sz="2550" spc="-10" dirty="0">
                <a:latin typeface="Calibri"/>
                <a:cs typeface="Calibri"/>
              </a:rPr>
              <a:t>establishing</a:t>
            </a:r>
            <a:r>
              <a:rPr sz="2550" dirty="0">
                <a:latin typeface="Calibri"/>
                <a:cs typeface="Calibri"/>
              </a:rPr>
              <a:t>	</a:t>
            </a:r>
            <a:r>
              <a:rPr sz="2550" spc="-25" dirty="0">
                <a:latin typeface="Calibri"/>
                <a:cs typeface="Calibri"/>
              </a:rPr>
              <a:t>the</a:t>
            </a:r>
            <a:r>
              <a:rPr sz="2550" dirty="0">
                <a:latin typeface="Calibri"/>
                <a:cs typeface="Calibri"/>
              </a:rPr>
              <a:t>	</a:t>
            </a:r>
            <a:r>
              <a:rPr sz="2550" spc="-10" dirty="0">
                <a:latin typeface="Calibri"/>
                <a:cs typeface="Calibri"/>
              </a:rPr>
              <a:t>services</a:t>
            </a:r>
            <a:r>
              <a:rPr sz="2550" dirty="0">
                <a:latin typeface="Calibri"/>
                <a:cs typeface="Calibri"/>
              </a:rPr>
              <a:t>	</a:t>
            </a:r>
            <a:r>
              <a:rPr sz="2550" spc="-20" dirty="0">
                <a:latin typeface="Calibri"/>
                <a:cs typeface="Calibri"/>
              </a:rPr>
              <a:t>that</a:t>
            </a:r>
            <a:r>
              <a:rPr sz="2550" dirty="0">
                <a:latin typeface="Calibri"/>
                <a:cs typeface="Calibri"/>
              </a:rPr>
              <a:t>	</a:t>
            </a:r>
            <a:r>
              <a:rPr sz="2550" spc="-50" dirty="0">
                <a:latin typeface="Calibri"/>
                <a:cs typeface="Calibri"/>
              </a:rPr>
              <a:t>the</a:t>
            </a:r>
            <a:endParaRPr sz="2550" dirty="0">
              <a:latin typeface="Calibri"/>
              <a:cs typeface="Calibri"/>
            </a:endParaRPr>
          </a:p>
        </p:txBody>
      </p:sp>
      <p:sp>
        <p:nvSpPr>
          <p:cNvPr id="4" name="object 4"/>
          <p:cNvSpPr txBox="1"/>
          <p:nvPr/>
        </p:nvSpPr>
        <p:spPr>
          <a:xfrm>
            <a:off x="2172657" y="1927048"/>
            <a:ext cx="1092835" cy="761365"/>
          </a:xfrm>
          <a:prstGeom prst="rect">
            <a:avLst/>
          </a:prstGeom>
        </p:spPr>
        <p:txBody>
          <a:bodyPr vert="horz" wrap="square" lIns="0" tIns="65405" rIns="0" bIns="0" rtlCol="0">
            <a:spAutoFit/>
          </a:bodyPr>
          <a:lstStyle/>
          <a:p>
            <a:pPr marL="229235" marR="5080" indent="-217170">
              <a:lnSpc>
                <a:spcPts val="2700"/>
              </a:lnSpc>
              <a:spcBef>
                <a:spcPts val="515"/>
              </a:spcBef>
            </a:pPr>
            <a:r>
              <a:rPr sz="2550" spc="-35" dirty="0">
                <a:latin typeface="Calibri"/>
                <a:cs typeface="Calibri"/>
              </a:rPr>
              <a:t>requires </a:t>
            </a:r>
            <a:r>
              <a:rPr sz="2550" spc="-10" dirty="0">
                <a:latin typeface="Calibri"/>
                <a:cs typeface="Calibri"/>
              </a:rPr>
              <a:t>under</a:t>
            </a:r>
            <a:endParaRPr sz="2550" dirty="0">
              <a:latin typeface="Calibri"/>
              <a:cs typeface="Calibri"/>
            </a:endParaRPr>
          </a:p>
        </p:txBody>
      </p:sp>
      <p:sp>
        <p:nvSpPr>
          <p:cNvPr id="5" name="object 5"/>
          <p:cNvSpPr txBox="1"/>
          <p:nvPr/>
        </p:nvSpPr>
        <p:spPr>
          <a:xfrm>
            <a:off x="3458634" y="1927048"/>
            <a:ext cx="2689225" cy="761365"/>
          </a:xfrm>
          <a:prstGeom prst="rect">
            <a:avLst/>
          </a:prstGeom>
        </p:spPr>
        <p:txBody>
          <a:bodyPr vert="horz" wrap="square" lIns="0" tIns="65405" rIns="0" bIns="0" rtlCol="0">
            <a:spAutoFit/>
          </a:bodyPr>
          <a:lstStyle/>
          <a:p>
            <a:pPr marL="12700" marR="5080" indent="116839">
              <a:lnSpc>
                <a:spcPts val="2700"/>
              </a:lnSpc>
              <a:spcBef>
                <a:spcPts val="515"/>
              </a:spcBef>
              <a:tabLst>
                <a:tab pos="1060450" algn="l"/>
                <a:tab pos="1531620" algn="l"/>
                <a:tab pos="1568450" algn="l"/>
              </a:tabLst>
            </a:pPr>
            <a:r>
              <a:rPr sz="2550" spc="-20" dirty="0">
                <a:latin typeface="Calibri"/>
                <a:cs typeface="Calibri"/>
              </a:rPr>
              <a:t>from</a:t>
            </a:r>
            <a:r>
              <a:rPr sz="2550" dirty="0">
                <a:latin typeface="Calibri"/>
                <a:cs typeface="Calibri"/>
              </a:rPr>
              <a:t>	</a:t>
            </a:r>
            <a:r>
              <a:rPr sz="2550" spc="20" dirty="0">
                <a:latin typeface="Calibri"/>
                <a:cs typeface="Calibri"/>
              </a:rPr>
              <a:t>a</a:t>
            </a:r>
            <a:r>
              <a:rPr sz="2550" dirty="0">
                <a:latin typeface="Calibri"/>
                <a:cs typeface="Calibri"/>
              </a:rPr>
              <a:t>	</a:t>
            </a:r>
            <a:r>
              <a:rPr sz="2550" spc="-10" dirty="0">
                <a:latin typeface="Calibri"/>
                <a:cs typeface="Calibri"/>
              </a:rPr>
              <a:t>system which</a:t>
            </a:r>
            <a:r>
              <a:rPr sz="2550" dirty="0">
                <a:latin typeface="Calibri"/>
                <a:cs typeface="Calibri"/>
              </a:rPr>
              <a:t>	</a:t>
            </a:r>
            <a:r>
              <a:rPr sz="2550" spc="-434" dirty="0">
                <a:latin typeface="Calibri"/>
                <a:cs typeface="Calibri"/>
              </a:rPr>
              <a:t> </a:t>
            </a:r>
            <a:r>
              <a:rPr sz="2550" dirty="0">
                <a:latin typeface="Calibri"/>
                <a:cs typeface="Calibri"/>
              </a:rPr>
              <a:t>it		</a:t>
            </a:r>
            <a:r>
              <a:rPr sz="2550" spc="-70" dirty="0">
                <a:latin typeface="Calibri"/>
                <a:cs typeface="Calibri"/>
              </a:rPr>
              <a:t>operates</a:t>
            </a:r>
            <a:endParaRPr sz="2550" dirty="0">
              <a:latin typeface="Calibri"/>
              <a:cs typeface="Calibri"/>
            </a:endParaRPr>
          </a:p>
        </p:txBody>
      </p:sp>
      <p:sp>
        <p:nvSpPr>
          <p:cNvPr id="6" name="object 6"/>
          <p:cNvSpPr txBox="1"/>
          <p:nvPr/>
        </p:nvSpPr>
        <p:spPr>
          <a:xfrm>
            <a:off x="6221002" y="1927048"/>
            <a:ext cx="1255395" cy="761365"/>
          </a:xfrm>
          <a:prstGeom prst="rect">
            <a:avLst/>
          </a:prstGeom>
        </p:spPr>
        <p:txBody>
          <a:bodyPr vert="horz" wrap="square" lIns="0" tIns="65405" rIns="0" bIns="0" rtlCol="0">
            <a:spAutoFit/>
          </a:bodyPr>
          <a:lstStyle/>
          <a:p>
            <a:pPr marL="254000" marR="5080" indent="-241300">
              <a:lnSpc>
                <a:spcPts val="2700"/>
              </a:lnSpc>
              <a:spcBef>
                <a:spcPts val="515"/>
              </a:spcBef>
              <a:tabLst>
                <a:tab pos="808990" algn="l"/>
                <a:tab pos="1047115" algn="l"/>
              </a:tabLst>
            </a:pPr>
            <a:r>
              <a:rPr sz="2550" spc="-25" dirty="0">
                <a:latin typeface="Calibri"/>
                <a:cs typeface="Calibri"/>
              </a:rPr>
              <a:t>and</a:t>
            </a:r>
            <a:r>
              <a:rPr sz="2550" dirty="0">
                <a:latin typeface="Calibri"/>
                <a:cs typeface="Calibri"/>
              </a:rPr>
              <a:t>	</a:t>
            </a:r>
            <a:r>
              <a:rPr sz="2550" spc="-35" dirty="0">
                <a:latin typeface="Calibri"/>
                <a:cs typeface="Calibri"/>
              </a:rPr>
              <a:t>the </a:t>
            </a:r>
            <a:r>
              <a:rPr sz="2550" spc="-25" dirty="0">
                <a:latin typeface="Calibri"/>
                <a:cs typeface="Calibri"/>
              </a:rPr>
              <a:t>and</a:t>
            </a:r>
            <a:r>
              <a:rPr sz="2550" dirty="0">
                <a:latin typeface="Calibri"/>
                <a:cs typeface="Calibri"/>
              </a:rPr>
              <a:t>		</a:t>
            </a:r>
            <a:r>
              <a:rPr sz="2550" spc="-50" dirty="0">
                <a:latin typeface="Calibri"/>
                <a:cs typeface="Calibri"/>
              </a:rPr>
              <a:t>is</a:t>
            </a:r>
            <a:endParaRPr sz="2550" dirty="0">
              <a:latin typeface="Calibri"/>
              <a:cs typeface="Calibri"/>
            </a:endParaRPr>
          </a:p>
        </p:txBody>
      </p:sp>
      <p:sp>
        <p:nvSpPr>
          <p:cNvPr id="7" name="object 7"/>
          <p:cNvSpPr txBox="1"/>
          <p:nvPr/>
        </p:nvSpPr>
        <p:spPr>
          <a:xfrm>
            <a:off x="619662" y="1927048"/>
            <a:ext cx="1457960" cy="1104265"/>
          </a:xfrm>
          <a:prstGeom prst="rect">
            <a:avLst/>
          </a:prstGeom>
        </p:spPr>
        <p:txBody>
          <a:bodyPr vert="horz" wrap="square" lIns="0" tIns="65405" rIns="0" bIns="0" rtlCol="0">
            <a:spAutoFit/>
          </a:bodyPr>
          <a:lstStyle/>
          <a:p>
            <a:pPr marL="12700" marR="5080" indent="635">
              <a:lnSpc>
                <a:spcPts val="2700"/>
              </a:lnSpc>
              <a:spcBef>
                <a:spcPts val="515"/>
              </a:spcBef>
            </a:pPr>
            <a:r>
              <a:rPr lang="en-IN" sz="2550" spc="-10" dirty="0">
                <a:latin typeface="Calibri"/>
                <a:cs typeface="Calibri"/>
              </a:rPr>
              <a:t>customer </a:t>
            </a:r>
            <a:r>
              <a:rPr lang="en-IN" sz="2550" spc="-30" dirty="0">
                <a:latin typeface="Calibri"/>
                <a:cs typeface="Calibri"/>
              </a:rPr>
              <a:t>constraints </a:t>
            </a:r>
            <a:r>
              <a:rPr lang="en-IN" sz="2550" spc="-40" dirty="0">
                <a:latin typeface="Calibri"/>
                <a:cs typeface="Calibri"/>
              </a:rPr>
              <a:t>developed.</a:t>
            </a:r>
            <a:endParaRPr lang="en-IN" sz="2550" dirty="0">
              <a:latin typeface="Calibri"/>
              <a:cs typeface="Calibri"/>
            </a:endParaRPr>
          </a:p>
        </p:txBody>
      </p:sp>
      <p:sp>
        <p:nvSpPr>
          <p:cNvPr id="8" name="object 8"/>
          <p:cNvSpPr txBox="1"/>
          <p:nvPr/>
        </p:nvSpPr>
        <p:spPr>
          <a:xfrm>
            <a:off x="617029" y="3711575"/>
            <a:ext cx="6852920" cy="1819343"/>
          </a:xfrm>
          <a:prstGeom prst="rect">
            <a:avLst/>
          </a:prstGeom>
        </p:spPr>
        <p:txBody>
          <a:bodyPr vert="horz" wrap="square" lIns="0" tIns="65404" rIns="0" bIns="0" rtlCol="0">
            <a:spAutoFit/>
          </a:bodyPr>
          <a:lstStyle/>
          <a:p>
            <a:pPr marL="12700" marR="5080" indent="2540" algn="just">
              <a:lnSpc>
                <a:spcPct val="87500"/>
              </a:lnSpc>
              <a:spcBef>
                <a:spcPts val="515"/>
              </a:spcBef>
            </a:pPr>
            <a:r>
              <a:rPr sz="2000" spc="-25" dirty="0">
                <a:latin typeface="Calibri"/>
                <a:cs typeface="Calibri"/>
              </a:rPr>
              <a:t>The</a:t>
            </a:r>
            <a:r>
              <a:rPr sz="2000" spc="-125" dirty="0">
                <a:latin typeface="Calibri"/>
                <a:cs typeface="Calibri"/>
              </a:rPr>
              <a:t> </a:t>
            </a:r>
            <a:r>
              <a:rPr sz="2000" spc="-30" dirty="0">
                <a:latin typeface="Calibri"/>
                <a:cs typeface="Calibri"/>
              </a:rPr>
              <a:t>requirements</a:t>
            </a:r>
            <a:r>
              <a:rPr sz="2000" spc="-25" dirty="0">
                <a:latin typeface="Calibri"/>
                <a:cs typeface="Calibri"/>
              </a:rPr>
              <a:t> </a:t>
            </a:r>
            <a:r>
              <a:rPr sz="2000" spc="-70" dirty="0">
                <a:latin typeface="Calibri"/>
                <a:cs typeface="Calibri"/>
              </a:rPr>
              <a:t>themselves</a:t>
            </a:r>
            <a:r>
              <a:rPr sz="2000" spc="-80" dirty="0">
                <a:latin typeface="Calibri"/>
                <a:cs typeface="Calibri"/>
              </a:rPr>
              <a:t> </a:t>
            </a:r>
            <a:r>
              <a:rPr sz="2000" spc="-35" dirty="0">
                <a:latin typeface="Calibri"/>
                <a:cs typeface="Calibri"/>
              </a:rPr>
              <a:t>are</a:t>
            </a:r>
            <a:r>
              <a:rPr sz="2000" spc="-110" dirty="0">
                <a:latin typeface="Calibri"/>
                <a:cs typeface="Calibri"/>
              </a:rPr>
              <a:t> </a:t>
            </a:r>
            <a:r>
              <a:rPr sz="2000" spc="-30" dirty="0">
                <a:latin typeface="Calibri"/>
                <a:cs typeface="Calibri"/>
              </a:rPr>
              <a:t>the</a:t>
            </a:r>
            <a:r>
              <a:rPr sz="2000" spc="-95" dirty="0">
                <a:latin typeface="Calibri"/>
                <a:cs typeface="Calibri"/>
              </a:rPr>
              <a:t> </a:t>
            </a:r>
            <a:r>
              <a:rPr sz="2000" spc="-40" dirty="0">
                <a:latin typeface="Calibri"/>
                <a:cs typeface="Calibri"/>
              </a:rPr>
              <a:t>descriptions</a:t>
            </a:r>
            <a:r>
              <a:rPr sz="2000" dirty="0">
                <a:latin typeface="Calibri"/>
                <a:cs typeface="Calibri"/>
              </a:rPr>
              <a:t> </a:t>
            </a:r>
            <a:r>
              <a:rPr sz="2000" spc="-25" dirty="0">
                <a:latin typeface="Calibri"/>
                <a:cs typeface="Calibri"/>
              </a:rPr>
              <a:t>of </a:t>
            </a:r>
            <a:r>
              <a:rPr sz="2000" dirty="0">
                <a:latin typeface="Calibri"/>
                <a:cs typeface="Calibri"/>
              </a:rPr>
              <a:t>the</a:t>
            </a:r>
            <a:r>
              <a:rPr sz="2000" spc="355" dirty="0">
                <a:latin typeface="Calibri"/>
                <a:cs typeface="Calibri"/>
              </a:rPr>
              <a:t>  </a:t>
            </a:r>
            <a:r>
              <a:rPr sz="2000" dirty="0">
                <a:latin typeface="Calibri"/>
                <a:cs typeface="Calibri"/>
              </a:rPr>
              <a:t>system</a:t>
            </a:r>
            <a:r>
              <a:rPr sz="2000" spc="375" dirty="0">
                <a:latin typeface="Calibri"/>
                <a:cs typeface="Calibri"/>
              </a:rPr>
              <a:t>  </a:t>
            </a:r>
            <a:r>
              <a:rPr sz="2000" dirty="0">
                <a:latin typeface="Calibri"/>
                <a:cs typeface="Calibri"/>
              </a:rPr>
              <a:t>services</a:t>
            </a:r>
            <a:r>
              <a:rPr sz="2000" spc="395" dirty="0">
                <a:latin typeface="Calibri"/>
                <a:cs typeface="Calibri"/>
              </a:rPr>
              <a:t>  </a:t>
            </a:r>
            <a:r>
              <a:rPr sz="2000" dirty="0">
                <a:latin typeface="Calibri"/>
                <a:cs typeface="Calibri"/>
              </a:rPr>
              <a:t>and</a:t>
            </a:r>
            <a:r>
              <a:rPr sz="2000" spc="345" dirty="0">
                <a:latin typeface="Calibri"/>
                <a:cs typeface="Calibri"/>
              </a:rPr>
              <a:t>  </a:t>
            </a:r>
            <a:r>
              <a:rPr sz="2000" dirty="0">
                <a:latin typeface="Calibri"/>
                <a:cs typeface="Calibri"/>
              </a:rPr>
              <a:t>constraints</a:t>
            </a:r>
            <a:r>
              <a:rPr sz="2000" spc="434" dirty="0">
                <a:latin typeface="Calibri"/>
                <a:cs typeface="Calibri"/>
              </a:rPr>
              <a:t>  </a:t>
            </a:r>
            <a:r>
              <a:rPr sz="2000" dirty="0">
                <a:latin typeface="Calibri"/>
                <a:cs typeface="Calibri"/>
              </a:rPr>
              <a:t>that</a:t>
            </a:r>
            <a:r>
              <a:rPr sz="2000" spc="380" dirty="0">
                <a:latin typeface="Calibri"/>
                <a:cs typeface="Calibri"/>
              </a:rPr>
              <a:t>  </a:t>
            </a:r>
            <a:r>
              <a:rPr sz="2000" spc="-25" dirty="0">
                <a:latin typeface="Calibri"/>
                <a:cs typeface="Calibri"/>
              </a:rPr>
              <a:t>are </a:t>
            </a:r>
            <a:r>
              <a:rPr sz="2000" dirty="0">
                <a:latin typeface="Calibri"/>
                <a:cs typeface="Calibri"/>
              </a:rPr>
              <a:t>generated</a:t>
            </a:r>
            <a:r>
              <a:rPr sz="2000" spc="250" dirty="0">
                <a:latin typeface="Calibri"/>
                <a:cs typeface="Calibri"/>
              </a:rPr>
              <a:t>  </a:t>
            </a:r>
            <a:r>
              <a:rPr sz="2000" dirty="0">
                <a:latin typeface="Calibri"/>
                <a:cs typeface="Calibri"/>
              </a:rPr>
              <a:t>during</a:t>
            </a:r>
            <a:r>
              <a:rPr sz="2000" spc="220" dirty="0">
                <a:latin typeface="Calibri"/>
                <a:cs typeface="Calibri"/>
              </a:rPr>
              <a:t>  </a:t>
            </a:r>
            <a:r>
              <a:rPr sz="2000" dirty="0">
                <a:latin typeface="Calibri"/>
                <a:cs typeface="Calibri"/>
              </a:rPr>
              <a:t>the</a:t>
            </a:r>
            <a:r>
              <a:rPr sz="2000" spc="195" dirty="0">
                <a:latin typeface="Calibri"/>
                <a:cs typeface="Calibri"/>
              </a:rPr>
              <a:t>  </a:t>
            </a:r>
            <a:r>
              <a:rPr sz="2000" dirty="0">
                <a:latin typeface="Calibri"/>
                <a:cs typeface="Calibri"/>
              </a:rPr>
              <a:t>requirements</a:t>
            </a:r>
            <a:r>
              <a:rPr sz="2000" spc="250" dirty="0">
                <a:latin typeface="Calibri"/>
                <a:cs typeface="Calibri"/>
              </a:rPr>
              <a:t>  </a:t>
            </a:r>
            <a:r>
              <a:rPr sz="2000" spc="-10" dirty="0">
                <a:latin typeface="Calibri"/>
                <a:cs typeface="Calibri"/>
              </a:rPr>
              <a:t>engineering process.</a:t>
            </a:r>
            <a:r>
              <a:rPr lang="en-IN" sz="2000" spc="-10" dirty="0">
                <a:latin typeface="Calibri"/>
                <a:cs typeface="Calibri"/>
              </a:rPr>
              <a:t> </a:t>
            </a:r>
          </a:p>
          <a:p>
            <a:pPr marL="12700" marR="5080" indent="2540" algn="just">
              <a:lnSpc>
                <a:spcPct val="87500"/>
              </a:lnSpc>
              <a:spcBef>
                <a:spcPts val="515"/>
              </a:spcBef>
            </a:pPr>
            <a:r>
              <a:rPr lang="en-IN" sz="2000" spc="-10" dirty="0">
                <a:latin typeface="Calibri"/>
                <a:cs typeface="Calibri"/>
              </a:rPr>
              <a:t>Purpose of Requirement analysis is to specify operational characteristics and constraints. </a:t>
            </a:r>
          </a:p>
          <a:p>
            <a:pPr marL="12700" marR="5080" indent="2540" algn="just">
              <a:lnSpc>
                <a:spcPct val="87500"/>
              </a:lnSpc>
              <a:spcBef>
                <a:spcPts val="515"/>
              </a:spcBef>
            </a:pPr>
            <a:r>
              <a:rPr lang="en-IN" sz="2000" spc="-10" dirty="0">
                <a:latin typeface="Calibri"/>
                <a:cs typeface="Calibri"/>
              </a:rPr>
              <a:t>Software engineer is responsible for requirement analysis.</a:t>
            </a:r>
            <a:endParaRPr sz="2000" dirty="0">
              <a:latin typeface="Calibri"/>
              <a:cs typeface="Calibri"/>
            </a:endParaRPr>
          </a:p>
        </p:txBody>
      </p:sp>
      <p:pic>
        <p:nvPicPr>
          <p:cNvPr id="9" name="Picture 2" descr="Profile for SRM Institute of Science and Technology">
            <a:extLst>
              <a:ext uri="{FF2B5EF4-FFF2-40B4-BE49-F238E27FC236}">
                <a16:creationId xmlns:a16="http://schemas.microsoft.com/office/drawing/2014/main" id="{E9B53D3C-9EF7-1C9D-FC80-A85634064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00BAE-5387-FEED-3E5B-FAA7F5635AB8}"/>
              </a:ext>
            </a:extLst>
          </p:cNvPr>
          <p:cNvSpPr>
            <a:spLocks noGrp="1"/>
          </p:cNvSpPr>
          <p:nvPr>
            <p:ph type="title"/>
          </p:nvPr>
        </p:nvSpPr>
        <p:spPr/>
        <p:txBody>
          <a:bodyPr>
            <a:normAutofit fontScale="90000"/>
          </a:bodyPr>
          <a:lstStyle/>
          <a:p>
            <a:r>
              <a:rPr lang="en-US" dirty="0"/>
              <a:t>TYPES OF SOFTWARE REQUIREMENTS</a:t>
            </a:r>
            <a:endParaRPr lang="en-IN" dirty="0"/>
          </a:p>
        </p:txBody>
      </p:sp>
      <p:sp>
        <p:nvSpPr>
          <p:cNvPr id="3" name="Content Placeholder 2">
            <a:extLst>
              <a:ext uri="{FF2B5EF4-FFF2-40B4-BE49-F238E27FC236}">
                <a16:creationId xmlns:a16="http://schemas.microsoft.com/office/drawing/2014/main" id="{CC254C96-C930-62BD-DC44-4D7B5BF6D80C}"/>
              </a:ext>
            </a:extLst>
          </p:cNvPr>
          <p:cNvSpPr>
            <a:spLocks noGrp="1"/>
          </p:cNvSpPr>
          <p:nvPr>
            <p:ph idx="1"/>
          </p:nvPr>
        </p:nvSpPr>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Software Requirements are mainly classified into three types: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Functional requirements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Non-functional requirements</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Domain requirements</a:t>
            </a:r>
            <a:endParaRPr lang="en-IN" dirty="0"/>
          </a:p>
        </p:txBody>
      </p:sp>
    </p:spTree>
    <p:extLst>
      <p:ext uri="{BB962C8B-B14F-4D97-AF65-F5344CB8AC3E}">
        <p14:creationId xmlns:p14="http://schemas.microsoft.com/office/powerpoint/2010/main" val="126985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72F4A-054F-4C96-A359-30962CE13993}"/>
              </a:ext>
            </a:extLst>
          </p:cNvPr>
          <p:cNvSpPr>
            <a:spLocks noGrp="1"/>
          </p:cNvSpPr>
          <p:nvPr>
            <p:ph type="title"/>
          </p:nvPr>
        </p:nvSpPr>
        <p:spPr/>
        <p:txBody>
          <a:bodyPr/>
          <a:lstStyle/>
          <a:p>
            <a:r>
              <a:rPr lang="en-US" dirty="0"/>
              <a:t>FUNCTIONAL REQUIREMENTS</a:t>
            </a:r>
            <a:endParaRPr lang="en-IN" dirty="0"/>
          </a:p>
        </p:txBody>
      </p:sp>
      <p:sp>
        <p:nvSpPr>
          <p:cNvPr id="3" name="Content Placeholder 2">
            <a:extLst>
              <a:ext uri="{FF2B5EF4-FFF2-40B4-BE49-F238E27FC236}">
                <a16:creationId xmlns:a16="http://schemas.microsoft.com/office/drawing/2014/main" id="{DA8930D1-C019-5C31-DE0D-D4E07D1D982F}"/>
              </a:ext>
            </a:extLst>
          </p:cNvPr>
          <p:cNvSpPr>
            <a:spLocks noGrp="1"/>
          </p:cNvSpPr>
          <p:nvPr>
            <p:ph idx="1"/>
          </p:nvPr>
        </p:nvSpPr>
        <p:spPr/>
        <p:txBody>
          <a:bodyPr>
            <a:normAutofit fontScale="85000" lnSpcReduction="10000"/>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1. Functional Requirements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Definition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Functional requirements describe what the software should do. They define the functions or features that the system must have.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Examples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User Authentication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system must allow users to log in using a username and password.</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Search Functionality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software should enable users to search for products by name or category.</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Report Generation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system should be able to generate sales reports for a specified date range.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Explanation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Functional requirements specify the actions that the software needs to perform. These are the basic features and functionalities that users expect from the software.</a:t>
            </a:r>
          </a:p>
          <a:p>
            <a:endParaRPr lang="en-IN" dirty="0"/>
          </a:p>
        </p:txBody>
      </p:sp>
    </p:spTree>
    <p:extLst>
      <p:ext uri="{BB962C8B-B14F-4D97-AF65-F5344CB8AC3E}">
        <p14:creationId xmlns:p14="http://schemas.microsoft.com/office/powerpoint/2010/main" val="2988439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C769E-98DB-CE82-73E1-38ABFB5E9AF7}"/>
              </a:ext>
            </a:extLst>
          </p:cNvPr>
          <p:cNvSpPr>
            <a:spLocks noGrp="1"/>
          </p:cNvSpPr>
          <p:nvPr>
            <p:ph type="title"/>
          </p:nvPr>
        </p:nvSpPr>
        <p:spPr/>
        <p:txBody>
          <a:bodyPr/>
          <a:lstStyle/>
          <a:p>
            <a:r>
              <a:rPr lang="en-US" dirty="0"/>
              <a:t>NON FUNCTIONAL REQUIREMENTS</a:t>
            </a:r>
            <a:endParaRPr lang="en-IN" dirty="0"/>
          </a:p>
        </p:txBody>
      </p:sp>
      <p:sp>
        <p:nvSpPr>
          <p:cNvPr id="3" name="Content Placeholder 2">
            <a:extLst>
              <a:ext uri="{FF2B5EF4-FFF2-40B4-BE49-F238E27FC236}">
                <a16:creationId xmlns:a16="http://schemas.microsoft.com/office/drawing/2014/main" id="{E7D1E9C4-49BD-6102-7D49-C4381CE1E05B}"/>
              </a:ext>
            </a:extLst>
          </p:cNvPr>
          <p:cNvSpPr>
            <a:spLocks noGrp="1"/>
          </p:cNvSpPr>
          <p:nvPr>
            <p:ph idx="1"/>
          </p:nvPr>
        </p:nvSpPr>
        <p:spPr/>
        <p:txBody>
          <a:bodyPr>
            <a:normAutofit fontScale="85000" lnSpcReduction="10000"/>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2. Non-functional Requirements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Definition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Non-functional requirements describe how the software performs a task rather than what it should do. They define the quality attributes, performance criteria, and constraints and security aspects of a system.</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Examples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Performance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system should process 1,000 transactions per second.</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Usability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software should be easy to use and have a user-friendly interface.</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Reliability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system must have 99.9% uptime.</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Security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Data must be encrypted during transmission and storage.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Explanation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Non-functional requirements are about the system’s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behavior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quality, and constraints. They ensure that the software meets certain standards of performance, usability, reliability, and security.</a:t>
            </a:r>
          </a:p>
          <a:p>
            <a:pPr marL="0" indent="0">
              <a:buNone/>
            </a:pPr>
            <a:endParaRPr lang="en-IN" dirty="0"/>
          </a:p>
        </p:txBody>
      </p:sp>
    </p:spTree>
    <p:extLst>
      <p:ext uri="{BB962C8B-B14F-4D97-AF65-F5344CB8AC3E}">
        <p14:creationId xmlns:p14="http://schemas.microsoft.com/office/powerpoint/2010/main" val="2457882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9F73-7939-D501-C5D0-5362185A3445}"/>
              </a:ext>
            </a:extLst>
          </p:cNvPr>
          <p:cNvSpPr>
            <a:spLocks noGrp="1"/>
          </p:cNvSpPr>
          <p:nvPr>
            <p:ph type="title"/>
          </p:nvPr>
        </p:nvSpPr>
        <p:spPr/>
        <p:txBody>
          <a:bodyPr/>
          <a:lstStyle/>
          <a:p>
            <a:r>
              <a:rPr lang="en-US" dirty="0"/>
              <a:t>DOMAIN REQUIREMENTS</a:t>
            </a:r>
            <a:endParaRPr lang="en-IN" dirty="0"/>
          </a:p>
        </p:txBody>
      </p:sp>
      <p:sp>
        <p:nvSpPr>
          <p:cNvPr id="3" name="Content Placeholder 2">
            <a:extLst>
              <a:ext uri="{FF2B5EF4-FFF2-40B4-BE49-F238E27FC236}">
                <a16:creationId xmlns:a16="http://schemas.microsoft.com/office/drawing/2014/main" id="{D27CCA0F-93D0-19B8-3641-EE61225B3B14}"/>
              </a:ext>
            </a:extLst>
          </p:cNvPr>
          <p:cNvSpPr>
            <a:spLocks noGrp="1"/>
          </p:cNvSpPr>
          <p:nvPr>
            <p:ph idx="1"/>
          </p:nvPr>
        </p:nvSpPr>
        <p:spPr/>
        <p:txBody>
          <a:bodyPr>
            <a:normAutofit fontScale="85000" lnSpcReduction="10000"/>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3. Domain Requirements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Definition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Domain requirements are specific to the domain or industry in which the software operates. They include terminology, rules, and standards relevant to that particular domain.</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Examples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Healthcare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software must comply with HIPAA regulations for handling patient data.</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Finance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system should adhere to GAAP standards for financial reporting.</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E-commerce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software should support various payment gateways like PayPal, Stripe, and credit cards.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Explanation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Domain requirements reflect the unique needs and constraints of a particular industry. They ensure that the software is relevant and compliant with industry-specific regulations and standards.</a:t>
            </a:r>
          </a:p>
          <a:p>
            <a:pPr marL="0" indent="0">
              <a:buNone/>
            </a:pPr>
            <a:endParaRPr lang="en-IN" dirty="0"/>
          </a:p>
        </p:txBody>
      </p:sp>
    </p:spTree>
    <p:extLst>
      <p:ext uri="{BB962C8B-B14F-4D97-AF65-F5344CB8AC3E}">
        <p14:creationId xmlns:p14="http://schemas.microsoft.com/office/powerpoint/2010/main" val="407141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5553" y="436386"/>
            <a:ext cx="5499100" cy="878840"/>
          </a:xfrm>
          <a:prstGeom prst="rect">
            <a:avLst/>
          </a:prstGeom>
        </p:spPr>
        <p:txBody>
          <a:bodyPr vert="horz" wrap="square" lIns="0" tIns="80010" rIns="0" bIns="0" rtlCol="0">
            <a:spAutoFit/>
          </a:bodyPr>
          <a:lstStyle/>
          <a:p>
            <a:pPr marL="12700" marR="5080" indent="24765">
              <a:lnSpc>
                <a:spcPts val="3100"/>
              </a:lnSpc>
              <a:spcBef>
                <a:spcPts val="630"/>
              </a:spcBef>
            </a:pPr>
            <a:r>
              <a:rPr sz="3000" spc="200" dirty="0">
                <a:latin typeface="Calibri"/>
                <a:cs typeface="Calibri"/>
              </a:rPr>
              <a:t>functional</a:t>
            </a:r>
            <a:r>
              <a:rPr sz="3000" spc="310" dirty="0">
                <a:latin typeface="Calibri"/>
                <a:cs typeface="Calibri"/>
              </a:rPr>
              <a:t> </a:t>
            </a:r>
            <a:r>
              <a:rPr sz="3000" spc="254" dirty="0">
                <a:latin typeface="Calibri"/>
                <a:cs typeface="Calibri"/>
              </a:rPr>
              <a:t>and</a:t>
            </a:r>
            <a:r>
              <a:rPr sz="3000" spc="-70" dirty="0">
                <a:latin typeface="Calibri"/>
                <a:cs typeface="Calibri"/>
              </a:rPr>
              <a:t> </a:t>
            </a:r>
            <a:r>
              <a:rPr sz="3000" spc="204" dirty="0">
                <a:latin typeface="Calibri"/>
                <a:cs typeface="Calibri"/>
              </a:rPr>
              <a:t>Non-</a:t>
            </a:r>
            <a:r>
              <a:rPr sz="3000" spc="160" dirty="0">
                <a:latin typeface="Calibri"/>
                <a:cs typeface="Calibri"/>
              </a:rPr>
              <a:t>Functional </a:t>
            </a:r>
            <a:r>
              <a:rPr sz="3000" spc="155" dirty="0">
                <a:latin typeface="Calibri"/>
                <a:cs typeface="Calibri"/>
              </a:rPr>
              <a:t>Requirements</a:t>
            </a:r>
            <a:r>
              <a:rPr lang="en-US" sz="3000" spc="155" dirty="0">
                <a:latin typeface="Calibri"/>
                <a:cs typeface="Calibri"/>
              </a:rPr>
              <a:t> -Summary</a:t>
            </a:r>
            <a:endParaRPr sz="3000" dirty="0">
              <a:latin typeface="Calibri"/>
              <a:cs typeface="Calibri"/>
            </a:endParaRPr>
          </a:p>
        </p:txBody>
      </p:sp>
      <p:sp>
        <p:nvSpPr>
          <p:cNvPr id="3" name="object 3"/>
          <p:cNvSpPr txBox="1"/>
          <p:nvPr/>
        </p:nvSpPr>
        <p:spPr>
          <a:xfrm>
            <a:off x="659038" y="1534735"/>
            <a:ext cx="6703695" cy="3366770"/>
          </a:xfrm>
          <a:prstGeom prst="rect">
            <a:avLst/>
          </a:prstGeom>
        </p:spPr>
        <p:txBody>
          <a:bodyPr vert="horz" wrap="square" lIns="0" tIns="33655" rIns="0" bIns="0" rtlCol="0">
            <a:spAutoFit/>
          </a:bodyPr>
          <a:lstStyle/>
          <a:p>
            <a:pPr marL="182245" indent="-156845">
              <a:lnSpc>
                <a:spcPct val="100000"/>
              </a:lnSpc>
              <a:spcBef>
                <a:spcPts val="265"/>
              </a:spcBef>
              <a:buChar char="•"/>
              <a:tabLst>
                <a:tab pos="182245" algn="l"/>
              </a:tabLst>
            </a:pPr>
            <a:r>
              <a:rPr sz="2000" spc="-10" dirty="0">
                <a:latin typeface="Arial MT"/>
                <a:cs typeface="Arial MT"/>
              </a:rPr>
              <a:t>Functional</a:t>
            </a:r>
            <a:r>
              <a:rPr sz="2000" spc="-55" dirty="0">
                <a:latin typeface="Arial MT"/>
                <a:cs typeface="Arial MT"/>
              </a:rPr>
              <a:t> </a:t>
            </a:r>
            <a:r>
              <a:rPr sz="2000" spc="-10" dirty="0">
                <a:latin typeface="Arial MT"/>
                <a:cs typeface="Arial MT"/>
              </a:rPr>
              <a:t>requirements</a:t>
            </a:r>
            <a:endParaRPr sz="2000">
              <a:latin typeface="Arial MT"/>
              <a:cs typeface="Arial MT"/>
            </a:endParaRPr>
          </a:p>
          <a:p>
            <a:pPr marL="481330" marR="5080" lvl="1" indent="-158750">
              <a:lnSpc>
                <a:spcPct val="90600"/>
              </a:lnSpc>
              <a:spcBef>
                <a:spcPts val="345"/>
              </a:spcBef>
              <a:buChar char="•"/>
              <a:tabLst>
                <a:tab pos="481330" algn="l"/>
                <a:tab pos="488950" algn="l"/>
              </a:tabLst>
            </a:pPr>
            <a:r>
              <a:rPr sz="1750" dirty="0">
                <a:latin typeface="Calibri"/>
                <a:cs typeface="Calibri"/>
              </a:rPr>
              <a:t>	</a:t>
            </a:r>
            <a:r>
              <a:rPr sz="1750" spc="-10" dirty="0">
                <a:latin typeface="Calibri"/>
                <a:cs typeface="Calibri"/>
              </a:rPr>
              <a:t>Statements</a:t>
            </a:r>
            <a:r>
              <a:rPr sz="1750" spc="55" dirty="0">
                <a:latin typeface="Calibri"/>
                <a:cs typeface="Calibri"/>
              </a:rPr>
              <a:t> </a:t>
            </a:r>
            <a:r>
              <a:rPr sz="1750" dirty="0">
                <a:latin typeface="Calibri"/>
                <a:cs typeface="Calibri"/>
              </a:rPr>
              <a:t>of</a:t>
            </a:r>
            <a:r>
              <a:rPr sz="1750" spc="-70" dirty="0">
                <a:latin typeface="Calibri"/>
                <a:cs typeface="Calibri"/>
              </a:rPr>
              <a:t> </a:t>
            </a:r>
            <a:r>
              <a:rPr sz="1750" dirty="0">
                <a:latin typeface="Calibri"/>
                <a:cs typeface="Calibri"/>
              </a:rPr>
              <a:t>services</a:t>
            </a:r>
            <a:r>
              <a:rPr sz="1750" spc="30" dirty="0">
                <a:latin typeface="Calibri"/>
                <a:cs typeface="Calibri"/>
              </a:rPr>
              <a:t> </a:t>
            </a:r>
            <a:r>
              <a:rPr sz="1750" dirty="0">
                <a:latin typeface="Calibri"/>
                <a:cs typeface="Calibri"/>
              </a:rPr>
              <a:t>the</a:t>
            </a:r>
            <a:r>
              <a:rPr sz="1750" spc="-65" dirty="0">
                <a:latin typeface="Calibri"/>
                <a:cs typeface="Calibri"/>
              </a:rPr>
              <a:t> </a:t>
            </a:r>
            <a:r>
              <a:rPr sz="1750" dirty="0">
                <a:latin typeface="Calibri"/>
                <a:cs typeface="Calibri"/>
              </a:rPr>
              <a:t>system</a:t>
            </a:r>
            <a:r>
              <a:rPr sz="1750" spc="30" dirty="0">
                <a:latin typeface="Calibri"/>
                <a:cs typeface="Calibri"/>
              </a:rPr>
              <a:t> </a:t>
            </a:r>
            <a:r>
              <a:rPr sz="1750" dirty="0">
                <a:latin typeface="Calibri"/>
                <a:cs typeface="Calibri"/>
              </a:rPr>
              <a:t>should</a:t>
            </a:r>
            <a:r>
              <a:rPr sz="1750" spc="-25" dirty="0">
                <a:latin typeface="Calibri"/>
                <a:cs typeface="Calibri"/>
              </a:rPr>
              <a:t> </a:t>
            </a:r>
            <a:r>
              <a:rPr sz="1750" dirty="0">
                <a:latin typeface="Calibri"/>
                <a:cs typeface="Calibri"/>
              </a:rPr>
              <a:t>provide,</a:t>
            </a:r>
            <a:r>
              <a:rPr sz="1750" spc="65" dirty="0">
                <a:latin typeface="Calibri"/>
                <a:cs typeface="Calibri"/>
              </a:rPr>
              <a:t> </a:t>
            </a:r>
            <a:r>
              <a:rPr sz="1750" dirty="0">
                <a:latin typeface="Calibri"/>
                <a:cs typeface="Calibri"/>
              </a:rPr>
              <a:t>how</a:t>
            </a:r>
            <a:r>
              <a:rPr sz="1750" spc="40" dirty="0">
                <a:latin typeface="Calibri"/>
                <a:cs typeface="Calibri"/>
              </a:rPr>
              <a:t> </a:t>
            </a:r>
            <a:r>
              <a:rPr sz="1750" dirty="0">
                <a:solidFill>
                  <a:srgbClr val="151515"/>
                </a:solidFill>
                <a:latin typeface="Calibri"/>
                <a:cs typeface="Calibri"/>
              </a:rPr>
              <a:t>the</a:t>
            </a:r>
            <a:r>
              <a:rPr sz="1750" spc="25" dirty="0">
                <a:solidFill>
                  <a:srgbClr val="151515"/>
                </a:solidFill>
                <a:latin typeface="Calibri"/>
                <a:cs typeface="Calibri"/>
              </a:rPr>
              <a:t> </a:t>
            </a:r>
            <a:r>
              <a:rPr sz="1750" spc="-10" dirty="0">
                <a:latin typeface="Calibri"/>
                <a:cs typeface="Calibri"/>
              </a:rPr>
              <a:t>system </a:t>
            </a:r>
            <a:r>
              <a:rPr sz="1750" dirty="0">
                <a:latin typeface="Calibri"/>
                <a:cs typeface="Calibri"/>
              </a:rPr>
              <a:t>should</a:t>
            </a:r>
            <a:r>
              <a:rPr sz="1750" spc="30" dirty="0">
                <a:latin typeface="Calibri"/>
                <a:cs typeface="Calibri"/>
              </a:rPr>
              <a:t> </a:t>
            </a:r>
            <a:r>
              <a:rPr sz="1750" dirty="0">
                <a:latin typeface="Calibri"/>
                <a:cs typeface="Calibri"/>
              </a:rPr>
              <a:t>react</a:t>
            </a:r>
            <a:r>
              <a:rPr sz="1750" spc="15" dirty="0">
                <a:latin typeface="Calibri"/>
                <a:cs typeface="Calibri"/>
              </a:rPr>
              <a:t> </a:t>
            </a:r>
            <a:r>
              <a:rPr sz="1750" dirty="0">
                <a:latin typeface="Calibri"/>
                <a:cs typeface="Calibri"/>
              </a:rPr>
              <a:t>to</a:t>
            </a:r>
            <a:r>
              <a:rPr sz="1750" spc="-50" dirty="0">
                <a:latin typeface="Calibri"/>
                <a:cs typeface="Calibri"/>
              </a:rPr>
              <a:t> </a:t>
            </a:r>
            <a:r>
              <a:rPr sz="1750" dirty="0">
                <a:latin typeface="Calibri"/>
                <a:cs typeface="Calibri"/>
              </a:rPr>
              <a:t>particular</a:t>
            </a:r>
            <a:r>
              <a:rPr sz="1750" spc="-15" dirty="0">
                <a:latin typeface="Calibri"/>
                <a:cs typeface="Calibri"/>
              </a:rPr>
              <a:t> </a:t>
            </a:r>
            <a:r>
              <a:rPr sz="1750" dirty="0">
                <a:latin typeface="Calibri"/>
                <a:cs typeface="Calibri"/>
              </a:rPr>
              <a:t>inputs</a:t>
            </a:r>
            <a:r>
              <a:rPr sz="1750" spc="55" dirty="0">
                <a:latin typeface="Calibri"/>
                <a:cs typeface="Calibri"/>
              </a:rPr>
              <a:t> </a:t>
            </a:r>
            <a:r>
              <a:rPr sz="1750" dirty="0">
                <a:latin typeface="Calibri"/>
                <a:cs typeface="Calibri"/>
              </a:rPr>
              <a:t>and</a:t>
            </a:r>
            <a:r>
              <a:rPr sz="1750" spc="10" dirty="0">
                <a:latin typeface="Calibri"/>
                <a:cs typeface="Calibri"/>
              </a:rPr>
              <a:t> </a:t>
            </a:r>
            <a:r>
              <a:rPr sz="1750" dirty="0">
                <a:latin typeface="Calibri"/>
                <a:cs typeface="Calibri"/>
              </a:rPr>
              <a:t>how</a:t>
            </a:r>
            <a:r>
              <a:rPr sz="1750" spc="20" dirty="0">
                <a:latin typeface="Calibri"/>
                <a:cs typeface="Calibri"/>
              </a:rPr>
              <a:t> </a:t>
            </a:r>
            <a:r>
              <a:rPr sz="1750" dirty="0">
                <a:latin typeface="Calibri"/>
                <a:cs typeface="Calibri"/>
              </a:rPr>
              <a:t>the system</a:t>
            </a:r>
            <a:r>
              <a:rPr sz="1750" spc="-70" dirty="0">
                <a:latin typeface="Calibri"/>
                <a:cs typeface="Calibri"/>
              </a:rPr>
              <a:t> </a:t>
            </a:r>
            <a:r>
              <a:rPr sz="1750" dirty="0">
                <a:latin typeface="Calibri"/>
                <a:cs typeface="Calibri"/>
              </a:rPr>
              <a:t>shpuld</a:t>
            </a:r>
            <a:r>
              <a:rPr sz="1750" spc="-45" dirty="0">
                <a:latin typeface="Calibri"/>
                <a:cs typeface="Calibri"/>
              </a:rPr>
              <a:t> </a:t>
            </a:r>
            <a:r>
              <a:rPr sz="1750" spc="-10" dirty="0">
                <a:latin typeface="Calibri"/>
                <a:cs typeface="Calibri"/>
              </a:rPr>
              <a:t>behave </a:t>
            </a:r>
            <a:r>
              <a:rPr sz="1800" dirty="0">
                <a:solidFill>
                  <a:srgbClr val="161616"/>
                </a:solidFill>
                <a:latin typeface="Calibri"/>
                <a:cs typeface="Calibri"/>
              </a:rPr>
              <a:t>in</a:t>
            </a:r>
            <a:r>
              <a:rPr sz="1800" spc="-35" dirty="0">
                <a:solidFill>
                  <a:srgbClr val="161616"/>
                </a:solidFill>
                <a:latin typeface="Calibri"/>
                <a:cs typeface="Calibri"/>
              </a:rPr>
              <a:t> </a:t>
            </a:r>
            <a:r>
              <a:rPr sz="1800" spc="-20" dirty="0">
                <a:latin typeface="Calibri"/>
                <a:cs typeface="Calibri"/>
              </a:rPr>
              <a:t>particular</a:t>
            </a:r>
            <a:r>
              <a:rPr sz="1800" spc="20" dirty="0">
                <a:latin typeface="Calibri"/>
                <a:cs typeface="Calibri"/>
              </a:rPr>
              <a:t> </a:t>
            </a:r>
            <a:r>
              <a:rPr sz="1800" spc="-10" dirty="0">
                <a:latin typeface="Calibri"/>
                <a:cs typeface="Calibri"/>
              </a:rPr>
              <a:t>situations.</a:t>
            </a:r>
            <a:endParaRPr sz="1800">
              <a:latin typeface="Calibri"/>
              <a:cs typeface="Calibri"/>
            </a:endParaRPr>
          </a:p>
          <a:p>
            <a:pPr marL="485140" lvl="1" indent="-167005">
              <a:lnSpc>
                <a:spcPct val="100000"/>
              </a:lnSpc>
              <a:spcBef>
                <a:spcPts val="90"/>
              </a:spcBef>
              <a:buChar char="•"/>
              <a:tabLst>
                <a:tab pos="485140" algn="l"/>
              </a:tabLst>
            </a:pPr>
            <a:r>
              <a:rPr sz="2100" dirty="0">
                <a:latin typeface="Calibri"/>
                <a:cs typeface="Calibri"/>
              </a:rPr>
              <a:t>May</a:t>
            </a:r>
            <a:r>
              <a:rPr sz="2100" spc="-20" dirty="0">
                <a:latin typeface="Calibri"/>
                <a:cs typeface="Calibri"/>
              </a:rPr>
              <a:t> </a:t>
            </a:r>
            <a:r>
              <a:rPr sz="2100" dirty="0">
                <a:latin typeface="Calibri"/>
                <a:cs typeface="Calibri"/>
              </a:rPr>
              <a:t>state</a:t>
            </a:r>
            <a:r>
              <a:rPr sz="2100" spc="70" dirty="0">
                <a:latin typeface="Calibri"/>
                <a:cs typeface="Calibri"/>
              </a:rPr>
              <a:t> </a:t>
            </a:r>
            <a:r>
              <a:rPr sz="2100" dirty="0">
                <a:latin typeface="Calibri"/>
                <a:cs typeface="Calibri"/>
              </a:rPr>
              <a:t>what</a:t>
            </a:r>
            <a:r>
              <a:rPr sz="2100" spc="25" dirty="0">
                <a:latin typeface="Calibri"/>
                <a:cs typeface="Calibri"/>
              </a:rPr>
              <a:t> </a:t>
            </a:r>
            <a:r>
              <a:rPr sz="2100" dirty="0">
                <a:latin typeface="Calibri"/>
                <a:cs typeface="Calibri"/>
              </a:rPr>
              <a:t>the</a:t>
            </a:r>
            <a:r>
              <a:rPr sz="2100" spc="-5" dirty="0">
                <a:latin typeface="Calibri"/>
                <a:cs typeface="Calibri"/>
              </a:rPr>
              <a:t> </a:t>
            </a:r>
            <a:r>
              <a:rPr sz="2100" dirty="0">
                <a:latin typeface="Calibri"/>
                <a:cs typeface="Calibri"/>
              </a:rPr>
              <a:t>system</a:t>
            </a:r>
            <a:r>
              <a:rPr sz="2100" spc="25" dirty="0">
                <a:latin typeface="Calibri"/>
                <a:cs typeface="Calibri"/>
              </a:rPr>
              <a:t> </a:t>
            </a:r>
            <a:r>
              <a:rPr sz="2100" dirty="0">
                <a:latin typeface="Calibri"/>
                <a:cs typeface="Calibri"/>
              </a:rPr>
              <a:t>should</a:t>
            </a:r>
            <a:r>
              <a:rPr sz="2100" spc="5" dirty="0">
                <a:latin typeface="Calibri"/>
                <a:cs typeface="Calibri"/>
              </a:rPr>
              <a:t> </a:t>
            </a:r>
            <a:r>
              <a:rPr sz="2100" dirty="0">
                <a:latin typeface="Calibri"/>
                <a:cs typeface="Calibri"/>
              </a:rPr>
              <a:t>not</a:t>
            </a:r>
            <a:r>
              <a:rPr sz="2100" spc="5" dirty="0">
                <a:latin typeface="Calibri"/>
                <a:cs typeface="Calibri"/>
              </a:rPr>
              <a:t> </a:t>
            </a:r>
            <a:r>
              <a:rPr sz="2100" spc="-25" dirty="0">
                <a:latin typeface="Calibri"/>
                <a:cs typeface="Calibri"/>
              </a:rPr>
              <a:t>do.</a:t>
            </a:r>
            <a:endParaRPr sz="2100">
              <a:latin typeface="Calibri"/>
              <a:cs typeface="Calibri"/>
            </a:endParaRPr>
          </a:p>
          <a:p>
            <a:pPr marL="180340" indent="-167640">
              <a:lnSpc>
                <a:spcPct val="100000"/>
              </a:lnSpc>
              <a:spcBef>
                <a:spcPts val="380"/>
              </a:spcBef>
              <a:buChar char="•"/>
              <a:tabLst>
                <a:tab pos="180340" algn="l"/>
              </a:tabLst>
            </a:pPr>
            <a:r>
              <a:rPr sz="2200" spc="-25" dirty="0">
                <a:latin typeface="Calibri"/>
                <a:cs typeface="Calibri"/>
              </a:rPr>
              <a:t>Non-</a:t>
            </a:r>
            <a:r>
              <a:rPr sz="2200" spc="-20" dirty="0">
                <a:latin typeface="Calibri"/>
                <a:cs typeface="Calibri"/>
              </a:rPr>
              <a:t>functional</a:t>
            </a:r>
            <a:r>
              <a:rPr sz="2200" spc="-50" dirty="0">
                <a:latin typeface="Calibri"/>
                <a:cs typeface="Calibri"/>
              </a:rPr>
              <a:t> </a:t>
            </a:r>
            <a:r>
              <a:rPr sz="2200" spc="-10" dirty="0">
                <a:latin typeface="Calibri"/>
                <a:cs typeface="Calibri"/>
              </a:rPr>
              <a:t>requirements</a:t>
            </a:r>
            <a:endParaRPr sz="2200">
              <a:latin typeface="Calibri"/>
              <a:cs typeface="Calibri"/>
            </a:endParaRPr>
          </a:p>
          <a:p>
            <a:pPr marL="485775" marR="31750" indent="-635">
              <a:lnSpc>
                <a:spcPct val="87900"/>
              </a:lnSpc>
              <a:spcBef>
                <a:spcPts val="880"/>
              </a:spcBef>
            </a:pPr>
            <a:r>
              <a:rPr sz="1850" spc="-10" dirty="0">
                <a:latin typeface="Calibri"/>
                <a:cs typeface="Calibri"/>
              </a:rPr>
              <a:t>Constraints</a:t>
            </a:r>
            <a:r>
              <a:rPr sz="1850" spc="-5" dirty="0">
                <a:latin typeface="Calibri"/>
                <a:cs typeface="Calibri"/>
              </a:rPr>
              <a:t> </a:t>
            </a:r>
            <a:r>
              <a:rPr sz="1850" spc="-45" dirty="0">
                <a:solidFill>
                  <a:srgbClr val="1A1A1A"/>
                </a:solidFill>
                <a:latin typeface="Calibri"/>
                <a:cs typeface="Calibri"/>
              </a:rPr>
              <a:t>on </a:t>
            </a:r>
            <a:r>
              <a:rPr sz="1850" spc="-60" dirty="0">
                <a:latin typeface="Calibri"/>
                <a:cs typeface="Calibri"/>
              </a:rPr>
              <a:t>the</a:t>
            </a:r>
            <a:r>
              <a:rPr sz="1850" spc="-45" dirty="0">
                <a:latin typeface="Calibri"/>
                <a:cs typeface="Calibri"/>
              </a:rPr>
              <a:t> </a:t>
            </a:r>
            <a:r>
              <a:rPr sz="1850" spc="-40" dirty="0">
                <a:latin typeface="Calibri"/>
                <a:cs typeface="Calibri"/>
              </a:rPr>
              <a:t>services</a:t>
            </a:r>
            <a:r>
              <a:rPr sz="1850" spc="60" dirty="0">
                <a:latin typeface="Calibri"/>
                <a:cs typeface="Calibri"/>
              </a:rPr>
              <a:t> </a:t>
            </a:r>
            <a:r>
              <a:rPr sz="1850" dirty="0">
                <a:latin typeface="Calibri"/>
                <a:cs typeface="Calibri"/>
              </a:rPr>
              <a:t>of </a:t>
            </a:r>
            <a:r>
              <a:rPr sz="1850" spc="-50" dirty="0">
                <a:latin typeface="Calibri"/>
                <a:cs typeface="Calibri"/>
              </a:rPr>
              <a:t>functions</a:t>
            </a:r>
            <a:r>
              <a:rPr sz="1850" spc="-35" dirty="0">
                <a:latin typeface="Calibri"/>
                <a:cs typeface="Calibri"/>
              </a:rPr>
              <a:t> </a:t>
            </a:r>
            <a:r>
              <a:rPr sz="1850" spc="-40" dirty="0">
                <a:latin typeface="Calibri"/>
                <a:cs typeface="Calibri"/>
              </a:rPr>
              <a:t>offered</a:t>
            </a:r>
            <a:r>
              <a:rPr sz="1850" spc="-60" dirty="0">
                <a:latin typeface="Calibri"/>
                <a:cs typeface="Calibri"/>
              </a:rPr>
              <a:t> </a:t>
            </a:r>
            <a:r>
              <a:rPr sz="1850" dirty="0">
                <a:latin typeface="Calibri"/>
                <a:cs typeface="Calibri"/>
              </a:rPr>
              <a:t>by</a:t>
            </a:r>
            <a:r>
              <a:rPr sz="1850" spc="-35" dirty="0">
                <a:latin typeface="Calibri"/>
                <a:cs typeface="Calibri"/>
              </a:rPr>
              <a:t> </a:t>
            </a:r>
            <a:r>
              <a:rPr sz="1850" spc="-60" dirty="0">
                <a:latin typeface="Calibri"/>
                <a:cs typeface="Calibri"/>
              </a:rPr>
              <a:t>the</a:t>
            </a:r>
            <a:r>
              <a:rPr sz="1850" spc="-40" dirty="0">
                <a:latin typeface="Calibri"/>
                <a:cs typeface="Calibri"/>
              </a:rPr>
              <a:t> </a:t>
            </a:r>
            <a:r>
              <a:rPr sz="1850" spc="-45" dirty="0">
                <a:latin typeface="Calibri"/>
                <a:cs typeface="Calibri"/>
              </a:rPr>
              <a:t>system</a:t>
            </a:r>
            <a:r>
              <a:rPr sz="1850" spc="10" dirty="0">
                <a:latin typeface="Calibri"/>
                <a:cs typeface="Calibri"/>
              </a:rPr>
              <a:t> </a:t>
            </a:r>
            <a:r>
              <a:rPr sz="1850" spc="-20" dirty="0">
                <a:latin typeface="Calibri"/>
                <a:cs typeface="Calibri"/>
              </a:rPr>
              <a:t>such </a:t>
            </a:r>
            <a:r>
              <a:rPr sz="1900" spc="-50" dirty="0">
                <a:solidFill>
                  <a:srgbClr val="282828"/>
                </a:solidFill>
                <a:latin typeface="Calibri"/>
                <a:cs typeface="Calibri"/>
              </a:rPr>
              <a:t>as</a:t>
            </a:r>
            <a:r>
              <a:rPr sz="1900" spc="-60" dirty="0">
                <a:solidFill>
                  <a:srgbClr val="282828"/>
                </a:solidFill>
                <a:latin typeface="Calibri"/>
                <a:cs typeface="Calibri"/>
              </a:rPr>
              <a:t> </a:t>
            </a:r>
            <a:r>
              <a:rPr sz="1900" spc="-75" dirty="0">
                <a:latin typeface="Calibri"/>
                <a:cs typeface="Calibri"/>
              </a:rPr>
              <a:t>timing</a:t>
            </a:r>
            <a:r>
              <a:rPr sz="1900" spc="-30" dirty="0">
                <a:latin typeface="Calibri"/>
                <a:cs typeface="Calibri"/>
              </a:rPr>
              <a:t> </a:t>
            </a:r>
            <a:r>
              <a:rPr sz="1900" spc="-60" dirty="0">
                <a:latin typeface="Calibri"/>
                <a:cs typeface="Calibri"/>
              </a:rPr>
              <a:t>constraints,</a:t>
            </a:r>
            <a:r>
              <a:rPr sz="1900" dirty="0">
                <a:latin typeface="Calibri"/>
                <a:cs typeface="Calibri"/>
              </a:rPr>
              <a:t> </a:t>
            </a:r>
            <a:r>
              <a:rPr sz="1900" spc="-70" dirty="0">
                <a:latin typeface="Calibri"/>
                <a:cs typeface="Calibri"/>
              </a:rPr>
              <a:t>constraints</a:t>
            </a:r>
            <a:r>
              <a:rPr sz="1900" spc="85" dirty="0">
                <a:latin typeface="Calibri"/>
                <a:cs typeface="Calibri"/>
              </a:rPr>
              <a:t> </a:t>
            </a:r>
            <a:r>
              <a:rPr sz="1900" spc="-95" dirty="0">
                <a:latin typeface="Calibri"/>
                <a:cs typeface="Calibri"/>
              </a:rPr>
              <a:t>on</a:t>
            </a:r>
            <a:r>
              <a:rPr sz="1900" spc="-10" dirty="0">
                <a:latin typeface="Calibri"/>
                <a:cs typeface="Calibri"/>
              </a:rPr>
              <a:t> </a:t>
            </a:r>
            <a:r>
              <a:rPr sz="1900" spc="-90" dirty="0">
                <a:latin typeface="Calibri"/>
                <a:cs typeface="Calibri"/>
              </a:rPr>
              <a:t>the</a:t>
            </a:r>
            <a:r>
              <a:rPr sz="1900" spc="-55" dirty="0">
                <a:latin typeface="Calibri"/>
                <a:cs typeface="Calibri"/>
              </a:rPr>
              <a:t> </a:t>
            </a:r>
            <a:r>
              <a:rPr sz="1900" spc="-75" dirty="0">
                <a:latin typeface="Calibri"/>
                <a:cs typeface="Calibri"/>
              </a:rPr>
              <a:t>development</a:t>
            </a:r>
            <a:r>
              <a:rPr sz="1900" spc="90" dirty="0">
                <a:latin typeface="Calibri"/>
                <a:cs typeface="Calibri"/>
              </a:rPr>
              <a:t> </a:t>
            </a:r>
            <a:r>
              <a:rPr sz="1900" spc="-10" dirty="0">
                <a:latin typeface="Calibri"/>
                <a:cs typeface="Calibri"/>
              </a:rPr>
              <a:t>process, </a:t>
            </a:r>
            <a:r>
              <a:rPr sz="1900" spc="-75" dirty="0">
                <a:latin typeface="Calibri"/>
                <a:cs typeface="Calibri"/>
              </a:rPr>
              <a:t>standards,</a:t>
            </a:r>
            <a:r>
              <a:rPr sz="1900" spc="30" dirty="0">
                <a:latin typeface="Calibri"/>
                <a:cs typeface="Calibri"/>
              </a:rPr>
              <a:t> </a:t>
            </a:r>
            <a:r>
              <a:rPr sz="1900" spc="-20" dirty="0">
                <a:latin typeface="Calibri"/>
                <a:cs typeface="Calibri"/>
              </a:rPr>
              <a:t>etc.</a:t>
            </a:r>
            <a:endParaRPr sz="1900">
              <a:latin typeface="Calibri"/>
              <a:cs typeface="Calibri"/>
            </a:endParaRPr>
          </a:p>
          <a:p>
            <a:pPr marL="180340" indent="-167005">
              <a:lnSpc>
                <a:spcPct val="100000"/>
              </a:lnSpc>
              <a:spcBef>
                <a:spcPts val="420"/>
              </a:spcBef>
              <a:buChar char="•"/>
              <a:tabLst>
                <a:tab pos="180340" algn="l"/>
              </a:tabLst>
            </a:pPr>
            <a:r>
              <a:rPr sz="2100" dirty="0">
                <a:latin typeface="Calibri"/>
                <a:cs typeface="Calibri"/>
              </a:rPr>
              <a:t>Domain</a:t>
            </a:r>
            <a:r>
              <a:rPr sz="2100" spc="95" dirty="0">
                <a:latin typeface="Calibri"/>
                <a:cs typeface="Calibri"/>
              </a:rPr>
              <a:t> </a:t>
            </a:r>
            <a:r>
              <a:rPr sz="2100" spc="-10" dirty="0">
                <a:latin typeface="Calibri"/>
                <a:cs typeface="Calibri"/>
              </a:rPr>
              <a:t>requirements</a:t>
            </a:r>
            <a:endParaRPr sz="2100">
              <a:latin typeface="Calibri"/>
              <a:cs typeface="Calibri"/>
            </a:endParaRPr>
          </a:p>
          <a:p>
            <a:pPr marL="486409" lvl="1" indent="-162560">
              <a:lnSpc>
                <a:spcPct val="100000"/>
              </a:lnSpc>
              <a:spcBef>
                <a:spcPts val="180"/>
              </a:spcBef>
              <a:buClr>
                <a:srgbClr val="000000"/>
              </a:buClr>
              <a:buChar char="•"/>
              <a:tabLst>
                <a:tab pos="486409" algn="l"/>
              </a:tabLst>
            </a:pPr>
            <a:r>
              <a:rPr sz="1700" dirty="0">
                <a:solidFill>
                  <a:srgbClr val="111111"/>
                </a:solidFill>
                <a:latin typeface="Calibri"/>
                <a:cs typeface="Calibri"/>
              </a:rPr>
              <a:t>Constraints</a:t>
            </a:r>
            <a:r>
              <a:rPr sz="1700" spc="215" dirty="0">
                <a:solidFill>
                  <a:srgbClr val="111111"/>
                </a:solidFill>
                <a:latin typeface="Calibri"/>
                <a:cs typeface="Calibri"/>
              </a:rPr>
              <a:t> </a:t>
            </a:r>
            <a:r>
              <a:rPr sz="1700" dirty="0">
                <a:latin typeface="Calibri"/>
                <a:cs typeface="Calibri"/>
              </a:rPr>
              <a:t>on</a:t>
            </a:r>
            <a:r>
              <a:rPr sz="1700" spc="110" dirty="0">
                <a:latin typeface="Calibri"/>
                <a:cs typeface="Calibri"/>
              </a:rPr>
              <a:t> </a:t>
            </a:r>
            <a:r>
              <a:rPr sz="1700" dirty="0">
                <a:latin typeface="Calibri"/>
                <a:cs typeface="Calibri"/>
              </a:rPr>
              <a:t>the</a:t>
            </a:r>
            <a:r>
              <a:rPr sz="1700" spc="105" dirty="0">
                <a:latin typeface="Calibri"/>
                <a:cs typeface="Calibri"/>
              </a:rPr>
              <a:t> </a:t>
            </a:r>
            <a:r>
              <a:rPr sz="1700" dirty="0">
                <a:latin typeface="Calibri"/>
                <a:cs typeface="Calibri"/>
              </a:rPr>
              <a:t>system</a:t>
            </a:r>
            <a:r>
              <a:rPr sz="1700" spc="140" dirty="0">
                <a:latin typeface="Calibri"/>
                <a:cs typeface="Calibri"/>
              </a:rPr>
              <a:t> </a:t>
            </a:r>
            <a:r>
              <a:rPr sz="1700" dirty="0">
                <a:solidFill>
                  <a:srgbClr val="111111"/>
                </a:solidFill>
                <a:latin typeface="Calibri"/>
                <a:cs typeface="Calibri"/>
              </a:rPr>
              <a:t>from</a:t>
            </a:r>
            <a:r>
              <a:rPr sz="1700" spc="20" dirty="0">
                <a:solidFill>
                  <a:srgbClr val="111111"/>
                </a:solidFill>
                <a:latin typeface="Calibri"/>
                <a:cs typeface="Calibri"/>
              </a:rPr>
              <a:t> </a:t>
            </a:r>
            <a:r>
              <a:rPr sz="1700" dirty="0">
                <a:latin typeface="Calibri"/>
                <a:cs typeface="Calibri"/>
              </a:rPr>
              <a:t>the</a:t>
            </a:r>
            <a:r>
              <a:rPr sz="1700" spc="95" dirty="0">
                <a:latin typeface="Calibri"/>
                <a:cs typeface="Calibri"/>
              </a:rPr>
              <a:t> </a:t>
            </a:r>
            <a:r>
              <a:rPr sz="1700" dirty="0">
                <a:latin typeface="Calibri"/>
                <a:cs typeface="Calibri"/>
              </a:rPr>
              <a:t>domain</a:t>
            </a:r>
            <a:r>
              <a:rPr sz="1700" spc="229" dirty="0">
                <a:latin typeface="Calibri"/>
                <a:cs typeface="Calibri"/>
              </a:rPr>
              <a:t> </a:t>
            </a:r>
            <a:r>
              <a:rPr sz="1700" spc="-30" dirty="0">
                <a:latin typeface="Calibri"/>
                <a:cs typeface="Calibri"/>
              </a:rPr>
              <a:t>of</a:t>
            </a:r>
            <a:r>
              <a:rPr sz="1700" spc="100" dirty="0">
                <a:latin typeface="Calibri"/>
                <a:cs typeface="Calibri"/>
              </a:rPr>
              <a:t> </a:t>
            </a:r>
            <a:r>
              <a:rPr sz="1700" spc="-10" dirty="0">
                <a:latin typeface="Calibri"/>
                <a:cs typeface="Calibri"/>
              </a:rPr>
              <a:t>operation</a:t>
            </a:r>
            <a:endParaRPr sz="170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72B01D43-889C-C81C-35A9-D8A0F3BB1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849" y="345123"/>
            <a:ext cx="6455071" cy="635742"/>
          </a:xfrm>
          <a:prstGeom prst="rect">
            <a:avLst/>
          </a:prstGeom>
        </p:spPr>
        <p:txBody>
          <a:bodyPr vert="horz" wrap="square" lIns="0" tIns="15739" rIns="0" bIns="0" rtlCol="0" anchor="ctr">
            <a:spAutoFit/>
          </a:bodyPr>
          <a:lstStyle/>
          <a:p>
            <a:pPr marL="730170">
              <a:spcBef>
                <a:spcPts val="124"/>
              </a:spcBef>
            </a:pPr>
            <a:r>
              <a:rPr sz="4028" spc="-58" dirty="0"/>
              <a:t>Level</a:t>
            </a:r>
            <a:r>
              <a:rPr sz="4028" spc="-155" dirty="0"/>
              <a:t> </a:t>
            </a:r>
            <a:r>
              <a:rPr sz="4028" dirty="0"/>
              <a:t>of</a:t>
            </a:r>
            <a:r>
              <a:rPr sz="4028" spc="-181" dirty="0"/>
              <a:t> </a:t>
            </a:r>
            <a:r>
              <a:rPr sz="4028" spc="-22" dirty="0"/>
              <a:t>the</a:t>
            </a:r>
            <a:r>
              <a:rPr sz="4028" spc="-168" dirty="0"/>
              <a:t> </a:t>
            </a:r>
            <a:r>
              <a:rPr sz="4028" spc="-101" dirty="0"/>
              <a:t>requirements</a:t>
            </a:r>
            <a:endParaRPr sz="4028"/>
          </a:p>
        </p:txBody>
      </p:sp>
      <p:sp>
        <p:nvSpPr>
          <p:cNvPr id="3" name="object 3"/>
          <p:cNvSpPr txBox="1"/>
          <p:nvPr/>
        </p:nvSpPr>
        <p:spPr>
          <a:xfrm>
            <a:off x="464217" y="1332275"/>
            <a:ext cx="6856968" cy="4019035"/>
          </a:xfrm>
          <a:prstGeom prst="rect">
            <a:avLst/>
          </a:prstGeom>
        </p:spPr>
        <p:txBody>
          <a:bodyPr vert="horz" wrap="square" lIns="0" tIns="53961" rIns="0" bIns="0" rtlCol="0">
            <a:spAutoFit/>
          </a:bodyPr>
          <a:lstStyle/>
          <a:p>
            <a:pPr marL="327705" indent="-316463">
              <a:spcBef>
                <a:spcPts val="425"/>
              </a:spcBef>
              <a:buChar char="•"/>
              <a:tabLst>
                <a:tab pos="327705" algn="l"/>
              </a:tabLst>
            </a:pPr>
            <a:r>
              <a:rPr sz="2877" dirty="0">
                <a:latin typeface="Calibri"/>
                <a:cs typeface="Calibri"/>
              </a:rPr>
              <a:t>High</a:t>
            </a:r>
            <a:r>
              <a:rPr sz="2877" spc="-142" dirty="0">
                <a:latin typeface="Calibri"/>
                <a:cs typeface="Calibri"/>
              </a:rPr>
              <a:t> </a:t>
            </a:r>
            <a:r>
              <a:rPr sz="2877" spc="-9" dirty="0">
                <a:latin typeface="Calibri"/>
                <a:cs typeface="Calibri"/>
              </a:rPr>
              <a:t>level:</a:t>
            </a:r>
            <a:r>
              <a:rPr sz="2877" spc="-120" dirty="0">
                <a:latin typeface="Calibri"/>
                <a:cs typeface="Calibri"/>
              </a:rPr>
              <a:t> </a:t>
            </a:r>
            <a:r>
              <a:rPr sz="2877" spc="-22" dirty="0">
                <a:latin typeface="Calibri"/>
                <a:cs typeface="Calibri"/>
              </a:rPr>
              <a:t>Business</a:t>
            </a:r>
            <a:r>
              <a:rPr sz="2877" spc="-27" dirty="0">
                <a:latin typeface="Calibri"/>
                <a:cs typeface="Calibri"/>
              </a:rPr>
              <a:t> </a:t>
            </a:r>
            <a:r>
              <a:rPr sz="2877" spc="-9" dirty="0">
                <a:latin typeface="Calibri"/>
                <a:cs typeface="Calibri"/>
              </a:rPr>
              <a:t>requirement</a:t>
            </a:r>
            <a:endParaRPr sz="2877">
              <a:latin typeface="Calibri"/>
              <a:cs typeface="Calibri"/>
            </a:endParaRPr>
          </a:p>
          <a:p>
            <a:pPr marL="682954" lvl="1" indent="-296228">
              <a:spcBef>
                <a:spcPts val="305"/>
              </a:spcBef>
              <a:buChar char="—"/>
              <a:tabLst>
                <a:tab pos="682954" algn="l"/>
              </a:tabLst>
            </a:pPr>
            <a:r>
              <a:rPr sz="2479" spc="-9" dirty="0">
                <a:latin typeface="Calibri"/>
                <a:cs typeface="Calibri"/>
              </a:rPr>
              <a:t>Business</a:t>
            </a:r>
            <a:r>
              <a:rPr sz="2479" spc="31" dirty="0">
                <a:latin typeface="Calibri"/>
                <a:cs typeface="Calibri"/>
              </a:rPr>
              <a:t> </a:t>
            </a:r>
            <a:r>
              <a:rPr sz="2479" dirty="0">
                <a:latin typeface="Calibri"/>
                <a:cs typeface="Calibri"/>
              </a:rPr>
              <a:t>view:</a:t>
            </a:r>
            <a:r>
              <a:rPr sz="2479" spc="-18" dirty="0">
                <a:latin typeface="Calibri"/>
                <a:cs typeface="Calibri"/>
              </a:rPr>
              <a:t> </a:t>
            </a:r>
            <a:r>
              <a:rPr sz="2479" dirty="0">
                <a:latin typeface="Calibri"/>
                <a:cs typeface="Calibri"/>
              </a:rPr>
              <a:t>Why</a:t>
            </a:r>
            <a:r>
              <a:rPr sz="2479" spc="-13" dirty="0">
                <a:latin typeface="Calibri"/>
                <a:cs typeface="Calibri"/>
              </a:rPr>
              <a:t> </a:t>
            </a:r>
            <a:r>
              <a:rPr sz="2479" dirty="0">
                <a:latin typeface="Calibri"/>
                <a:cs typeface="Calibri"/>
              </a:rPr>
              <a:t>is</a:t>
            </a:r>
            <a:r>
              <a:rPr sz="2479" spc="-120" dirty="0">
                <a:latin typeface="Calibri"/>
                <a:cs typeface="Calibri"/>
              </a:rPr>
              <a:t> </a:t>
            </a:r>
            <a:r>
              <a:rPr sz="2479" dirty="0">
                <a:latin typeface="Calibri"/>
                <a:cs typeface="Calibri"/>
              </a:rPr>
              <a:t>the</a:t>
            </a:r>
            <a:r>
              <a:rPr sz="2479" spc="-80" dirty="0">
                <a:latin typeface="Calibri"/>
                <a:cs typeface="Calibri"/>
              </a:rPr>
              <a:t> </a:t>
            </a:r>
            <a:r>
              <a:rPr sz="2479" dirty="0">
                <a:latin typeface="Calibri"/>
                <a:cs typeface="Calibri"/>
              </a:rPr>
              <a:t>project</a:t>
            </a:r>
            <a:r>
              <a:rPr sz="2479" spc="-18" dirty="0">
                <a:latin typeface="Calibri"/>
                <a:cs typeface="Calibri"/>
              </a:rPr>
              <a:t> </a:t>
            </a:r>
            <a:r>
              <a:rPr sz="2479" spc="-9" dirty="0">
                <a:latin typeface="Calibri"/>
                <a:cs typeface="Calibri"/>
              </a:rPr>
              <a:t>needed?</a:t>
            </a:r>
            <a:endParaRPr sz="2479">
              <a:latin typeface="Calibri"/>
              <a:cs typeface="Calibri"/>
            </a:endParaRPr>
          </a:p>
          <a:p>
            <a:pPr marL="331078" indent="-319836">
              <a:spcBef>
                <a:spcPts val="288"/>
              </a:spcBef>
              <a:buChar char="•"/>
              <a:tabLst>
                <a:tab pos="331078" algn="l"/>
              </a:tabLst>
            </a:pPr>
            <a:r>
              <a:rPr sz="2877" dirty="0">
                <a:latin typeface="Calibri"/>
                <a:cs typeface="Calibri"/>
              </a:rPr>
              <a:t>Mid</a:t>
            </a:r>
            <a:r>
              <a:rPr sz="2877" spc="-133" dirty="0">
                <a:latin typeface="Calibri"/>
                <a:cs typeface="Calibri"/>
              </a:rPr>
              <a:t> </a:t>
            </a:r>
            <a:r>
              <a:rPr sz="2877" spc="-9" dirty="0">
                <a:latin typeface="Calibri"/>
                <a:cs typeface="Calibri"/>
              </a:rPr>
              <a:t>level:</a:t>
            </a:r>
            <a:r>
              <a:rPr sz="2877" spc="-128" dirty="0">
                <a:latin typeface="Calibri"/>
                <a:cs typeface="Calibri"/>
              </a:rPr>
              <a:t> </a:t>
            </a:r>
            <a:r>
              <a:rPr sz="2877" dirty="0">
                <a:latin typeface="Calibri"/>
                <a:cs typeface="Calibri"/>
              </a:rPr>
              <a:t>User</a:t>
            </a:r>
            <a:r>
              <a:rPr sz="2877" spc="-120" dirty="0">
                <a:latin typeface="Calibri"/>
                <a:cs typeface="Calibri"/>
              </a:rPr>
              <a:t> </a:t>
            </a:r>
            <a:r>
              <a:rPr sz="2877" spc="-9" dirty="0">
                <a:latin typeface="Calibri"/>
                <a:cs typeface="Calibri"/>
              </a:rPr>
              <a:t>requirements</a:t>
            </a:r>
            <a:endParaRPr sz="2877">
              <a:latin typeface="Calibri"/>
              <a:cs typeface="Calibri"/>
            </a:endParaRPr>
          </a:p>
          <a:p>
            <a:pPr marL="681268" lvl="1" indent="-306346">
              <a:spcBef>
                <a:spcPts val="195"/>
              </a:spcBef>
              <a:buChar char="—"/>
              <a:tabLst>
                <a:tab pos="681268" algn="l"/>
              </a:tabLst>
            </a:pPr>
            <a:r>
              <a:rPr sz="2567" spc="-22" dirty="0">
                <a:latin typeface="Calibri"/>
                <a:cs typeface="Calibri"/>
              </a:rPr>
              <a:t>User</a:t>
            </a:r>
            <a:r>
              <a:rPr sz="2567" spc="-111" dirty="0">
                <a:latin typeface="Calibri"/>
                <a:cs typeface="Calibri"/>
              </a:rPr>
              <a:t> </a:t>
            </a:r>
            <a:r>
              <a:rPr sz="2567" spc="-31" dirty="0">
                <a:latin typeface="Calibri"/>
                <a:cs typeface="Calibri"/>
              </a:rPr>
              <a:t>view:</a:t>
            </a:r>
            <a:r>
              <a:rPr sz="2567" spc="-75" dirty="0">
                <a:latin typeface="Calibri"/>
                <a:cs typeface="Calibri"/>
              </a:rPr>
              <a:t> </a:t>
            </a:r>
            <a:r>
              <a:rPr sz="2567" spc="-58" dirty="0">
                <a:latin typeface="Calibri"/>
                <a:cs typeface="Calibri"/>
              </a:rPr>
              <a:t>What</a:t>
            </a:r>
            <a:r>
              <a:rPr sz="2567" spc="-80" dirty="0">
                <a:latin typeface="Calibri"/>
                <a:cs typeface="Calibri"/>
              </a:rPr>
              <a:t> </a:t>
            </a:r>
            <a:r>
              <a:rPr sz="2567" dirty="0">
                <a:latin typeface="Calibri"/>
                <a:cs typeface="Calibri"/>
              </a:rPr>
              <a:t>do</a:t>
            </a:r>
            <a:r>
              <a:rPr sz="2567" spc="-137" dirty="0">
                <a:latin typeface="Calibri"/>
                <a:cs typeface="Calibri"/>
              </a:rPr>
              <a:t> </a:t>
            </a:r>
            <a:r>
              <a:rPr sz="2567" spc="-53" dirty="0">
                <a:latin typeface="Calibri"/>
                <a:cs typeface="Calibri"/>
              </a:rPr>
              <a:t>users</a:t>
            </a:r>
            <a:r>
              <a:rPr sz="2567" spc="-89" dirty="0">
                <a:latin typeface="Calibri"/>
                <a:cs typeface="Calibri"/>
              </a:rPr>
              <a:t> </a:t>
            </a:r>
            <a:r>
              <a:rPr sz="2567" spc="-18" dirty="0">
                <a:latin typeface="Calibri"/>
                <a:cs typeface="Calibri"/>
              </a:rPr>
              <a:t>need</a:t>
            </a:r>
            <a:r>
              <a:rPr sz="2567" spc="-89" dirty="0">
                <a:latin typeface="Calibri"/>
                <a:cs typeface="Calibri"/>
              </a:rPr>
              <a:t> </a:t>
            </a:r>
            <a:r>
              <a:rPr sz="2567" spc="-22" dirty="0">
                <a:latin typeface="Calibri"/>
                <a:cs typeface="Calibri"/>
              </a:rPr>
              <a:t>the</a:t>
            </a:r>
            <a:r>
              <a:rPr sz="2567" spc="-124" dirty="0">
                <a:latin typeface="Calibri"/>
                <a:cs typeface="Calibri"/>
              </a:rPr>
              <a:t> </a:t>
            </a:r>
            <a:r>
              <a:rPr sz="2567" spc="-75" dirty="0">
                <a:latin typeface="Calibri"/>
                <a:cs typeface="Calibri"/>
              </a:rPr>
              <a:t>system</a:t>
            </a:r>
            <a:r>
              <a:rPr sz="2567" spc="-66" dirty="0">
                <a:latin typeface="Calibri"/>
                <a:cs typeface="Calibri"/>
              </a:rPr>
              <a:t> </a:t>
            </a:r>
            <a:r>
              <a:rPr sz="2567" spc="-22" dirty="0">
                <a:latin typeface="Calibri"/>
                <a:cs typeface="Calibri"/>
              </a:rPr>
              <a:t>do?</a:t>
            </a:r>
            <a:endParaRPr sz="2567">
              <a:latin typeface="Calibri"/>
              <a:cs typeface="Calibri"/>
            </a:endParaRPr>
          </a:p>
          <a:p>
            <a:pPr marL="331078" indent="-319836">
              <a:spcBef>
                <a:spcPts val="314"/>
              </a:spcBef>
              <a:buChar char="•"/>
              <a:tabLst>
                <a:tab pos="331078" algn="l"/>
              </a:tabLst>
            </a:pPr>
            <a:r>
              <a:rPr sz="2833" spc="-9" dirty="0">
                <a:latin typeface="Calibri"/>
                <a:cs typeface="Calibri"/>
              </a:rPr>
              <a:t>Detailed:</a:t>
            </a:r>
            <a:r>
              <a:rPr sz="2833" spc="-31" dirty="0">
                <a:latin typeface="Calibri"/>
                <a:cs typeface="Calibri"/>
              </a:rPr>
              <a:t> </a:t>
            </a:r>
            <a:r>
              <a:rPr sz="2833" spc="-18" dirty="0">
                <a:latin typeface="Calibri"/>
                <a:cs typeface="Calibri"/>
              </a:rPr>
              <a:t>System</a:t>
            </a:r>
            <a:r>
              <a:rPr sz="2833" spc="-89" dirty="0">
                <a:latin typeface="Calibri"/>
                <a:cs typeface="Calibri"/>
              </a:rPr>
              <a:t> </a:t>
            </a:r>
            <a:r>
              <a:rPr sz="2833" spc="-9" dirty="0">
                <a:latin typeface="Calibri"/>
                <a:cs typeface="Calibri"/>
              </a:rPr>
              <a:t>requirements</a:t>
            </a:r>
            <a:endParaRPr sz="2833">
              <a:latin typeface="Calibri"/>
              <a:cs typeface="Calibri"/>
            </a:endParaRPr>
          </a:p>
          <a:p>
            <a:pPr marL="682954" lvl="1" indent="-300725">
              <a:spcBef>
                <a:spcPts val="270"/>
              </a:spcBef>
              <a:buChar char="—"/>
              <a:tabLst>
                <a:tab pos="682954" algn="l"/>
              </a:tabLst>
            </a:pPr>
            <a:r>
              <a:rPr sz="2523" spc="-31" dirty="0">
                <a:latin typeface="Calibri"/>
                <a:cs typeface="Calibri"/>
              </a:rPr>
              <a:t>System</a:t>
            </a:r>
            <a:r>
              <a:rPr sz="2523" spc="-66" dirty="0">
                <a:latin typeface="Calibri"/>
                <a:cs typeface="Calibri"/>
              </a:rPr>
              <a:t> </a:t>
            </a:r>
            <a:r>
              <a:rPr sz="2523" dirty="0">
                <a:latin typeface="Calibri"/>
                <a:cs typeface="Calibri"/>
              </a:rPr>
              <a:t>view:</a:t>
            </a:r>
            <a:r>
              <a:rPr sz="2523" spc="-80" dirty="0">
                <a:latin typeface="Calibri"/>
                <a:cs typeface="Calibri"/>
              </a:rPr>
              <a:t> </a:t>
            </a:r>
            <a:r>
              <a:rPr sz="2523" spc="-18" dirty="0">
                <a:latin typeface="Calibri"/>
                <a:cs typeface="Calibri"/>
              </a:rPr>
              <a:t>What</a:t>
            </a:r>
            <a:r>
              <a:rPr sz="2523" spc="-80" dirty="0">
                <a:latin typeface="Calibri"/>
                <a:cs typeface="Calibri"/>
              </a:rPr>
              <a:t> </a:t>
            </a:r>
            <a:r>
              <a:rPr sz="2523" dirty="0">
                <a:latin typeface="Calibri"/>
                <a:cs typeface="Calibri"/>
              </a:rPr>
              <a:t>does</a:t>
            </a:r>
            <a:r>
              <a:rPr sz="2523" spc="-89" dirty="0">
                <a:latin typeface="Calibri"/>
                <a:cs typeface="Calibri"/>
              </a:rPr>
              <a:t> </a:t>
            </a:r>
            <a:r>
              <a:rPr sz="2523" dirty="0">
                <a:latin typeface="Calibri"/>
                <a:cs typeface="Calibri"/>
              </a:rPr>
              <a:t>the</a:t>
            </a:r>
            <a:r>
              <a:rPr sz="2523" spc="-120" dirty="0">
                <a:latin typeface="Calibri"/>
                <a:cs typeface="Calibri"/>
              </a:rPr>
              <a:t> </a:t>
            </a:r>
            <a:r>
              <a:rPr sz="2523" spc="-31" dirty="0">
                <a:latin typeface="Calibri"/>
                <a:cs typeface="Calibri"/>
              </a:rPr>
              <a:t>system</a:t>
            </a:r>
            <a:r>
              <a:rPr sz="2523" spc="-80" dirty="0">
                <a:latin typeface="Calibri"/>
                <a:cs typeface="Calibri"/>
              </a:rPr>
              <a:t> </a:t>
            </a:r>
            <a:r>
              <a:rPr sz="2523" dirty="0">
                <a:latin typeface="Calibri"/>
                <a:cs typeface="Calibri"/>
              </a:rPr>
              <a:t>need</a:t>
            </a:r>
            <a:r>
              <a:rPr sz="2523" spc="-89" dirty="0">
                <a:latin typeface="Calibri"/>
                <a:cs typeface="Calibri"/>
              </a:rPr>
              <a:t> </a:t>
            </a:r>
            <a:r>
              <a:rPr sz="2523" dirty="0">
                <a:latin typeface="Calibri"/>
                <a:cs typeface="Calibri"/>
              </a:rPr>
              <a:t>to</a:t>
            </a:r>
            <a:r>
              <a:rPr sz="2523" spc="-133" dirty="0">
                <a:latin typeface="Calibri"/>
                <a:cs typeface="Calibri"/>
              </a:rPr>
              <a:t> </a:t>
            </a:r>
            <a:r>
              <a:rPr sz="2523" spc="-22" dirty="0">
                <a:latin typeface="Calibri"/>
                <a:cs typeface="Calibri"/>
              </a:rPr>
              <a:t>do?</a:t>
            </a:r>
            <a:endParaRPr sz="2523">
              <a:latin typeface="Calibri"/>
              <a:cs typeface="Calibri"/>
            </a:endParaRPr>
          </a:p>
          <a:p>
            <a:pPr>
              <a:spcBef>
                <a:spcPts val="863"/>
              </a:spcBef>
            </a:pPr>
            <a:endParaRPr sz="2523">
              <a:latin typeface="Calibri"/>
              <a:cs typeface="Calibri"/>
            </a:endParaRPr>
          </a:p>
          <a:p>
            <a:pPr marL="24732" marR="785819" indent="-562">
              <a:lnSpc>
                <a:spcPts val="3089"/>
              </a:lnSpc>
              <a:spcBef>
                <a:spcPts val="4"/>
              </a:spcBef>
              <a:tabLst>
                <a:tab pos="3621061" algn="l"/>
              </a:tabLst>
            </a:pPr>
            <a:r>
              <a:rPr sz="2877" spc="-62" dirty="0">
                <a:latin typeface="Calibri"/>
                <a:cs typeface="Calibri"/>
              </a:rPr>
              <a:t>High-</a:t>
            </a:r>
            <a:r>
              <a:rPr sz="2877" dirty="0">
                <a:latin typeface="Calibri"/>
                <a:cs typeface="Calibri"/>
              </a:rPr>
              <a:t>level </a:t>
            </a:r>
            <a:r>
              <a:rPr sz="2877" spc="-9" dirty="0">
                <a:latin typeface="Calibri"/>
                <a:cs typeface="Calibri"/>
              </a:rPr>
              <a:t>requirements</a:t>
            </a:r>
            <a:r>
              <a:rPr sz="2877" dirty="0">
                <a:latin typeface="Calibri"/>
                <a:cs typeface="Calibri"/>
              </a:rPr>
              <a:t>	</a:t>
            </a:r>
            <a:r>
              <a:rPr sz="2877" spc="-27" dirty="0">
                <a:latin typeface="Calibri"/>
                <a:cs typeface="Calibri"/>
              </a:rPr>
              <a:t>cascade</a:t>
            </a:r>
            <a:r>
              <a:rPr sz="2877" spc="-120" dirty="0">
                <a:latin typeface="Calibri"/>
                <a:cs typeface="Calibri"/>
              </a:rPr>
              <a:t> </a:t>
            </a:r>
            <a:r>
              <a:rPr sz="2877" spc="-9" dirty="0">
                <a:latin typeface="Calibri"/>
                <a:cs typeface="Calibri"/>
              </a:rPr>
              <a:t>down</a:t>
            </a:r>
            <a:r>
              <a:rPr sz="2877" spc="-115" dirty="0">
                <a:latin typeface="Calibri"/>
                <a:cs typeface="Calibri"/>
              </a:rPr>
              <a:t> </a:t>
            </a:r>
            <a:r>
              <a:rPr sz="2877" spc="-22" dirty="0">
                <a:latin typeface="Calibri"/>
                <a:cs typeface="Calibri"/>
              </a:rPr>
              <a:t>to </a:t>
            </a:r>
            <a:r>
              <a:rPr sz="2877" spc="-18" dirty="0">
                <a:latin typeface="Calibri"/>
                <a:cs typeface="Calibri"/>
              </a:rPr>
              <a:t>specific</a:t>
            </a:r>
            <a:r>
              <a:rPr sz="2877" spc="-93" dirty="0">
                <a:latin typeface="Calibri"/>
                <a:cs typeface="Calibri"/>
              </a:rPr>
              <a:t> </a:t>
            </a:r>
            <a:r>
              <a:rPr sz="2877" spc="-9" dirty="0">
                <a:latin typeface="Calibri"/>
                <a:cs typeface="Calibri"/>
              </a:rPr>
              <a:t>detail</a:t>
            </a:r>
            <a:endParaRPr sz="2877">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849" y="345123"/>
            <a:ext cx="6455071" cy="635742"/>
          </a:xfrm>
          <a:prstGeom prst="rect">
            <a:avLst/>
          </a:prstGeom>
        </p:spPr>
        <p:txBody>
          <a:bodyPr vert="horz" wrap="square" lIns="0" tIns="15739" rIns="0" bIns="0" rtlCol="0" anchor="ctr">
            <a:spAutoFit/>
          </a:bodyPr>
          <a:lstStyle/>
          <a:p>
            <a:pPr marL="2003894">
              <a:spcBef>
                <a:spcPts val="124"/>
              </a:spcBef>
            </a:pPr>
            <a:r>
              <a:rPr sz="4028" spc="-53" dirty="0"/>
              <a:t>Classification</a:t>
            </a:r>
            <a:endParaRPr sz="4028"/>
          </a:p>
        </p:txBody>
      </p:sp>
      <p:sp>
        <p:nvSpPr>
          <p:cNvPr id="3" name="object 3"/>
          <p:cNvSpPr txBox="1">
            <a:spLocks noGrp="1"/>
          </p:cNvSpPr>
          <p:nvPr>
            <p:ph type="body" idx="1"/>
          </p:nvPr>
        </p:nvSpPr>
        <p:spPr>
          <a:xfrm>
            <a:off x="362849" y="1253842"/>
            <a:ext cx="6455071" cy="4575260"/>
          </a:xfrm>
          <a:prstGeom prst="rect">
            <a:avLst/>
          </a:prstGeom>
        </p:spPr>
        <p:txBody>
          <a:bodyPr vert="horz" wrap="square" lIns="0" tIns="20797" rIns="0" bIns="0" rtlCol="0">
            <a:spAutoFit/>
          </a:bodyPr>
          <a:lstStyle/>
          <a:p>
            <a:pPr marL="328268" marR="119166" indent="-317588">
              <a:lnSpc>
                <a:spcPct val="98300"/>
              </a:lnSpc>
              <a:spcBef>
                <a:spcPts val="164"/>
              </a:spcBef>
              <a:tabLst>
                <a:tab pos="328268" algn="l"/>
                <a:tab pos="329954" algn="l"/>
              </a:tabLst>
            </a:pPr>
            <a:r>
              <a:rPr dirty="0"/>
              <a:t>	</a:t>
            </a:r>
            <a:r>
              <a:rPr spc="-22" dirty="0"/>
              <a:t>Solution</a:t>
            </a:r>
            <a:r>
              <a:rPr spc="-58" dirty="0"/>
              <a:t> </a:t>
            </a:r>
            <a:r>
              <a:rPr spc="-35" dirty="0"/>
              <a:t>requirements:</a:t>
            </a:r>
            <a:r>
              <a:rPr spc="13" dirty="0"/>
              <a:t> </a:t>
            </a:r>
            <a:r>
              <a:rPr spc="-22" dirty="0"/>
              <a:t>Solution</a:t>
            </a:r>
            <a:r>
              <a:rPr spc="-40" dirty="0"/>
              <a:t> </a:t>
            </a:r>
            <a:r>
              <a:rPr spc="-31" dirty="0"/>
              <a:t>requirements </a:t>
            </a:r>
            <a:r>
              <a:rPr spc="-22" dirty="0"/>
              <a:t>describe</a:t>
            </a:r>
            <a:r>
              <a:rPr spc="-35" dirty="0"/>
              <a:t> </a:t>
            </a:r>
            <a:r>
              <a:rPr dirty="0"/>
              <a:t>the</a:t>
            </a:r>
            <a:r>
              <a:rPr spc="-44" dirty="0"/>
              <a:t> </a:t>
            </a:r>
            <a:r>
              <a:rPr spc="-31" dirty="0"/>
              <a:t>characteristics</a:t>
            </a:r>
            <a:r>
              <a:rPr spc="-137" dirty="0"/>
              <a:t> </a:t>
            </a:r>
            <a:r>
              <a:rPr dirty="0"/>
              <a:t>that</a:t>
            </a:r>
            <a:r>
              <a:rPr spc="-31" dirty="0"/>
              <a:t> </a:t>
            </a:r>
            <a:r>
              <a:rPr dirty="0"/>
              <a:t>a</a:t>
            </a:r>
            <a:r>
              <a:rPr spc="-93" dirty="0"/>
              <a:t> </a:t>
            </a:r>
            <a:r>
              <a:rPr spc="-9" dirty="0"/>
              <a:t>product </a:t>
            </a:r>
            <a:r>
              <a:rPr dirty="0"/>
              <a:t>must</a:t>
            </a:r>
            <a:r>
              <a:rPr spc="-101" dirty="0"/>
              <a:t> </a:t>
            </a:r>
            <a:r>
              <a:rPr spc="-18" dirty="0"/>
              <a:t>have</a:t>
            </a:r>
            <a:r>
              <a:rPr spc="-101" dirty="0"/>
              <a:t> </a:t>
            </a:r>
            <a:r>
              <a:rPr dirty="0"/>
              <a:t>to</a:t>
            </a:r>
            <a:r>
              <a:rPr spc="-142" dirty="0"/>
              <a:t> </a:t>
            </a:r>
            <a:r>
              <a:rPr dirty="0"/>
              <a:t>meet</a:t>
            </a:r>
            <a:r>
              <a:rPr spc="-97" dirty="0"/>
              <a:t> </a:t>
            </a:r>
            <a:r>
              <a:rPr dirty="0"/>
              <a:t>the</a:t>
            </a:r>
            <a:r>
              <a:rPr spc="-128" dirty="0"/>
              <a:t> </a:t>
            </a:r>
            <a:r>
              <a:rPr spc="-9" dirty="0"/>
              <a:t>needs</a:t>
            </a:r>
            <a:r>
              <a:rPr spc="-62" dirty="0"/>
              <a:t> </a:t>
            </a:r>
            <a:r>
              <a:rPr dirty="0"/>
              <a:t>of</a:t>
            </a:r>
            <a:r>
              <a:rPr spc="-155" dirty="0"/>
              <a:t> </a:t>
            </a:r>
            <a:r>
              <a:rPr spc="-22" dirty="0"/>
              <a:t>the </a:t>
            </a:r>
            <a:r>
              <a:rPr spc="-49" dirty="0"/>
              <a:t>stakeholders</a:t>
            </a:r>
            <a:r>
              <a:rPr spc="9" dirty="0"/>
              <a:t> </a:t>
            </a:r>
            <a:r>
              <a:rPr dirty="0"/>
              <a:t>and</a:t>
            </a:r>
            <a:r>
              <a:rPr spc="-111" dirty="0"/>
              <a:t> </a:t>
            </a:r>
            <a:r>
              <a:rPr dirty="0"/>
              <a:t>the</a:t>
            </a:r>
            <a:r>
              <a:rPr spc="-111" dirty="0"/>
              <a:t> </a:t>
            </a:r>
            <a:r>
              <a:rPr spc="-22" dirty="0"/>
              <a:t>business</a:t>
            </a:r>
            <a:r>
              <a:rPr spc="9" dirty="0"/>
              <a:t> </a:t>
            </a:r>
            <a:r>
              <a:rPr spc="-9" dirty="0"/>
              <a:t>itself.</a:t>
            </a:r>
          </a:p>
          <a:p>
            <a:pPr marL="681830" marR="4497" lvl="1" indent="-300725" algn="just">
              <a:lnSpc>
                <a:spcPct val="98300"/>
              </a:lnSpc>
              <a:spcBef>
                <a:spcPts val="637"/>
              </a:spcBef>
              <a:buChar char="—"/>
              <a:tabLst>
                <a:tab pos="681830" algn="l"/>
              </a:tabLst>
            </a:pPr>
            <a:r>
              <a:rPr sz="2523" spc="-35" dirty="0">
                <a:latin typeface="Calibri"/>
                <a:cs typeface="Calibri"/>
              </a:rPr>
              <a:t>Non-</a:t>
            </a:r>
            <a:r>
              <a:rPr sz="2523" spc="-9" dirty="0">
                <a:latin typeface="Calibri"/>
                <a:cs typeface="Calibri"/>
              </a:rPr>
              <a:t>functional</a:t>
            </a:r>
            <a:r>
              <a:rPr sz="2523" spc="-137" dirty="0">
                <a:latin typeface="Calibri"/>
                <a:cs typeface="Calibri"/>
              </a:rPr>
              <a:t> </a:t>
            </a:r>
            <a:r>
              <a:rPr sz="2523" spc="-27" dirty="0">
                <a:latin typeface="Calibri"/>
                <a:cs typeface="Calibri"/>
              </a:rPr>
              <a:t>requirements</a:t>
            </a:r>
            <a:r>
              <a:rPr sz="2523" spc="-49" dirty="0">
                <a:latin typeface="Calibri"/>
                <a:cs typeface="Calibri"/>
              </a:rPr>
              <a:t> </a:t>
            </a:r>
            <a:r>
              <a:rPr sz="2523" spc="-9" dirty="0">
                <a:latin typeface="Calibri"/>
                <a:cs typeface="Calibri"/>
              </a:rPr>
              <a:t>describe</a:t>
            </a:r>
            <a:r>
              <a:rPr sz="2523" spc="-40" dirty="0">
                <a:latin typeface="Calibri"/>
                <a:cs typeface="Calibri"/>
              </a:rPr>
              <a:t> </a:t>
            </a:r>
            <a:r>
              <a:rPr sz="2523" dirty="0">
                <a:latin typeface="Calibri"/>
                <a:cs typeface="Calibri"/>
              </a:rPr>
              <a:t>the</a:t>
            </a:r>
            <a:r>
              <a:rPr sz="2523" spc="-146" dirty="0">
                <a:latin typeface="Calibri"/>
                <a:cs typeface="Calibri"/>
              </a:rPr>
              <a:t> </a:t>
            </a:r>
            <a:r>
              <a:rPr sz="2523" spc="-9" dirty="0">
                <a:latin typeface="Calibri"/>
                <a:cs typeface="Calibri"/>
              </a:rPr>
              <a:t>general </a:t>
            </a:r>
            <a:r>
              <a:rPr sz="2523" spc="-27" dirty="0">
                <a:latin typeface="Calibri"/>
                <a:cs typeface="Calibri"/>
              </a:rPr>
              <a:t>characteristics</a:t>
            </a:r>
            <a:r>
              <a:rPr sz="2523" spc="-120" dirty="0">
                <a:latin typeface="Calibri"/>
                <a:cs typeface="Calibri"/>
              </a:rPr>
              <a:t> </a:t>
            </a:r>
            <a:r>
              <a:rPr sz="2523" dirty="0">
                <a:latin typeface="Calibri"/>
                <a:cs typeface="Calibri"/>
              </a:rPr>
              <a:t>of</a:t>
            </a:r>
            <a:r>
              <a:rPr sz="2523" spc="-142" dirty="0">
                <a:latin typeface="Calibri"/>
                <a:cs typeface="Calibri"/>
              </a:rPr>
              <a:t> </a:t>
            </a:r>
            <a:r>
              <a:rPr sz="2523" dirty="0">
                <a:latin typeface="Calibri"/>
                <a:cs typeface="Calibri"/>
              </a:rPr>
              <a:t>a</a:t>
            </a:r>
            <a:r>
              <a:rPr sz="2523" spc="-146" dirty="0">
                <a:latin typeface="Calibri"/>
                <a:cs typeface="Calibri"/>
              </a:rPr>
              <a:t> </a:t>
            </a:r>
            <a:r>
              <a:rPr sz="2523" spc="-27" dirty="0">
                <a:latin typeface="Calibri"/>
                <a:cs typeface="Calibri"/>
              </a:rPr>
              <a:t>system.</a:t>
            </a:r>
            <a:r>
              <a:rPr sz="2523" spc="-75" dirty="0">
                <a:latin typeface="Calibri"/>
                <a:cs typeface="Calibri"/>
              </a:rPr>
              <a:t> </a:t>
            </a:r>
            <a:r>
              <a:rPr sz="2523" dirty="0">
                <a:latin typeface="Calibri"/>
                <a:cs typeface="Calibri"/>
              </a:rPr>
              <a:t>They</a:t>
            </a:r>
            <a:r>
              <a:rPr sz="2523" spc="-62" dirty="0">
                <a:latin typeface="Calibri"/>
                <a:cs typeface="Calibri"/>
              </a:rPr>
              <a:t> </a:t>
            </a:r>
            <a:r>
              <a:rPr sz="2523" dirty="0">
                <a:latin typeface="Calibri"/>
                <a:cs typeface="Calibri"/>
              </a:rPr>
              <a:t>are</a:t>
            </a:r>
            <a:r>
              <a:rPr sz="2523" spc="-84" dirty="0">
                <a:latin typeface="Calibri"/>
                <a:cs typeface="Calibri"/>
              </a:rPr>
              <a:t> </a:t>
            </a:r>
            <a:r>
              <a:rPr sz="2523" dirty="0">
                <a:latin typeface="Calibri"/>
                <a:cs typeface="Calibri"/>
              </a:rPr>
              <a:t>also</a:t>
            </a:r>
            <a:r>
              <a:rPr sz="2523" spc="-75" dirty="0">
                <a:latin typeface="Calibri"/>
                <a:cs typeface="Calibri"/>
              </a:rPr>
              <a:t> </a:t>
            </a:r>
            <a:r>
              <a:rPr sz="2523" spc="-18" dirty="0">
                <a:latin typeface="Calibri"/>
                <a:cs typeface="Calibri"/>
              </a:rPr>
              <a:t>known</a:t>
            </a:r>
            <a:r>
              <a:rPr sz="2523" dirty="0">
                <a:latin typeface="Calibri"/>
                <a:cs typeface="Calibri"/>
              </a:rPr>
              <a:t> </a:t>
            </a:r>
            <a:r>
              <a:rPr sz="2523" spc="-22" dirty="0">
                <a:latin typeface="Calibri"/>
                <a:cs typeface="Calibri"/>
              </a:rPr>
              <a:t>as </a:t>
            </a:r>
            <a:r>
              <a:rPr sz="2523" spc="-9" dirty="0">
                <a:latin typeface="Calibri"/>
                <a:cs typeface="Calibri"/>
              </a:rPr>
              <a:t>quality</a:t>
            </a:r>
            <a:r>
              <a:rPr sz="2523" spc="-89" dirty="0">
                <a:latin typeface="Calibri"/>
                <a:cs typeface="Calibri"/>
              </a:rPr>
              <a:t> </a:t>
            </a:r>
            <a:r>
              <a:rPr sz="2523" spc="-9" dirty="0">
                <a:latin typeface="Calibri"/>
                <a:cs typeface="Calibri"/>
              </a:rPr>
              <a:t>attributes.</a:t>
            </a:r>
            <a:endParaRPr sz="2523">
              <a:latin typeface="Calibri"/>
              <a:cs typeface="Calibri"/>
            </a:endParaRPr>
          </a:p>
          <a:p>
            <a:pPr marL="682954" marR="265874" lvl="1" indent="-291169" algn="just">
              <a:lnSpc>
                <a:spcPct val="101400"/>
              </a:lnSpc>
              <a:spcBef>
                <a:spcPts val="584"/>
              </a:spcBef>
              <a:buChar char="—"/>
              <a:tabLst>
                <a:tab pos="682954" algn="l"/>
              </a:tabLst>
            </a:pPr>
            <a:r>
              <a:rPr sz="2434" dirty="0">
                <a:latin typeface="Calibri"/>
                <a:cs typeface="Calibri"/>
              </a:rPr>
              <a:t>Functional</a:t>
            </a:r>
            <a:r>
              <a:rPr sz="2434" spc="150" dirty="0">
                <a:latin typeface="Calibri"/>
                <a:cs typeface="Calibri"/>
              </a:rPr>
              <a:t> </a:t>
            </a:r>
            <a:r>
              <a:rPr sz="2434" dirty="0">
                <a:latin typeface="Calibri"/>
                <a:cs typeface="Calibri"/>
              </a:rPr>
              <a:t>requirements</a:t>
            </a:r>
            <a:r>
              <a:rPr sz="2434" spc="203" dirty="0">
                <a:latin typeface="Calibri"/>
                <a:cs typeface="Calibri"/>
              </a:rPr>
              <a:t> </a:t>
            </a:r>
            <a:r>
              <a:rPr sz="2434" dirty="0">
                <a:latin typeface="Calibri"/>
                <a:cs typeface="Calibri"/>
              </a:rPr>
              <a:t>describe</a:t>
            </a:r>
            <a:r>
              <a:rPr sz="2434" spc="93" dirty="0">
                <a:latin typeface="Calibri"/>
                <a:cs typeface="Calibri"/>
              </a:rPr>
              <a:t> </a:t>
            </a:r>
            <a:r>
              <a:rPr sz="2434" dirty="0">
                <a:latin typeface="Calibri"/>
                <a:cs typeface="Calibri"/>
              </a:rPr>
              <a:t>how</a:t>
            </a:r>
            <a:r>
              <a:rPr sz="2434" spc="53" dirty="0">
                <a:latin typeface="Calibri"/>
                <a:cs typeface="Calibri"/>
              </a:rPr>
              <a:t> </a:t>
            </a:r>
            <a:r>
              <a:rPr sz="2434" dirty="0">
                <a:latin typeface="Calibri"/>
                <a:cs typeface="Calibri"/>
              </a:rPr>
              <a:t>a</a:t>
            </a:r>
            <a:r>
              <a:rPr sz="2434" spc="-53" dirty="0">
                <a:latin typeface="Calibri"/>
                <a:cs typeface="Calibri"/>
              </a:rPr>
              <a:t> </a:t>
            </a:r>
            <a:r>
              <a:rPr sz="2434" spc="-9" dirty="0">
                <a:latin typeface="Calibri"/>
                <a:cs typeface="Calibri"/>
              </a:rPr>
              <a:t>product </a:t>
            </a:r>
            <a:r>
              <a:rPr sz="2434" dirty="0">
                <a:latin typeface="Calibri"/>
                <a:cs typeface="Calibri"/>
              </a:rPr>
              <a:t>must</a:t>
            </a:r>
            <a:r>
              <a:rPr sz="2434" spc="35" dirty="0">
                <a:latin typeface="Calibri"/>
                <a:cs typeface="Calibri"/>
              </a:rPr>
              <a:t> </a:t>
            </a:r>
            <a:r>
              <a:rPr sz="2434" dirty="0">
                <a:latin typeface="Calibri"/>
                <a:cs typeface="Calibri"/>
              </a:rPr>
              <a:t>behave,</a:t>
            </a:r>
            <a:r>
              <a:rPr sz="2434" spc="80" dirty="0">
                <a:latin typeface="Calibri"/>
                <a:cs typeface="Calibri"/>
              </a:rPr>
              <a:t> </a:t>
            </a:r>
            <a:r>
              <a:rPr sz="2434" dirty="0">
                <a:latin typeface="Calibri"/>
                <a:cs typeface="Calibri"/>
              </a:rPr>
              <a:t>what</a:t>
            </a:r>
            <a:r>
              <a:rPr sz="2434" spc="18" dirty="0">
                <a:latin typeface="Calibri"/>
                <a:cs typeface="Calibri"/>
              </a:rPr>
              <a:t> </a:t>
            </a:r>
            <a:r>
              <a:rPr sz="2434" dirty="0">
                <a:latin typeface="Calibri"/>
                <a:cs typeface="Calibri"/>
              </a:rPr>
              <a:t>its</a:t>
            </a:r>
            <a:r>
              <a:rPr sz="2434" spc="-13" dirty="0">
                <a:latin typeface="Calibri"/>
                <a:cs typeface="Calibri"/>
              </a:rPr>
              <a:t> </a:t>
            </a:r>
            <a:r>
              <a:rPr sz="2434" dirty="0">
                <a:latin typeface="Calibri"/>
                <a:cs typeface="Calibri"/>
              </a:rPr>
              <a:t>features</a:t>
            </a:r>
            <a:r>
              <a:rPr sz="2434" spc="75" dirty="0">
                <a:latin typeface="Calibri"/>
                <a:cs typeface="Calibri"/>
              </a:rPr>
              <a:t> </a:t>
            </a:r>
            <a:r>
              <a:rPr sz="2434" dirty="0">
                <a:latin typeface="Calibri"/>
                <a:cs typeface="Calibri"/>
              </a:rPr>
              <a:t>and</a:t>
            </a:r>
            <a:r>
              <a:rPr sz="2434" spc="22" dirty="0">
                <a:latin typeface="Calibri"/>
                <a:cs typeface="Calibri"/>
              </a:rPr>
              <a:t> </a:t>
            </a:r>
            <a:r>
              <a:rPr sz="2434" spc="-9" dirty="0">
                <a:latin typeface="Calibri"/>
                <a:cs typeface="Calibri"/>
              </a:rPr>
              <a:t>functions.</a:t>
            </a:r>
            <a:endParaRPr sz="2434">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16D72-A667-58C1-41D0-0AA614E3DEA2}"/>
              </a:ext>
            </a:extLst>
          </p:cNvPr>
          <p:cNvSpPr>
            <a:spLocks noGrp="1"/>
          </p:cNvSpPr>
          <p:nvPr>
            <p:ph type="title"/>
          </p:nvPr>
        </p:nvSpPr>
        <p:spPr/>
        <p:txBody>
          <a:bodyPr>
            <a:normAutofit fontScale="90000"/>
          </a:bodyPr>
          <a:lstStyle/>
          <a:p>
            <a:r>
              <a:rPr lang="en-US" dirty="0"/>
              <a:t>Other classifications of software requirements</a:t>
            </a:r>
            <a:endParaRPr lang="en-IN" dirty="0"/>
          </a:p>
        </p:txBody>
      </p:sp>
      <p:sp>
        <p:nvSpPr>
          <p:cNvPr id="3" name="Content Placeholder 2">
            <a:extLst>
              <a:ext uri="{FF2B5EF4-FFF2-40B4-BE49-F238E27FC236}">
                <a16:creationId xmlns:a16="http://schemas.microsoft.com/office/drawing/2014/main" id="{E979A402-6A93-6C92-9949-F6F0BB69632A}"/>
              </a:ext>
            </a:extLst>
          </p:cNvPr>
          <p:cNvSpPr>
            <a:spLocks noGrp="1"/>
          </p:cNvSpPr>
          <p:nvPr>
            <p:ph idx="1"/>
          </p:nvPr>
        </p:nvSpPr>
        <p:spPr/>
        <p:txBody>
          <a:bodyPr>
            <a:normAutofit lnSpcReduction="10000"/>
          </a:bodyPr>
          <a:lstStyle/>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1.User requirements: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These requirements describe what the end-user wants from the software system. User requirements are usually expressed in natural language and are typically gathered through interviews, surveys, or user feedback.</a:t>
            </a:r>
          </a:p>
          <a:p>
            <a:pPr marL="342900" lvl="0" indent="-342900">
              <a:lnSpc>
                <a:spcPct val="107000"/>
              </a:lnSpc>
              <a:spcAft>
                <a:spcPts val="800"/>
              </a:spcAft>
              <a:buFont typeface="+mj-lt"/>
              <a:buAutoNum type="arabicPeriod" startAt="2"/>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System requirements: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These requirements specify the technical characteristics of the software system, such as its architecture, hardware requirements, software components, and interfaces. System requirements are typically expressed in technical terms and are often used as a basis for system design.</a:t>
            </a:r>
          </a:p>
          <a:p>
            <a:pPr marL="342900" lvl="0" indent="-342900">
              <a:lnSpc>
                <a:spcPct val="107000"/>
              </a:lnSpc>
              <a:spcAft>
                <a:spcPts val="800"/>
              </a:spcAft>
              <a:buFont typeface="+mj-lt"/>
              <a:buAutoNum type="arabicPeriod" startAt="2"/>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Business requirements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These requirements describe the business goals and objectives that the software system is expected to achieve. Business requirements are usually expressed in terms of revenue, market share, customer satisfaction, or other business metrics.</a:t>
            </a:r>
          </a:p>
          <a:p>
            <a:pPr marL="0" indent="0">
              <a:buNone/>
            </a:pPr>
            <a:endParaRPr lang="en-IN" dirty="0"/>
          </a:p>
        </p:txBody>
      </p:sp>
    </p:spTree>
    <p:extLst>
      <p:ext uri="{BB962C8B-B14F-4D97-AF65-F5344CB8AC3E}">
        <p14:creationId xmlns:p14="http://schemas.microsoft.com/office/powerpoint/2010/main" val="2218238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AB9C3-473E-9B02-BB5B-6A1E2DBE06F7}"/>
              </a:ext>
            </a:extLst>
          </p:cNvPr>
          <p:cNvSpPr>
            <a:spLocks noGrp="1"/>
          </p:cNvSpPr>
          <p:nvPr>
            <p:ph type="title"/>
          </p:nvPr>
        </p:nvSpPr>
        <p:spPr/>
        <p:txBody>
          <a:bodyPr>
            <a:normAutofit fontScale="90000"/>
          </a:bodyPr>
          <a:lstStyle/>
          <a:p>
            <a:r>
              <a:rPr lang="en-US" dirty="0"/>
              <a:t>Other classifications of software requirements</a:t>
            </a:r>
            <a:endParaRPr lang="en-IN" dirty="0"/>
          </a:p>
        </p:txBody>
      </p:sp>
      <p:sp>
        <p:nvSpPr>
          <p:cNvPr id="3" name="Content Placeholder 2">
            <a:extLst>
              <a:ext uri="{FF2B5EF4-FFF2-40B4-BE49-F238E27FC236}">
                <a16:creationId xmlns:a16="http://schemas.microsoft.com/office/drawing/2014/main" id="{68E24379-120A-FCB0-5DEE-8F511112FD19}"/>
              </a:ext>
            </a:extLst>
          </p:cNvPr>
          <p:cNvSpPr>
            <a:spLocks noGrp="1"/>
          </p:cNvSpPr>
          <p:nvPr>
            <p:ph idx="1"/>
          </p:nvPr>
        </p:nvSpPr>
        <p:spPr/>
        <p:txBody>
          <a:bodyPr/>
          <a:lstStyle/>
          <a:p>
            <a:pPr marL="342900" lvl="0" indent="-342900">
              <a:lnSpc>
                <a:spcPct val="107000"/>
              </a:lnSpc>
              <a:spcAft>
                <a:spcPts val="800"/>
              </a:spcAft>
              <a:buFont typeface="+mj-lt"/>
              <a:buAutoNum type="arabicPeriod" startAt="4"/>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Regulatory requirements: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These requirements specify the legal or regulatory standards that the software system must meet. Regulatory requirements may include data privacy, security, accessibility, or other legal compliance requirements.</a:t>
            </a:r>
          </a:p>
          <a:p>
            <a:pPr marL="342900" lvl="0" indent="-342900">
              <a:lnSpc>
                <a:spcPct val="107000"/>
              </a:lnSpc>
              <a:spcAft>
                <a:spcPts val="800"/>
              </a:spcAft>
              <a:buFont typeface="+mj-lt"/>
              <a:buAutoNum type="arabicPeriod" startAt="4"/>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Interface requirements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These requirements specify the interactions between the software system and external systems or components, such as databases, web services, or other software applications.</a:t>
            </a:r>
          </a:p>
          <a:p>
            <a:r>
              <a:rPr lang="en-IN" sz="1800" b="1" dirty="0">
                <a:effectLst/>
                <a:latin typeface="Calibri" panose="020F0502020204030204" pitchFamily="34" charset="0"/>
                <a:ea typeface="Calibri" panose="020F0502020204030204" pitchFamily="34" charset="0"/>
                <a:cs typeface="Times New Roman" panose="02020603050405020304" pitchFamily="18" charset="0"/>
              </a:rPr>
              <a:t>Design requirements:</a:t>
            </a:r>
            <a:r>
              <a:rPr lang="en-IN" sz="1800" dirty="0">
                <a:effectLst/>
                <a:latin typeface="Calibri" panose="020F0502020204030204" pitchFamily="34" charset="0"/>
                <a:ea typeface="Calibri" panose="020F0502020204030204" pitchFamily="34" charset="0"/>
                <a:cs typeface="Times New Roman" panose="02020603050405020304" pitchFamily="18" charset="0"/>
              </a:rPr>
              <a:t> These requirements describe the technical design of the software system. They include information about the software architecture, data structures</a:t>
            </a:r>
            <a:endParaRPr lang="en-IN" dirty="0"/>
          </a:p>
        </p:txBody>
      </p:sp>
    </p:spTree>
    <p:extLst>
      <p:ext uri="{BB962C8B-B14F-4D97-AF65-F5344CB8AC3E}">
        <p14:creationId xmlns:p14="http://schemas.microsoft.com/office/powerpoint/2010/main" val="1956060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DE706-B406-679E-EDC0-696780DFE410}"/>
              </a:ext>
            </a:extLst>
          </p:cNvPr>
          <p:cNvSpPr>
            <a:spLocks noGrp="1"/>
          </p:cNvSpPr>
          <p:nvPr>
            <p:ph type="title"/>
          </p:nvPr>
        </p:nvSpPr>
        <p:spPr/>
        <p:txBody>
          <a:bodyPr>
            <a:normAutofit fontScale="90000"/>
          </a:bodyPr>
          <a:lstStyle/>
          <a:p>
            <a:r>
              <a:rPr lang="en-IN" dirty="0"/>
              <a:t>Advantages of classifying software requirements</a:t>
            </a:r>
          </a:p>
        </p:txBody>
      </p:sp>
      <p:sp>
        <p:nvSpPr>
          <p:cNvPr id="3" name="Content Placeholder 2">
            <a:extLst>
              <a:ext uri="{FF2B5EF4-FFF2-40B4-BE49-F238E27FC236}">
                <a16:creationId xmlns:a16="http://schemas.microsoft.com/office/drawing/2014/main" id="{A0860AC2-7D0C-957C-91C0-E2F9CFEDAE3D}"/>
              </a:ext>
            </a:extLst>
          </p:cNvPr>
          <p:cNvSpPr>
            <a:spLocks noGrp="1"/>
          </p:cNvSpPr>
          <p:nvPr>
            <p:ph idx="1"/>
          </p:nvPr>
        </p:nvSpPr>
        <p:spPr/>
        <p:txBody>
          <a:bodyPr>
            <a:normAutofit fontScale="92500" lnSpcReduction="10000"/>
          </a:bodyPr>
          <a:lstStyle/>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1.Better organization: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Classifying software requirements helps organize them into groups that are easier to manage, prioritize, and track throughout the development process.</a:t>
            </a:r>
          </a:p>
          <a:p>
            <a:pPr marL="342900" lvl="0" indent="-342900">
              <a:lnSpc>
                <a:spcPct val="107000"/>
              </a:lnSpc>
              <a:spcAft>
                <a:spcPts val="800"/>
              </a:spcAft>
              <a:buFont typeface="+mj-lt"/>
              <a:buAutoNum type="arabicPeriod" startAt="2"/>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Improved communication: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Clear classification of requirements makes it easier to communicate them to stakeholders, developers, and other team members. It also ensures that everyone is on the same page about what is required.</a:t>
            </a:r>
          </a:p>
          <a:p>
            <a:pPr marL="342900" lvl="0" indent="-342900">
              <a:lnSpc>
                <a:spcPct val="107000"/>
              </a:lnSpc>
              <a:spcAft>
                <a:spcPts val="800"/>
              </a:spcAft>
              <a:buFont typeface="+mj-lt"/>
              <a:buAutoNum type="arabicPeriod" startAt="2"/>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Increased quality: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By classifying requirements, potential conflicts or gaps can be identified early in the development process. This reduces the risk of errors, omissions, or misunderstandings, leading to higher-quality software.</a:t>
            </a:r>
          </a:p>
          <a:p>
            <a:pPr marL="342900" lvl="0" indent="-342900">
              <a:lnSpc>
                <a:spcPct val="107000"/>
              </a:lnSpc>
              <a:spcAft>
                <a:spcPts val="800"/>
              </a:spcAft>
              <a:buFont typeface="+mj-lt"/>
              <a:buAutoNum type="arabicPeriod" startAt="2"/>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Improved traceability: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Classifying requirements helps establish traceability, which is essential for demonstrating compliance with regulatory or quality standards.</a:t>
            </a:r>
          </a:p>
          <a:p>
            <a:endParaRPr lang="en-IN" dirty="0"/>
          </a:p>
        </p:txBody>
      </p:sp>
    </p:spTree>
    <p:extLst>
      <p:ext uri="{BB962C8B-B14F-4D97-AF65-F5344CB8AC3E}">
        <p14:creationId xmlns:p14="http://schemas.microsoft.com/office/powerpoint/2010/main" val="273691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1EF87-609B-C233-4266-84F07AD54A20}"/>
              </a:ext>
            </a:extLst>
          </p:cNvPr>
          <p:cNvSpPr>
            <a:spLocks noGrp="1"/>
          </p:cNvSpPr>
          <p:nvPr>
            <p:ph type="title"/>
          </p:nvPr>
        </p:nvSpPr>
        <p:spPr/>
        <p:txBody>
          <a:bodyPr>
            <a:normAutofit fontScale="90000"/>
          </a:bodyPr>
          <a:lstStyle/>
          <a:p>
            <a:r>
              <a:rPr lang="en-IN" dirty="0"/>
              <a:t>Disadvantages of classifying software requirements</a:t>
            </a:r>
          </a:p>
        </p:txBody>
      </p:sp>
      <p:sp>
        <p:nvSpPr>
          <p:cNvPr id="3" name="Content Placeholder 2">
            <a:extLst>
              <a:ext uri="{FF2B5EF4-FFF2-40B4-BE49-F238E27FC236}">
                <a16:creationId xmlns:a16="http://schemas.microsoft.com/office/drawing/2014/main" id="{5F067F7A-BA86-48BE-D54C-3793CB5E38EF}"/>
              </a:ext>
            </a:extLst>
          </p:cNvPr>
          <p:cNvSpPr>
            <a:spLocks noGrp="1"/>
          </p:cNvSpPr>
          <p:nvPr>
            <p:ph idx="1"/>
          </p:nvPr>
        </p:nvSpPr>
        <p:spPr/>
        <p:txBody>
          <a:bodyPr/>
          <a:lstStyle/>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1.Complexity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Classifying software requirements can be complex, especially if there are many stakeholders with different needs or requirements. It can also be time-consuming to identify and classify all the requirements.</a:t>
            </a:r>
          </a:p>
          <a:p>
            <a:pPr marL="342900" lvl="0" indent="-342900">
              <a:lnSpc>
                <a:spcPct val="107000"/>
              </a:lnSpc>
              <a:spcAft>
                <a:spcPts val="800"/>
              </a:spcAft>
              <a:buFont typeface="+mj-lt"/>
              <a:buAutoNum type="arabicPeriod" startAt="2"/>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Rigid structure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rigid classification structure may limit the ability to accommodate changes or evolving needs during the development process. It can also lead to a siloed approach that prevents the integration of new ideas or insights.</a:t>
            </a:r>
          </a:p>
          <a:p>
            <a:pPr marL="342900" lvl="0" indent="-342900">
              <a:lnSpc>
                <a:spcPct val="107000"/>
              </a:lnSpc>
              <a:spcAft>
                <a:spcPts val="800"/>
              </a:spcAft>
              <a:buFont typeface="+mj-lt"/>
              <a:buAutoNum type="arabicPeriod" startAt="2"/>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Misclassification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Misclassifying requirements can lead to errors or misunderstandings that can be costly to correct later in the development process.</a:t>
            </a:r>
          </a:p>
          <a:p>
            <a:pPr marL="0" indent="0">
              <a:buNone/>
            </a:pPr>
            <a:endParaRPr lang="en-IN" dirty="0"/>
          </a:p>
        </p:txBody>
      </p:sp>
    </p:spTree>
    <p:extLst>
      <p:ext uri="{BB962C8B-B14F-4D97-AF65-F5344CB8AC3E}">
        <p14:creationId xmlns:p14="http://schemas.microsoft.com/office/powerpoint/2010/main" val="1498453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849" y="345123"/>
            <a:ext cx="6455071" cy="635742"/>
          </a:xfrm>
          <a:prstGeom prst="rect">
            <a:avLst/>
          </a:prstGeom>
        </p:spPr>
        <p:txBody>
          <a:bodyPr vert="horz" wrap="square" lIns="0" tIns="15739" rIns="0" bIns="0" rtlCol="0" anchor="ctr">
            <a:spAutoFit/>
          </a:bodyPr>
          <a:lstStyle/>
          <a:p>
            <a:pPr marL="843715">
              <a:spcBef>
                <a:spcPts val="124"/>
              </a:spcBef>
            </a:pPr>
            <a:r>
              <a:rPr sz="4028" spc="-71" dirty="0"/>
              <a:t>Functional</a:t>
            </a:r>
            <a:r>
              <a:rPr sz="4028" spc="-40" dirty="0"/>
              <a:t> </a:t>
            </a:r>
            <a:r>
              <a:rPr sz="4028" spc="-84" dirty="0"/>
              <a:t>requirements</a:t>
            </a:r>
            <a:endParaRPr sz="4028"/>
          </a:p>
        </p:txBody>
      </p:sp>
      <p:sp>
        <p:nvSpPr>
          <p:cNvPr id="3" name="object 3"/>
          <p:cNvSpPr txBox="1"/>
          <p:nvPr/>
        </p:nvSpPr>
        <p:spPr>
          <a:xfrm>
            <a:off x="467321" y="1427670"/>
            <a:ext cx="7073935" cy="3733028"/>
          </a:xfrm>
          <a:prstGeom prst="rect">
            <a:avLst/>
          </a:prstGeom>
        </p:spPr>
        <p:txBody>
          <a:bodyPr vert="horz" wrap="square" lIns="0" tIns="14052" rIns="0" bIns="0" rtlCol="0">
            <a:spAutoFit/>
          </a:bodyPr>
          <a:lstStyle/>
          <a:p>
            <a:pPr marL="324333" indent="-313091">
              <a:spcBef>
                <a:spcPts val="111"/>
              </a:spcBef>
              <a:buChar char="•"/>
              <a:tabLst>
                <a:tab pos="324333" algn="l"/>
                <a:tab pos="2316422" algn="l"/>
              </a:tabLst>
            </a:pPr>
            <a:r>
              <a:rPr sz="2611" spc="-9" dirty="0">
                <a:latin typeface="Calibri"/>
                <a:cs typeface="Calibri"/>
              </a:rPr>
              <a:t>Requirements</a:t>
            </a:r>
            <a:r>
              <a:rPr sz="2611" dirty="0">
                <a:latin typeface="Calibri"/>
                <a:cs typeface="Calibri"/>
              </a:rPr>
              <a:t>	are</a:t>
            </a:r>
            <a:r>
              <a:rPr sz="2611" spc="13" dirty="0">
                <a:latin typeface="Calibri"/>
                <a:cs typeface="Calibri"/>
              </a:rPr>
              <a:t> </a:t>
            </a:r>
            <a:r>
              <a:rPr sz="2611" dirty="0">
                <a:latin typeface="Calibri"/>
                <a:cs typeface="Calibri"/>
              </a:rPr>
              <a:t>usually</a:t>
            </a:r>
            <a:r>
              <a:rPr sz="2611" spc="111" dirty="0">
                <a:latin typeface="Calibri"/>
                <a:cs typeface="Calibri"/>
              </a:rPr>
              <a:t> </a:t>
            </a:r>
            <a:r>
              <a:rPr sz="2611" dirty="0">
                <a:latin typeface="Calibri"/>
                <a:cs typeface="Calibri"/>
              </a:rPr>
              <a:t>written</a:t>
            </a:r>
            <a:r>
              <a:rPr sz="2611" spc="128" dirty="0">
                <a:latin typeface="Calibri"/>
                <a:cs typeface="Calibri"/>
              </a:rPr>
              <a:t> </a:t>
            </a:r>
            <a:r>
              <a:rPr sz="2611" dirty="0">
                <a:latin typeface="Calibri"/>
                <a:cs typeface="Calibri"/>
              </a:rPr>
              <a:t>in</a:t>
            </a:r>
            <a:r>
              <a:rPr sz="2611" spc="-58" dirty="0">
                <a:latin typeface="Calibri"/>
                <a:cs typeface="Calibri"/>
              </a:rPr>
              <a:t> </a:t>
            </a:r>
            <a:r>
              <a:rPr sz="2611" dirty="0">
                <a:latin typeface="Calibri"/>
                <a:cs typeface="Calibri"/>
              </a:rPr>
              <a:t>text,</a:t>
            </a:r>
            <a:r>
              <a:rPr sz="2611" spc="9" dirty="0">
                <a:latin typeface="Calibri"/>
                <a:cs typeface="Calibri"/>
              </a:rPr>
              <a:t> </a:t>
            </a:r>
            <a:r>
              <a:rPr sz="2611" spc="-22" dirty="0">
                <a:latin typeface="Calibri"/>
                <a:cs typeface="Calibri"/>
              </a:rPr>
              <a:t>may</a:t>
            </a:r>
            <a:endParaRPr sz="2611">
              <a:latin typeface="Calibri"/>
              <a:cs typeface="Calibri"/>
            </a:endParaRPr>
          </a:p>
          <a:p>
            <a:pPr marL="328268">
              <a:spcBef>
                <a:spcPts val="97"/>
              </a:spcBef>
            </a:pPr>
            <a:r>
              <a:rPr sz="2567" dirty="0">
                <a:latin typeface="Calibri"/>
                <a:cs typeface="Calibri"/>
              </a:rPr>
              <a:t>also</a:t>
            </a:r>
            <a:r>
              <a:rPr sz="2567" spc="177" dirty="0">
                <a:latin typeface="Calibri"/>
                <a:cs typeface="Calibri"/>
              </a:rPr>
              <a:t> </a:t>
            </a:r>
            <a:r>
              <a:rPr sz="2567" dirty="0">
                <a:latin typeface="Calibri"/>
                <a:cs typeface="Calibri"/>
              </a:rPr>
              <a:t>be</a:t>
            </a:r>
            <a:r>
              <a:rPr sz="2567" spc="128" dirty="0">
                <a:latin typeface="Calibri"/>
                <a:cs typeface="Calibri"/>
              </a:rPr>
              <a:t> </a:t>
            </a:r>
            <a:r>
              <a:rPr sz="2567" dirty="0">
                <a:latin typeface="Calibri"/>
                <a:cs typeface="Calibri"/>
              </a:rPr>
              <a:t>visuals,</a:t>
            </a:r>
            <a:r>
              <a:rPr sz="2567" spc="230" dirty="0">
                <a:latin typeface="Calibri"/>
                <a:cs typeface="Calibri"/>
              </a:rPr>
              <a:t> </a:t>
            </a:r>
            <a:r>
              <a:rPr sz="2567" dirty="0">
                <a:latin typeface="Calibri"/>
                <a:cs typeface="Calibri"/>
              </a:rPr>
              <a:t>common</a:t>
            </a:r>
            <a:r>
              <a:rPr sz="2567" spc="195" dirty="0">
                <a:latin typeface="Calibri"/>
                <a:cs typeface="Calibri"/>
              </a:rPr>
              <a:t> </a:t>
            </a:r>
            <a:r>
              <a:rPr sz="2567" dirty="0">
                <a:latin typeface="Calibri"/>
                <a:cs typeface="Calibri"/>
              </a:rPr>
              <a:t>formats</a:t>
            </a:r>
            <a:r>
              <a:rPr sz="2567" spc="203" dirty="0">
                <a:latin typeface="Calibri"/>
                <a:cs typeface="Calibri"/>
              </a:rPr>
              <a:t> </a:t>
            </a:r>
            <a:r>
              <a:rPr sz="2567" dirty="0">
                <a:latin typeface="Calibri"/>
                <a:cs typeface="Calibri"/>
              </a:rPr>
              <a:t>and</a:t>
            </a:r>
            <a:r>
              <a:rPr sz="2567" spc="111" dirty="0">
                <a:latin typeface="Calibri"/>
                <a:cs typeface="Calibri"/>
              </a:rPr>
              <a:t> </a:t>
            </a:r>
            <a:r>
              <a:rPr sz="2567" spc="-9" dirty="0">
                <a:latin typeface="Calibri"/>
                <a:cs typeface="Calibri"/>
              </a:rPr>
              <a:t>documents:</a:t>
            </a:r>
            <a:endParaRPr sz="2567">
              <a:latin typeface="Calibri"/>
              <a:cs typeface="Calibri"/>
            </a:endParaRPr>
          </a:p>
          <a:p>
            <a:pPr marL="680143" lvl="1" indent="-275992">
              <a:spcBef>
                <a:spcPts val="642"/>
              </a:spcBef>
              <a:buChar char="—"/>
              <a:tabLst>
                <a:tab pos="680143" algn="l"/>
              </a:tabLst>
            </a:pPr>
            <a:r>
              <a:rPr sz="2257" dirty="0">
                <a:latin typeface="Calibri"/>
                <a:cs typeface="Calibri"/>
              </a:rPr>
              <a:t>Software</a:t>
            </a:r>
            <a:r>
              <a:rPr sz="2257" spc="71" dirty="0">
                <a:latin typeface="Calibri"/>
                <a:cs typeface="Calibri"/>
              </a:rPr>
              <a:t> </a:t>
            </a:r>
            <a:r>
              <a:rPr sz="2257" dirty="0">
                <a:latin typeface="Calibri"/>
                <a:cs typeface="Calibri"/>
              </a:rPr>
              <a:t>requirements</a:t>
            </a:r>
            <a:r>
              <a:rPr sz="2257" spc="101" dirty="0">
                <a:latin typeface="Calibri"/>
                <a:cs typeface="Calibri"/>
              </a:rPr>
              <a:t> </a:t>
            </a:r>
            <a:r>
              <a:rPr sz="2257" dirty="0">
                <a:latin typeface="Calibri"/>
                <a:cs typeface="Calibri"/>
              </a:rPr>
              <a:t>specification</a:t>
            </a:r>
            <a:r>
              <a:rPr sz="2257" spc="35" dirty="0">
                <a:latin typeface="Calibri"/>
                <a:cs typeface="Calibri"/>
              </a:rPr>
              <a:t> </a:t>
            </a:r>
            <a:r>
              <a:rPr sz="2257" spc="-9" dirty="0">
                <a:latin typeface="Calibri"/>
                <a:cs typeface="Calibri"/>
              </a:rPr>
              <a:t>document</a:t>
            </a:r>
            <a:endParaRPr sz="2257">
              <a:latin typeface="Calibri"/>
              <a:cs typeface="Calibri"/>
            </a:endParaRPr>
          </a:p>
          <a:p>
            <a:pPr marL="681268" lvl="1" indent="-281051">
              <a:spcBef>
                <a:spcPts val="513"/>
              </a:spcBef>
              <a:buChar char="—"/>
              <a:tabLst>
                <a:tab pos="681268" algn="l"/>
              </a:tabLst>
            </a:pPr>
            <a:r>
              <a:rPr sz="2346" dirty="0">
                <a:latin typeface="Calibri"/>
                <a:cs typeface="Calibri"/>
              </a:rPr>
              <a:t>Use</a:t>
            </a:r>
            <a:r>
              <a:rPr sz="2346" spc="-115" dirty="0">
                <a:latin typeface="Calibri"/>
                <a:cs typeface="Calibri"/>
              </a:rPr>
              <a:t> </a:t>
            </a:r>
            <a:r>
              <a:rPr sz="2346" spc="-9" dirty="0">
                <a:latin typeface="Calibri"/>
                <a:cs typeface="Calibri"/>
              </a:rPr>
              <a:t>cases</a:t>
            </a:r>
            <a:endParaRPr sz="2346">
              <a:latin typeface="Calibri"/>
              <a:cs typeface="Calibri"/>
            </a:endParaRPr>
          </a:p>
          <a:p>
            <a:pPr marL="680706" lvl="1" indent="-281051">
              <a:spcBef>
                <a:spcPts val="496"/>
              </a:spcBef>
              <a:buChar char="—"/>
              <a:tabLst>
                <a:tab pos="680706" algn="l"/>
              </a:tabLst>
            </a:pPr>
            <a:r>
              <a:rPr sz="2346" dirty="0">
                <a:latin typeface="Calibri"/>
                <a:cs typeface="Calibri"/>
              </a:rPr>
              <a:t>User</a:t>
            </a:r>
            <a:r>
              <a:rPr sz="2346" spc="-128" dirty="0">
                <a:latin typeface="Calibri"/>
                <a:cs typeface="Calibri"/>
              </a:rPr>
              <a:t> </a:t>
            </a:r>
            <a:r>
              <a:rPr sz="2346" spc="-9" dirty="0">
                <a:latin typeface="Calibri"/>
                <a:cs typeface="Calibri"/>
              </a:rPr>
              <a:t>stories</a:t>
            </a:r>
            <a:endParaRPr sz="2346">
              <a:latin typeface="Calibri"/>
              <a:cs typeface="Calibri"/>
            </a:endParaRPr>
          </a:p>
          <a:p>
            <a:pPr marL="681268" lvl="1" indent="-274306">
              <a:spcBef>
                <a:spcPts val="584"/>
              </a:spcBef>
              <a:buChar char="—"/>
              <a:tabLst>
                <a:tab pos="681268" algn="l"/>
              </a:tabLst>
            </a:pPr>
            <a:r>
              <a:rPr sz="2257" dirty="0">
                <a:latin typeface="Calibri"/>
                <a:cs typeface="Calibri"/>
              </a:rPr>
              <a:t>Work</a:t>
            </a:r>
            <a:r>
              <a:rPr sz="2257" spc="27" dirty="0">
                <a:latin typeface="Calibri"/>
                <a:cs typeface="Calibri"/>
              </a:rPr>
              <a:t> </a:t>
            </a:r>
            <a:r>
              <a:rPr sz="2257" dirty="0">
                <a:latin typeface="Calibri"/>
                <a:cs typeface="Calibri"/>
              </a:rPr>
              <a:t>Breakdown</a:t>
            </a:r>
            <a:r>
              <a:rPr sz="2257" spc="93" dirty="0">
                <a:latin typeface="Calibri"/>
                <a:cs typeface="Calibri"/>
              </a:rPr>
              <a:t> </a:t>
            </a:r>
            <a:r>
              <a:rPr sz="2257" dirty="0">
                <a:latin typeface="Calibri"/>
                <a:cs typeface="Calibri"/>
              </a:rPr>
              <a:t>Structure</a:t>
            </a:r>
            <a:r>
              <a:rPr sz="2257" spc="49" dirty="0">
                <a:latin typeface="Calibri"/>
                <a:cs typeface="Calibri"/>
              </a:rPr>
              <a:t> </a:t>
            </a:r>
            <a:r>
              <a:rPr sz="2257" dirty="0">
                <a:latin typeface="Calibri"/>
                <a:cs typeface="Calibri"/>
              </a:rPr>
              <a:t>(WBS)</a:t>
            </a:r>
            <a:r>
              <a:rPr sz="2257" spc="27" dirty="0">
                <a:latin typeface="Calibri"/>
                <a:cs typeface="Calibri"/>
              </a:rPr>
              <a:t> </a:t>
            </a:r>
            <a:r>
              <a:rPr sz="2257" spc="-9" dirty="0">
                <a:latin typeface="Calibri"/>
                <a:cs typeface="Calibri"/>
              </a:rPr>
              <a:t>(functional</a:t>
            </a:r>
            <a:endParaRPr sz="2257">
              <a:latin typeface="Calibri"/>
              <a:cs typeface="Calibri"/>
            </a:endParaRPr>
          </a:p>
          <a:p>
            <a:pPr marL="680706">
              <a:spcBef>
                <a:spcPts val="124"/>
              </a:spcBef>
            </a:pPr>
            <a:r>
              <a:rPr sz="2213" spc="-9" dirty="0">
                <a:latin typeface="Calibri"/>
                <a:cs typeface="Calibri"/>
              </a:rPr>
              <a:t>decomposition)</a:t>
            </a:r>
            <a:endParaRPr sz="2213">
              <a:latin typeface="Calibri"/>
              <a:cs typeface="Calibri"/>
            </a:endParaRPr>
          </a:p>
          <a:p>
            <a:pPr marL="680706" lvl="1" indent="-281051">
              <a:spcBef>
                <a:spcPts val="500"/>
              </a:spcBef>
              <a:buChar char="—"/>
              <a:tabLst>
                <a:tab pos="680706" algn="l"/>
              </a:tabLst>
            </a:pPr>
            <a:r>
              <a:rPr sz="2346" spc="-9" dirty="0">
                <a:latin typeface="Calibri"/>
                <a:cs typeface="Calibri"/>
              </a:rPr>
              <a:t>Prototypes</a:t>
            </a:r>
            <a:endParaRPr sz="2346">
              <a:latin typeface="Calibri"/>
              <a:cs typeface="Calibri"/>
            </a:endParaRPr>
          </a:p>
          <a:p>
            <a:pPr marL="680143" lvl="1" indent="-286672">
              <a:spcBef>
                <a:spcPts val="451"/>
              </a:spcBef>
              <a:buChar char="—"/>
              <a:tabLst>
                <a:tab pos="680143" algn="l"/>
              </a:tabLst>
            </a:pPr>
            <a:r>
              <a:rPr sz="2390" spc="-44" dirty="0">
                <a:latin typeface="Calibri"/>
                <a:cs typeface="Calibri"/>
              </a:rPr>
              <a:t>Models</a:t>
            </a:r>
            <a:r>
              <a:rPr sz="2390" spc="-66" dirty="0">
                <a:latin typeface="Calibri"/>
                <a:cs typeface="Calibri"/>
              </a:rPr>
              <a:t> </a:t>
            </a:r>
            <a:r>
              <a:rPr sz="2390" spc="-31" dirty="0">
                <a:latin typeface="Calibri"/>
                <a:cs typeface="Calibri"/>
              </a:rPr>
              <a:t>and</a:t>
            </a:r>
            <a:r>
              <a:rPr sz="2390" spc="-106" dirty="0">
                <a:latin typeface="Calibri"/>
                <a:cs typeface="Calibri"/>
              </a:rPr>
              <a:t> </a:t>
            </a:r>
            <a:r>
              <a:rPr sz="2390" spc="-9" dirty="0">
                <a:latin typeface="Calibri"/>
                <a:cs typeface="Calibri"/>
              </a:rPr>
              <a:t>diagrams</a:t>
            </a:r>
            <a:endParaRPr sz="239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0AC9B-95CD-6D9F-5BFA-DB18FC8C3247}"/>
              </a:ext>
            </a:extLst>
          </p:cNvPr>
          <p:cNvSpPr>
            <a:spLocks noGrp="1"/>
          </p:cNvSpPr>
          <p:nvPr>
            <p:ph type="title"/>
          </p:nvPr>
        </p:nvSpPr>
        <p:spPr/>
        <p:txBody>
          <a:bodyPr>
            <a:normAutofit fontScale="90000"/>
          </a:bodyPr>
          <a:lstStyle/>
          <a:p>
            <a:r>
              <a:rPr lang="en-IN" dirty="0"/>
              <a:t>Software requirement document(SRD)</a:t>
            </a:r>
          </a:p>
        </p:txBody>
      </p:sp>
      <p:sp>
        <p:nvSpPr>
          <p:cNvPr id="3" name="Content Placeholder 2">
            <a:extLst>
              <a:ext uri="{FF2B5EF4-FFF2-40B4-BE49-F238E27FC236}">
                <a16:creationId xmlns:a16="http://schemas.microsoft.com/office/drawing/2014/main" id="{88D17399-1D66-57BD-8FB8-B743EBB5C020}"/>
              </a:ext>
            </a:extLst>
          </p:cNvPr>
          <p:cNvSpPr>
            <a:spLocks noGrp="1"/>
          </p:cNvSpPr>
          <p:nvPr>
            <p:ph idx="1"/>
          </p:nvPr>
        </p:nvSpPr>
        <p:spPr/>
        <p:txBody>
          <a:bodyPr>
            <a:normAutofit fontScale="92500"/>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SOFTWARE REQUIREMENT DOCUMENT: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software requirement document (SRD) example in software engineering could be a document detailing the functionalities of an online shopping cart system, including features like user login, product browsing, adding items to a cart, checkout process with payment integration, order tracking, and the ability to manage shipping addresses, all while specifying performance criteria like response times and security protocols for user data.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Key elements of this example SRD:</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Executive Summary:</a:t>
            </a:r>
          </a:p>
          <a:p>
            <a:pPr marL="342900" lvl="0" indent="-342900">
              <a:lnSpc>
                <a:spcPct val="107000"/>
              </a:lnSpc>
              <a:spcAft>
                <a:spcPts val="800"/>
              </a:spcAft>
              <a:buSzPts val="1000"/>
              <a:buFont typeface="Symbol" panose="05050102010706020507" pitchFamily="18" charset="2"/>
              <a:buChar char=""/>
              <a:tabLst>
                <a:tab pos="457200" algn="l"/>
              </a:tabLst>
            </a:pPr>
            <a:r>
              <a:rPr lang="en-IN" sz="1800" dirty="0">
                <a:effectLst/>
                <a:latin typeface="Calibri" panose="020F0502020204030204" pitchFamily="34" charset="0"/>
                <a:ea typeface="Calibri" panose="020F0502020204030204" pitchFamily="34" charset="0"/>
                <a:cs typeface="Times New Roman" panose="02020603050405020304" pitchFamily="18" charset="0"/>
              </a:rPr>
              <a:t>A brief overview of the system, its purpose, target users, and key functionalities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203525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ED230-0729-84B0-E65D-62B0EEBA8FFC}"/>
              </a:ext>
            </a:extLst>
          </p:cNvPr>
          <p:cNvSpPr>
            <a:spLocks noGrp="1"/>
          </p:cNvSpPr>
          <p:nvPr>
            <p:ph type="title"/>
          </p:nvPr>
        </p:nvSpPr>
        <p:spPr/>
        <p:txBody>
          <a:bodyPr/>
          <a:lstStyle/>
          <a:p>
            <a:r>
              <a:rPr lang="en-IN" dirty="0"/>
              <a:t>Software requirement document</a:t>
            </a:r>
          </a:p>
        </p:txBody>
      </p:sp>
      <p:sp>
        <p:nvSpPr>
          <p:cNvPr id="3" name="Content Placeholder 2">
            <a:extLst>
              <a:ext uri="{FF2B5EF4-FFF2-40B4-BE49-F238E27FC236}">
                <a16:creationId xmlns:a16="http://schemas.microsoft.com/office/drawing/2014/main" id="{0BA00BAA-5E78-8656-0B7E-848C77CC6FC7}"/>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System Scope: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What the system will do (e.g., online shopping cart for retail products).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What the system will not do (e.g., inventory management, manufacturing process).</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Functional Requirements: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User Registration/Login:</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Users must be able to create accounts with username, password, and email.</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Secure login process with password complexity rules.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Product Browsing:</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Display products with clear descriptions, images, and pricing.</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Filtering and sorting options (by category, price, brand).</a:t>
            </a:r>
          </a:p>
          <a:p>
            <a:pPr marL="0" indent="0">
              <a:buNone/>
            </a:pPr>
            <a:endParaRPr lang="en-IN" dirty="0"/>
          </a:p>
        </p:txBody>
      </p:sp>
    </p:spTree>
    <p:extLst>
      <p:ext uri="{BB962C8B-B14F-4D97-AF65-F5344CB8AC3E}">
        <p14:creationId xmlns:p14="http://schemas.microsoft.com/office/powerpoint/2010/main" val="803632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A59EF-6358-D000-6B9F-00124BF012CF}"/>
              </a:ext>
            </a:extLst>
          </p:cNvPr>
          <p:cNvSpPr>
            <a:spLocks noGrp="1"/>
          </p:cNvSpPr>
          <p:nvPr>
            <p:ph type="title"/>
          </p:nvPr>
        </p:nvSpPr>
        <p:spPr/>
        <p:txBody>
          <a:bodyPr/>
          <a:lstStyle/>
          <a:p>
            <a:r>
              <a:rPr lang="en-IN" dirty="0"/>
              <a:t>Software requirement document</a:t>
            </a:r>
          </a:p>
        </p:txBody>
      </p:sp>
      <p:sp>
        <p:nvSpPr>
          <p:cNvPr id="3" name="Content Placeholder 2">
            <a:extLst>
              <a:ext uri="{FF2B5EF4-FFF2-40B4-BE49-F238E27FC236}">
                <a16:creationId xmlns:a16="http://schemas.microsoft.com/office/drawing/2014/main" id="{C6D8EE93-4DFA-3551-E6EE-580CC0AA8BC9}"/>
              </a:ext>
            </a:extLst>
          </p:cNvPr>
          <p:cNvSpPr>
            <a:spLocks noGrp="1"/>
          </p:cNvSpPr>
          <p:nvPr>
            <p:ph idx="1"/>
          </p:nvPr>
        </p:nvSpPr>
        <p:spPr/>
        <p:txBody>
          <a:bodyPr/>
          <a:lstStyle/>
          <a:p>
            <a:endParaRPr lang="en-IN" dirty="0">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Add to Cart:</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Ability to add multiple items to a virtual shopping cart.</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Update quantity of items in the cart.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Checkout:</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Select shipping address.</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Choose payment method (credit card, debit card, PayPal).</a:t>
            </a:r>
          </a:p>
          <a:p>
            <a:pPr marL="1143000" lvl="2" indent="-228600">
              <a:lnSpc>
                <a:spcPct val="107000"/>
              </a:lnSpc>
              <a:spcAft>
                <a:spcPts val="800"/>
              </a:spcAft>
              <a:buSzPts val="1000"/>
              <a:buFont typeface="Wingdings" panose="05000000000000000000" pitchFamily="2" charset="2"/>
              <a:buChar char=""/>
              <a:tabLst>
                <a:tab pos="13716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Review order details before finalizing.</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Order Tracking:</a:t>
            </a:r>
          </a:p>
          <a:p>
            <a:r>
              <a:rPr lang="en-IN" sz="1400" dirty="0">
                <a:effectLst/>
                <a:latin typeface="Calibri" panose="020F0502020204030204" pitchFamily="34" charset="0"/>
                <a:ea typeface="Calibri" panose="020F0502020204030204" pitchFamily="34" charset="0"/>
                <a:cs typeface="Times New Roman" panose="02020603050405020304" pitchFamily="18" charset="0"/>
              </a:rPr>
              <a:t>View order status with tracking updates</a:t>
            </a:r>
            <a:endParaRPr lang="en-IN" sz="1400" dirty="0"/>
          </a:p>
        </p:txBody>
      </p:sp>
    </p:spTree>
    <p:extLst>
      <p:ext uri="{BB962C8B-B14F-4D97-AF65-F5344CB8AC3E}">
        <p14:creationId xmlns:p14="http://schemas.microsoft.com/office/powerpoint/2010/main" val="3377164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488BC-8BC8-BD21-9778-A519F9417880}"/>
              </a:ext>
            </a:extLst>
          </p:cNvPr>
          <p:cNvSpPr>
            <a:spLocks noGrp="1"/>
          </p:cNvSpPr>
          <p:nvPr>
            <p:ph type="title"/>
          </p:nvPr>
        </p:nvSpPr>
        <p:spPr/>
        <p:txBody>
          <a:bodyPr/>
          <a:lstStyle/>
          <a:p>
            <a:r>
              <a:rPr lang="en-IN" dirty="0"/>
              <a:t>Software requirement document</a:t>
            </a:r>
          </a:p>
        </p:txBody>
      </p:sp>
      <p:sp>
        <p:nvSpPr>
          <p:cNvPr id="3" name="Content Placeholder 2">
            <a:extLst>
              <a:ext uri="{FF2B5EF4-FFF2-40B4-BE49-F238E27FC236}">
                <a16:creationId xmlns:a16="http://schemas.microsoft.com/office/drawing/2014/main" id="{FECFCB1D-EF2B-01F8-D743-8D5F693C5B23}"/>
              </a:ext>
            </a:extLst>
          </p:cNvPr>
          <p:cNvSpPr>
            <a:spLocks noGrp="1"/>
          </p:cNvSpPr>
          <p:nvPr>
            <p:ph idx="1"/>
          </p:nvPr>
        </p:nvSpPr>
        <p:spPr/>
        <p:txBody>
          <a:bodyPr>
            <a:normAutofit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Non-Functional Requirements: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Performance:</a:t>
            </a:r>
          </a:p>
          <a:p>
            <a:pPr marL="1143000" lvl="2" indent="-228600">
              <a:lnSpc>
                <a:spcPct val="107000"/>
              </a:lnSpc>
              <a:spcAft>
                <a:spcPts val="800"/>
              </a:spcAft>
              <a:buSzPts val="1000"/>
              <a:buFont typeface="Wingdings" panose="05000000000000000000" pitchFamily="2" charset="2"/>
              <a:buChar char=""/>
              <a:tabLst>
                <a:tab pos="13716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Page load time under 3 seconds.</a:t>
            </a:r>
          </a:p>
          <a:p>
            <a:pPr marL="1143000" lvl="2" indent="-228600">
              <a:lnSpc>
                <a:spcPct val="107000"/>
              </a:lnSpc>
              <a:spcAft>
                <a:spcPts val="800"/>
              </a:spcAft>
              <a:buSzPts val="1000"/>
              <a:buFont typeface="Wingdings" panose="05000000000000000000" pitchFamily="2" charset="2"/>
              <a:buChar char=""/>
              <a:tabLst>
                <a:tab pos="13716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Ability to handle high concurrent user traffic.</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Security:</a:t>
            </a:r>
          </a:p>
          <a:p>
            <a:pPr marL="1143000" lvl="2" indent="-228600">
              <a:lnSpc>
                <a:spcPct val="107000"/>
              </a:lnSpc>
              <a:spcAft>
                <a:spcPts val="800"/>
              </a:spcAft>
              <a:buSzPts val="1000"/>
              <a:buFont typeface="Wingdings" panose="05000000000000000000" pitchFamily="2" charset="2"/>
              <a:buChar char=""/>
              <a:tabLst>
                <a:tab pos="13716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Data encryption for sensitive information (payment details).</a:t>
            </a:r>
          </a:p>
          <a:p>
            <a:pPr marL="1143000" lvl="2" indent="-228600">
              <a:lnSpc>
                <a:spcPct val="107000"/>
              </a:lnSpc>
              <a:spcAft>
                <a:spcPts val="800"/>
              </a:spcAft>
              <a:buSzPts val="1000"/>
              <a:buFont typeface="Wingdings" panose="05000000000000000000" pitchFamily="2" charset="2"/>
              <a:buChar char=""/>
              <a:tabLst>
                <a:tab pos="13716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User authentication to prevent unauthorized access.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Usability:</a:t>
            </a:r>
          </a:p>
          <a:p>
            <a:pPr marL="1143000" lvl="2" indent="-228600">
              <a:lnSpc>
                <a:spcPct val="107000"/>
              </a:lnSpc>
              <a:spcAft>
                <a:spcPts val="800"/>
              </a:spcAft>
              <a:buSzPts val="1000"/>
              <a:buFont typeface="Wingdings" panose="05000000000000000000" pitchFamily="2" charset="2"/>
              <a:buChar char=""/>
              <a:tabLst>
                <a:tab pos="13716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Intuitive user interface design.</a:t>
            </a:r>
          </a:p>
          <a:p>
            <a:pPr marL="1143000" lvl="2" indent="-228600">
              <a:lnSpc>
                <a:spcPct val="107000"/>
              </a:lnSpc>
              <a:spcAft>
                <a:spcPts val="800"/>
              </a:spcAft>
              <a:buSzPts val="1000"/>
              <a:buFont typeface="Wingdings" panose="05000000000000000000" pitchFamily="2" charset="2"/>
              <a:buChar char=""/>
              <a:tabLst>
                <a:tab pos="13716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Responsive design for different screen sizes.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Compatibility:</a:t>
            </a:r>
          </a:p>
          <a:p>
            <a:pPr marL="1143000" lvl="2" indent="-228600">
              <a:lnSpc>
                <a:spcPct val="107000"/>
              </a:lnSpc>
              <a:spcAft>
                <a:spcPts val="800"/>
              </a:spcAft>
              <a:buSzPts val="1000"/>
              <a:buFont typeface="Wingdings" panose="05000000000000000000" pitchFamily="2" charset="2"/>
              <a:buChar char=""/>
              <a:tabLst>
                <a:tab pos="13716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Support for major web browsers.</a:t>
            </a:r>
          </a:p>
          <a:p>
            <a:pPr marL="0" indent="0">
              <a:buNone/>
            </a:pPr>
            <a:endParaRPr lang="en-IN" dirty="0"/>
          </a:p>
        </p:txBody>
      </p:sp>
    </p:spTree>
    <p:extLst>
      <p:ext uri="{BB962C8B-B14F-4D97-AF65-F5344CB8AC3E}">
        <p14:creationId xmlns:p14="http://schemas.microsoft.com/office/powerpoint/2010/main" val="3763211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FFB71-AE34-5B72-C535-C0A66A13833A}"/>
              </a:ext>
            </a:extLst>
          </p:cNvPr>
          <p:cNvSpPr>
            <a:spLocks noGrp="1"/>
          </p:cNvSpPr>
          <p:nvPr>
            <p:ph type="title"/>
          </p:nvPr>
        </p:nvSpPr>
        <p:spPr/>
        <p:txBody>
          <a:bodyPr/>
          <a:lstStyle/>
          <a:p>
            <a:r>
              <a:rPr lang="en-IN" dirty="0"/>
              <a:t>Software requirement document</a:t>
            </a:r>
          </a:p>
        </p:txBody>
      </p:sp>
      <p:sp>
        <p:nvSpPr>
          <p:cNvPr id="3" name="Content Placeholder 2">
            <a:extLst>
              <a:ext uri="{FF2B5EF4-FFF2-40B4-BE49-F238E27FC236}">
                <a16:creationId xmlns:a16="http://schemas.microsoft.com/office/drawing/2014/main" id="{DE0D96C1-5FDE-D671-ACD0-4F2BCC18529E}"/>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System Interfaces: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Integration with payment gateway API.</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Integration with inventory management system (if applicable).</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Constraints: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Development timeline.</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Budget limitations.</a:t>
            </a:r>
          </a:p>
          <a:p>
            <a:pPr marL="0" indent="0">
              <a:buNone/>
            </a:pPr>
            <a:endParaRPr lang="en-IN" dirty="0"/>
          </a:p>
        </p:txBody>
      </p:sp>
    </p:spTree>
    <p:extLst>
      <p:ext uri="{BB962C8B-B14F-4D97-AF65-F5344CB8AC3E}">
        <p14:creationId xmlns:p14="http://schemas.microsoft.com/office/powerpoint/2010/main" val="967839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74088" y="3974609"/>
            <a:ext cx="160758" cy="0"/>
          </a:xfrm>
          <a:custGeom>
            <a:avLst/>
            <a:gdLst/>
            <a:ahLst/>
            <a:cxnLst/>
            <a:rect l="l" t="t" r="r" b="b"/>
            <a:pathLst>
              <a:path w="181609">
                <a:moveTo>
                  <a:pt x="0" y="0"/>
                </a:moveTo>
                <a:lnTo>
                  <a:pt x="181570" y="0"/>
                </a:lnTo>
              </a:path>
            </a:pathLst>
          </a:custGeom>
          <a:ln w="8929">
            <a:solidFill>
              <a:srgbClr val="131313"/>
            </a:solidFill>
          </a:ln>
        </p:spPr>
        <p:txBody>
          <a:bodyPr wrap="square" lIns="0" tIns="0" rIns="0" bIns="0" rtlCol="0"/>
          <a:lstStyle/>
          <a:p>
            <a:endParaRPr sz="1593"/>
          </a:p>
        </p:txBody>
      </p:sp>
      <p:grpSp>
        <p:nvGrpSpPr>
          <p:cNvPr id="3" name="object 3"/>
          <p:cNvGrpSpPr/>
          <p:nvPr/>
        </p:nvGrpSpPr>
        <p:grpSpPr>
          <a:xfrm>
            <a:off x="1174088" y="3836282"/>
            <a:ext cx="160758" cy="142772"/>
            <a:chOff x="1321593" y="4333875"/>
            <a:chExt cx="181610" cy="161290"/>
          </a:xfrm>
        </p:grpSpPr>
        <p:sp>
          <p:nvSpPr>
            <p:cNvPr id="4" name="object 4"/>
            <p:cNvSpPr/>
            <p:nvPr/>
          </p:nvSpPr>
          <p:spPr>
            <a:xfrm>
              <a:off x="1321593" y="4333875"/>
              <a:ext cx="181610" cy="161290"/>
            </a:xfrm>
            <a:custGeom>
              <a:avLst/>
              <a:gdLst/>
              <a:ahLst/>
              <a:cxnLst/>
              <a:rect l="l" t="t" r="r" b="b"/>
              <a:pathLst>
                <a:path w="181609" h="161289">
                  <a:moveTo>
                    <a:pt x="0" y="4464"/>
                  </a:moveTo>
                  <a:lnTo>
                    <a:pt x="181570" y="4464"/>
                  </a:lnTo>
                </a:path>
                <a:path w="181609" h="161289">
                  <a:moveTo>
                    <a:pt x="4464" y="160734"/>
                  </a:moveTo>
                  <a:lnTo>
                    <a:pt x="4464" y="0"/>
                  </a:lnTo>
                </a:path>
              </a:pathLst>
            </a:custGeom>
            <a:ln w="8929">
              <a:solidFill>
                <a:srgbClr val="131313"/>
              </a:solidFill>
            </a:ln>
          </p:spPr>
          <p:txBody>
            <a:bodyPr wrap="square" lIns="0" tIns="0" rIns="0" bIns="0" rtlCol="0"/>
            <a:lstStyle/>
            <a:p>
              <a:endParaRPr sz="1593"/>
            </a:p>
          </p:txBody>
        </p:sp>
        <p:sp>
          <p:nvSpPr>
            <p:cNvPr id="5" name="object 5"/>
            <p:cNvSpPr/>
            <p:nvPr/>
          </p:nvSpPr>
          <p:spPr>
            <a:xfrm>
              <a:off x="1498698" y="4333875"/>
              <a:ext cx="0" cy="161290"/>
            </a:xfrm>
            <a:custGeom>
              <a:avLst/>
              <a:gdLst/>
              <a:ahLst/>
              <a:cxnLst/>
              <a:rect l="l" t="t" r="r" b="b"/>
              <a:pathLst>
                <a:path h="161289">
                  <a:moveTo>
                    <a:pt x="0" y="160734"/>
                  </a:moveTo>
                  <a:lnTo>
                    <a:pt x="0" y="0"/>
                  </a:lnTo>
                </a:path>
              </a:pathLst>
            </a:custGeom>
            <a:ln w="8929">
              <a:solidFill>
                <a:srgbClr val="131313"/>
              </a:solidFill>
            </a:ln>
          </p:spPr>
          <p:txBody>
            <a:bodyPr wrap="square" lIns="0" tIns="0" rIns="0" bIns="0" rtlCol="0"/>
            <a:lstStyle/>
            <a:p>
              <a:endParaRPr sz="1593"/>
            </a:p>
          </p:txBody>
        </p:sp>
      </p:grpSp>
      <p:sp>
        <p:nvSpPr>
          <p:cNvPr id="6" name="object 6"/>
          <p:cNvSpPr/>
          <p:nvPr/>
        </p:nvSpPr>
        <p:spPr>
          <a:xfrm>
            <a:off x="7010190" y="2069642"/>
            <a:ext cx="137151" cy="0"/>
          </a:xfrm>
          <a:custGeom>
            <a:avLst/>
            <a:gdLst/>
            <a:ahLst/>
            <a:cxnLst/>
            <a:rect l="l" t="t" r="r" b="b"/>
            <a:pathLst>
              <a:path w="154940">
                <a:moveTo>
                  <a:pt x="0" y="0"/>
                </a:moveTo>
                <a:lnTo>
                  <a:pt x="154781" y="0"/>
                </a:lnTo>
              </a:path>
            </a:pathLst>
          </a:custGeom>
          <a:ln w="8929">
            <a:solidFill>
              <a:srgbClr val="1F1F1F"/>
            </a:solidFill>
          </a:ln>
        </p:spPr>
        <p:txBody>
          <a:bodyPr wrap="square" lIns="0" tIns="0" rIns="0" bIns="0" rtlCol="0"/>
          <a:lstStyle/>
          <a:p>
            <a:endParaRPr sz="1593"/>
          </a:p>
        </p:txBody>
      </p:sp>
      <p:grpSp>
        <p:nvGrpSpPr>
          <p:cNvPr id="7" name="object 7"/>
          <p:cNvGrpSpPr/>
          <p:nvPr/>
        </p:nvGrpSpPr>
        <p:grpSpPr>
          <a:xfrm>
            <a:off x="7010190" y="1944489"/>
            <a:ext cx="137151" cy="129281"/>
            <a:chOff x="7914679" y="2196703"/>
            <a:chExt cx="154940" cy="146050"/>
          </a:xfrm>
        </p:grpSpPr>
        <p:sp>
          <p:nvSpPr>
            <p:cNvPr id="8" name="object 8"/>
            <p:cNvSpPr/>
            <p:nvPr/>
          </p:nvSpPr>
          <p:spPr>
            <a:xfrm>
              <a:off x="7914679" y="2196703"/>
              <a:ext cx="154940" cy="146050"/>
            </a:xfrm>
            <a:custGeom>
              <a:avLst/>
              <a:gdLst/>
              <a:ahLst/>
              <a:cxnLst/>
              <a:rect l="l" t="t" r="r" b="b"/>
              <a:pathLst>
                <a:path w="154940" h="146050">
                  <a:moveTo>
                    <a:pt x="0" y="4464"/>
                  </a:moveTo>
                  <a:lnTo>
                    <a:pt x="154781" y="4464"/>
                  </a:lnTo>
                </a:path>
                <a:path w="154940" h="146050">
                  <a:moveTo>
                    <a:pt x="4464" y="145851"/>
                  </a:moveTo>
                  <a:lnTo>
                    <a:pt x="4464" y="0"/>
                  </a:lnTo>
                </a:path>
              </a:pathLst>
            </a:custGeom>
            <a:ln w="8929">
              <a:solidFill>
                <a:srgbClr val="1F1F1F"/>
              </a:solidFill>
            </a:ln>
          </p:spPr>
          <p:txBody>
            <a:bodyPr wrap="square" lIns="0" tIns="0" rIns="0" bIns="0" rtlCol="0"/>
            <a:lstStyle/>
            <a:p>
              <a:endParaRPr sz="1593"/>
            </a:p>
          </p:txBody>
        </p:sp>
        <p:sp>
          <p:nvSpPr>
            <p:cNvPr id="9" name="object 9"/>
            <p:cNvSpPr/>
            <p:nvPr/>
          </p:nvSpPr>
          <p:spPr>
            <a:xfrm>
              <a:off x="8064996" y="2196703"/>
              <a:ext cx="0" cy="146050"/>
            </a:xfrm>
            <a:custGeom>
              <a:avLst/>
              <a:gdLst/>
              <a:ahLst/>
              <a:cxnLst/>
              <a:rect l="l" t="t" r="r" b="b"/>
              <a:pathLst>
                <a:path h="146050">
                  <a:moveTo>
                    <a:pt x="0" y="145851"/>
                  </a:moveTo>
                  <a:lnTo>
                    <a:pt x="0" y="0"/>
                  </a:lnTo>
                </a:path>
              </a:pathLst>
            </a:custGeom>
            <a:ln w="8929">
              <a:solidFill>
                <a:srgbClr val="1F1F1F"/>
              </a:solidFill>
            </a:ln>
          </p:spPr>
          <p:txBody>
            <a:bodyPr wrap="square" lIns="0" tIns="0" rIns="0" bIns="0" rtlCol="0"/>
            <a:lstStyle/>
            <a:p>
              <a:endParaRPr sz="1593"/>
            </a:p>
          </p:txBody>
        </p:sp>
      </p:grpSp>
      <p:sp>
        <p:nvSpPr>
          <p:cNvPr id="10" name="object 10"/>
          <p:cNvSpPr txBox="1">
            <a:spLocks noGrp="1"/>
          </p:cNvSpPr>
          <p:nvPr>
            <p:ph type="title"/>
          </p:nvPr>
        </p:nvSpPr>
        <p:spPr>
          <a:xfrm>
            <a:off x="362849" y="35199"/>
            <a:ext cx="6455071" cy="1255591"/>
          </a:xfrm>
          <a:prstGeom prst="rect">
            <a:avLst/>
          </a:prstGeom>
        </p:spPr>
        <p:txBody>
          <a:bodyPr vert="horz" wrap="square" lIns="0" tIns="15739" rIns="0" bIns="0" rtlCol="0" anchor="ctr">
            <a:spAutoFit/>
          </a:bodyPr>
          <a:lstStyle/>
          <a:p>
            <a:pPr marL="1871238">
              <a:spcBef>
                <a:spcPts val="124"/>
              </a:spcBef>
            </a:pPr>
            <a:r>
              <a:rPr lang="en-IN" sz="4028" spc="-53" dirty="0"/>
              <a:t>Summary of </a:t>
            </a:r>
            <a:r>
              <a:rPr sz="4028" spc="-53" dirty="0"/>
              <a:t>SRS</a:t>
            </a:r>
            <a:r>
              <a:rPr sz="4028" spc="-173" dirty="0"/>
              <a:t> </a:t>
            </a:r>
            <a:r>
              <a:rPr sz="4028" spc="-106" dirty="0"/>
              <a:t>document</a:t>
            </a:r>
            <a:endParaRPr sz="4028" dirty="0"/>
          </a:p>
        </p:txBody>
      </p:sp>
      <p:sp>
        <p:nvSpPr>
          <p:cNvPr id="11" name="object 11"/>
          <p:cNvSpPr txBox="1"/>
          <p:nvPr/>
        </p:nvSpPr>
        <p:spPr>
          <a:xfrm>
            <a:off x="465769" y="1375590"/>
            <a:ext cx="6863712" cy="4173466"/>
          </a:xfrm>
          <a:prstGeom prst="rect">
            <a:avLst/>
          </a:prstGeom>
        </p:spPr>
        <p:txBody>
          <a:bodyPr vert="horz" wrap="square" lIns="0" tIns="63516" rIns="0" bIns="0" rtlCol="0">
            <a:spAutoFit/>
          </a:bodyPr>
          <a:lstStyle/>
          <a:p>
            <a:pPr marL="328268" marR="190553" indent="-317026" algn="just">
              <a:lnSpc>
                <a:spcPct val="88000"/>
              </a:lnSpc>
              <a:spcBef>
                <a:spcPts val="500"/>
              </a:spcBef>
              <a:buChar char="•"/>
              <a:tabLst>
                <a:tab pos="328268" algn="l"/>
              </a:tabLst>
            </a:pPr>
            <a:r>
              <a:rPr lang="en-US" sz="2700" dirty="0">
                <a:latin typeface="Calibri"/>
                <a:cs typeface="Calibri"/>
              </a:rPr>
              <a:t>SRS –Software Requirement Specification</a:t>
            </a:r>
          </a:p>
          <a:p>
            <a:pPr marL="328268" marR="190553" indent="-317026" algn="just">
              <a:lnSpc>
                <a:spcPct val="88000"/>
              </a:lnSpc>
              <a:spcBef>
                <a:spcPts val="500"/>
              </a:spcBef>
              <a:buChar char="•"/>
              <a:tabLst>
                <a:tab pos="328268" algn="l"/>
              </a:tabLst>
            </a:pPr>
            <a:r>
              <a:rPr sz="2700" dirty="0">
                <a:latin typeface="Calibri"/>
                <a:cs typeface="Calibri"/>
              </a:rPr>
              <a:t>The</a:t>
            </a:r>
            <a:r>
              <a:rPr sz="2700" spc="-124" dirty="0">
                <a:latin typeface="Calibri"/>
                <a:cs typeface="Calibri"/>
              </a:rPr>
              <a:t> </a:t>
            </a:r>
            <a:r>
              <a:rPr sz="2700" dirty="0">
                <a:latin typeface="Calibri"/>
                <a:cs typeface="Calibri"/>
              </a:rPr>
              <a:t>SRS</a:t>
            </a:r>
            <a:r>
              <a:rPr sz="2700" spc="-124" dirty="0">
                <a:latin typeface="Calibri"/>
                <a:cs typeface="Calibri"/>
              </a:rPr>
              <a:t> </a:t>
            </a:r>
            <a:r>
              <a:rPr sz="2700" spc="-35" dirty="0">
                <a:latin typeface="Calibri"/>
                <a:cs typeface="Calibri"/>
              </a:rPr>
              <a:t>contains</a:t>
            </a:r>
            <a:r>
              <a:rPr sz="2700" spc="-75" dirty="0">
                <a:latin typeface="Calibri"/>
                <a:cs typeface="Calibri"/>
              </a:rPr>
              <a:t> </a:t>
            </a:r>
            <a:r>
              <a:rPr sz="2700" spc="-31" dirty="0">
                <a:latin typeface="Calibri"/>
                <a:cs typeface="Calibri"/>
              </a:rPr>
              <a:t>descriptions</a:t>
            </a:r>
            <a:r>
              <a:rPr sz="2700" spc="-58" dirty="0">
                <a:latin typeface="Calibri"/>
                <a:cs typeface="Calibri"/>
              </a:rPr>
              <a:t> </a:t>
            </a:r>
            <a:r>
              <a:rPr sz="2700" dirty="0">
                <a:latin typeface="Calibri"/>
                <a:cs typeface="Calibri"/>
              </a:rPr>
              <a:t>of</a:t>
            </a:r>
            <a:r>
              <a:rPr sz="2700" spc="-137" dirty="0">
                <a:latin typeface="Calibri"/>
                <a:cs typeface="Calibri"/>
              </a:rPr>
              <a:t> </a:t>
            </a:r>
            <a:r>
              <a:rPr sz="2700" spc="-27" dirty="0">
                <a:latin typeface="Calibri"/>
                <a:cs typeface="Calibri"/>
              </a:rPr>
              <a:t>functions</a:t>
            </a:r>
            <a:r>
              <a:rPr sz="2700" spc="-4" dirty="0">
                <a:latin typeface="Calibri"/>
                <a:cs typeface="Calibri"/>
              </a:rPr>
              <a:t> </a:t>
            </a:r>
            <a:r>
              <a:rPr sz="2700" spc="-22" dirty="0">
                <a:latin typeface="Calibri"/>
                <a:cs typeface="Calibri"/>
              </a:rPr>
              <a:t>and </a:t>
            </a:r>
            <a:r>
              <a:rPr sz="2744" spc="-44" dirty="0">
                <a:latin typeface="Calibri"/>
                <a:cs typeface="Calibri"/>
              </a:rPr>
              <a:t>capabilities</a:t>
            </a:r>
            <a:r>
              <a:rPr sz="2744" spc="-49" dirty="0">
                <a:latin typeface="Calibri"/>
                <a:cs typeface="Calibri"/>
              </a:rPr>
              <a:t> </a:t>
            </a:r>
            <a:r>
              <a:rPr sz="2744" spc="-40" dirty="0">
                <a:latin typeface="Calibri"/>
                <a:cs typeface="Calibri"/>
              </a:rPr>
              <a:t>that</a:t>
            </a:r>
            <a:r>
              <a:rPr sz="2744" spc="-115" dirty="0">
                <a:latin typeface="Calibri"/>
                <a:cs typeface="Calibri"/>
              </a:rPr>
              <a:t> </a:t>
            </a:r>
            <a:r>
              <a:rPr sz="2744" spc="-18" dirty="0">
                <a:latin typeface="Calibri"/>
                <a:cs typeface="Calibri"/>
              </a:rPr>
              <a:t>the</a:t>
            </a:r>
            <a:r>
              <a:rPr sz="2744" spc="-115" dirty="0">
                <a:latin typeface="Calibri"/>
                <a:cs typeface="Calibri"/>
              </a:rPr>
              <a:t> </a:t>
            </a:r>
            <a:r>
              <a:rPr sz="2744" spc="-53" dirty="0">
                <a:latin typeface="Calibri"/>
                <a:cs typeface="Calibri"/>
              </a:rPr>
              <a:t>product</a:t>
            </a:r>
            <a:r>
              <a:rPr sz="2744" spc="-44" dirty="0">
                <a:latin typeface="Calibri"/>
                <a:cs typeface="Calibri"/>
              </a:rPr>
              <a:t> </a:t>
            </a:r>
            <a:r>
              <a:rPr sz="2744" spc="-66" dirty="0">
                <a:latin typeface="Calibri"/>
                <a:cs typeface="Calibri"/>
              </a:rPr>
              <a:t>must</a:t>
            </a:r>
            <a:r>
              <a:rPr sz="2744" spc="-89" dirty="0">
                <a:latin typeface="Calibri"/>
                <a:cs typeface="Calibri"/>
              </a:rPr>
              <a:t> </a:t>
            </a:r>
            <a:r>
              <a:rPr sz="2744" spc="-53" dirty="0">
                <a:latin typeface="Calibri"/>
                <a:cs typeface="Calibri"/>
              </a:rPr>
              <a:t>provide</a:t>
            </a:r>
            <a:r>
              <a:rPr sz="2744" spc="-66" dirty="0">
                <a:latin typeface="Calibri"/>
                <a:cs typeface="Calibri"/>
              </a:rPr>
              <a:t> </a:t>
            </a:r>
            <a:r>
              <a:rPr sz="2744" spc="-18" dirty="0">
                <a:latin typeface="Calibri"/>
                <a:cs typeface="Calibri"/>
              </a:rPr>
              <a:t>also </a:t>
            </a:r>
            <a:r>
              <a:rPr sz="2700" spc="-18" dirty="0">
                <a:latin typeface="Calibri"/>
                <a:cs typeface="Calibri"/>
              </a:rPr>
              <a:t>defines</a:t>
            </a:r>
            <a:r>
              <a:rPr sz="2700" spc="-53" dirty="0">
                <a:latin typeface="Calibri"/>
                <a:cs typeface="Calibri"/>
              </a:rPr>
              <a:t> </a:t>
            </a:r>
            <a:r>
              <a:rPr sz="2700" spc="-40" dirty="0">
                <a:latin typeface="Calibri"/>
                <a:cs typeface="Calibri"/>
              </a:rPr>
              <a:t>constraints</a:t>
            </a:r>
            <a:r>
              <a:rPr sz="2700" spc="-35" dirty="0">
                <a:latin typeface="Calibri"/>
                <a:cs typeface="Calibri"/>
              </a:rPr>
              <a:t> </a:t>
            </a:r>
            <a:r>
              <a:rPr sz="2700" dirty="0">
                <a:latin typeface="Calibri"/>
                <a:cs typeface="Calibri"/>
              </a:rPr>
              <a:t>and</a:t>
            </a:r>
            <a:r>
              <a:rPr sz="2700" spc="-111" dirty="0">
                <a:latin typeface="Calibri"/>
                <a:cs typeface="Calibri"/>
              </a:rPr>
              <a:t> </a:t>
            </a:r>
            <a:r>
              <a:rPr sz="2700" spc="-9" dirty="0">
                <a:latin typeface="Calibri"/>
                <a:cs typeface="Calibri"/>
              </a:rPr>
              <a:t>assumptions.</a:t>
            </a:r>
            <a:endParaRPr sz="2700" dirty="0">
              <a:latin typeface="Calibri"/>
              <a:cs typeface="Calibri"/>
            </a:endParaRPr>
          </a:p>
          <a:p>
            <a:pPr marL="325457" indent="-314215" algn="just">
              <a:spcBef>
                <a:spcPts val="225"/>
              </a:spcBef>
              <a:buChar char="•"/>
              <a:tabLst>
                <a:tab pos="325457" algn="l"/>
              </a:tabLst>
            </a:pPr>
            <a:r>
              <a:rPr sz="2744" spc="-40" dirty="0">
                <a:latin typeface="Calibri"/>
                <a:cs typeface="Calibri"/>
              </a:rPr>
              <a:t>SRS</a:t>
            </a:r>
            <a:r>
              <a:rPr sz="2744" spc="-115" dirty="0">
                <a:latin typeface="Calibri"/>
                <a:cs typeface="Calibri"/>
              </a:rPr>
              <a:t> </a:t>
            </a:r>
            <a:r>
              <a:rPr sz="2744" spc="-44" dirty="0">
                <a:latin typeface="Calibri"/>
                <a:cs typeface="Calibri"/>
              </a:rPr>
              <a:t>must</a:t>
            </a:r>
            <a:r>
              <a:rPr sz="2744" spc="-111" dirty="0">
                <a:latin typeface="Calibri"/>
                <a:cs typeface="Calibri"/>
              </a:rPr>
              <a:t> </a:t>
            </a:r>
            <a:r>
              <a:rPr sz="2744" spc="-40" dirty="0">
                <a:latin typeface="Calibri"/>
                <a:cs typeface="Calibri"/>
              </a:rPr>
              <a:t>include</a:t>
            </a:r>
            <a:r>
              <a:rPr sz="2744" spc="-71" dirty="0">
                <a:latin typeface="Calibri"/>
                <a:cs typeface="Calibri"/>
              </a:rPr>
              <a:t> </a:t>
            </a:r>
            <a:r>
              <a:rPr sz="2744" spc="-18" dirty="0">
                <a:latin typeface="Calibri"/>
                <a:cs typeface="Calibri"/>
              </a:rPr>
              <a:t>the</a:t>
            </a:r>
            <a:r>
              <a:rPr sz="2744" spc="-137" dirty="0">
                <a:latin typeface="Calibri"/>
                <a:cs typeface="Calibri"/>
              </a:rPr>
              <a:t> </a:t>
            </a:r>
            <a:r>
              <a:rPr sz="2744" spc="-49" dirty="0">
                <a:latin typeface="Calibri"/>
                <a:cs typeface="Calibri"/>
              </a:rPr>
              <a:t>following</a:t>
            </a:r>
            <a:r>
              <a:rPr sz="2744" spc="-35" dirty="0">
                <a:latin typeface="Calibri"/>
                <a:cs typeface="Calibri"/>
              </a:rPr>
              <a:t> </a:t>
            </a:r>
            <a:r>
              <a:rPr sz="2744" spc="-9" dirty="0">
                <a:latin typeface="Calibri"/>
                <a:cs typeface="Calibri"/>
              </a:rPr>
              <a:t>sections:</a:t>
            </a:r>
            <a:endParaRPr sz="2744" dirty="0">
              <a:latin typeface="Calibri"/>
              <a:cs typeface="Calibri"/>
            </a:endParaRPr>
          </a:p>
          <a:p>
            <a:pPr marL="675647" marR="1084857" lvl="1" indent="-286672" algn="just">
              <a:lnSpc>
                <a:spcPts val="2487"/>
              </a:lnSpc>
              <a:spcBef>
                <a:spcPts val="571"/>
              </a:spcBef>
              <a:buChar char="—"/>
              <a:tabLst>
                <a:tab pos="679019" algn="l"/>
              </a:tabLst>
            </a:pPr>
            <a:r>
              <a:rPr sz="2390" spc="-9" dirty="0">
                <a:latin typeface="Calibri"/>
                <a:cs typeface="Calibri"/>
              </a:rPr>
              <a:t>Purpose.</a:t>
            </a:r>
            <a:r>
              <a:rPr sz="2390" spc="-97" dirty="0">
                <a:latin typeface="Calibri"/>
                <a:cs typeface="Calibri"/>
              </a:rPr>
              <a:t> </a:t>
            </a:r>
            <a:r>
              <a:rPr sz="2390" spc="-35" dirty="0">
                <a:latin typeface="Calibri"/>
                <a:cs typeface="Calibri"/>
              </a:rPr>
              <a:t>Definitions,</a:t>
            </a:r>
            <a:r>
              <a:rPr sz="2390" spc="4" dirty="0">
                <a:latin typeface="Calibri"/>
                <a:cs typeface="Calibri"/>
              </a:rPr>
              <a:t> </a:t>
            </a:r>
            <a:r>
              <a:rPr sz="2390" spc="-66" dirty="0">
                <a:latin typeface="Calibri"/>
                <a:cs typeface="Calibri"/>
              </a:rPr>
              <a:t>system</a:t>
            </a:r>
            <a:r>
              <a:rPr sz="2390" spc="-71" dirty="0">
                <a:latin typeface="Calibri"/>
                <a:cs typeface="Calibri"/>
              </a:rPr>
              <a:t> overview,</a:t>
            </a:r>
            <a:r>
              <a:rPr sz="2390" spc="-35" dirty="0">
                <a:latin typeface="Calibri"/>
                <a:cs typeface="Calibri"/>
              </a:rPr>
              <a:t> </a:t>
            </a:r>
            <a:r>
              <a:rPr sz="2390" spc="-22" dirty="0">
                <a:latin typeface="Calibri"/>
                <a:cs typeface="Calibri"/>
              </a:rPr>
              <a:t>and 	</a:t>
            </a:r>
            <a:r>
              <a:rPr sz="2390" spc="-9" dirty="0">
                <a:latin typeface="Calibri"/>
                <a:cs typeface="Calibri"/>
              </a:rPr>
              <a:t>background.</a:t>
            </a:r>
            <a:endParaRPr sz="2390" dirty="0">
              <a:latin typeface="Calibri"/>
              <a:cs typeface="Calibri"/>
            </a:endParaRPr>
          </a:p>
          <a:p>
            <a:pPr marL="690261" lvl="1" indent="-303535">
              <a:lnSpc>
                <a:spcPts val="2669"/>
              </a:lnSpc>
              <a:spcBef>
                <a:spcPts val="243"/>
              </a:spcBef>
              <a:buChar char="—"/>
              <a:tabLst>
                <a:tab pos="690261" algn="l"/>
              </a:tabLst>
            </a:pPr>
            <a:r>
              <a:rPr sz="2302" spc="-93" dirty="0">
                <a:latin typeface="Arial MT"/>
                <a:cs typeface="Arial MT"/>
              </a:rPr>
              <a:t>Overall</a:t>
            </a:r>
            <a:r>
              <a:rPr sz="2302" spc="-71" dirty="0">
                <a:latin typeface="Arial MT"/>
                <a:cs typeface="Arial MT"/>
              </a:rPr>
              <a:t> </a:t>
            </a:r>
            <a:r>
              <a:rPr sz="2302" spc="-40" dirty="0">
                <a:latin typeface="Arial MT"/>
                <a:cs typeface="Arial MT"/>
              </a:rPr>
              <a:t>description.</a:t>
            </a:r>
            <a:r>
              <a:rPr sz="2302" spc="4" dirty="0">
                <a:latin typeface="Arial MT"/>
                <a:cs typeface="Arial MT"/>
              </a:rPr>
              <a:t> </a:t>
            </a:r>
            <a:r>
              <a:rPr sz="2302" spc="-128" dirty="0">
                <a:latin typeface="Arial MT"/>
                <a:cs typeface="Arial MT"/>
              </a:rPr>
              <a:t>Assumptions,</a:t>
            </a:r>
            <a:r>
              <a:rPr sz="2302" spc="-4" dirty="0">
                <a:latin typeface="Arial MT"/>
                <a:cs typeface="Arial MT"/>
              </a:rPr>
              <a:t> </a:t>
            </a:r>
            <a:r>
              <a:rPr sz="2302" spc="-31" dirty="0">
                <a:latin typeface="Arial MT"/>
                <a:cs typeface="Arial MT"/>
              </a:rPr>
              <a:t>constraints,</a:t>
            </a:r>
            <a:endParaRPr sz="2302" dirty="0">
              <a:latin typeface="Arial MT"/>
              <a:cs typeface="Arial MT"/>
            </a:endParaRPr>
          </a:p>
          <a:p>
            <a:pPr marL="682954">
              <a:lnSpc>
                <a:spcPts val="2563"/>
              </a:lnSpc>
            </a:pPr>
            <a:r>
              <a:rPr sz="2213" spc="-106" dirty="0">
                <a:latin typeface="Arial MT"/>
                <a:cs typeface="Arial MT"/>
              </a:rPr>
              <a:t>business</a:t>
            </a:r>
            <a:r>
              <a:rPr sz="2213" spc="-49" dirty="0">
                <a:latin typeface="Arial MT"/>
                <a:cs typeface="Arial MT"/>
              </a:rPr>
              <a:t> </a:t>
            </a:r>
            <a:r>
              <a:rPr sz="2213" spc="-58" dirty="0">
                <a:latin typeface="Arial MT"/>
                <a:cs typeface="Arial MT"/>
              </a:rPr>
              <a:t>rules,</a:t>
            </a:r>
            <a:r>
              <a:rPr sz="2213" spc="-97" dirty="0">
                <a:latin typeface="Arial MT"/>
                <a:cs typeface="Arial MT"/>
              </a:rPr>
              <a:t> </a:t>
            </a:r>
            <a:r>
              <a:rPr sz="2213" spc="-58" dirty="0">
                <a:latin typeface="Arial MT"/>
                <a:cs typeface="Arial MT"/>
              </a:rPr>
              <a:t>and</a:t>
            </a:r>
            <a:r>
              <a:rPr sz="2213" spc="-97" dirty="0">
                <a:latin typeface="Arial MT"/>
                <a:cs typeface="Arial MT"/>
              </a:rPr>
              <a:t> </a:t>
            </a:r>
            <a:r>
              <a:rPr sz="2213" spc="-9" dirty="0">
                <a:latin typeface="Arial MT"/>
                <a:cs typeface="Arial MT"/>
              </a:rPr>
              <a:t>product</a:t>
            </a:r>
            <a:r>
              <a:rPr sz="2213" spc="-53" dirty="0">
                <a:latin typeface="Arial MT"/>
                <a:cs typeface="Arial MT"/>
              </a:rPr>
              <a:t> </a:t>
            </a:r>
            <a:r>
              <a:rPr sz="2213" spc="-9" dirty="0">
                <a:latin typeface="Arial MT"/>
                <a:cs typeface="Arial MT"/>
              </a:rPr>
              <a:t>vision.</a:t>
            </a:r>
            <a:endParaRPr sz="2213" dirty="0">
              <a:latin typeface="Arial MT"/>
              <a:cs typeface="Arial MT"/>
            </a:endParaRPr>
          </a:p>
          <a:p>
            <a:pPr marL="681268" lvl="1" indent="-275430">
              <a:lnSpc>
                <a:spcPts val="2549"/>
              </a:lnSpc>
              <a:spcBef>
                <a:spcPts val="381"/>
              </a:spcBef>
              <a:buChar char="—"/>
              <a:tabLst>
                <a:tab pos="681268" algn="l"/>
              </a:tabLst>
            </a:pPr>
            <a:r>
              <a:rPr sz="2213" dirty="0">
                <a:latin typeface="Calibri"/>
                <a:cs typeface="Calibri"/>
              </a:rPr>
              <a:t>Specific</a:t>
            </a:r>
            <a:r>
              <a:rPr sz="2213" spc="266" dirty="0">
                <a:latin typeface="Calibri"/>
                <a:cs typeface="Calibri"/>
              </a:rPr>
              <a:t> </a:t>
            </a:r>
            <a:r>
              <a:rPr sz="2213" dirty="0">
                <a:latin typeface="Calibri"/>
                <a:cs typeface="Calibri"/>
              </a:rPr>
              <a:t>requirements.</a:t>
            </a:r>
            <a:r>
              <a:rPr sz="2213" spc="451" dirty="0">
                <a:latin typeface="Calibri"/>
                <a:cs typeface="Calibri"/>
              </a:rPr>
              <a:t> </a:t>
            </a:r>
            <a:r>
              <a:rPr sz="2213" dirty="0">
                <a:latin typeface="Calibri"/>
                <a:cs typeface="Calibri"/>
              </a:rPr>
              <a:t>System</a:t>
            </a:r>
            <a:r>
              <a:rPr sz="2213" spc="328" dirty="0">
                <a:latin typeface="Calibri"/>
                <a:cs typeface="Calibri"/>
              </a:rPr>
              <a:t> </a:t>
            </a:r>
            <a:r>
              <a:rPr sz="2213" dirty="0">
                <a:latin typeface="Calibri"/>
                <a:cs typeface="Calibri"/>
              </a:rPr>
              <a:t>attributes,</a:t>
            </a:r>
            <a:r>
              <a:rPr sz="2213" spc="384" dirty="0">
                <a:latin typeface="Calibri"/>
                <a:cs typeface="Calibri"/>
              </a:rPr>
              <a:t> </a:t>
            </a:r>
            <a:r>
              <a:rPr sz="2213" spc="-9" dirty="0">
                <a:latin typeface="Calibri"/>
                <a:cs typeface="Calibri"/>
              </a:rPr>
              <a:t>functional</a:t>
            </a:r>
            <a:endParaRPr sz="2213" dirty="0">
              <a:latin typeface="Calibri"/>
              <a:cs typeface="Calibri"/>
            </a:endParaRPr>
          </a:p>
          <a:p>
            <a:pPr marL="680143">
              <a:lnSpc>
                <a:spcPts val="2602"/>
              </a:lnSpc>
            </a:pPr>
            <a:r>
              <a:rPr sz="2257" dirty="0">
                <a:latin typeface="Calibri"/>
                <a:cs typeface="Calibri"/>
              </a:rPr>
              <a:t>requirements,</a:t>
            </a:r>
            <a:r>
              <a:rPr sz="2257" spc="111" dirty="0">
                <a:latin typeface="Calibri"/>
                <a:cs typeface="Calibri"/>
              </a:rPr>
              <a:t> </a:t>
            </a:r>
            <a:r>
              <a:rPr sz="2257" dirty="0">
                <a:latin typeface="Calibri"/>
                <a:cs typeface="Calibri"/>
              </a:rPr>
              <a:t>database</a:t>
            </a:r>
            <a:r>
              <a:rPr sz="2257" spc="27" dirty="0">
                <a:latin typeface="Calibri"/>
                <a:cs typeface="Calibri"/>
              </a:rPr>
              <a:t> </a:t>
            </a:r>
            <a:r>
              <a:rPr sz="2257" spc="-9" dirty="0">
                <a:latin typeface="Calibri"/>
                <a:cs typeface="Calibri"/>
              </a:rPr>
              <a:t>requirements.</a:t>
            </a:r>
            <a:endParaRPr sz="2257"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55765" y="141116"/>
            <a:ext cx="1768905" cy="596457"/>
          </a:xfrm>
          <a:prstGeom prst="rect">
            <a:avLst/>
          </a:prstGeom>
        </p:spPr>
        <p:txBody>
          <a:bodyPr vert="horz" wrap="square" lIns="0" tIns="10680" rIns="0" bIns="0" rtlCol="0" anchor="ctr">
            <a:spAutoFit/>
          </a:bodyPr>
          <a:lstStyle/>
          <a:p>
            <a:pPr marL="11242">
              <a:spcBef>
                <a:spcPts val="84"/>
              </a:spcBef>
            </a:pPr>
            <a:r>
              <a:rPr sz="3806" spc="-168" dirty="0"/>
              <a:t>Use</a:t>
            </a:r>
            <a:r>
              <a:rPr sz="3806" spc="-44" dirty="0"/>
              <a:t> </a:t>
            </a:r>
            <a:r>
              <a:rPr sz="3806" spc="-137" dirty="0"/>
              <a:t>cases</a:t>
            </a:r>
            <a:endParaRPr sz="3806" dirty="0"/>
          </a:p>
        </p:txBody>
      </p:sp>
      <p:sp>
        <p:nvSpPr>
          <p:cNvPr id="3" name="object 3"/>
          <p:cNvSpPr txBox="1"/>
          <p:nvPr/>
        </p:nvSpPr>
        <p:spPr>
          <a:xfrm>
            <a:off x="465710" y="1346123"/>
            <a:ext cx="7071125" cy="3708940"/>
          </a:xfrm>
          <a:prstGeom prst="rect">
            <a:avLst/>
          </a:prstGeom>
        </p:spPr>
        <p:txBody>
          <a:bodyPr vert="horz" wrap="square" lIns="0" tIns="100052" rIns="0" bIns="0" rtlCol="0">
            <a:spAutoFit/>
          </a:bodyPr>
          <a:lstStyle/>
          <a:p>
            <a:pPr marL="326581" marR="4497" indent="-315901">
              <a:lnSpc>
                <a:spcPct val="77400"/>
              </a:lnSpc>
              <a:spcBef>
                <a:spcPts val="788"/>
              </a:spcBef>
              <a:buChar char="•"/>
              <a:tabLst>
                <a:tab pos="326581" algn="l"/>
                <a:tab pos="327705" algn="l"/>
              </a:tabLst>
            </a:pPr>
            <a:r>
              <a:rPr sz="2479" dirty="0">
                <a:latin typeface="Calibri"/>
                <a:cs typeface="Calibri"/>
              </a:rPr>
              <a:t>	</a:t>
            </a:r>
            <a:r>
              <a:rPr sz="2479" spc="-9" dirty="0">
                <a:latin typeface="Calibri"/>
                <a:cs typeface="Calibri"/>
              </a:rPr>
              <a:t>Use</a:t>
            </a:r>
            <a:r>
              <a:rPr sz="2479" spc="-106" dirty="0">
                <a:latin typeface="Calibri"/>
                <a:cs typeface="Calibri"/>
              </a:rPr>
              <a:t> </a:t>
            </a:r>
            <a:r>
              <a:rPr sz="2479" spc="-44" dirty="0">
                <a:latin typeface="Calibri"/>
                <a:cs typeface="Calibri"/>
              </a:rPr>
              <a:t>cases</a:t>
            </a:r>
            <a:r>
              <a:rPr sz="2479" spc="-93" dirty="0">
                <a:latin typeface="Calibri"/>
                <a:cs typeface="Calibri"/>
              </a:rPr>
              <a:t> </a:t>
            </a:r>
            <a:r>
              <a:rPr sz="2479" dirty="0">
                <a:latin typeface="Calibri"/>
                <a:cs typeface="Calibri"/>
              </a:rPr>
              <a:t>-</a:t>
            </a:r>
            <a:r>
              <a:rPr sz="2479" spc="-115" dirty="0">
                <a:latin typeface="Calibri"/>
                <a:cs typeface="Calibri"/>
              </a:rPr>
              <a:t> </a:t>
            </a:r>
            <a:r>
              <a:rPr sz="2479" spc="-22" dirty="0">
                <a:latin typeface="Calibri"/>
                <a:cs typeface="Calibri"/>
              </a:rPr>
              <a:t>Use</a:t>
            </a:r>
            <a:r>
              <a:rPr sz="2479" spc="-97" dirty="0">
                <a:latin typeface="Calibri"/>
                <a:cs typeface="Calibri"/>
              </a:rPr>
              <a:t> </a:t>
            </a:r>
            <a:r>
              <a:rPr sz="2479" spc="-40" dirty="0">
                <a:latin typeface="Calibri"/>
                <a:cs typeface="Calibri"/>
              </a:rPr>
              <a:t>cases</a:t>
            </a:r>
            <a:r>
              <a:rPr sz="2479" spc="-80" dirty="0">
                <a:latin typeface="Calibri"/>
                <a:cs typeface="Calibri"/>
              </a:rPr>
              <a:t> </a:t>
            </a:r>
            <a:r>
              <a:rPr sz="2479" spc="-35" dirty="0">
                <a:latin typeface="Calibri"/>
                <a:cs typeface="Calibri"/>
              </a:rPr>
              <a:t>describe</a:t>
            </a:r>
            <a:r>
              <a:rPr sz="2479" spc="-71" dirty="0">
                <a:latin typeface="Calibri"/>
                <a:cs typeface="Calibri"/>
              </a:rPr>
              <a:t> </a:t>
            </a:r>
            <a:r>
              <a:rPr sz="2479" spc="-18" dirty="0">
                <a:latin typeface="Calibri"/>
                <a:cs typeface="Calibri"/>
              </a:rPr>
              <a:t>the</a:t>
            </a:r>
            <a:r>
              <a:rPr sz="2479" spc="-106" dirty="0">
                <a:latin typeface="Calibri"/>
                <a:cs typeface="Calibri"/>
              </a:rPr>
              <a:t> </a:t>
            </a:r>
            <a:r>
              <a:rPr sz="2479" spc="-49" dirty="0">
                <a:latin typeface="Calibri"/>
                <a:cs typeface="Calibri"/>
              </a:rPr>
              <a:t>interaction </a:t>
            </a:r>
            <a:r>
              <a:rPr sz="2479" spc="-66" dirty="0">
                <a:latin typeface="Calibri"/>
                <a:cs typeface="Calibri"/>
              </a:rPr>
              <a:t>between </a:t>
            </a:r>
            <a:r>
              <a:rPr sz="2479" spc="-18" dirty="0">
                <a:latin typeface="Calibri"/>
                <a:cs typeface="Calibri"/>
              </a:rPr>
              <a:t>the</a:t>
            </a:r>
            <a:r>
              <a:rPr sz="2479" spc="-124" dirty="0">
                <a:latin typeface="Calibri"/>
                <a:cs typeface="Calibri"/>
              </a:rPr>
              <a:t> </a:t>
            </a:r>
            <a:r>
              <a:rPr sz="2479" spc="-53" dirty="0">
                <a:latin typeface="Calibri"/>
                <a:cs typeface="Calibri"/>
              </a:rPr>
              <a:t>system</a:t>
            </a:r>
            <a:r>
              <a:rPr sz="2479" spc="-75" dirty="0">
                <a:latin typeface="Calibri"/>
                <a:cs typeface="Calibri"/>
              </a:rPr>
              <a:t> </a:t>
            </a:r>
            <a:r>
              <a:rPr sz="2479" spc="-35" dirty="0">
                <a:latin typeface="Calibri"/>
                <a:cs typeface="Calibri"/>
              </a:rPr>
              <a:t>and</a:t>
            </a:r>
            <a:r>
              <a:rPr sz="2479" spc="-101" dirty="0">
                <a:latin typeface="Calibri"/>
                <a:cs typeface="Calibri"/>
              </a:rPr>
              <a:t> </a:t>
            </a:r>
            <a:r>
              <a:rPr sz="2479" spc="-44" dirty="0">
                <a:latin typeface="Calibri"/>
                <a:cs typeface="Calibri"/>
              </a:rPr>
              <a:t>external</a:t>
            </a:r>
            <a:r>
              <a:rPr sz="2479" spc="-53" dirty="0">
                <a:latin typeface="Calibri"/>
                <a:cs typeface="Calibri"/>
              </a:rPr>
              <a:t> users</a:t>
            </a:r>
            <a:r>
              <a:rPr sz="2479" spc="-89" dirty="0">
                <a:latin typeface="Calibri"/>
                <a:cs typeface="Calibri"/>
              </a:rPr>
              <a:t> </a:t>
            </a:r>
            <a:r>
              <a:rPr sz="2479" spc="-27" dirty="0">
                <a:latin typeface="Calibri"/>
                <a:cs typeface="Calibri"/>
              </a:rPr>
              <a:t>that</a:t>
            </a:r>
            <a:r>
              <a:rPr sz="2479" spc="-106" dirty="0">
                <a:latin typeface="Calibri"/>
                <a:cs typeface="Calibri"/>
              </a:rPr>
              <a:t> </a:t>
            </a:r>
            <a:r>
              <a:rPr sz="2479" spc="-22" dirty="0">
                <a:latin typeface="Calibri"/>
                <a:cs typeface="Calibri"/>
              </a:rPr>
              <a:t>leads</a:t>
            </a:r>
            <a:r>
              <a:rPr sz="2479" spc="-93" dirty="0">
                <a:latin typeface="Calibri"/>
                <a:cs typeface="Calibri"/>
              </a:rPr>
              <a:t> </a:t>
            </a:r>
            <a:r>
              <a:rPr sz="2479" dirty="0">
                <a:latin typeface="Calibri"/>
                <a:cs typeface="Calibri"/>
              </a:rPr>
              <a:t>to</a:t>
            </a:r>
            <a:r>
              <a:rPr sz="2479" spc="-111" dirty="0">
                <a:latin typeface="Calibri"/>
                <a:cs typeface="Calibri"/>
              </a:rPr>
              <a:t> </a:t>
            </a:r>
            <a:r>
              <a:rPr sz="2479" spc="-9" dirty="0">
                <a:latin typeface="Calibri"/>
                <a:cs typeface="Calibri"/>
              </a:rPr>
              <a:t>achieving </a:t>
            </a:r>
            <a:r>
              <a:rPr sz="2479" spc="-35" dirty="0">
                <a:latin typeface="Calibri"/>
                <a:cs typeface="Calibri"/>
              </a:rPr>
              <a:t>particular</a:t>
            </a:r>
            <a:r>
              <a:rPr sz="2479" spc="-58" dirty="0">
                <a:latin typeface="Calibri"/>
                <a:cs typeface="Calibri"/>
              </a:rPr>
              <a:t> </a:t>
            </a:r>
            <a:r>
              <a:rPr sz="2479" spc="-9" dirty="0">
                <a:latin typeface="Calibri"/>
                <a:cs typeface="Calibri"/>
              </a:rPr>
              <a:t>goals.</a:t>
            </a:r>
            <a:endParaRPr sz="2479" dirty="0">
              <a:latin typeface="Calibri"/>
              <a:cs typeface="Calibri"/>
            </a:endParaRPr>
          </a:p>
          <a:p>
            <a:pPr marL="327143" indent="-315901">
              <a:lnSpc>
                <a:spcPts val="2836"/>
              </a:lnSpc>
              <a:buChar char="•"/>
              <a:tabLst>
                <a:tab pos="327143" algn="l"/>
              </a:tabLst>
            </a:pPr>
            <a:r>
              <a:rPr sz="2479" spc="-49" dirty="0">
                <a:latin typeface="Calibri"/>
                <a:cs typeface="Calibri"/>
              </a:rPr>
              <a:t>Each</a:t>
            </a:r>
            <a:r>
              <a:rPr sz="2479" spc="-93" dirty="0">
                <a:latin typeface="Calibri"/>
                <a:cs typeface="Calibri"/>
              </a:rPr>
              <a:t> </a:t>
            </a:r>
            <a:r>
              <a:rPr sz="2479" spc="-9" dirty="0">
                <a:latin typeface="Calibri"/>
                <a:cs typeface="Calibri"/>
              </a:rPr>
              <a:t>use</a:t>
            </a:r>
            <a:r>
              <a:rPr sz="2479" spc="-115" dirty="0">
                <a:latin typeface="Calibri"/>
                <a:cs typeface="Calibri"/>
              </a:rPr>
              <a:t> </a:t>
            </a:r>
            <a:r>
              <a:rPr sz="2479" spc="-40" dirty="0">
                <a:latin typeface="Calibri"/>
                <a:cs typeface="Calibri"/>
              </a:rPr>
              <a:t>case</a:t>
            </a:r>
            <a:r>
              <a:rPr sz="2479" spc="-97" dirty="0">
                <a:latin typeface="Calibri"/>
                <a:cs typeface="Calibri"/>
              </a:rPr>
              <a:t> </a:t>
            </a:r>
            <a:r>
              <a:rPr sz="2479" spc="-31" dirty="0">
                <a:latin typeface="Calibri"/>
                <a:cs typeface="Calibri"/>
              </a:rPr>
              <a:t>includes</a:t>
            </a:r>
            <a:r>
              <a:rPr sz="2479" spc="-40" dirty="0">
                <a:latin typeface="Calibri"/>
                <a:cs typeface="Calibri"/>
              </a:rPr>
              <a:t> </a:t>
            </a:r>
            <a:r>
              <a:rPr sz="2479" spc="-44" dirty="0">
                <a:latin typeface="Calibri"/>
                <a:cs typeface="Calibri"/>
              </a:rPr>
              <a:t>three</a:t>
            </a:r>
            <a:r>
              <a:rPr sz="2479" spc="-89" dirty="0">
                <a:latin typeface="Calibri"/>
                <a:cs typeface="Calibri"/>
              </a:rPr>
              <a:t> </a:t>
            </a:r>
            <a:r>
              <a:rPr sz="2479" spc="-27" dirty="0">
                <a:latin typeface="Calibri"/>
                <a:cs typeface="Calibri"/>
              </a:rPr>
              <a:t>main</a:t>
            </a:r>
            <a:r>
              <a:rPr sz="2479" spc="-89" dirty="0">
                <a:latin typeface="Calibri"/>
                <a:cs typeface="Calibri"/>
              </a:rPr>
              <a:t> </a:t>
            </a:r>
            <a:r>
              <a:rPr sz="2479" spc="-9" dirty="0">
                <a:latin typeface="Calibri"/>
                <a:cs typeface="Calibri"/>
              </a:rPr>
              <a:t>elements:</a:t>
            </a:r>
            <a:endParaRPr sz="2479" dirty="0">
              <a:latin typeface="Calibri"/>
              <a:cs typeface="Calibri"/>
            </a:endParaRPr>
          </a:p>
          <a:p>
            <a:pPr marL="679581" marR="781884" lvl="1" indent="-269809">
              <a:lnSpc>
                <a:spcPct val="78400"/>
              </a:lnSpc>
              <a:spcBef>
                <a:spcPts val="536"/>
              </a:spcBef>
              <a:buChar char="—"/>
              <a:tabLst>
                <a:tab pos="684078" algn="l"/>
              </a:tabLst>
            </a:pPr>
            <a:r>
              <a:rPr sz="2169" dirty="0">
                <a:latin typeface="Calibri"/>
                <a:cs typeface="Calibri"/>
              </a:rPr>
              <a:t>Actors.</a:t>
            </a:r>
            <a:r>
              <a:rPr sz="2169" spc="-106" dirty="0">
                <a:latin typeface="Calibri"/>
                <a:cs typeface="Calibri"/>
              </a:rPr>
              <a:t> </a:t>
            </a:r>
            <a:r>
              <a:rPr sz="2169" spc="-22" dirty="0">
                <a:latin typeface="Calibri"/>
                <a:cs typeface="Calibri"/>
              </a:rPr>
              <a:t>These</a:t>
            </a:r>
            <a:r>
              <a:rPr sz="2169" spc="-58" dirty="0">
                <a:latin typeface="Calibri"/>
                <a:cs typeface="Calibri"/>
              </a:rPr>
              <a:t> </a:t>
            </a:r>
            <a:r>
              <a:rPr sz="2169" dirty="0">
                <a:latin typeface="Calibri"/>
                <a:cs typeface="Calibri"/>
              </a:rPr>
              <a:t>are</a:t>
            </a:r>
            <a:r>
              <a:rPr sz="2169" spc="-89" dirty="0">
                <a:latin typeface="Calibri"/>
                <a:cs typeface="Calibri"/>
              </a:rPr>
              <a:t> </a:t>
            </a:r>
            <a:r>
              <a:rPr sz="2169" spc="-9" dirty="0">
                <a:latin typeface="Calibri"/>
                <a:cs typeface="Calibri"/>
              </a:rPr>
              <a:t>the</a:t>
            </a:r>
            <a:r>
              <a:rPr sz="2169" spc="-115" dirty="0">
                <a:latin typeface="Calibri"/>
                <a:cs typeface="Calibri"/>
              </a:rPr>
              <a:t> </a:t>
            </a:r>
            <a:r>
              <a:rPr sz="2169" spc="-18" dirty="0">
                <a:latin typeface="Calibri"/>
                <a:cs typeface="Calibri"/>
              </a:rPr>
              <a:t>users</a:t>
            </a:r>
            <a:r>
              <a:rPr sz="2169" spc="-75" dirty="0">
                <a:latin typeface="Calibri"/>
                <a:cs typeface="Calibri"/>
              </a:rPr>
              <a:t> </a:t>
            </a:r>
            <a:r>
              <a:rPr sz="2169" spc="-27" dirty="0">
                <a:latin typeface="Calibri"/>
                <a:cs typeface="Calibri"/>
              </a:rPr>
              <a:t>outside</a:t>
            </a:r>
            <a:r>
              <a:rPr sz="2169" spc="-22" dirty="0">
                <a:latin typeface="Calibri"/>
                <a:cs typeface="Calibri"/>
              </a:rPr>
              <a:t> </a:t>
            </a:r>
            <a:r>
              <a:rPr sz="2169" dirty="0">
                <a:latin typeface="Calibri"/>
                <a:cs typeface="Calibri"/>
              </a:rPr>
              <a:t>the</a:t>
            </a:r>
            <a:r>
              <a:rPr sz="2169" spc="-97" dirty="0">
                <a:latin typeface="Calibri"/>
                <a:cs typeface="Calibri"/>
              </a:rPr>
              <a:t> </a:t>
            </a:r>
            <a:r>
              <a:rPr sz="2169" spc="-40" dirty="0">
                <a:latin typeface="Calibri"/>
                <a:cs typeface="Calibri"/>
              </a:rPr>
              <a:t>system</a:t>
            </a:r>
            <a:r>
              <a:rPr sz="2169" spc="-75" dirty="0">
                <a:latin typeface="Calibri"/>
                <a:cs typeface="Calibri"/>
              </a:rPr>
              <a:t> </a:t>
            </a:r>
            <a:r>
              <a:rPr sz="2169" spc="-18" dirty="0">
                <a:latin typeface="Calibri"/>
                <a:cs typeface="Calibri"/>
              </a:rPr>
              <a:t>that 	</a:t>
            </a:r>
            <a:r>
              <a:rPr sz="2169" spc="-35" dirty="0">
                <a:latin typeface="Calibri"/>
                <a:cs typeface="Calibri"/>
              </a:rPr>
              <a:t>interact</a:t>
            </a:r>
            <a:r>
              <a:rPr sz="2169" spc="-31" dirty="0">
                <a:latin typeface="Calibri"/>
                <a:cs typeface="Calibri"/>
              </a:rPr>
              <a:t> </a:t>
            </a:r>
            <a:r>
              <a:rPr sz="2169" spc="-9" dirty="0">
                <a:latin typeface="Calibri"/>
                <a:cs typeface="Calibri"/>
              </a:rPr>
              <a:t>with</a:t>
            </a:r>
            <a:r>
              <a:rPr sz="2169" spc="-111" dirty="0">
                <a:latin typeface="Calibri"/>
                <a:cs typeface="Calibri"/>
              </a:rPr>
              <a:t> </a:t>
            </a:r>
            <a:r>
              <a:rPr sz="2169" dirty="0">
                <a:latin typeface="Calibri"/>
                <a:cs typeface="Calibri"/>
              </a:rPr>
              <a:t>the</a:t>
            </a:r>
            <a:r>
              <a:rPr sz="2169" spc="-93" dirty="0">
                <a:latin typeface="Calibri"/>
                <a:cs typeface="Calibri"/>
              </a:rPr>
              <a:t> </a:t>
            </a:r>
            <a:r>
              <a:rPr sz="2169" spc="-9" dirty="0">
                <a:latin typeface="Calibri"/>
                <a:cs typeface="Calibri"/>
              </a:rPr>
              <a:t>system.</a:t>
            </a:r>
            <a:endParaRPr sz="2169" dirty="0">
              <a:latin typeface="Calibri"/>
              <a:cs typeface="Calibri"/>
            </a:endParaRPr>
          </a:p>
          <a:p>
            <a:pPr marL="681830" marR="386726" lvl="1" indent="-271495">
              <a:lnSpc>
                <a:spcPts val="2045"/>
              </a:lnSpc>
              <a:spcBef>
                <a:spcPts val="469"/>
              </a:spcBef>
              <a:buChar char="—"/>
              <a:tabLst>
                <a:tab pos="681830" algn="l"/>
              </a:tabLst>
            </a:pPr>
            <a:r>
              <a:rPr sz="2124" dirty="0">
                <a:latin typeface="Calibri"/>
                <a:cs typeface="Calibri"/>
              </a:rPr>
              <a:t>System.</a:t>
            </a:r>
            <a:r>
              <a:rPr sz="2124" spc="-40" dirty="0">
                <a:latin typeface="Calibri"/>
                <a:cs typeface="Calibri"/>
              </a:rPr>
              <a:t> </a:t>
            </a:r>
            <a:r>
              <a:rPr sz="2124" dirty="0">
                <a:latin typeface="Calibri"/>
                <a:cs typeface="Calibri"/>
              </a:rPr>
              <a:t>The</a:t>
            </a:r>
            <a:r>
              <a:rPr sz="2124" spc="-40" dirty="0">
                <a:latin typeface="Calibri"/>
                <a:cs typeface="Calibri"/>
              </a:rPr>
              <a:t> </a:t>
            </a:r>
            <a:r>
              <a:rPr sz="2124" spc="-22" dirty="0">
                <a:latin typeface="Calibri"/>
                <a:cs typeface="Calibri"/>
              </a:rPr>
              <a:t>system</a:t>
            </a:r>
            <a:r>
              <a:rPr sz="2124" spc="35" dirty="0">
                <a:latin typeface="Calibri"/>
                <a:cs typeface="Calibri"/>
              </a:rPr>
              <a:t> </a:t>
            </a:r>
            <a:r>
              <a:rPr sz="2124" dirty="0">
                <a:latin typeface="Calibri"/>
                <a:cs typeface="Calibri"/>
              </a:rPr>
              <a:t>is</a:t>
            </a:r>
            <a:r>
              <a:rPr sz="2124" spc="-71" dirty="0">
                <a:latin typeface="Calibri"/>
                <a:cs typeface="Calibri"/>
              </a:rPr>
              <a:t> </a:t>
            </a:r>
            <a:r>
              <a:rPr sz="2124" spc="-9" dirty="0">
                <a:latin typeface="Calibri"/>
                <a:cs typeface="Calibri"/>
              </a:rPr>
              <a:t>described</a:t>
            </a:r>
            <a:r>
              <a:rPr sz="2124" spc="66" dirty="0">
                <a:latin typeface="Calibri"/>
                <a:cs typeface="Calibri"/>
              </a:rPr>
              <a:t> </a:t>
            </a:r>
            <a:r>
              <a:rPr sz="2124" dirty="0">
                <a:latin typeface="Calibri"/>
                <a:cs typeface="Calibri"/>
              </a:rPr>
              <a:t>by</a:t>
            </a:r>
            <a:r>
              <a:rPr sz="2124" spc="-58" dirty="0">
                <a:latin typeface="Calibri"/>
                <a:cs typeface="Calibri"/>
              </a:rPr>
              <a:t> </a:t>
            </a:r>
            <a:r>
              <a:rPr sz="2124" spc="-9" dirty="0">
                <a:latin typeface="Calibri"/>
                <a:cs typeface="Calibri"/>
              </a:rPr>
              <a:t>functional </a:t>
            </a:r>
            <a:r>
              <a:rPr sz="2124" spc="-22" dirty="0">
                <a:latin typeface="Calibri"/>
                <a:cs typeface="Calibri"/>
              </a:rPr>
              <a:t>requirements</a:t>
            </a:r>
            <a:r>
              <a:rPr sz="2124" spc="53" dirty="0">
                <a:latin typeface="Calibri"/>
                <a:cs typeface="Calibri"/>
              </a:rPr>
              <a:t> </a:t>
            </a:r>
            <a:r>
              <a:rPr sz="2124" dirty="0">
                <a:latin typeface="Calibri"/>
                <a:cs typeface="Calibri"/>
              </a:rPr>
              <a:t>that</a:t>
            </a:r>
            <a:r>
              <a:rPr sz="2124" spc="-80" dirty="0">
                <a:latin typeface="Calibri"/>
                <a:cs typeface="Calibri"/>
              </a:rPr>
              <a:t> </a:t>
            </a:r>
            <a:r>
              <a:rPr sz="2124" dirty="0">
                <a:latin typeface="Calibri"/>
                <a:cs typeface="Calibri"/>
              </a:rPr>
              <a:t>define</a:t>
            </a:r>
            <a:r>
              <a:rPr sz="2124" spc="-13" dirty="0">
                <a:latin typeface="Calibri"/>
                <a:cs typeface="Calibri"/>
              </a:rPr>
              <a:t> </a:t>
            </a:r>
            <a:r>
              <a:rPr sz="2124" dirty="0">
                <a:latin typeface="Calibri"/>
                <a:cs typeface="Calibri"/>
              </a:rPr>
              <a:t>an</a:t>
            </a:r>
            <a:r>
              <a:rPr sz="2124" spc="-101" dirty="0">
                <a:latin typeface="Calibri"/>
                <a:cs typeface="Calibri"/>
              </a:rPr>
              <a:t> </a:t>
            </a:r>
            <a:r>
              <a:rPr sz="2124" spc="-9" dirty="0">
                <a:latin typeface="Calibri"/>
                <a:cs typeface="Calibri"/>
              </a:rPr>
              <a:t>intended</a:t>
            </a:r>
            <a:r>
              <a:rPr sz="2124" spc="22" dirty="0">
                <a:latin typeface="Calibri"/>
                <a:cs typeface="Calibri"/>
              </a:rPr>
              <a:t> </a:t>
            </a:r>
            <a:r>
              <a:rPr sz="2124" spc="-9" dirty="0">
                <a:latin typeface="Calibri"/>
                <a:cs typeface="Calibri"/>
              </a:rPr>
              <a:t>behaviour</a:t>
            </a:r>
            <a:r>
              <a:rPr sz="2124" spc="27" dirty="0">
                <a:latin typeface="Calibri"/>
                <a:cs typeface="Calibri"/>
              </a:rPr>
              <a:t> </a:t>
            </a:r>
            <a:r>
              <a:rPr sz="2124" dirty="0">
                <a:latin typeface="Calibri"/>
                <a:cs typeface="Calibri"/>
              </a:rPr>
              <a:t>of</a:t>
            </a:r>
            <a:r>
              <a:rPr sz="2124" spc="-75" dirty="0">
                <a:latin typeface="Calibri"/>
                <a:cs typeface="Calibri"/>
              </a:rPr>
              <a:t> </a:t>
            </a:r>
            <a:r>
              <a:rPr sz="2124" spc="-22" dirty="0">
                <a:latin typeface="Calibri"/>
                <a:cs typeface="Calibri"/>
              </a:rPr>
              <a:t>the </a:t>
            </a:r>
            <a:r>
              <a:rPr sz="2124" spc="-9" dirty="0">
                <a:latin typeface="Calibri"/>
                <a:cs typeface="Calibri"/>
              </a:rPr>
              <a:t>product.</a:t>
            </a:r>
            <a:endParaRPr sz="2124" dirty="0">
              <a:latin typeface="Calibri"/>
              <a:cs typeface="Calibri"/>
            </a:endParaRPr>
          </a:p>
          <a:p>
            <a:pPr marL="678457" marR="106236" lvl="1" indent="-271495">
              <a:lnSpc>
                <a:spcPts val="2045"/>
              </a:lnSpc>
              <a:spcBef>
                <a:spcPts val="491"/>
              </a:spcBef>
              <a:buChar char="—"/>
              <a:tabLst>
                <a:tab pos="683516" algn="l"/>
              </a:tabLst>
            </a:pPr>
            <a:r>
              <a:rPr sz="2124" dirty="0">
                <a:latin typeface="Calibri"/>
                <a:cs typeface="Calibri"/>
              </a:rPr>
              <a:t>Goals.</a:t>
            </a:r>
            <a:r>
              <a:rPr sz="2124" spc="-22" dirty="0">
                <a:latin typeface="Calibri"/>
                <a:cs typeface="Calibri"/>
              </a:rPr>
              <a:t> </a:t>
            </a:r>
            <a:r>
              <a:rPr sz="2124" dirty="0">
                <a:latin typeface="Calibri"/>
                <a:cs typeface="Calibri"/>
              </a:rPr>
              <a:t>The</a:t>
            </a:r>
            <a:r>
              <a:rPr sz="2124" spc="-53" dirty="0">
                <a:latin typeface="Calibri"/>
                <a:cs typeface="Calibri"/>
              </a:rPr>
              <a:t> </a:t>
            </a:r>
            <a:r>
              <a:rPr sz="2124" dirty="0">
                <a:latin typeface="Calibri"/>
                <a:cs typeface="Calibri"/>
              </a:rPr>
              <a:t>purposes</a:t>
            </a:r>
            <a:r>
              <a:rPr sz="2124" spc="18" dirty="0">
                <a:latin typeface="Calibri"/>
                <a:cs typeface="Calibri"/>
              </a:rPr>
              <a:t> </a:t>
            </a:r>
            <a:r>
              <a:rPr sz="2124" dirty="0">
                <a:latin typeface="Calibri"/>
                <a:cs typeface="Calibri"/>
              </a:rPr>
              <a:t>of</a:t>
            </a:r>
            <a:r>
              <a:rPr sz="2124" spc="-75" dirty="0">
                <a:latin typeface="Calibri"/>
                <a:cs typeface="Calibri"/>
              </a:rPr>
              <a:t> </a:t>
            </a:r>
            <a:r>
              <a:rPr sz="2124" dirty="0">
                <a:latin typeface="Calibri"/>
                <a:cs typeface="Calibri"/>
              </a:rPr>
              <a:t>the</a:t>
            </a:r>
            <a:r>
              <a:rPr sz="2124" spc="-44" dirty="0">
                <a:latin typeface="Calibri"/>
                <a:cs typeface="Calibri"/>
              </a:rPr>
              <a:t> </a:t>
            </a:r>
            <a:r>
              <a:rPr sz="2124" spc="-18" dirty="0">
                <a:latin typeface="Calibri"/>
                <a:cs typeface="Calibri"/>
              </a:rPr>
              <a:t>interaction</a:t>
            </a:r>
            <a:r>
              <a:rPr sz="2124" spc="9" dirty="0">
                <a:latin typeface="Calibri"/>
                <a:cs typeface="Calibri"/>
              </a:rPr>
              <a:t> </a:t>
            </a:r>
            <a:r>
              <a:rPr sz="2124" spc="-9" dirty="0">
                <a:latin typeface="Calibri"/>
                <a:cs typeface="Calibri"/>
              </a:rPr>
              <a:t>between</a:t>
            </a:r>
            <a:r>
              <a:rPr sz="2124" spc="40" dirty="0">
                <a:latin typeface="Calibri"/>
                <a:cs typeface="Calibri"/>
              </a:rPr>
              <a:t> </a:t>
            </a:r>
            <a:r>
              <a:rPr sz="2124" dirty="0">
                <a:latin typeface="Calibri"/>
                <a:cs typeface="Calibri"/>
              </a:rPr>
              <a:t>the</a:t>
            </a:r>
            <a:r>
              <a:rPr sz="2124" spc="-53" dirty="0">
                <a:latin typeface="Calibri"/>
                <a:cs typeface="Calibri"/>
              </a:rPr>
              <a:t> </a:t>
            </a:r>
            <a:r>
              <a:rPr sz="2124" spc="-9" dirty="0">
                <a:latin typeface="Calibri"/>
                <a:cs typeface="Calibri"/>
              </a:rPr>
              <a:t>users 	</a:t>
            </a:r>
            <a:r>
              <a:rPr sz="2124" dirty="0">
                <a:latin typeface="Calibri"/>
                <a:cs typeface="Calibri"/>
              </a:rPr>
              <a:t>and</a:t>
            </a:r>
            <a:r>
              <a:rPr sz="2124" spc="-66" dirty="0">
                <a:latin typeface="Calibri"/>
                <a:cs typeface="Calibri"/>
              </a:rPr>
              <a:t> </a:t>
            </a:r>
            <a:r>
              <a:rPr sz="2124" dirty="0">
                <a:latin typeface="Calibri"/>
                <a:cs typeface="Calibri"/>
              </a:rPr>
              <a:t>the</a:t>
            </a:r>
            <a:r>
              <a:rPr sz="2124" spc="-44" dirty="0">
                <a:latin typeface="Calibri"/>
                <a:cs typeface="Calibri"/>
              </a:rPr>
              <a:t> </a:t>
            </a:r>
            <a:r>
              <a:rPr sz="2124" spc="-18" dirty="0">
                <a:latin typeface="Calibri"/>
                <a:cs typeface="Calibri"/>
              </a:rPr>
              <a:t>system</a:t>
            </a:r>
            <a:r>
              <a:rPr sz="2124" spc="-27" dirty="0">
                <a:latin typeface="Calibri"/>
                <a:cs typeface="Calibri"/>
              </a:rPr>
              <a:t> </a:t>
            </a:r>
            <a:r>
              <a:rPr sz="2124" dirty="0">
                <a:latin typeface="Calibri"/>
                <a:cs typeface="Calibri"/>
              </a:rPr>
              <a:t>are</a:t>
            </a:r>
            <a:r>
              <a:rPr sz="2124" spc="-62" dirty="0">
                <a:latin typeface="Calibri"/>
                <a:cs typeface="Calibri"/>
              </a:rPr>
              <a:t> </a:t>
            </a:r>
            <a:r>
              <a:rPr sz="2124" dirty="0">
                <a:latin typeface="Calibri"/>
                <a:cs typeface="Calibri"/>
              </a:rPr>
              <a:t>outlined</a:t>
            </a:r>
            <a:r>
              <a:rPr sz="2124" spc="-13" dirty="0">
                <a:latin typeface="Calibri"/>
                <a:cs typeface="Calibri"/>
              </a:rPr>
              <a:t> </a:t>
            </a:r>
            <a:r>
              <a:rPr sz="2124" dirty="0">
                <a:latin typeface="Calibri"/>
                <a:cs typeface="Calibri"/>
              </a:rPr>
              <a:t>as</a:t>
            </a:r>
            <a:r>
              <a:rPr sz="2124" spc="-84" dirty="0">
                <a:latin typeface="Calibri"/>
                <a:cs typeface="Calibri"/>
              </a:rPr>
              <a:t> </a:t>
            </a:r>
            <a:r>
              <a:rPr sz="2124" spc="-9" dirty="0">
                <a:latin typeface="Calibri"/>
                <a:cs typeface="Calibri"/>
              </a:rPr>
              <a:t>goals.</a:t>
            </a:r>
            <a:endParaRPr sz="2124" dirty="0">
              <a:latin typeface="Calibri"/>
              <a:cs typeface="Calibri"/>
            </a:endParaRPr>
          </a:p>
          <a:p>
            <a:pPr marL="327705" indent="-316463">
              <a:lnSpc>
                <a:spcPts val="2886"/>
              </a:lnSpc>
              <a:buChar char="•"/>
              <a:tabLst>
                <a:tab pos="327705" algn="l"/>
              </a:tabLst>
            </a:pPr>
            <a:r>
              <a:rPr sz="2434" spc="-31" dirty="0">
                <a:latin typeface="Calibri"/>
                <a:cs typeface="Calibri"/>
              </a:rPr>
              <a:t>Formats:</a:t>
            </a:r>
            <a:r>
              <a:rPr sz="2434" spc="13" dirty="0">
                <a:latin typeface="Calibri"/>
                <a:cs typeface="Calibri"/>
              </a:rPr>
              <a:t> </a:t>
            </a:r>
            <a:r>
              <a:rPr sz="2434" spc="-22" dirty="0">
                <a:latin typeface="Calibri"/>
                <a:cs typeface="Calibri"/>
              </a:rPr>
              <a:t>Diagram</a:t>
            </a:r>
            <a:r>
              <a:rPr sz="2434" spc="-27" dirty="0">
                <a:latin typeface="Calibri"/>
                <a:cs typeface="Calibri"/>
              </a:rPr>
              <a:t> </a:t>
            </a:r>
            <a:r>
              <a:rPr sz="2434" dirty="0">
                <a:latin typeface="Calibri"/>
                <a:cs typeface="Calibri"/>
              </a:rPr>
              <a:t>or</a:t>
            </a:r>
            <a:r>
              <a:rPr sz="2434" spc="-128" dirty="0">
                <a:latin typeface="Calibri"/>
                <a:cs typeface="Calibri"/>
              </a:rPr>
              <a:t> </a:t>
            </a:r>
            <a:r>
              <a:rPr sz="2434" spc="-9" dirty="0">
                <a:latin typeface="Calibri"/>
                <a:cs typeface="Calibri"/>
              </a:rPr>
              <a:t>specification</a:t>
            </a:r>
            <a:endParaRPr sz="2434" dirty="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6572" y="141116"/>
            <a:ext cx="2165743" cy="596457"/>
          </a:xfrm>
          <a:prstGeom prst="rect">
            <a:avLst/>
          </a:prstGeom>
        </p:spPr>
        <p:txBody>
          <a:bodyPr vert="horz" wrap="square" lIns="0" tIns="10680" rIns="0" bIns="0" rtlCol="0" anchor="ctr">
            <a:spAutoFit/>
          </a:bodyPr>
          <a:lstStyle/>
          <a:p>
            <a:pPr marL="11242">
              <a:spcBef>
                <a:spcPts val="84"/>
              </a:spcBef>
            </a:pPr>
            <a:r>
              <a:rPr sz="3806" spc="-142" dirty="0"/>
              <a:t>User</a:t>
            </a:r>
            <a:r>
              <a:rPr sz="3806" spc="-62" dirty="0"/>
              <a:t> </a:t>
            </a:r>
            <a:r>
              <a:rPr sz="3806" spc="-124" dirty="0"/>
              <a:t>stories</a:t>
            </a:r>
            <a:endParaRPr sz="3806"/>
          </a:p>
        </p:txBody>
      </p:sp>
      <p:sp>
        <p:nvSpPr>
          <p:cNvPr id="3" name="object 3"/>
          <p:cNvSpPr txBox="1"/>
          <p:nvPr/>
        </p:nvSpPr>
        <p:spPr>
          <a:xfrm>
            <a:off x="466287" y="1330073"/>
            <a:ext cx="7076184" cy="3927185"/>
          </a:xfrm>
          <a:prstGeom prst="rect">
            <a:avLst/>
          </a:prstGeom>
        </p:spPr>
        <p:txBody>
          <a:bodyPr vert="horz" wrap="square" lIns="0" tIns="59582" rIns="0" bIns="0" rtlCol="0">
            <a:spAutoFit/>
          </a:bodyPr>
          <a:lstStyle/>
          <a:p>
            <a:pPr marL="324895" indent="-313653">
              <a:spcBef>
                <a:spcPts val="469"/>
              </a:spcBef>
              <a:buChar char="•"/>
              <a:tabLst>
                <a:tab pos="324895" algn="l"/>
              </a:tabLst>
            </a:pPr>
            <a:r>
              <a:rPr sz="2700" dirty="0">
                <a:latin typeface="Calibri"/>
                <a:cs typeface="Calibri"/>
              </a:rPr>
              <a:t>User</a:t>
            </a:r>
            <a:r>
              <a:rPr sz="2700" spc="-120" dirty="0">
                <a:latin typeface="Calibri"/>
                <a:cs typeface="Calibri"/>
              </a:rPr>
              <a:t> </a:t>
            </a:r>
            <a:r>
              <a:rPr sz="2700" spc="-9" dirty="0">
                <a:latin typeface="Calibri"/>
                <a:cs typeface="Calibri"/>
              </a:rPr>
              <a:t>story</a:t>
            </a:r>
            <a:r>
              <a:rPr sz="2700" spc="-66" dirty="0">
                <a:latin typeface="Calibri"/>
                <a:cs typeface="Calibri"/>
              </a:rPr>
              <a:t> </a:t>
            </a:r>
            <a:r>
              <a:rPr sz="2700" dirty="0">
                <a:latin typeface="Calibri"/>
                <a:cs typeface="Calibri"/>
              </a:rPr>
              <a:t>-</a:t>
            </a:r>
            <a:r>
              <a:rPr sz="2700" spc="-155" dirty="0">
                <a:latin typeface="Calibri"/>
                <a:cs typeface="Calibri"/>
              </a:rPr>
              <a:t> </a:t>
            </a:r>
            <a:r>
              <a:rPr sz="2700" spc="-49" dirty="0">
                <a:latin typeface="Calibri"/>
                <a:cs typeface="Calibri"/>
              </a:rPr>
              <a:t>documented</a:t>
            </a:r>
            <a:r>
              <a:rPr sz="2700" spc="40" dirty="0">
                <a:latin typeface="Calibri"/>
                <a:cs typeface="Calibri"/>
              </a:rPr>
              <a:t> </a:t>
            </a:r>
            <a:r>
              <a:rPr sz="2700" spc="-31" dirty="0">
                <a:latin typeface="Calibri"/>
                <a:cs typeface="Calibri"/>
              </a:rPr>
              <a:t>description</a:t>
            </a:r>
            <a:r>
              <a:rPr sz="2700" spc="-35" dirty="0">
                <a:latin typeface="Calibri"/>
                <a:cs typeface="Calibri"/>
              </a:rPr>
              <a:t> </a:t>
            </a:r>
            <a:r>
              <a:rPr sz="2700" spc="-22" dirty="0">
                <a:latin typeface="Calibri"/>
                <a:cs typeface="Calibri"/>
              </a:rPr>
              <a:t>of:</a:t>
            </a:r>
            <a:endParaRPr sz="2700">
              <a:latin typeface="Calibri"/>
              <a:cs typeface="Calibri"/>
            </a:endParaRPr>
          </a:p>
          <a:p>
            <a:pPr marL="679581" marR="1311946" lvl="1" indent="-274868">
              <a:lnSpc>
                <a:spcPts val="2487"/>
              </a:lnSpc>
              <a:spcBef>
                <a:spcPts val="606"/>
              </a:spcBef>
              <a:buChar char="—"/>
              <a:tabLst>
                <a:tab pos="679581" algn="l"/>
                <a:tab pos="748158" algn="l"/>
              </a:tabLst>
            </a:pPr>
            <a:r>
              <a:rPr sz="2257" dirty="0">
                <a:latin typeface="Calibri"/>
                <a:cs typeface="Calibri"/>
              </a:rPr>
              <a:t>	a</a:t>
            </a:r>
            <a:r>
              <a:rPr sz="2257" spc="-27" dirty="0">
                <a:latin typeface="Calibri"/>
                <a:cs typeface="Calibri"/>
              </a:rPr>
              <a:t> </a:t>
            </a:r>
            <a:r>
              <a:rPr sz="2257" dirty="0">
                <a:latin typeface="Calibri"/>
                <a:cs typeface="Calibri"/>
              </a:rPr>
              <a:t>software</a:t>
            </a:r>
            <a:r>
              <a:rPr sz="2257" spc="93" dirty="0">
                <a:latin typeface="Calibri"/>
                <a:cs typeface="Calibri"/>
              </a:rPr>
              <a:t> </a:t>
            </a:r>
            <a:r>
              <a:rPr sz="2257" dirty="0">
                <a:latin typeface="Calibri"/>
                <a:cs typeface="Calibri"/>
              </a:rPr>
              <a:t>feature</a:t>
            </a:r>
            <a:r>
              <a:rPr sz="2257" spc="93" dirty="0">
                <a:latin typeface="Calibri"/>
                <a:cs typeface="Calibri"/>
              </a:rPr>
              <a:t> </a:t>
            </a:r>
            <a:r>
              <a:rPr sz="2257" dirty="0">
                <a:latin typeface="Calibri"/>
                <a:cs typeface="Calibri"/>
              </a:rPr>
              <a:t>seen</a:t>
            </a:r>
            <a:r>
              <a:rPr sz="2257" spc="4" dirty="0">
                <a:latin typeface="Calibri"/>
                <a:cs typeface="Calibri"/>
              </a:rPr>
              <a:t> </a:t>
            </a:r>
            <a:r>
              <a:rPr sz="2257" dirty="0">
                <a:latin typeface="Calibri"/>
                <a:cs typeface="Calibri"/>
              </a:rPr>
              <a:t>from</a:t>
            </a:r>
            <a:r>
              <a:rPr sz="2257" spc="27" dirty="0">
                <a:latin typeface="Calibri"/>
                <a:cs typeface="Calibri"/>
              </a:rPr>
              <a:t> </a:t>
            </a:r>
            <a:r>
              <a:rPr sz="2257" dirty="0">
                <a:latin typeface="Calibri"/>
                <a:cs typeface="Calibri"/>
              </a:rPr>
              <a:t>the </a:t>
            </a:r>
            <a:r>
              <a:rPr sz="2257" spc="-9" dirty="0">
                <a:latin typeface="Calibri"/>
                <a:cs typeface="Calibri"/>
              </a:rPr>
              <a:t>end-</a:t>
            </a:r>
            <a:r>
              <a:rPr sz="2257" spc="-18" dirty="0">
                <a:latin typeface="Calibri"/>
                <a:cs typeface="Calibri"/>
              </a:rPr>
              <a:t>user </a:t>
            </a:r>
            <a:r>
              <a:rPr sz="2257" spc="-9" dirty="0">
                <a:latin typeface="Calibri"/>
                <a:cs typeface="Calibri"/>
              </a:rPr>
              <a:t>perspective.</a:t>
            </a:r>
            <a:endParaRPr sz="2257">
              <a:latin typeface="Calibri"/>
              <a:cs typeface="Calibri"/>
            </a:endParaRPr>
          </a:p>
          <a:p>
            <a:pPr marL="683516" lvl="1" indent="-281051">
              <a:spcBef>
                <a:spcPts val="195"/>
              </a:spcBef>
              <a:buChar char="—"/>
              <a:tabLst>
                <a:tab pos="683516" algn="l"/>
              </a:tabLst>
            </a:pPr>
            <a:r>
              <a:rPr sz="2346" spc="-18" dirty="0">
                <a:latin typeface="Calibri"/>
                <a:cs typeface="Calibri"/>
              </a:rPr>
              <a:t>what</a:t>
            </a:r>
            <a:r>
              <a:rPr sz="2346" spc="-71" dirty="0">
                <a:latin typeface="Calibri"/>
                <a:cs typeface="Calibri"/>
              </a:rPr>
              <a:t> </a:t>
            </a:r>
            <a:r>
              <a:rPr sz="2346" spc="-27" dirty="0">
                <a:latin typeface="Calibri"/>
                <a:cs typeface="Calibri"/>
              </a:rPr>
              <a:t>exactly</a:t>
            </a:r>
            <a:r>
              <a:rPr sz="2346" spc="-44" dirty="0">
                <a:latin typeface="Calibri"/>
                <a:cs typeface="Calibri"/>
              </a:rPr>
              <a:t> </a:t>
            </a:r>
            <a:r>
              <a:rPr sz="2346" dirty="0">
                <a:latin typeface="Calibri"/>
                <a:cs typeface="Calibri"/>
              </a:rPr>
              <a:t>the</a:t>
            </a:r>
            <a:r>
              <a:rPr sz="2346" spc="-115" dirty="0">
                <a:latin typeface="Calibri"/>
                <a:cs typeface="Calibri"/>
              </a:rPr>
              <a:t> </a:t>
            </a:r>
            <a:r>
              <a:rPr sz="2346" dirty="0">
                <a:latin typeface="Calibri"/>
                <a:cs typeface="Calibri"/>
              </a:rPr>
              <a:t>user</a:t>
            </a:r>
            <a:r>
              <a:rPr sz="2346" spc="-106" dirty="0">
                <a:latin typeface="Calibri"/>
                <a:cs typeface="Calibri"/>
              </a:rPr>
              <a:t> </a:t>
            </a:r>
            <a:r>
              <a:rPr sz="2346" spc="-22" dirty="0">
                <a:latin typeface="Calibri"/>
                <a:cs typeface="Calibri"/>
              </a:rPr>
              <a:t>wants</a:t>
            </a:r>
            <a:r>
              <a:rPr sz="2346" spc="-62" dirty="0">
                <a:latin typeface="Calibri"/>
                <a:cs typeface="Calibri"/>
              </a:rPr>
              <a:t> </a:t>
            </a:r>
            <a:r>
              <a:rPr sz="2346" dirty="0">
                <a:latin typeface="Calibri"/>
                <a:cs typeface="Calibri"/>
              </a:rPr>
              <a:t>the</a:t>
            </a:r>
            <a:r>
              <a:rPr sz="2346" spc="-111" dirty="0">
                <a:latin typeface="Calibri"/>
                <a:cs typeface="Calibri"/>
              </a:rPr>
              <a:t> </a:t>
            </a:r>
            <a:r>
              <a:rPr sz="2346" spc="-31" dirty="0">
                <a:latin typeface="Calibri"/>
                <a:cs typeface="Calibri"/>
              </a:rPr>
              <a:t>system</a:t>
            </a:r>
            <a:r>
              <a:rPr sz="2346" spc="-80" dirty="0">
                <a:latin typeface="Calibri"/>
                <a:cs typeface="Calibri"/>
              </a:rPr>
              <a:t> </a:t>
            </a:r>
            <a:r>
              <a:rPr sz="2346" dirty="0">
                <a:latin typeface="Calibri"/>
                <a:cs typeface="Calibri"/>
              </a:rPr>
              <a:t>to</a:t>
            </a:r>
            <a:r>
              <a:rPr sz="2346" spc="-128" dirty="0">
                <a:latin typeface="Calibri"/>
                <a:cs typeface="Calibri"/>
              </a:rPr>
              <a:t> </a:t>
            </a:r>
            <a:r>
              <a:rPr sz="2346" spc="-22" dirty="0">
                <a:latin typeface="Calibri"/>
                <a:cs typeface="Calibri"/>
              </a:rPr>
              <a:t>do.</a:t>
            </a:r>
            <a:endParaRPr sz="2346">
              <a:latin typeface="Calibri"/>
              <a:cs typeface="Calibri"/>
            </a:endParaRPr>
          </a:p>
          <a:p>
            <a:pPr marL="322647" marR="4497" indent="-311405">
              <a:lnSpc>
                <a:spcPct val="88300"/>
              </a:lnSpc>
              <a:spcBef>
                <a:spcPts val="659"/>
              </a:spcBef>
              <a:buChar char="•"/>
              <a:tabLst>
                <a:tab pos="322647" algn="l"/>
                <a:tab pos="324895" algn="l"/>
              </a:tabLst>
            </a:pPr>
            <a:r>
              <a:rPr sz="2656" dirty="0">
                <a:latin typeface="Calibri"/>
                <a:cs typeface="Calibri"/>
              </a:rPr>
              <a:t>	User</a:t>
            </a:r>
            <a:r>
              <a:rPr sz="2656" spc="-84" dirty="0">
                <a:latin typeface="Calibri"/>
                <a:cs typeface="Calibri"/>
              </a:rPr>
              <a:t> </a:t>
            </a:r>
            <a:r>
              <a:rPr sz="2656" dirty="0">
                <a:latin typeface="Calibri"/>
                <a:cs typeface="Calibri"/>
              </a:rPr>
              <a:t>stories</a:t>
            </a:r>
            <a:r>
              <a:rPr sz="2656" spc="-27" dirty="0">
                <a:latin typeface="Calibri"/>
                <a:cs typeface="Calibri"/>
              </a:rPr>
              <a:t> </a:t>
            </a:r>
            <a:r>
              <a:rPr sz="2656" dirty="0">
                <a:latin typeface="Calibri"/>
                <a:cs typeface="Calibri"/>
              </a:rPr>
              <a:t>must</a:t>
            </a:r>
            <a:r>
              <a:rPr sz="2656" spc="-49" dirty="0">
                <a:latin typeface="Calibri"/>
                <a:cs typeface="Calibri"/>
              </a:rPr>
              <a:t> </a:t>
            </a:r>
            <a:r>
              <a:rPr sz="2656" dirty="0">
                <a:latin typeface="Calibri"/>
                <a:cs typeface="Calibri"/>
              </a:rPr>
              <a:t>be</a:t>
            </a:r>
            <a:r>
              <a:rPr sz="2656" spc="-84" dirty="0">
                <a:latin typeface="Calibri"/>
                <a:cs typeface="Calibri"/>
              </a:rPr>
              <a:t> </a:t>
            </a:r>
            <a:r>
              <a:rPr sz="2656" spc="-22" dirty="0">
                <a:latin typeface="Calibri"/>
                <a:cs typeface="Calibri"/>
              </a:rPr>
              <a:t>accompanied</a:t>
            </a:r>
            <a:r>
              <a:rPr sz="2656" spc="97" dirty="0">
                <a:latin typeface="Calibri"/>
                <a:cs typeface="Calibri"/>
              </a:rPr>
              <a:t> </a:t>
            </a:r>
            <a:r>
              <a:rPr sz="2656" dirty="0">
                <a:latin typeface="Calibri"/>
                <a:cs typeface="Calibri"/>
              </a:rPr>
              <a:t>by</a:t>
            </a:r>
            <a:r>
              <a:rPr sz="2656" spc="-150" dirty="0">
                <a:latin typeface="Calibri"/>
                <a:cs typeface="Calibri"/>
              </a:rPr>
              <a:t> </a:t>
            </a:r>
            <a:r>
              <a:rPr sz="2656" spc="-9" dirty="0">
                <a:latin typeface="Calibri"/>
                <a:cs typeface="Calibri"/>
              </a:rPr>
              <a:t>acceptance </a:t>
            </a:r>
            <a:r>
              <a:rPr sz="2700" dirty="0">
                <a:latin typeface="Calibri"/>
                <a:cs typeface="Calibri"/>
              </a:rPr>
              <a:t>criteria,</a:t>
            </a:r>
            <a:r>
              <a:rPr sz="2700" spc="-62" dirty="0">
                <a:latin typeface="Calibri"/>
                <a:cs typeface="Calibri"/>
              </a:rPr>
              <a:t> </a:t>
            </a:r>
            <a:r>
              <a:rPr sz="2700" dirty="0">
                <a:latin typeface="Calibri"/>
                <a:cs typeface="Calibri"/>
              </a:rPr>
              <a:t>the</a:t>
            </a:r>
            <a:r>
              <a:rPr sz="2700" spc="-124" dirty="0">
                <a:latin typeface="Calibri"/>
                <a:cs typeface="Calibri"/>
              </a:rPr>
              <a:t> </a:t>
            </a:r>
            <a:r>
              <a:rPr sz="2700" spc="-31" dirty="0">
                <a:latin typeface="Calibri"/>
                <a:cs typeface="Calibri"/>
              </a:rPr>
              <a:t>conditions</a:t>
            </a:r>
            <a:r>
              <a:rPr sz="2700" spc="-44" dirty="0">
                <a:latin typeface="Calibri"/>
                <a:cs typeface="Calibri"/>
              </a:rPr>
              <a:t> </a:t>
            </a:r>
            <a:r>
              <a:rPr sz="2700" spc="-18" dirty="0">
                <a:latin typeface="Calibri"/>
                <a:cs typeface="Calibri"/>
              </a:rPr>
              <a:t>that</a:t>
            </a:r>
            <a:r>
              <a:rPr sz="2700" spc="-124" dirty="0">
                <a:latin typeface="Calibri"/>
                <a:cs typeface="Calibri"/>
              </a:rPr>
              <a:t> </a:t>
            </a:r>
            <a:r>
              <a:rPr sz="2700" dirty="0">
                <a:latin typeface="Calibri"/>
                <a:cs typeface="Calibri"/>
              </a:rPr>
              <a:t>the</a:t>
            </a:r>
            <a:r>
              <a:rPr sz="2700" spc="-128" dirty="0">
                <a:latin typeface="Calibri"/>
                <a:cs typeface="Calibri"/>
              </a:rPr>
              <a:t> </a:t>
            </a:r>
            <a:r>
              <a:rPr sz="2700" spc="-31" dirty="0">
                <a:latin typeface="Calibri"/>
                <a:cs typeface="Calibri"/>
              </a:rPr>
              <a:t>product</a:t>
            </a:r>
            <a:r>
              <a:rPr sz="2700" spc="-22" dirty="0">
                <a:latin typeface="Calibri"/>
                <a:cs typeface="Calibri"/>
              </a:rPr>
              <a:t> </a:t>
            </a:r>
            <a:r>
              <a:rPr sz="2700" spc="-18" dirty="0">
                <a:latin typeface="Calibri"/>
                <a:cs typeface="Calibri"/>
              </a:rPr>
              <a:t>must </a:t>
            </a:r>
            <a:r>
              <a:rPr sz="2744" spc="-35" dirty="0">
                <a:latin typeface="Calibri"/>
                <a:cs typeface="Calibri"/>
              </a:rPr>
              <a:t>satisfy</a:t>
            </a:r>
            <a:r>
              <a:rPr sz="2744" spc="-106" dirty="0">
                <a:latin typeface="Calibri"/>
                <a:cs typeface="Calibri"/>
              </a:rPr>
              <a:t> </a:t>
            </a:r>
            <a:r>
              <a:rPr sz="2744" spc="-9" dirty="0">
                <a:latin typeface="Calibri"/>
                <a:cs typeface="Calibri"/>
              </a:rPr>
              <a:t>to</a:t>
            </a:r>
            <a:r>
              <a:rPr sz="2744" spc="-142" dirty="0">
                <a:latin typeface="Calibri"/>
                <a:cs typeface="Calibri"/>
              </a:rPr>
              <a:t> </a:t>
            </a:r>
            <a:r>
              <a:rPr sz="2744" dirty="0">
                <a:latin typeface="Calibri"/>
                <a:cs typeface="Calibri"/>
              </a:rPr>
              <a:t>be</a:t>
            </a:r>
            <a:r>
              <a:rPr sz="2744" spc="-115" dirty="0">
                <a:latin typeface="Calibri"/>
                <a:cs typeface="Calibri"/>
              </a:rPr>
              <a:t> </a:t>
            </a:r>
            <a:r>
              <a:rPr sz="2744" spc="-53" dirty="0">
                <a:latin typeface="Calibri"/>
                <a:cs typeface="Calibri"/>
              </a:rPr>
              <a:t>accepted</a:t>
            </a:r>
            <a:r>
              <a:rPr sz="2744" spc="-49" dirty="0">
                <a:latin typeface="Calibri"/>
                <a:cs typeface="Calibri"/>
              </a:rPr>
              <a:t> </a:t>
            </a:r>
            <a:r>
              <a:rPr sz="2744" dirty="0">
                <a:latin typeface="Calibri"/>
                <a:cs typeface="Calibri"/>
              </a:rPr>
              <a:t>by</a:t>
            </a:r>
            <a:r>
              <a:rPr sz="2744" spc="-120" dirty="0">
                <a:latin typeface="Calibri"/>
                <a:cs typeface="Calibri"/>
              </a:rPr>
              <a:t> </a:t>
            </a:r>
            <a:r>
              <a:rPr sz="2744" dirty="0">
                <a:latin typeface="Calibri"/>
                <a:cs typeface="Calibri"/>
              </a:rPr>
              <a:t>a</a:t>
            </a:r>
            <a:r>
              <a:rPr sz="2744" spc="-155" dirty="0">
                <a:latin typeface="Calibri"/>
                <a:cs typeface="Calibri"/>
              </a:rPr>
              <a:t> </a:t>
            </a:r>
            <a:r>
              <a:rPr sz="2744" spc="-9" dirty="0">
                <a:latin typeface="Calibri"/>
                <a:cs typeface="Calibri"/>
              </a:rPr>
              <a:t>user.</a:t>
            </a:r>
            <a:endParaRPr sz="2744">
              <a:latin typeface="Calibri"/>
              <a:cs typeface="Calibri"/>
            </a:endParaRPr>
          </a:p>
          <a:p>
            <a:pPr marL="320960" indent="-309718">
              <a:spcBef>
                <a:spcPts val="239"/>
              </a:spcBef>
              <a:buChar char="•"/>
              <a:tabLst>
                <a:tab pos="320960" algn="l"/>
              </a:tabLst>
            </a:pPr>
            <a:r>
              <a:rPr sz="2700" dirty="0">
                <a:latin typeface="Calibri"/>
                <a:cs typeface="Calibri"/>
              </a:rPr>
              <a:t>INVEST</a:t>
            </a:r>
            <a:r>
              <a:rPr sz="2700" spc="-137" dirty="0">
                <a:latin typeface="Calibri"/>
                <a:cs typeface="Calibri"/>
              </a:rPr>
              <a:t> </a:t>
            </a:r>
            <a:r>
              <a:rPr sz="2700" spc="-18" dirty="0">
                <a:latin typeface="Calibri"/>
                <a:cs typeface="Calibri"/>
              </a:rPr>
              <a:t>quality</a:t>
            </a:r>
            <a:r>
              <a:rPr sz="2700" spc="-71" dirty="0">
                <a:latin typeface="Calibri"/>
                <a:cs typeface="Calibri"/>
              </a:rPr>
              <a:t> </a:t>
            </a:r>
            <a:r>
              <a:rPr sz="2700" spc="-18" dirty="0">
                <a:latin typeface="Calibri"/>
                <a:cs typeface="Calibri"/>
              </a:rPr>
              <a:t>model</a:t>
            </a:r>
            <a:r>
              <a:rPr sz="2700" spc="-71" dirty="0">
                <a:latin typeface="Calibri"/>
                <a:cs typeface="Calibri"/>
              </a:rPr>
              <a:t> </a:t>
            </a:r>
            <a:r>
              <a:rPr sz="2700" spc="-18" dirty="0">
                <a:latin typeface="Calibri"/>
                <a:cs typeface="Calibri"/>
              </a:rPr>
              <a:t>for</a:t>
            </a:r>
            <a:r>
              <a:rPr sz="2700" spc="-128" dirty="0">
                <a:latin typeface="Calibri"/>
                <a:cs typeface="Calibri"/>
              </a:rPr>
              <a:t> </a:t>
            </a:r>
            <a:r>
              <a:rPr sz="2700" dirty="0">
                <a:latin typeface="Calibri"/>
                <a:cs typeface="Calibri"/>
              </a:rPr>
              <a:t>User</a:t>
            </a:r>
            <a:r>
              <a:rPr sz="2700" spc="-89" dirty="0">
                <a:latin typeface="Calibri"/>
                <a:cs typeface="Calibri"/>
              </a:rPr>
              <a:t> </a:t>
            </a:r>
            <a:r>
              <a:rPr sz="2700" spc="-53" dirty="0">
                <a:latin typeface="Calibri"/>
                <a:cs typeface="Calibri"/>
              </a:rPr>
              <a:t>stories</a:t>
            </a:r>
            <a:r>
              <a:rPr sz="2700" spc="-97" dirty="0">
                <a:latin typeface="Calibri"/>
                <a:cs typeface="Calibri"/>
              </a:rPr>
              <a:t> </a:t>
            </a:r>
            <a:r>
              <a:rPr sz="2700" spc="-952" dirty="0">
                <a:latin typeface="Calibri"/>
                <a:cs typeface="Calibri"/>
              </a:rPr>
              <a:t>—</a:t>
            </a:r>
            <a:endParaRPr sz="2700">
              <a:latin typeface="Calibri"/>
              <a:cs typeface="Calibri"/>
            </a:endParaRPr>
          </a:p>
          <a:p>
            <a:pPr marL="681268" marR="211350" lvl="1" indent="-286672">
              <a:lnSpc>
                <a:spcPts val="2487"/>
              </a:lnSpc>
              <a:spcBef>
                <a:spcPts val="606"/>
              </a:spcBef>
              <a:buChar char="—"/>
              <a:tabLst>
                <a:tab pos="681268" algn="l"/>
              </a:tabLst>
            </a:pPr>
            <a:r>
              <a:rPr sz="2390" spc="-53" dirty="0">
                <a:latin typeface="Calibri"/>
                <a:cs typeface="Calibri"/>
              </a:rPr>
              <a:t>Independent,</a:t>
            </a:r>
            <a:r>
              <a:rPr sz="2390" spc="4" dirty="0">
                <a:latin typeface="Calibri"/>
                <a:cs typeface="Calibri"/>
              </a:rPr>
              <a:t> </a:t>
            </a:r>
            <a:r>
              <a:rPr sz="2390" spc="-49" dirty="0">
                <a:latin typeface="Calibri"/>
                <a:cs typeface="Calibri"/>
              </a:rPr>
              <a:t>Negotiable,</a:t>
            </a:r>
            <a:r>
              <a:rPr sz="2390" spc="31" dirty="0">
                <a:latin typeface="Calibri"/>
                <a:cs typeface="Calibri"/>
              </a:rPr>
              <a:t> </a:t>
            </a:r>
            <a:r>
              <a:rPr sz="2390" spc="-53" dirty="0">
                <a:latin typeface="Calibri"/>
                <a:cs typeface="Calibri"/>
              </a:rPr>
              <a:t>Valuable, </a:t>
            </a:r>
            <a:r>
              <a:rPr sz="2390" spc="-44" dirty="0">
                <a:latin typeface="Calibri"/>
                <a:cs typeface="Calibri"/>
              </a:rPr>
              <a:t>Estimable,</a:t>
            </a:r>
            <a:r>
              <a:rPr sz="2390" spc="-4" dirty="0">
                <a:latin typeface="Calibri"/>
                <a:cs typeface="Calibri"/>
              </a:rPr>
              <a:t> </a:t>
            </a:r>
            <a:r>
              <a:rPr sz="2390" spc="-18" dirty="0">
                <a:latin typeface="Calibri"/>
                <a:cs typeface="Calibri"/>
              </a:rPr>
              <a:t>Small and</a:t>
            </a:r>
            <a:r>
              <a:rPr sz="2390" spc="-115" dirty="0">
                <a:latin typeface="Calibri"/>
                <a:cs typeface="Calibri"/>
              </a:rPr>
              <a:t> </a:t>
            </a:r>
            <a:r>
              <a:rPr sz="2390" spc="-9" dirty="0">
                <a:latin typeface="Calibri"/>
                <a:cs typeface="Calibri"/>
              </a:rPr>
              <a:t>Testable</a:t>
            </a:r>
            <a:endParaRPr sz="239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9965" y="151830"/>
            <a:ext cx="5956495" cy="583496"/>
          </a:xfrm>
          <a:prstGeom prst="rect">
            <a:avLst/>
          </a:prstGeom>
        </p:spPr>
        <p:txBody>
          <a:bodyPr vert="horz" wrap="square" lIns="0" tIns="11242" rIns="0" bIns="0" rtlCol="0" anchor="ctr">
            <a:spAutoFit/>
          </a:bodyPr>
          <a:lstStyle/>
          <a:p>
            <a:pPr marL="11242">
              <a:spcBef>
                <a:spcPts val="89"/>
              </a:spcBef>
              <a:tabLst>
                <a:tab pos="4848130" algn="l"/>
              </a:tabLst>
            </a:pPr>
            <a:r>
              <a:rPr sz="3718" spc="-97" dirty="0"/>
              <a:t>Functional</a:t>
            </a:r>
            <a:r>
              <a:rPr sz="3718" spc="-40" dirty="0"/>
              <a:t> </a:t>
            </a:r>
            <a:r>
              <a:rPr sz="3718" spc="-22" dirty="0"/>
              <a:t>decomposition</a:t>
            </a:r>
            <a:r>
              <a:rPr sz="3718" dirty="0"/>
              <a:t>	</a:t>
            </a:r>
            <a:r>
              <a:rPr sz="3718" spc="-128" dirty="0"/>
              <a:t>(WBS)</a:t>
            </a:r>
            <a:endParaRPr sz="3718"/>
          </a:p>
        </p:txBody>
      </p:sp>
      <p:sp>
        <p:nvSpPr>
          <p:cNvPr id="3" name="object 3"/>
          <p:cNvSpPr txBox="1"/>
          <p:nvPr/>
        </p:nvSpPr>
        <p:spPr>
          <a:xfrm>
            <a:off x="464217" y="1325338"/>
            <a:ext cx="6936223" cy="3878030"/>
          </a:xfrm>
          <a:prstGeom prst="rect">
            <a:avLst/>
          </a:prstGeom>
        </p:spPr>
        <p:txBody>
          <a:bodyPr vert="horz" wrap="square" lIns="0" tIns="107360" rIns="0" bIns="0" rtlCol="0">
            <a:spAutoFit/>
          </a:bodyPr>
          <a:lstStyle/>
          <a:p>
            <a:pPr marL="328830" indent="-317588">
              <a:spcBef>
                <a:spcPts val="845"/>
              </a:spcBef>
              <a:buChar char="•"/>
              <a:tabLst>
                <a:tab pos="328830" algn="l"/>
              </a:tabLst>
            </a:pPr>
            <a:r>
              <a:rPr sz="2833" dirty="0">
                <a:latin typeface="Calibri"/>
                <a:cs typeface="Calibri"/>
              </a:rPr>
              <a:t>WBS</a:t>
            </a:r>
            <a:r>
              <a:rPr sz="2833" spc="-97" dirty="0">
                <a:latin typeface="Calibri"/>
                <a:cs typeface="Calibri"/>
              </a:rPr>
              <a:t> </a:t>
            </a:r>
            <a:r>
              <a:rPr sz="2833" dirty="0">
                <a:latin typeface="Calibri"/>
                <a:cs typeface="Calibri"/>
              </a:rPr>
              <a:t>stands</a:t>
            </a:r>
            <a:r>
              <a:rPr sz="2833" spc="-62" dirty="0">
                <a:latin typeface="Calibri"/>
                <a:cs typeface="Calibri"/>
              </a:rPr>
              <a:t> </a:t>
            </a:r>
            <a:r>
              <a:rPr sz="2833" dirty="0">
                <a:latin typeface="Calibri"/>
                <a:cs typeface="Calibri"/>
              </a:rPr>
              <a:t>for</a:t>
            </a:r>
            <a:r>
              <a:rPr sz="2833" spc="-124" dirty="0">
                <a:latin typeface="Calibri"/>
                <a:cs typeface="Calibri"/>
              </a:rPr>
              <a:t> </a:t>
            </a:r>
            <a:r>
              <a:rPr sz="2833" spc="-9" dirty="0">
                <a:latin typeface="Calibri"/>
                <a:cs typeface="Calibri"/>
              </a:rPr>
              <a:t>Work</a:t>
            </a:r>
            <a:r>
              <a:rPr sz="2833" spc="-89" dirty="0">
                <a:latin typeface="Calibri"/>
                <a:cs typeface="Calibri"/>
              </a:rPr>
              <a:t> </a:t>
            </a:r>
            <a:r>
              <a:rPr sz="2833" spc="-22" dirty="0">
                <a:latin typeface="Calibri"/>
                <a:cs typeface="Calibri"/>
              </a:rPr>
              <a:t>Breakdown</a:t>
            </a:r>
            <a:r>
              <a:rPr sz="2833" spc="-4" dirty="0">
                <a:latin typeface="Calibri"/>
                <a:cs typeface="Calibri"/>
              </a:rPr>
              <a:t> </a:t>
            </a:r>
            <a:r>
              <a:rPr sz="2833" spc="-9" dirty="0">
                <a:latin typeface="Calibri"/>
                <a:cs typeface="Calibri"/>
              </a:rPr>
              <a:t>structure.</a:t>
            </a:r>
            <a:endParaRPr sz="2833">
              <a:latin typeface="Calibri"/>
              <a:cs typeface="Calibri"/>
            </a:endParaRPr>
          </a:p>
          <a:p>
            <a:pPr marL="328830" marR="237769" indent="-317026">
              <a:lnSpc>
                <a:spcPct val="101600"/>
              </a:lnSpc>
              <a:spcBef>
                <a:spcPts val="699"/>
              </a:spcBef>
              <a:buChar char="•"/>
              <a:tabLst>
                <a:tab pos="328830" algn="l"/>
              </a:tabLst>
            </a:pPr>
            <a:r>
              <a:rPr sz="2788" dirty="0">
                <a:latin typeface="Calibri"/>
                <a:cs typeface="Calibri"/>
              </a:rPr>
              <a:t>WBS</a:t>
            </a:r>
            <a:r>
              <a:rPr sz="2788" spc="-9" dirty="0">
                <a:latin typeface="Calibri"/>
                <a:cs typeface="Calibri"/>
              </a:rPr>
              <a:t> </a:t>
            </a:r>
            <a:r>
              <a:rPr sz="2788" dirty="0">
                <a:latin typeface="Calibri"/>
                <a:cs typeface="Calibri"/>
              </a:rPr>
              <a:t>is</a:t>
            </a:r>
            <a:r>
              <a:rPr sz="2788" spc="-62" dirty="0">
                <a:latin typeface="Calibri"/>
                <a:cs typeface="Calibri"/>
              </a:rPr>
              <a:t> </a:t>
            </a:r>
            <a:r>
              <a:rPr sz="2788" dirty="0">
                <a:latin typeface="Calibri"/>
                <a:cs typeface="Calibri"/>
              </a:rPr>
              <a:t>visual</a:t>
            </a:r>
            <a:r>
              <a:rPr sz="2788" spc="35" dirty="0">
                <a:latin typeface="Calibri"/>
                <a:cs typeface="Calibri"/>
              </a:rPr>
              <a:t> </a:t>
            </a:r>
            <a:r>
              <a:rPr sz="2788" dirty="0">
                <a:latin typeface="Calibri"/>
                <a:cs typeface="Calibri"/>
              </a:rPr>
              <a:t>document</a:t>
            </a:r>
            <a:r>
              <a:rPr sz="2788" spc="106" dirty="0">
                <a:latin typeface="Calibri"/>
                <a:cs typeface="Calibri"/>
              </a:rPr>
              <a:t> </a:t>
            </a:r>
            <a:r>
              <a:rPr sz="2788" dirty="0">
                <a:latin typeface="Calibri"/>
                <a:cs typeface="Calibri"/>
              </a:rPr>
              <a:t>that</a:t>
            </a:r>
            <a:r>
              <a:rPr sz="2788" spc="22" dirty="0">
                <a:latin typeface="Calibri"/>
                <a:cs typeface="Calibri"/>
              </a:rPr>
              <a:t> </a:t>
            </a:r>
            <a:r>
              <a:rPr sz="2788" dirty="0">
                <a:latin typeface="Calibri"/>
                <a:cs typeface="Calibri"/>
              </a:rPr>
              <a:t>illustrates</a:t>
            </a:r>
            <a:r>
              <a:rPr sz="2788" spc="66" dirty="0">
                <a:latin typeface="Calibri"/>
                <a:cs typeface="Calibri"/>
              </a:rPr>
              <a:t> </a:t>
            </a:r>
            <a:r>
              <a:rPr sz="2788" spc="-22" dirty="0">
                <a:latin typeface="Calibri"/>
                <a:cs typeface="Calibri"/>
              </a:rPr>
              <a:t>how </a:t>
            </a:r>
            <a:r>
              <a:rPr sz="2788" dirty="0">
                <a:latin typeface="Calibri"/>
                <a:cs typeface="Calibri"/>
              </a:rPr>
              <a:t>complex</a:t>
            </a:r>
            <a:r>
              <a:rPr sz="2788" spc="106" dirty="0">
                <a:latin typeface="Calibri"/>
                <a:cs typeface="Calibri"/>
              </a:rPr>
              <a:t> </a:t>
            </a:r>
            <a:r>
              <a:rPr sz="2788" dirty="0">
                <a:latin typeface="Calibri"/>
                <a:cs typeface="Calibri"/>
              </a:rPr>
              <a:t>processes</a:t>
            </a:r>
            <a:r>
              <a:rPr sz="2788" spc="66" dirty="0">
                <a:latin typeface="Calibri"/>
                <a:cs typeface="Calibri"/>
              </a:rPr>
              <a:t> </a:t>
            </a:r>
            <a:r>
              <a:rPr sz="2788" dirty="0">
                <a:latin typeface="Calibri"/>
                <a:cs typeface="Calibri"/>
              </a:rPr>
              <a:t>break</a:t>
            </a:r>
            <a:r>
              <a:rPr sz="2788" spc="-4" dirty="0">
                <a:latin typeface="Calibri"/>
                <a:cs typeface="Calibri"/>
              </a:rPr>
              <a:t> </a:t>
            </a:r>
            <a:r>
              <a:rPr sz="2788" dirty="0">
                <a:latin typeface="Calibri"/>
                <a:cs typeface="Calibri"/>
              </a:rPr>
              <a:t>down</a:t>
            </a:r>
            <a:r>
              <a:rPr sz="2788" spc="4" dirty="0">
                <a:latin typeface="Calibri"/>
                <a:cs typeface="Calibri"/>
              </a:rPr>
              <a:t> </a:t>
            </a:r>
            <a:r>
              <a:rPr sz="2788" dirty="0">
                <a:latin typeface="Calibri"/>
                <a:cs typeface="Calibri"/>
              </a:rPr>
              <a:t>into</a:t>
            </a:r>
            <a:r>
              <a:rPr sz="2788" spc="-22" dirty="0">
                <a:latin typeface="Calibri"/>
                <a:cs typeface="Calibri"/>
              </a:rPr>
              <a:t> </a:t>
            </a:r>
            <a:r>
              <a:rPr sz="2788" spc="-9" dirty="0">
                <a:latin typeface="Calibri"/>
                <a:cs typeface="Calibri"/>
              </a:rPr>
              <a:t>their </a:t>
            </a:r>
            <a:r>
              <a:rPr sz="2788" dirty="0">
                <a:latin typeface="Calibri"/>
                <a:cs typeface="Calibri"/>
              </a:rPr>
              <a:t>simpler</a:t>
            </a:r>
            <a:r>
              <a:rPr sz="2788" spc="80" dirty="0">
                <a:latin typeface="Calibri"/>
                <a:cs typeface="Calibri"/>
              </a:rPr>
              <a:t> </a:t>
            </a:r>
            <a:r>
              <a:rPr sz="2788" spc="-9" dirty="0">
                <a:latin typeface="Calibri"/>
                <a:cs typeface="Calibri"/>
              </a:rPr>
              <a:t>components.</a:t>
            </a:r>
            <a:endParaRPr sz="2788">
              <a:latin typeface="Calibri"/>
              <a:cs typeface="Calibri"/>
            </a:endParaRPr>
          </a:p>
          <a:p>
            <a:pPr marL="328830" marR="175938" indent="-317026">
              <a:lnSpc>
                <a:spcPct val="101200"/>
              </a:lnSpc>
              <a:spcBef>
                <a:spcPts val="699"/>
              </a:spcBef>
              <a:buChar char="•"/>
              <a:tabLst>
                <a:tab pos="332202" algn="l"/>
                <a:tab pos="2290004" algn="l"/>
              </a:tabLst>
            </a:pPr>
            <a:r>
              <a:rPr sz="2788" dirty="0">
                <a:latin typeface="Calibri"/>
                <a:cs typeface="Calibri"/>
              </a:rPr>
              <a:t>WBS</a:t>
            </a:r>
            <a:r>
              <a:rPr sz="2788" spc="18" dirty="0">
                <a:latin typeface="Calibri"/>
                <a:cs typeface="Calibri"/>
              </a:rPr>
              <a:t> </a:t>
            </a:r>
            <a:r>
              <a:rPr sz="2788" dirty="0">
                <a:latin typeface="Calibri"/>
                <a:cs typeface="Calibri"/>
              </a:rPr>
              <a:t>is</a:t>
            </a:r>
            <a:r>
              <a:rPr sz="2788" spc="-49" dirty="0">
                <a:latin typeface="Calibri"/>
                <a:cs typeface="Calibri"/>
              </a:rPr>
              <a:t> </a:t>
            </a:r>
            <a:r>
              <a:rPr sz="2788" dirty="0">
                <a:latin typeface="Calibri"/>
                <a:cs typeface="Calibri"/>
              </a:rPr>
              <a:t>an effective</a:t>
            </a:r>
            <a:r>
              <a:rPr sz="2788" spc="66" dirty="0">
                <a:latin typeface="Calibri"/>
                <a:cs typeface="Calibri"/>
              </a:rPr>
              <a:t> </a:t>
            </a:r>
            <a:r>
              <a:rPr sz="2788" dirty="0">
                <a:latin typeface="Calibri"/>
                <a:cs typeface="Calibri"/>
              </a:rPr>
              <a:t>approach</a:t>
            </a:r>
            <a:r>
              <a:rPr sz="2788" spc="101" dirty="0">
                <a:latin typeface="Calibri"/>
                <a:cs typeface="Calibri"/>
              </a:rPr>
              <a:t> </a:t>
            </a:r>
            <a:r>
              <a:rPr sz="2788" dirty="0">
                <a:latin typeface="Calibri"/>
                <a:cs typeface="Calibri"/>
              </a:rPr>
              <a:t>to</a:t>
            </a:r>
            <a:r>
              <a:rPr sz="2788" spc="-31" dirty="0">
                <a:latin typeface="Calibri"/>
                <a:cs typeface="Calibri"/>
              </a:rPr>
              <a:t> </a:t>
            </a:r>
            <a:r>
              <a:rPr sz="2788" dirty="0">
                <a:latin typeface="Calibri"/>
                <a:cs typeface="Calibri"/>
              </a:rPr>
              <a:t>allow</a:t>
            </a:r>
            <a:r>
              <a:rPr sz="2788" spc="66" dirty="0">
                <a:latin typeface="Calibri"/>
                <a:cs typeface="Calibri"/>
              </a:rPr>
              <a:t> </a:t>
            </a:r>
            <a:r>
              <a:rPr sz="2788" dirty="0">
                <a:latin typeface="Calibri"/>
                <a:cs typeface="Calibri"/>
              </a:rPr>
              <a:t>for</a:t>
            </a:r>
            <a:r>
              <a:rPr sz="2788" spc="-22" dirty="0">
                <a:latin typeface="Calibri"/>
                <a:cs typeface="Calibri"/>
              </a:rPr>
              <a:t> an 	</a:t>
            </a:r>
            <a:r>
              <a:rPr sz="2788" spc="-9" dirty="0">
                <a:latin typeface="Calibri"/>
                <a:cs typeface="Calibri"/>
              </a:rPr>
              <a:t>independent</a:t>
            </a:r>
            <a:r>
              <a:rPr sz="2788" dirty="0">
                <a:latin typeface="Calibri"/>
                <a:cs typeface="Calibri"/>
              </a:rPr>
              <a:t>	analysis</a:t>
            </a:r>
            <a:r>
              <a:rPr sz="2788" spc="84" dirty="0">
                <a:latin typeface="Calibri"/>
                <a:cs typeface="Calibri"/>
              </a:rPr>
              <a:t> </a:t>
            </a:r>
            <a:r>
              <a:rPr sz="2788" dirty="0">
                <a:latin typeface="Calibri"/>
                <a:cs typeface="Calibri"/>
              </a:rPr>
              <a:t>of</a:t>
            </a:r>
            <a:r>
              <a:rPr sz="2788" spc="-9" dirty="0">
                <a:latin typeface="Calibri"/>
                <a:cs typeface="Calibri"/>
              </a:rPr>
              <a:t> </a:t>
            </a:r>
            <a:r>
              <a:rPr sz="2788" dirty="0">
                <a:latin typeface="Calibri"/>
                <a:cs typeface="Calibri"/>
              </a:rPr>
              <a:t>each</a:t>
            </a:r>
            <a:r>
              <a:rPr sz="2788" spc="44" dirty="0">
                <a:latin typeface="Calibri"/>
                <a:cs typeface="Calibri"/>
              </a:rPr>
              <a:t> </a:t>
            </a:r>
            <a:r>
              <a:rPr sz="2788" spc="-9" dirty="0">
                <a:latin typeface="Calibri"/>
                <a:cs typeface="Calibri"/>
              </a:rPr>
              <a:t>part.</a:t>
            </a:r>
            <a:endParaRPr sz="2788">
              <a:latin typeface="Calibri"/>
              <a:cs typeface="Calibri"/>
            </a:endParaRPr>
          </a:p>
          <a:p>
            <a:pPr marL="328268" marR="4497" indent="-317588">
              <a:lnSpc>
                <a:spcPts val="3389"/>
              </a:lnSpc>
              <a:spcBef>
                <a:spcPts val="797"/>
              </a:spcBef>
              <a:buChar char="•"/>
              <a:tabLst>
                <a:tab pos="328268" algn="l"/>
              </a:tabLst>
            </a:pPr>
            <a:r>
              <a:rPr sz="2877" dirty="0">
                <a:latin typeface="Calibri"/>
                <a:cs typeface="Calibri"/>
              </a:rPr>
              <a:t>WBS</a:t>
            </a:r>
            <a:r>
              <a:rPr sz="2877" spc="-106" dirty="0">
                <a:latin typeface="Calibri"/>
                <a:cs typeface="Calibri"/>
              </a:rPr>
              <a:t> </a:t>
            </a:r>
            <a:r>
              <a:rPr sz="2877" dirty="0">
                <a:latin typeface="Calibri"/>
                <a:cs typeface="Calibri"/>
              </a:rPr>
              <a:t>also</a:t>
            </a:r>
            <a:r>
              <a:rPr sz="2877" spc="-101" dirty="0">
                <a:latin typeface="Calibri"/>
                <a:cs typeface="Calibri"/>
              </a:rPr>
              <a:t> </a:t>
            </a:r>
            <a:r>
              <a:rPr sz="2877" dirty="0">
                <a:latin typeface="Calibri"/>
                <a:cs typeface="Calibri"/>
              </a:rPr>
              <a:t>helps</a:t>
            </a:r>
            <a:r>
              <a:rPr sz="2877" spc="-80" dirty="0">
                <a:latin typeface="Calibri"/>
                <a:cs typeface="Calibri"/>
              </a:rPr>
              <a:t> </a:t>
            </a:r>
            <a:r>
              <a:rPr sz="2877" spc="-31" dirty="0">
                <a:latin typeface="Calibri"/>
                <a:cs typeface="Calibri"/>
              </a:rPr>
              <a:t>capture</a:t>
            </a:r>
            <a:r>
              <a:rPr sz="2877" spc="-22" dirty="0">
                <a:latin typeface="Calibri"/>
                <a:cs typeface="Calibri"/>
              </a:rPr>
              <a:t> </a:t>
            </a:r>
            <a:r>
              <a:rPr sz="2877" dirty="0">
                <a:latin typeface="Calibri"/>
                <a:cs typeface="Calibri"/>
              </a:rPr>
              <a:t>the</a:t>
            </a:r>
            <a:r>
              <a:rPr sz="2877" spc="-115" dirty="0">
                <a:latin typeface="Calibri"/>
                <a:cs typeface="Calibri"/>
              </a:rPr>
              <a:t> </a:t>
            </a:r>
            <a:r>
              <a:rPr sz="2877" dirty="0">
                <a:latin typeface="Calibri"/>
                <a:cs typeface="Calibri"/>
              </a:rPr>
              <a:t>full</a:t>
            </a:r>
            <a:r>
              <a:rPr sz="2877" spc="-133" dirty="0">
                <a:latin typeface="Calibri"/>
                <a:cs typeface="Calibri"/>
              </a:rPr>
              <a:t> </a:t>
            </a:r>
            <a:r>
              <a:rPr sz="2877" spc="-18" dirty="0">
                <a:latin typeface="Calibri"/>
                <a:cs typeface="Calibri"/>
              </a:rPr>
              <a:t>picture</a:t>
            </a:r>
            <a:r>
              <a:rPr sz="2877" spc="-66" dirty="0">
                <a:latin typeface="Calibri"/>
                <a:cs typeface="Calibri"/>
              </a:rPr>
              <a:t> </a:t>
            </a:r>
            <a:r>
              <a:rPr sz="2877" dirty="0">
                <a:latin typeface="Calibri"/>
                <a:cs typeface="Calibri"/>
              </a:rPr>
              <a:t>of</a:t>
            </a:r>
            <a:r>
              <a:rPr sz="2877" spc="-155" dirty="0">
                <a:latin typeface="Calibri"/>
                <a:cs typeface="Calibri"/>
              </a:rPr>
              <a:t> </a:t>
            </a:r>
            <a:r>
              <a:rPr sz="2877" spc="-22" dirty="0">
                <a:latin typeface="Calibri"/>
                <a:cs typeface="Calibri"/>
              </a:rPr>
              <a:t>the </a:t>
            </a:r>
            <a:r>
              <a:rPr sz="2877" spc="-9" dirty="0">
                <a:latin typeface="Calibri"/>
                <a:cs typeface="Calibri"/>
              </a:rPr>
              <a:t>project.</a:t>
            </a:r>
            <a:endParaRPr sz="2877">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849" y="347961"/>
            <a:ext cx="6455071" cy="630066"/>
          </a:xfrm>
          <a:prstGeom prst="rect">
            <a:avLst/>
          </a:prstGeom>
        </p:spPr>
        <p:txBody>
          <a:bodyPr vert="horz" wrap="square" lIns="0" tIns="10118" rIns="0" bIns="0" rtlCol="0" anchor="ctr">
            <a:spAutoFit/>
          </a:bodyPr>
          <a:lstStyle/>
          <a:p>
            <a:pPr marL="1258546">
              <a:spcBef>
                <a:spcPts val="80"/>
              </a:spcBef>
            </a:pPr>
            <a:r>
              <a:rPr sz="4028" spc="-75" dirty="0"/>
              <a:t>Software</a:t>
            </a:r>
            <a:r>
              <a:rPr sz="4028" spc="-146" dirty="0"/>
              <a:t> </a:t>
            </a:r>
            <a:r>
              <a:rPr sz="4028" spc="-80" dirty="0"/>
              <a:t>prototypes</a:t>
            </a:r>
            <a:endParaRPr sz="4028"/>
          </a:p>
        </p:txBody>
      </p:sp>
      <p:sp>
        <p:nvSpPr>
          <p:cNvPr id="3" name="object 3"/>
          <p:cNvSpPr txBox="1"/>
          <p:nvPr/>
        </p:nvSpPr>
        <p:spPr>
          <a:xfrm>
            <a:off x="467321" y="1354950"/>
            <a:ext cx="7053700" cy="3857771"/>
          </a:xfrm>
          <a:prstGeom prst="rect">
            <a:avLst/>
          </a:prstGeom>
        </p:spPr>
        <p:txBody>
          <a:bodyPr vert="horz" wrap="square" lIns="0" tIns="88249" rIns="0" bIns="0" rtlCol="0">
            <a:spAutoFit/>
          </a:bodyPr>
          <a:lstStyle/>
          <a:p>
            <a:pPr marL="324895" marR="4497" indent="-314215">
              <a:lnSpc>
                <a:spcPct val="81400"/>
              </a:lnSpc>
              <a:spcBef>
                <a:spcPts val="695"/>
              </a:spcBef>
              <a:buChar char="•"/>
              <a:tabLst>
                <a:tab pos="327143" algn="l"/>
                <a:tab pos="2252905" algn="l"/>
              </a:tabLst>
            </a:pPr>
            <a:r>
              <a:rPr sz="2611" dirty="0">
                <a:latin typeface="Calibri"/>
                <a:cs typeface="Calibri"/>
              </a:rPr>
              <a:t>Software</a:t>
            </a:r>
            <a:r>
              <a:rPr sz="2611" spc="128" dirty="0">
                <a:latin typeface="Calibri"/>
                <a:cs typeface="Calibri"/>
              </a:rPr>
              <a:t> </a:t>
            </a:r>
            <a:r>
              <a:rPr sz="2611" dirty="0">
                <a:latin typeface="Calibri"/>
                <a:cs typeface="Calibri"/>
              </a:rPr>
              <a:t>prototypes</a:t>
            </a:r>
            <a:r>
              <a:rPr sz="2611" spc="155" dirty="0">
                <a:latin typeface="Calibri"/>
                <a:cs typeface="Calibri"/>
              </a:rPr>
              <a:t> </a:t>
            </a:r>
            <a:r>
              <a:rPr sz="2611" dirty="0">
                <a:latin typeface="Calibri"/>
                <a:cs typeface="Calibri"/>
              </a:rPr>
              <a:t>-</a:t>
            </a:r>
            <a:r>
              <a:rPr sz="2611" spc="-35" dirty="0">
                <a:latin typeface="Calibri"/>
                <a:cs typeface="Calibri"/>
              </a:rPr>
              <a:t> </a:t>
            </a:r>
            <a:r>
              <a:rPr sz="2611" dirty="0">
                <a:latin typeface="Calibri"/>
                <a:cs typeface="Calibri"/>
              </a:rPr>
              <a:t>umbrella</a:t>
            </a:r>
            <a:r>
              <a:rPr sz="2611" spc="111" dirty="0">
                <a:latin typeface="Calibri"/>
                <a:cs typeface="Calibri"/>
              </a:rPr>
              <a:t> </a:t>
            </a:r>
            <a:r>
              <a:rPr sz="2611" dirty="0">
                <a:latin typeface="Calibri"/>
                <a:cs typeface="Calibri"/>
              </a:rPr>
              <a:t>term</a:t>
            </a:r>
            <a:r>
              <a:rPr sz="2611" spc="62" dirty="0">
                <a:latin typeface="Calibri"/>
                <a:cs typeface="Calibri"/>
              </a:rPr>
              <a:t> </a:t>
            </a:r>
            <a:r>
              <a:rPr sz="2611" dirty="0">
                <a:latin typeface="Calibri"/>
                <a:cs typeface="Calibri"/>
              </a:rPr>
              <a:t>for</a:t>
            </a:r>
            <a:r>
              <a:rPr sz="2611" spc="-27" dirty="0">
                <a:latin typeface="Calibri"/>
                <a:cs typeface="Calibri"/>
              </a:rPr>
              <a:t> </a:t>
            </a:r>
            <a:r>
              <a:rPr sz="2611" spc="-18" dirty="0">
                <a:latin typeface="Calibri"/>
                <a:cs typeface="Calibri"/>
              </a:rPr>
              <a:t>different 	</a:t>
            </a:r>
            <a:r>
              <a:rPr sz="2611" dirty="0">
                <a:latin typeface="Calibri"/>
                <a:cs typeface="Calibri"/>
              </a:rPr>
              <a:t>forms</a:t>
            </a:r>
            <a:r>
              <a:rPr sz="2611" spc="75" dirty="0">
                <a:latin typeface="Calibri"/>
                <a:cs typeface="Calibri"/>
              </a:rPr>
              <a:t> </a:t>
            </a:r>
            <a:r>
              <a:rPr sz="2611" dirty="0">
                <a:latin typeface="Calibri"/>
                <a:cs typeface="Calibri"/>
              </a:rPr>
              <a:t>of</a:t>
            </a:r>
            <a:r>
              <a:rPr sz="2611" spc="-4" dirty="0">
                <a:latin typeface="Calibri"/>
                <a:cs typeface="Calibri"/>
              </a:rPr>
              <a:t> </a:t>
            </a:r>
            <a:r>
              <a:rPr sz="2611" dirty="0">
                <a:latin typeface="Calibri"/>
                <a:cs typeface="Calibri"/>
              </a:rPr>
              <a:t>early</a:t>
            </a:r>
            <a:r>
              <a:rPr sz="2611" spc="62" dirty="0">
                <a:latin typeface="Calibri"/>
                <a:cs typeface="Calibri"/>
              </a:rPr>
              <a:t> </a:t>
            </a:r>
            <a:r>
              <a:rPr sz="2611" dirty="0">
                <a:latin typeface="Calibri"/>
                <a:cs typeface="Calibri"/>
              </a:rPr>
              <a:t>stage</a:t>
            </a:r>
            <a:r>
              <a:rPr sz="2611" spc="49" dirty="0">
                <a:latin typeface="Calibri"/>
                <a:cs typeface="Calibri"/>
              </a:rPr>
              <a:t> </a:t>
            </a:r>
            <a:r>
              <a:rPr sz="2611" dirty="0">
                <a:latin typeface="Calibri"/>
                <a:cs typeface="Calibri"/>
              </a:rPr>
              <a:t>deliverables</a:t>
            </a:r>
            <a:r>
              <a:rPr sz="2611" spc="203" dirty="0">
                <a:latin typeface="Calibri"/>
                <a:cs typeface="Calibri"/>
              </a:rPr>
              <a:t> </a:t>
            </a:r>
            <a:r>
              <a:rPr sz="2611" dirty="0">
                <a:latin typeface="Calibri"/>
                <a:cs typeface="Calibri"/>
              </a:rPr>
              <a:t>that</a:t>
            </a:r>
            <a:r>
              <a:rPr sz="2611" spc="-62" dirty="0">
                <a:latin typeface="Calibri"/>
                <a:cs typeface="Calibri"/>
              </a:rPr>
              <a:t> </a:t>
            </a:r>
            <a:r>
              <a:rPr sz="2611" dirty="0">
                <a:latin typeface="Calibri"/>
                <a:cs typeface="Calibri"/>
              </a:rPr>
              <a:t>show</a:t>
            </a:r>
            <a:r>
              <a:rPr sz="2611" spc="80" dirty="0">
                <a:latin typeface="Calibri"/>
                <a:cs typeface="Calibri"/>
              </a:rPr>
              <a:t> </a:t>
            </a:r>
            <a:r>
              <a:rPr sz="2611" spc="-22" dirty="0">
                <a:latin typeface="Calibri"/>
                <a:cs typeface="Calibri"/>
              </a:rPr>
              <a:t>how 	</a:t>
            </a:r>
            <a:r>
              <a:rPr sz="2611" spc="-9" dirty="0">
                <a:latin typeface="Calibri"/>
                <a:cs typeface="Calibri"/>
              </a:rPr>
              <a:t>requirements</a:t>
            </a:r>
            <a:r>
              <a:rPr sz="2611" dirty="0">
                <a:latin typeface="Calibri"/>
                <a:cs typeface="Calibri"/>
              </a:rPr>
              <a:t>	must</a:t>
            </a:r>
            <a:r>
              <a:rPr sz="2611" spc="66" dirty="0">
                <a:latin typeface="Calibri"/>
                <a:cs typeface="Calibri"/>
              </a:rPr>
              <a:t> </a:t>
            </a:r>
            <a:r>
              <a:rPr sz="2611" dirty="0">
                <a:latin typeface="Calibri"/>
                <a:cs typeface="Calibri"/>
              </a:rPr>
              <a:t>be</a:t>
            </a:r>
            <a:r>
              <a:rPr sz="2611" spc="-27" dirty="0">
                <a:latin typeface="Calibri"/>
                <a:cs typeface="Calibri"/>
              </a:rPr>
              <a:t> </a:t>
            </a:r>
            <a:r>
              <a:rPr sz="2611" spc="-9" dirty="0">
                <a:latin typeface="Calibri"/>
                <a:cs typeface="Calibri"/>
              </a:rPr>
              <a:t>implemented.</a:t>
            </a:r>
            <a:endParaRPr sz="2611">
              <a:latin typeface="Calibri"/>
              <a:cs typeface="Calibri"/>
            </a:endParaRPr>
          </a:p>
          <a:p>
            <a:pPr marL="326581" marR="667215" indent="-315901">
              <a:lnSpc>
                <a:spcPct val="80500"/>
              </a:lnSpc>
              <a:spcBef>
                <a:spcPts val="664"/>
              </a:spcBef>
              <a:buChar char="•"/>
              <a:tabLst>
                <a:tab pos="326581" algn="l"/>
                <a:tab pos="327705" algn="l"/>
              </a:tabLst>
            </a:pPr>
            <a:r>
              <a:rPr sz="2611" dirty="0">
                <a:latin typeface="Calibri"/>
                <a:cs typeface="Calibri"/>
              </a:rPr>
              <a:t>	</a:t>
            </a:r>
            <a:r>
              <a:rPr sz="2611" spc="-9" dirty="0">
                <a:latin typeface="Calibri"/>
                <a:cs typeface="Calibri"/>
              </a:rPr>
              <a:t>Traditionally,</a:t>
            </a:r>
            <a:r>
              <a:rPr sz="2611" spc="-75" dirty="0">
                <a:latin typeface="Calibri"/>
                <a:cs typeface="Calibri"/>
              </a:rPr>
              <a:t> </a:t>
            </a:r>
            <a:r>
              <a:rPr sz="2611" dirty="0">
                <a:latin typeface="Calibri"/>
                <a:cs typeface="Calibri"/>
              </a:rPr>
              <a:t>prototypes</a:t>
            </a:r>
            <a:r>
              <a:rPr sz="2611" spc="137" dirty="0">
                <a:latin typeface="Calibri"/>
                <a:cs typeface="Calibri"/>
              </a:rPr>
              <a:t> </a:t>
            </a:r>
            <a:r>
              <a:rPr sz="2611" dirty="0">
                <a:latin typeface="Calibri"/>
                <a:cs typeface="Calibri"/>
              </a:rPr>
              <a:t>represent</a:t>
            </a:r>
            <a:r>
              <a:rPr sz="2611" spc="101" dirty="0">
                <a:latin typeface="Calibri"/>
                <a:cs typeface="Calibri"/>
              </a:rPr>
              <a:t> </a:t>
            </a:r>
            <a:r>
              <a:rPr sz="2611" dirty="0">
                <a:latin typeface="Calibri"/>
                <a:cs typeface="Calibri"/>
              </a:rPr>
              <a:t>how</a:t>
            </a:r>
            <a:r>
              <a:rPr sz="2611" spc="18" dirty="0">
                <a:latin typeface="Calibri"/>
                <a:cs typeface="Calibri"/>
              </a:rPr>
              <a:t> </a:t>
            </a:r>
            <a:r>
              <a:rPr sz="2611" spc="-22" dirty="0">
                <a:latin typeface="Calibri"/>
                <a:cs typeface="Calibri"/>
              </a:rPr>
              <a:t>the </a:t>
            </a:r>
            <a:r>
              <a:rPr sz="2567" dirty="0">
                <a:latin typeface="Calibri"/>
                <a:cs typeface="Calibri"/>
              </a:rPr>
              <a:t>solution</a:t>
            </a:r>
            <a:r>
              <a:rPr sz="2567" spc="292" dirty="0">
                <a:latin typeface="Calibri"/>
                <a:cs typeface="Calibri"/>
              </a:rPr>
              <a:t> </a:t>
            </a:r>
            <a:r>
              <a:rPr sz="2567" dirty="0">
                <a:latin typeface="Calibri"/>
                <a:cs typeface="Calibri"/>
              </a:rPr>
              <a:t>will</a:t>
            </a:r>
            <a:r>
              <a:rPr sz="2567" spc="146" dirty="0">
                <a:latin typeface="Calibri"/>
                <a:cs typeface="Calibri"/>
              </a:rPr>
              <a:t> </a:t>
            </a:r>
            <a:r>
              <a:rPr sz="2567" dirty="0">
                <a:latin typeface="Calibri"/>
                <a:cs typeface="Calibri"/>
              </a:rPr>
              <a:t>work</a:t>
            </a:r>
            <a:r>
              <a:rPr sz="2567" spc="190" dirty="0">
                <a:latin typeface="Calibri"/>
                <a:cs typeface="Calibri"/>
              </a:rPr>
              <a:t> </a:t>
            </a:r>
            <a:r>
              <a:rPr sz="2567" dirty="0">
                <a:latin typeface="Calibri"/>
                <a:cs typeface="Calibri"/>
              </a:rPr>
              <a:t>and</a:t>
            </a:r>
            <a:r>
              <a:rPr sz="2567" spc="111" dirty="0">
                <a:latin typeface="Calibri"/>
                <a:cs typeface="Calibri"/>
              </a:rPr>
              <a:t> </a:t>
            </a:r>
            <a:r>
              <a:rPr sz="2567" dirty="0">
                <a:latin typeface="Calibri"/>
                <a:cs typeface="Calibri"/>
              </a:rPr>
              <a:t>give</a:t>
            </a:r>
            <a:r>
              <a:rPr sz="2567" spc="146" dirty="0">
                <a:latin typeface="Calibri"/>
                <a:cs typeface="Calibri"/>
              </a:rPr>
              <a:t> </a:t>
            </a:r>
            <a:r>
              <a:rPr sz="2567" dirty="0">
                <a:latin typeface="Calibri"/>
                <a:cs typeface="Calibri"/>
              </a:rPr>
              <a:t>examples</a:t>
            </a:r>
            <a:r>
              <a:rPr sz="2567" spc="239" dirty="0">
                <a:latin typeface="Calibri"/>
                <a:cs typeface="Calibri"/>
              </a:rPr>
              <a:t> </a:t>
            </a:r>
            <a:r>
              <a:rPr sz="2567" dirty="0">
                <a:latin typeface="Calibri"/>
                <a:cs typeface="Calibri"/>
              </a:rPr>
              <a:t>of</a:t>
            </a:r>
            <a:r>
              <a:rPr sz="2567" spc="111" dirty="0">
                <a:latin typeface="Calibri"/>
                <a:cs typeface="Calibri"/>
              </a:rPr>
              <a:t> </a:t>
            </a:r>
            <a:r>
              <a:rPr sz="2567" spc="-22" dirty="0">
                <a:latin typeface="Calibri"/>
                <a:cs typeface="Calibri"/>
              </a:rPr>
              <a:t>how </a:t>
            </a:r>
            <a:r>
              <a:rPr sz="2656" dirty="0">
                <a:latin typeface="Calibri"/>
                <a:cs typeface="Calibri"/>
              </a:rPr>
              <a:t>users</a:t>
            </a:r>
            <a:r>
              <a:rPr sz="2656" spc="-27" dirty="0">
                <a:latin typeface="Calibri"/>
                <a:cs typeface="Calibri"/>
              </a:rPr>
              <a:t> </a:t>
            </a:r>
            <a:r>
              <a:rPr sz="2656" dirty="0">
                <a:latin typeface="Calibri"/>
                <a:cs typeface="Calibri"/>
              </a:rPr>
              <a:t>will</a:t>
            </a:r>
            <a:r>
              <a:rPr sz="2656" spc="-66" dirty="0">
                <a:latin typeface="Calibri"/>
                <a:cs typeface="Calibri"/>
              </a:rPr>
              <a:t> </a:t>
            </a:r>
            <a:r>
              <a:rPr sz="2656" spc="-9" dirty="0">
                <a:latin typeface="Calibri"/>
                <a:cs typeface="Calibri"/>
              </a:rPr>
              <a:t>interact</a:t>
            </a:r>
            <a:r>
              <a:rPr sz="2656" spc="27" dirty="0">
                <a:latin typeface="Calibri"/>
                <a:cs typeface="Calibri"/>
              </a:rPr>
              <a:t> </a:t>
            </a:r>
            <a:r>
              <a:rPr sz="2656" dirty="0">
                <a:latin typeface="Calibri"/>
                <a:cs typeface="Calibri"/>
              </a:rPr>
              <a:t>with</a:t>
            </a:r>
            <a:r>
              <a:rPr sz="2656" spc="-66" dirty="0">
                <a:latin typeface="Calibri"/>
                <a:cs typeface="Calibri"/>
              </a:rPr>
              <a:t> </a:t>
            </a:r>
            <a:r>
              <a:rPr sz="2656" dirty="0">
                <a:latin typeface="Calibri"/>
                <a:cs typeface="Calibri"/>
              </a:rPr>
              <a:t>it</a:t>
            </a:r>
            <a:r>
              <a:rPr sz="2656" spc="-89" dirty="0">
                <a:latin typeface="Calibri"/>
                <a:cs typeface="Calibri"/>
              </a:rPr>
              <a:t> </a:t>
            </a:r>
            <a:r>
              <a:rPr sz="2656" dirty="0">
                <a:latin typeface="Calibri"/>
                <a:cs typeface="Calibri"/>
              </a:rPr>
              <a:t>to</a:t>
            </a:r>
            <a:r>
              <a:rPr sz="2656" spc="-137" dirty="0">
                <a:latin typeface="Calibri"/>
                <a:cs typeface="Calibri"/>
              </a:rPr>
              <a:t> </a:t>
            </a:r>
            <a:r>
              <a:rPr sz="2656" spc="-18" dirty="0">
                <a:latin typeface="Calibri"/>
                <a:cs typeface="Calibri"/>
              </a:rPr>
              <a:t>accomplish</a:t>
            </a:r>
            <a:r>
              <a:rPr sz="2656" spc="89" dirty="0">
                <a:latin typeface="Calibri"/>
                <a:cs typeface="Calibri"/>
              </a:rPr>
              <a:t> </a:t>
            </a:r>
            <a:r>
              <a:rPr sz="2656" spc="-9" dirty="0">
                <a:latin typeface="Calibri"/>
                <a:cs typeface="Calibri"/>
              </a:rPr>
              <a:t>their </a:t>
            </a:r>
            <a:r>
              <a:rPr sz="2700" spc="-9" dirty="0">
                <a:latin typeface="Calibri"/>
                <a:cs typeface="Calibri"/>
              </a:rPr>
              <a:t>tasks.</a:t>
            </a:r>
            <a:endParaRPr sz="2700">
              <a:latin typeface="Calibri"/>
              <a:cs typeface="Calibri"/>
            </a:endParaRPr>
          </a:p>
          <a:p>
            <a:pPr marL="322084" marR="43282" indent="-311405">
              <a:lnSpc>
                <a:spcPct val="82400"/>
              </a:lnSpc>
              <a:spcBef>
                <a:spcPts val="589"/>
              </a:spcBef>
              <a:buChar char="•"/>
              <a:tabLst>
                <a:tab pos="322084" algn="l"/>
                <a:tab pos="324333" algn="l"/>
                <a:tab pos="2023005" algn="l"/>
                <a:tab pos="4845881" algn="l"/>
              </a:tabLst>
            </a:pPr>
            <a:r>
              <a:rPr sz="2611" dirty="0">
                <a:latin typeface="Calibri"/>
                <a:cs typeface="Calibri"/>
              </a:rPr>
              <a:t>	Prototypes</a:t>
            </a:r>
            <a:r>
              <a:rPr sz="2611" spc="124" dirty="0">
                <a:latin typeface="Calibri"/>
                <a:cs typeface="Calibri"/>
              </a:rPr>
              <a:t> </a:t>
            </a:r>
            <a:r>
              <a:rPr sz="2611" dirty="0">
                <a:latin typeface="Calibri"/>
                <a:cs typeface="Calibri"/>
              </a:rPr>
              <a:t>can</a:t>
            </a:r>
            <a:r>
              <a:rPr sz="2611" spc="40" dirty="0">
                <a:latin typeface="Calibri"/>
                <a:cs typeface="Calibri"/>
              </a:rPr>
              <a:t> </a:t>
            </a:r>
            <a:r>
              <a:rPr sz="2611" dirty="0">
                <a:latin typeface="Calibri"/>
                <a:cs typeface="Calibri"/>
              </a:rPr>
              <a:t>be</a:t>
            </a:r>
            <a:r>
              <a:rPr sz="2611" spc="9" dirty="0">
                <a:latin typeface="Calibri"/>
                <a:cs typeface="Calibri"/>
              </a:rPr>
              <a:t> </a:t>
            </a:r>
            <a:r>
              <a:rPr sz="2611" dirty="0">
                <a:latin typeface="Calibri"/>
                <a:cs typeface="Calibri"/>
              </a:rPr>
              <a:t>cheap</a:t>
            </a:r>
            <a:r>
              <a:rPr sz="2611" spc="75" dirty="0">
                <a:latin typeface="Calibri"/>
                <a:cs typeface="Calibri"/>
              </a:rPr>
              <a:t> </a:t>
            </a:r>
            <a:r>
              <a:rPr sz="2611" dirty="0">
                <a:latin typeface="Calibri"/>
                <a:cs typeface="Calibri"/>
              </a:rPr>
              <a:t>and</a:t>
            </a:r>
            <a:r>
              <a:rPr sz="2611" spc="18" dirty="0">
                <a:latin typeface="Calibri"/>
                <a:cs typeface="Calibri"/>
              </a:rPr>
              <a:t> </a:t>
            </a:r>
            <a:r>
              <a:rPr sz="2611" dirty="0">
                <a:latin typeface="Calibri"/>
                <a:cs typeface="Calibri"/>
              </a:rPr>
              <a:t>fast</a:t>
            </a:r>
            <a:r>
              <a:rPr sz="2611" spc="71" dirty="0">
                <a:latin typeface="Calibri"/>
                <a:cs typeface="Calibri"/>
              </a:rPr>
              <a:t> </a:t>
            </a:r>
            <a:r>
              <a:rPr sz="2611" spc="-9" dirty="0">
                <a:latin typeface="Calibri"/>
                <a:cs typeface="Calibri"/>
              </a:rPr>
              <a:t>visual </a:t>
            </a:r>
            <a:r>
              <a:rPr sz="2611" dirty="0">
                <a:latin typeface="Calibri"/>
                <a:cs typeface="Calibri"/>
              </a:rPr>
              <a:t>representations</a:t>
            </a:r>
            <a:r>
              <a:rPr sz="2611" spc="58" dirty="0">
                <a:latin typeface="Calibri"/>
                <a:cs typeface="Calibri"/>
              </a:rPr>
              <a:t> </a:t>
            </a:r>
            <a:r>
              <a:rPr sz="2611" dirty="0">
                <a:latin typeface="Calibri"/>
                <a:cs typeface="Calibri"/>
              </a:rPr>
              <a:t>of</a:t>
            </a:r>
            <a:r>
              <a:rPr sz="2611" spc="80" dirty="0">
                <a:latin typeface="Calibri"/>
                <a:cs typeface="Calibri"/>
              </a:rPr>
              <a:t> </a:t>
            </a:r>
            <a:r>
              <a:rPr sz="2611" spc="-9" dirty="0">
                <a:latin typeface="Calibri"/>
                <a:cs typeface="Calibri"/>
              </a:rPr>
              <a:t>requirements</a:t>
            </a:r>
            <a:r>
              <a:rPr sz="2611" dirty="0">
                <a:latin typeface="Calibri"/>
                <a:cs typeface="Calibri"/>
              </a:rPr>
              <a:t>	</a:t>
            </a:r>
            <a:r>
              <a:rPr sz="2611" i="1" spc="-9" dirty="0">
                <a:latin typeface="Calibri"/>
                <a:cs typeface="Calibri"/>
              </a:rPr>
              <a:t>(throwaway </a:t>
            </a:r>
            <a:r>
              <a:rPr sz="2567" i="1" spc="-9" dirty="0">
                <a:latin typeface="Calibri"/>
                <a:cs typeface="Calibri"/>
              </a:rPr>
              <a:t>prototypes)</a:t>
            </a:r>
            <a:r>
              <a:rPr sz="2567" i="1" dirty="0">
                <a:latin typeface="Calibri"/>
                <a:cs typeface="Calibri"/>
              </a:rPr>
              <a:t>	</a:t>
            </a:r>
            <a:r>
              <a:rPr sz="2567" dirty="0">
                <a:latin typeface="Calibri"/>
                <a:cs typeface="Calibri"/>
              </a:rPr>
              <a:t>or</a:t>
            </a:r>
            <a:r>
              <a:rPr sz="2567" spc="115" dirty="0">
                <a:latin typeface="Calibri"/>
                <a:cs typeface="Calibri"/>
              </a:rPr>
              <a:t> </a:t>
            </a:r>
            <a:r>
              <a:rPr sz="2567" dirty="0">
                <a:latin typeface="Calibri"/>
                <a:cs typeface="Calibri"/>
              </a:rPr>
              <a:t>more</a:t>
            </a:r>
            <a:r>
              <a:rPr sz="2567" spc="177" dirty="0">
                <a:latin typeface="Calibri"/>
                <a:cs typeface="Calibri"/>
              </a:rPr>
              <a:t> </a:t>
            </a:r>
            <a:r>
              <a:rPr sz="2567" dirty="0">
                <a:latin typeface="Calibri"/>
                <a:cs typeface="Calibri"/>
              </a:rPr>
              <a:t>complex</a:t>
            </a:r>
            <a:r>
              <a:rPr sz="2567" spc="212" dirty="0">
                <a:latin typeface="Calibri"/>
                <a:cs typeface="Calibri"/>
              </a:rPr>
              <a:t> </a:t>
            </a:r>
            <a:r>
              <a:rPr sz="2567" dirty="0">
                <a:latin typeface="Calibri"/>
                <a:cs typeface="Calibri"/>
              </a:rPr>
              <a:t>ones</a:t>
            </a:r>
            <a:r>
              <a:rPr sz="2567" spc="190" dirty="0">
                <a:latin typeface="Calibri"/>
                <a:cs typeface="Calibri"/>
              </a:rPr>
              <a:t> </a:t>
            </a:r>
            <a:r>
              <a:rPr sz="2567" i="1" spc="40" dirty="0">
                <a:latin typeface="Calibri"/>
                <a:cs typeface="Calibri"/>
              </a:rPr>
              <a:t>(evolutionary </a:t>
            </a:r>
            <a:r>
              <a:rPr sz="2567" i="1" spc="-9" dirty="0">
                <a:latin typeface="Calibri"/>
                <a:cs typeface="Calibri"/>
              </a:rPr>
              <a:t>prototypes)</a:t>
            </a:r>
            <a:endParaRPr sz="2567">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849" y="345123"/>
            <a:ext cx="6455071" cy="635742"/>
          </a:xfrm>
          <a:prstGeom prst="rect">
            <a:avLst/>
          </a:prstGeom>
        </p:spPr>
        <p:txBody>
          <a:bodyPr vert="horz" wrap="square" lIns="0" tIns="15739" rIns="0" bIns="0" rtlCol="0" anchor="ctr">
            <a:spAutoFit/>
          </a:bodyPr>
          <a:lstStyle/>
          <a:p>
            <a:pPr marL="385040">
              <a:spcBef>
                <a:spcPts val="124"/>
              </a:spcBef>
            </a:pPr>
            <a:r>
              <a:rPr sz="4028" spc="-93" dirty="0"/>
              <a:t>Non-</a:t>
            </a:r>
            <a:r>
              <a:rPr sz="4028" spc="-62" dirty="0"/>
              <a:t>functional </a:t>
            </a:r>
            <a:r>
              <a:rPr sz="4028" spc="-97" dirty="0"/>
              <a:t>requirements</a:t>
            </a:r>
            <a:endParaRPr sz="4028"/>
          </a:p>
        </p:txBody>
      </p:sp>
      <p:sp>
        <p:nvSpPr>
          <p:cNvPr id="3" name="object 3"/>
          <p:cNvSpPr txBox="1"/>
          <p:nvPr/>
        </p:nvSpPr>
        <p:spPr>
          <a:xfrm>
            <a:off x="464217" y="1427847"/>
            <a:ext cx="7106537" cy="2801166"/>
          </a:xfrm>
          <a:prstGeom prst="rect">
            <a:avLst/>
          </a:prstGeom>
        </p:spPr>
        <p:txBody>
          <a:bodyPr vert="horz" wrap="square" lIns="0" tIns="6745" rIns="0" bIns="0" rtlCol="0">
            <a:spAutoFit/>
          </a:bodyPr>
          <a:lstStyle/>
          <a:p>
            <a:pPr marL="328830" marR="124225" indent="-317026" algn="just">
              <a:lnSpc>
                <a:spcPct val="101600"/>
              </a:lnSpc>
              <a:spcBef>
                <a:spcPts val="53"/>
              </a:spcBef>
              <a:buChar char="•"/>
              <a:tabLst>
                <a:tab pos="328830" algn="l"/>
                <a:tab pos="331078" algn="l"/>
              </a:tabLst>
            </a:pPr>
            <a:r>
              <a:rPr sz="2788" dirty="0">
                <a:latin typeface="Calibri"/>
                <a:cs typeface="Calibri"/>
              </a:rPr>
              <a:t>	Non-functional</a:t>
            </a:r>
            <a:r>
              <a:rPr sz="2788" spc="-93" dirty="0">
                <a:latin typeface="Calibri"/>
                <a:cs typeface="Calibri"/>
              </a:rPr>
              <a:t> </a:t>
            </a:r>
            <a:r>
              <a:rPr sz="2788" dirty="0">
                <a:latin typeface="Calibri"/>
                <a:cs typeface="Calibri"/>
              </a:rPr>
              <a:t>requirements</a:t>
            </a:r>
            <a:r>
              <a:rPr sz="2788" spc="212" dirty="0">
                <a:latin typeface="Calibri"/>
                <a:cs typeface="Calibri"/>
              </a:rPr>
              <a:t> </a:t>
            </a:r>
            <a:r>
              <a:rPr sz="2788" dirty="0">
                <a:latin typeface="Calibri"/>
                <a:cs typeface="Calibri"/>
              </a:rPr>
              <a:t>describe</a:t>
            </a:r>
            <a:r>
              <a:rPr sz="2788" spc="71" dirty="0">
                <a:latin typeface="Calibri"/>
                <a:cs typeface="Calibri"/>
              </a:rPr>
              <a:t> </a:t>
            </a:r>
            <a:r>
              <a:rPr sz="2788" dirty="0">
                <a:latin typeface="Calibri"/>
                <a:cs typeface="Calibri"/>
              </a:rPr>
              <a:t>how</a:t>
            </a:r>
            <a:r>
              <a:rPr sz="2788" spc="27" dirty="0">
                <a:latin typeface="Calibri"/>
                <a:cs typeface="Calibri"/>
              </a:rPr>
              <a:t> </a:t>
            </a:r>
            <a:r>
              <a:rPr sz="2788" spc="-44" dirty="0">
                <a:latin typeface="Calibri"/>
                <a:cs typeface="Calibri"/>
              </a:rPr>
              <a:t>a </a:t>
            </a:r>
            <a:r>
              <a:rPr sz="2788" dirty="0">
                <a:latin typeface="Calibri"/>
                <a:cs typeface="Calibri"/>
              </a:rPr>
              <a:t>system</a:t>
            </a:r>
            <a:r>
              <a:rPr sz="2788" spc="58" dirty="0">
                <a:latin typeface="Calibri"/>
                <a:cs typeface="Calibri"/>
              </a:rPr>
              <a:t> </a:t>
            </a:r>
            <a:r>
              <a:rPr sz="2788" dirty="0">
                <a:latin typeface="Calibri"/>
                <a:cs typeface="Calibri"/>
              </a:rPr>
              <a:t>must</a:t>
            </a:r>
            <a:r>
              <a:rPr sz="2788" spc="-18" dirty="0">
                <a:latin typeface="Calibri"/>
                <a:cs typeface="Calibri"/>
              </a:rPr>
              <a:t> </a:t>
            </a:r>
            <a:r>
              <a:rPr sz="2788" dirty="0">
                <a:latin typeface="Calibri"/>
                <a:cs typeface="Calibri"/>
              </a:rPr>
              <a:t>behave</a:t>
            </a:r>
            <a:r>
              <a:rPr sz="2788" spc="53" dirty="0">
                <a:latin typeface="Calibri"/>
                <a:cs typeface="Calibri"/>
              </a:rPr>
              <a:t> </a:t>
            </a:r>
            <a:r>
              <a:rPr sz="2788" dirty="0">
                <a:latin typeface="Calibri"/>
                <a:cs typeface="Calibri"/>
              </a:rPr>
              <a:t>and</a:t>
            </a:r>
            <a:r>
              <a:rPr sz="2788" spc="-35" dirty="0">
                <a:latin typeface="Calibri"/>
                <a:cs typeface="Calibri"/>
              </a:rPr>
              <a:t> </a:t>
            </a:r>
            <a:r>
              <a:rPr sz="2788" dirty="0">
                <a:latin typeface="Calibri"/>
                <a:cs typeface="Calibri"/>
              </a:rPr>
              <a:t>establish</a:t>
            </a:r>
            <a:r>
              <a:rPr sz="2788" spc="40" dirty="0">
                <a:latin typeface="Calibri"/>
                <a:cs typeface="Calibri"/>
              </a:rPr>
              <a:t> </a:t>
            </a:r>
            <a:r>
              <a:rPr sz="2788" spc="-9" dirty="0">
                <a:latin typeface="Calibri"/>
                <a:cs typeface="Calibri"/>
              </a:rPr>
              <a:t>constraints </a:t>
            </a:r>
            <a:r>
              <a:rPr sz="2788" dirty="0">
                <a:latin typeface="Calibri"/>
                <a:cs typeface="Calibri"/>
              </a:rPr>
              <a:t>of</a:t>
            </a:r>
            <a:r>
              <a:rPr sz="2788" spc="18" dirty="0">
                <a:latin typeface="Calibri"/>
                <a:cs typeface="Calibri"/>
              </a:rPr>
              <a:t> </a:t>
            </a:r>
            <a:r>
              <a:rPr sz="2788" dirty="0">
                <a:latin typeface="Calibri"/>
                <a:cs typeface="Calibri"/>
              </a:rPr>
              <a:t>its</a:t>
            </a:r>
            <a:r>
              <a:rPr sz="2788" spc="49" dirty="0">
                <a:latin typeface="Calibri"/>
                <a:cs typeface="Calibri"/>
              </a:rPr>
              <a:t> </a:t>
            </a:r>
            <a:r>
              <a:rPr sz="2788" spc="-9" dirty="0">
                <a:latin typeface="Calibri"/>
                <a:cs typeface="Calibri"/>
              </a:rPr>
              <a:t>functionality.</a:t>
            </a:r>
            <a:endParaRPr sz="2788">
              <a:latin typeface="Calibri"/>
              <a:cs typeface="Calibri"/>
            </a:endParaRPr>
          </a:p>
          <a:p>
            <a:pPr marL="330516" marR="4497" indent="-319836" algn="just">
              <a:lnSpc>
                <a:spcPts val="3408"/>
              </a:lnSpc>
              <a:spcBef>
                <a:spcPts val="801"/>
              </a:spcBef>
              <a:buChar char="•"/>
              <a:tabLst>
                <a:tab pos="331640" algn="l"/>
              </a:tabLst>
            </a:pPr>
            <a:r>
              <a:rPr sz="2877" dirty="0">
                <a:latin typeface="Calibri"/>
                <a:cs typeface="Calibri"/>
              </a:rPr>
              <a:t>This</a:t>
            </a:r>
            <a:r>
              <a:rPr sz="2877" spc="-128" dirty="0">
                <a:latin typeface="Calibri"/>
                <a:cs typeface="Calibri"/>
              </a:rPr>
              <a:t> </a:t>
            </a:r>
            <a:r>
              <a:rPr sz="2877" dirty="0">
                <a:latin typeface="Calibri"/>
                <a:cs typeface="Calibri"/>
              </a:rPr>
              <a:t>type</a:t>
            </a:r>
            <a:r>
              <a:rPr sz="2877" spc="-111" dirty="0">
                <a:latin typeface="Calibri"/>
                <a:cs typeface="Calibri"/>
              </a:rPr>
              <a:t> </a:t>
            </a:r>
            <a:r>
              <a:rPr sz="2877" dirty="0">
                <a:latin typeface="Calibri"/>
                <a:cs typeface="Calibri"/>
              </a:rPr>
              <a:t>of</a:t>
            </a:r>
            <a:r>
              <a:rPr sz="2877" spc="-146" dirty="0">
                <a:latin typeface="Calibri"/>
                <a:cs typeface="Calibri"/>
              </a:rPr>
              <a:t> </a:t>
            </a:r>
            <a:r>
              <a:rPr sz="2877" spc="-31" dirty="0">
                <a:latin typeface="Calibri"/>
                <a:cs typeface="Calibri"/>
              </a:rPr>
              <a:t>requirements</a:t>
            </a:r>
            <a:r>
              <a:rPr sz="2877" spc="111" dirty="0">
                <a:latin typeface="Calibri"/>
                <a:cs typeface="Calibri"/>
              </a:rPr>
              <a:t> </a:t>
            </a:r>
            <a:r>
              <a:rPr sz="2877" dirty="0">
                <a:latin typeface="Calibri"/>
                <a:cs typeface="Calibri"/>
              </a:rPr>
              <a:t>is</a:t>
            </a:r>
            <a:r>
              <a:rPr sz="2877" spc="-164" dirty="0">
                <a:latin typeface="Calibri"/>
                <a:cs typeface="Calibri"/>
              </a:rPr>
              <a:t> </a:t>
            </a:r>
            <a:r>
              <a:rPr sz="2877" dirty="0">
                <a:latin typeface="Calibri"/>
                <a:cs typeface="Calibri"/>
              </a:rPr>
              <a:t>also</a:t>
            </a:r>
            <a:r>
              <a:rPr sz="2877" spc="-101" dirty="0">
                <a:latin typeface="Calibri"/>
                <a:cs typeface="Calibri"/>
              </a:rPr>
              <a:t> </a:t>
            </a:r>
            <a:r>
              <a:rPr sz="2877" spc="-9" dirty="0">
                <a:latin typeface="Calibri"/>
                <a:cs typeface="Calibri"/>
              </a:rPr>
              <a:t>known</a:t>
            </a:r>
            <a:r>
              <a:rPr sz="2877" spc="-66" dirty="0">
                <a:latin typeface="Calibri"/>
                <a:cs typeface="Calibri"/>
              </a:rPr>
              <a:t> </a:t>
            </a:r>
            <a:r>
              <a:rPr sz="2877" dirty="0">
                <a:latin typeface="Calibri"/>
                <a:cs typeface="Calibri"/>
              </a:rPr>
              <a:t>as</a:t>
            </a:r>
            <a:r>
              <a:rPr sz="2877" spc="-155" dirty="0">
                <a:latin typeface="Calibri"/>
                <a:cs typeface="Calibri"/>
              </a:rPr>
              <a:t> </a:t>
            </a:r>
            <a:r>
              <a:rPr sz="2877" spc="-22" dirty="0">
                <a:latin typeface="Calibri"/>
                <a:cs typeface="Calibri"/>
              </a:rPr>
              <a:t>the 	</a:t>
            </a:r>
            <a:r>
              <a:rPr sz="2877" spc="-53" dirty="0">
                <a:latin typeface="Calibri"/>
                <a:cs typeface="Calibri"/>
              </a:rPr>
              <a:t>system's</a:t>
            </a:r>
            <a:r>
              <a:rPr sz="2877" spc="-111" dirty="0">
                <a:latin typeface="Calibri"/>
                <a:cs typeface="Calibri"/>
              </a:rPr>
              <a:t> </a:t>
            </a:r>
            <a:r>
              <a:rPr sz="2877" i="1" spc="-9" dirty="0">
                <a:latin typeface="Calibri"/>
                <a:cs typeface="Calibri"/>
              </a:rPr>
              <a:t>quality</a:t>
            </a:r>
            <a:r>
              <a:rPr sz="2877" i="1" spc="-93" dirty="0">
                <a:latin typeface="Calibri"/>
                <a:cs typeface="Calibri"/>
              </a:rPr>
              <a:t> </a:t>
            </a:r>
            <a:r>
              <a:rPr sz="2877" i="1" spc="-9" dirty="0">
                <a:latin typeface="Calibri"/>
                <a:cs typeface="Calibri"/>
              </a:rPr>
              <a:t>attributes</a:t>
            </a:r>
            <a:endParaRPr sz="2877">
              <a:latin typeface="Calibri"/>
              <a:cs typeface="Calibri"/>
            </a:endParaRPr>
          </a:p>
          <a:p>
            <a:pPr marL="331078" indent="-319836" algn="just">
              <a:spcBef>
                <a:spcPts val="500"/>
              </a:spcBef>
              <a:buChar char="•"/>
              <a:tabLst>
                <a:tab pos="331078" algn="l"/>
              </a:tabLst>
            </a:pPr>
            <a:r>
              <a:rPr sz="2877" spc="-9" dirty="0">
                <a:latin typeface="Calibri"/>
                <a:cs typeface="Calibri"/>
              </a:rPr>
              <a:t>Huge</a:t>
            </a:r>
            <a:r>
              <a:rPr sz="2877" spc="-106" dirty="0">
                <a:latin typeface="Calibri"/>
                <a:cs typeface="Calibri"/>
              </a:rPr>
              <a:t> </a:t>
            </a:r>
            <a:r>
              <a:rPr sz="2877" spc="-18" dirty="0">
                <a:latin typeface="Calibri"/>
                <a:cs typeface="Calibri"/>
              </a:rPr>
              <a:t>Impact</a:t>
            </a:r>
            <a:r>
              <a:rPr sz="2877" spc="-40" dirty="0">
                <a:latin typeface="Calibri"/>
                <a:cs typeface="Calibri"/>
              </a:rPr>
              <a:t> </a:t>
            </a:r>
            <a:r>
              <a:rPr sz="2877" dirty="0">
                <a:latin typeface="Calibri"/>
                <a:cs typeface="Calibri"/>
              </a:rPr>
              <a:t>on</a:t>
            </a:r>
            <a:r>
              <a:rPr sz="2877" spc="-133" dirty="0">
                <a:latin typeface="Calibri"/>
                <a:cs typeface="Calibri"/>
              </a:rPr>
              <a:t> </a:t>
            </a:r>
            <a:r>
              <a:rPr sz="2877" dirty="0">
                <a:latin typeface="Calibri"/>
                <a:cs typeface="Calibri"/>
              </a:rPr>
              <a:t>end</a:t>
            </a:r>
            <a:r>
              <a:rPr sz="2877" spc="-115" dirty="0">
                <a:latin typeface="Calibri"/>
                <a:cs typeface="Calibri"/>
              </a:rPr>
              <a:t> </a:t>
            </a:r>
            <a:r>
              <a:rPr sz="2877" dirty="0">
                <a:latin typeface="Calibri"/>
                <a:cs typeface="Calibri"/>
              </a:rPr>
              <a:t>user</a:t>
            </a:r>
            <a:r>
              <a:rPr sz="2877" spc="-106" dirty="0">
                <a:latin typeface="Calibri"/>
                <a:cs typeface="Calibri"/>
              </a:rPr>
              <a:t> </a:t>
            </a:r>
            <a:r>
              <a:rPr sz="2877" spc="-9" dirty="0">
                <a:latin typeface="Calibri"/>
                <a:cs typeface="Calibri"/>
              </a:rPr>
              <a:t>expirience</a:t>
            </a:r>
            <a:endParaRPr sz="2877">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849" y="85174"/>
            <a:ext cx="6455071" cy="1155639"/>
          </a:xfrm>
          <a:prstGeom prst="rect">
            <a:avLst/>
          </a:prstGeom>
        </p:spPr>
        <p:txBody>
          <a:bodyPr vert="horz" wrap="square" lIns="0" tIns="11242" rIns="0" bIns="0" rtlCol="0" anchor="ctr">
            <a:spAutoFit/>
          </a:bodyPr>
          <a:lstStyle/>
          <a:p>
            <a:pPr marL="11242">
              <a:spcBef>
                <a:spcPts val="89"/>
              </a:spcBef>
            </a:pPr>
            <a:r>
              <a:rPr sz="3718" spc="-115" dirty="0"/>
              <a:t>Typical</a:t>
            </a:r>
            <a:r>
              <a:rPr sz="3718" spc="-9" dirty="0"/>
              <a:t> </a:t>
            </a:r>
            <a:r>
              <a:rPr sz="3718" spc="-115" dirty="0"/>
              <a:t>non-</a:t>
            </a:r>
            <a:r>
              <a:rPr sz="3718" spc="-89" dirty="0"/>
              <a:t>functional </a:t>
            </a:r>
            <a:r>
              <a:rPr sz="3718" spc="-93" dirty="0"/>
              <a:t>requirements</a:t>
            </a:r>
            <a:endParaRPr sz="3718"/>
          </a:p>
        </p:txBody>
      </p:sp>
      <p:sp>
        <p:nvSpPr>
          <p:cNvPr id="3" name="object 3"/>
          <p:cNvSpPr txBox="1"/>
          <p:nvPr/>
        </p:nvSpPr>
        <p:spPr>
          <a:xfrm>
            <a:off x="463701" y="1337472"/>
            <a:ext cx="7031216" cy="3596664"/>
          </a:xfrm>
          <a:prstGeom prst="rect">
            <a:avLst/>
          </a:prstGeom>
        </p:spPr>
        <p:txBody>
          <a:bodyPr vert="horz" wrap="square" lIns="0" tIns="103987" rIns="0" bIns="0" rtlCol="0">
            <a:spAutoFit/>
          </a:bodyPr>
          <a:lstStyle/>
          <a:p>
            <a:pPr marL="329392" indent="-317026">
              <a:spcBef>
                <a:spcPts val="819"/>
              </a:spcBef>
              <a:buChar char="•"/>
              <a:tabLst>
                <a:tab pos="329392" algn="l"/>
              </a:tabLst>
            </a:pPr>
            <a:r>
              <a:rPr sz="2788" dirty="0">
                <a:latin typeface="Calibri"/>
                <a:cs typeface="Calibri"/>
              </a:rPr>
              <a:t>Usability</a:t>
            </a:r>
            <a:r>
              <a:rPr sz="2788" spc="120" dirty="0">
                <a:latin typeface="Calibri"/>
                <a:cs typeface="Calibri"/>
              </a:rPr>
              <a:t> </a:t>
            </a:r>
            <a:r>
              <a:rPr sz="2788" dirty="0">
                <a:latin typeface="Calibri"/>
                <a:cs typeface="Calibri"/>
              </a:rPr>
              <a:t>-</a:t>
            </a:r>
            <a:r>
              <a:rPr sz="2788" spc="-62" dirty="0">
                <a:latin typeface="Calibri"/>
                <a:cs typeface="Calibri"/>
              </a:rPr>
              <a:t> </a:t>
            </a:r>
            <a:r>
              <a:rPr sz="2788" dirty="0">
                <a:latin typeface="Calibri"/>
                <a:cs typeface="Calibri"/>
              </a:rPr>
              <a:t>Efficiency</a:t>
            </a:r>
            <a:r>
              <a:rPr sz="2788" spc="106" dirty="0">
                <a:latin typeface="Calibri"/>
                <a:cs typeface="Calibri"/>
              </a:rPr>
              <a:t> </a:t>
            </a:r>
            <a:r>
              <a:rPr sz="2788" dirty="0">
                <a:latin typeface="Calibri"/>
                <a:cs typeface="Calibri"/>
              </a:rPr>
              <a:t>of</a:t>
            </a:r>
            <a:r>
              <a:rPr sz="2788" spc="-31" dirty="0">
                <a:latin typeface="Calibri"/>
                <a:cs typeface="Calibri"/>
              </a:rPr>
              <a:t> </a:t>
            </a:r>
            <a:r>
              <a:rPr sz="2788" dirty="0">
                <a:latin typeface="Calibri"/>
                <a:cs typeface="Calibri"/>
              </a:rPr>
              <a:t>use,</a:t>
            </a:r>
            <a:r>
              <a:rPr sz="2788" spc="-4" dirty="0">
                <a:latin typeface="Calibri"/>
                <a:cs typeface="Calibri"/>
              </a:rPr>
              <a:t> </a:t>
            </a:r>
            <a:r>
              <a:rPr sz="2788" spc="-9" dirty="0">
                <a:latin typeface="Calibri"/>
                <a:cs typeface="Calibri"/>
              </a:rPr>
              <a:t>Intuitiveness</a:t>
            </a:r>
            <a:endParaRPr sz="2788" dirty="0">
              <a:latin typeface="Calibri"/>
              <a:cs typeface="Calibri"/>
            </a:endParaRPr>
          </a:p>
          <a:p>
            <a:pPr marL="327705" indent="-315339">
              <a:spcBef>
                <a:spcPts val="739"/>
              </a:spcBef>
              <a:buChar char="•"/>
              <a:tabLst>
                <a:tab pos="327705" algn="l"/>
              </a:tabLst>
            </a:pPr>
            <a:r>
              <a:rPr sz="2788" dirty="0">
                <a:latin typeface="Calibri"/>
                <a:cs typeface="Calibri"/>
              </a:rPr>
              <a:t>Security</a:t>
            </a:r>
            <a:r>
              <a:rPr sz="2788" spc="168" dirty="0">
                <a:latin typeface="Calibri"/>
                <a:cs typeface="Calibri"/>
              </a:rPr>
              <a:t> </a:t>
            </a:r>
            <a:r>
              <a:rPr sz="2788" dirty="0">
                <a:latin typeface="Calibri"/>
                <a:cs typeface="Calibri"/>
              </a:rPr>
              <a:t>-</a:t>
            </a:r>
            <a:r>
              <a:rPr sz="2788" spc="-22" dirty="0">
                <a:latin typeface="Calibri"/>
                <a:cs typeface="Calibri"/>
              </a:rPr>
              <a:t> </a:t>
            </a:r>
            <a:r>
              <a:rPr sz="2788" dirty="0">
                <a:latin typeface="Calibri"/>
                <a:cs typeface="Calibri"/>
              </a:rPr>
              <a:t>authorization,</a:t>
            </a:r>
            <a:r>
              <a:rPr sz="2788" spc="-49" dirty="0">
                <a:latin typeface="Calibri"/>
                <a:cs typeface="Calibri"/>
              </a:rPr>
              <a:t> </a:t>
            </a:r>
            <a:r>
              <a:rPr sz="2788" dirty="0">
                <a:latin typeface="Calibri"/>
                <a:cs typeface="Calibri"/>
              </a:rPr>
              <a:t>data</a:t>
            </a:r>
            <a:r>
              <a:rPr sz="2788" spc="53" dirty="0">
                <a:latin typeface="Calibri"/>
                <a:cs typeface="Calibri"/>
              </a:rPr>
              <a:t> </a:t>
            </a:r>
            <a:r>
              <a:rPr sz="2788" spc="-9" dirty="0">
                <a:latin typeface="Calibri"/>
                <a:cs typeface="Calibri"/>
              </a:rPr>
              <a:t>privacy</a:t>
            </a:r>
            <a:endParaRPr sz="2788" dirty="0">
              <a:latin typeface="Calibri"/>
              <a:cs typeface="Calibri"/>
            </a:endParaRPr>
          </a:p>
          <a:p>
            <a:pPr marL="332202" indent="-319836">
              <a:spcBef>
                <a:spcPts val="713"/>
              </a:spcBef>
              <a:buChar char="•"/>
              <a:tabLst>
                <a:tab pos="332202" algn="l"/>
              </a:tabLst>
            </a:pPr>
            <a:r>
              <a:rPr sz="2788" spc="-9" dirty="0">
                <a:latin typeface="Calibri"/>
                <a:cs typeface="Calibri"/>
              </a:rPr>
              <a:t>Reliability</a:t>
            </a:r>
            <a:r>
              <a:rPr sz="2788" spc="-150" dirty="0">
                <a:latin typeface="Calibri"/>
                <a:cs typeface="Calibri"/>
              </a:rPr>
              <a:t> </a:t>
            </a:r>
            <a:r>
              <a:rPr sz="2788" spc="-858" dirty="0">
                <a:latin typeface="Calibri"/>
                <a:cs typeface="Calibri"/>
              </a:rPr>
              <a:t>—</a:t>
            </a:r>
            <a:r>
              <a:rPr sz="2788" spc="-53" dirty="0">
                <a:latin typeface="Calibri"/>
                <a:cs typeface="Calibri"/>
              </a:rPr>
              <a:t> </a:t>
            </a:r>
            <a:r>
              <a:rPr sz="2788" spc="-9" dirty="0">
                <a:latin typeface="Calibri"/>
                <a:cs typeface="Calibri"/>
              </a:rPr>
              <a:t>recovery,</a:t>
            </a:r>
            <a:r>
              <a:rPr sz="2788" spc="-13" dirty="0">
                <a:latin typeface="Calibri"/>
                <a:cs typeface="Calibri"/>
              </a:rPr>
              <a:t> </a:t>
            </a:r>
            <a:r>
              <a:rPr sz="2788" spc="-9" dirty="0">
                <a:latin typeface="Calibri"/>
                <a:cs typeface="Calibri"/>
              </a:rPr>
              <a:t>failover,</a:t>
            </a:r>
            <a:endParaRPr sz="2788" dirty="0">
              <a:latin typeface="Calibri"/>
              <a:cs typeface="Calibri"/>
            </a:endParaRPr>
          </a:p>
          <a:p>
            <a:pPr marL="332202" indent="-319836">
              <a:spcBef>
                <a:spcPts val="761"/>
              </a:spcBef>
              <a:buChar char="•"/>
              <a:tabLst>
                <a:tab pos="332202" algn="l"/>
              </a:tabLst>
            </a:pPr>
            <a:r>
              <a:rPr sz="2788" spc="-9" dirty="0">
                <a:latin typeface="Calibri"/>
                <a:cs typeface="Calibri"/>
              </a:rPr>
              <a:t>Performance</a:t>
            </a:r>
            <a:r>
              <a:rPr sz="2788" spc="266" dirty="0">
                <a:latin typeface="Calibri"/>
                <a:cs typeface="Calibri"/>
              </a:rPr>
              <a:t> </a:t>
            </a:r>
            <a:r>
              <a:rPr sz="2788" dirty="0">
                <a:latin typeface="Calibri"/>
                <a:cs typeface="Calibri"/>
              </a:rPr>
              <a:t>-</a:t>
            </a:r>
            <a:r>
              <a:rPr sz="2788" spc="-35" dirty="0">
                <a:latin typeface="Calibri"/>
                <a:cs typeface="Calibri"/>
              </a:rPr>
              <a:t> </a:t>
            </a:r>
            <a:r>
              <a:rPr sz="2788" dirty="0">
                <a:latin typeface="Calibri"/>
                <a:cs typeface="Calibri"/>
              </a:rPr>
              <a:t>responsiveness</a:t>
            </a:r>
            <a:r>
              <a:rPr sz="2788" spc="-101" dirty="0">
                <a:latin typeface="Calibri"/>
                <a:cs typeface="Calibri"/>
              </a:rPr>
              <a:t> </a:t>
            </a:r>
            <a:r>
              <a:rPr sz="2788" dirty="0">
                <a:latin typeface="Calibri"/>
                <a:cs typeface="Calibri"/>
              </a:rPr>
              <a:t>of</a:t>
            </a:r>
            <a:r>
              <a:rPr sz="2788" spc="22" dirty="0">
                <a:latin typeface="Calibri"/>
                <a:cs typeface="Calibri"/>
              </a:rPr>
              <a:t> </a:t>
            </a:r>
            <a:r>
              <a:rPr sz="2788" dirty="0">
                <a:latin typeface="Calibri"/>
                <a:cs typeface="Calibri"/>
              </a:rPr>
              <a:t>the</a:t>
            </a:r>
            <a:r>
              <a:rPr sz="2788" spc="35" dirty="0">
                <a:latin typeface="Calibri"/>
                <a:cs typeface="Calibri"/>
              </a:rPr>
              <a:t> </a:t>
            </a:r>
            <a:r>
              <a:rPr sz="2788" spc="-9" dirty="0">
                <a:latin typeface="Calibri"/>
                <a:cs typeface="Calibri"/>
              </a:rPr>
              <a:t>system,</a:t>
            </a:r>
            <a:endParaRPr sz="2788" dirty="0">
              <a:latin typeface="Calibri"/>
              <a:cs typeface="Calibri"/>
            </a:endParaRPr>
          </a:p>
          <a:p>
            <a:pPr marL="331078" indent="-318712">
              <a:spcBef>
                <a:spcPts val="735"/>
              </a:spcBef>
              <a:buChar char="•"/>
              <a:tabLst>
                <a:tab pos="331078" algn="l"/>
              </a:tabLst>
            </a:pPr>
            <a:r>
              <a:rPr sz="2788" dirty="0">
                <a:latin typeface="Calibri"/>
                <a:cs typeface="Calibri"/>
              </a:rPr>
              <a:t>Availability</a:t>
            </a:r>
            <a:r>
              <a:rPr sz="2788" spc="137" dirty="0">
                <a:latin typeface="Calibri"/>
                <a:cs typeface="Calibri"/>
              </a:rPr>
              <a:t> </a:t>
            </a:r>
            <a:r>
              <a:rPr sz="2788" dirty="0">
                <a:latin typeface="Calibri"/>
                <a:cs typeface="Calibri"/>
              </a:rPr>
              <a:t>-</a:t>
            </a:r>
            <a:r>
              <a:rPr sz="2788" spc="-106" dirty="0">
                <a:latin typeface="Calibri"/>
                <a:cs typeface="Calibri"/>
              </a:rPr>
              <a:t> </a:t>
            </a:r>
            <a:r>
              <a:rPr sz="2788" dirty="0">
                <a:latin typeface="Calibri"/>
                <a:cs typeface="Calibri"/>
              </a:rPr>
              <a:t>up/down,</a:t>
            </a:r>
            <a:r>
              <a:rPr sz="2788" spc="101" dirty="0">
                <a:latin typeface="Calibri"/>
                <a:cs typeface="Calibri"/>
              </a:rPr>
              <a:t> </a:t>
            </a:r>
            <a:r>
              <a:rPr sz="2788" spc="-9" dirty="0">
                <a:latin typeface="Calibri"/>
                <a:cs typeface="Calibri"/>
              </a:rPr>
              <a:t>notification,</a:t>
            </a:r>
            <a:endParaRPr sz="2788" dirty="0">
              <a:latin typeface="Calibri"/>
              <a:cs typeface="Calibri"/>
            </a:endParaRPr>
          </a:p>
          <a:p>
            <a:pPr marL="327143" marR="4497" indent="-316463">
              <a:lnSpc>
                <a:spcPts val="3408"/>
              </a:lnSpc>
              <a:spcBef>
                <a:spcPts val="775"/>
              </a:spcBef>
              <a:buChar char="•"/>
              <a:tabLst>
                <a:tab pos="328830" algn="l"/>
              </a:tabLst>
            </a:pPr>
            <a:r>
              <a:rPr sz="2921" spc="-35" dirty="0">
                <a:latin typeface="Calibri"/>
                <a:cs typeface="Calibri"/>
              </a:rPr>
              <a:t>Scalability</a:t>
            </a:r>
            <a:r>
              <a:rPr sz="2921" spc="-53" dirty="0">
                <a:latin typeface="Calibri"/>
                <a:cs typeface="Calibri"/>
              </a:rPr>
              <a:t> </a:t>
            </a:r>
            <a:r>
              <a:rPr sz="2921" dirty="0">
                <a:latin typeface="Calibri"/>
                <a:cs typeface="Calibri"/>
              </a:rPr>
              <a:t>-</a:t>
            </a:r>
            <a:r>
              <a:rPr sz="2921" spc="-164" dirty="0">
                <a:latin typeface="Calibri"/>
                <a:cs typeface="Calibri"/>
              </a:rPr>
              <a:t> </a:t>
            </a:r>
            <a:r>
              <a:rPr sz="2921" spc="-44" dirty="0">
                <a:latin typeface="Calibri"/>
                <a:cs typeface="Calibri"/>
              </a:rPr>
              <a:t>more</a:t>
            </a:r>
            <a:r>
              <a:rPr sz="2921" spc="-75" dirty="0">
                <a:latin typeface="Calibri"/>
                <a:cs typeface="Calibri"/>
              </a:rPr>
              <a:t> </a:t>
            </a:r>
            <a:r>
              <a:rPr sz="2921" spc="-58" dirty="0">
                <a:latin typeface="Calibri"/>
                <a:cs typeface="Calibri"/>
              </a:rPr>
              <a:t>data/users</a:t>
            </a:r>
            <a:r>
              <a:rPr sz="2921" spc="-9" dirty="0">
                <a:latin typeface="Calibri"/>
                <a:cs typeface="Calibri"/>
              </a:rPr>
              <a:t> </a:t>
            </a:r>
            <a:r>
              <a:rPr sz="2921" spc="-44" dirty="0">
                <a:latin typeface="Calibri"/>
                <a:cs typeface="Calibri"/>
              </a:rPr>
              <a:t>without</a:t>
            </a:r>
            <a:r>
              <a:rPr sz="2921" spc="4" dirty="0">
                <a:latin typeface="Calibri"/>
                <a:cs typeface="Calibri"/>
              </a:rPr>
              <a:t> </a:t>
            </a:r>
            <a:r>
              <a:rPr sz="2921" spc="-40" dirty="0">
                <a:latin typeface="Calibri"/>
                <a:cs typeface="Calibri"/>
              </a:rPr>
              <a:t>negative 	influence</a:t>
            </a:r>
            <a:r>
              <a:rPr sz="2921" spc="-44" dirty="0">
                <a:latin typeface="Calibri"/>
                <a:cs typeface="Calibri"/>
              </a:rPr>
              <a:t> </a:t>
            </a:r>
            <a:r>
              <a:rPr sz="2921" dirty="0">
                <a:latin typeface="Calibri"/>
                <a:cs typeface="Calibri"/>
              </a:rPr>
              <a:t>on</a:t>
            </a:r>
            <a:r>
              <a:rPr sz="2921" spc="-137" dirty="0">
                <a:latin typeface="Calibri"/>
                <a:cs typeface="Calibri"/>
              </a:rPr>
              <a:t> </a:t>
            </a:r>
            <a:r>
              <a:rPr sz="2921" dirty="0">
                <a:latin typeface="Calibri"/>
                <a:cs typeface="Calibri"/>
              </a:rPr>
              <a:t>its</a:t>
            </a:r>
            <a:r>
              <a:rPr sz="2921" spc="-133" dirty="0">
                <a:latin typeface="Calibri"/>
                <a:cs typeface="Calibri"/>
              </a:rPr>
              <a:t> </a:t>
            </a:r>
            <a:r>
              <a:rPr sz="2921" spc="-9" dirty="0">
                <a:latin typeface="Calibri"/>
                <a:cs typeface="Calibri"/>
              </a:rPr>
              <a:t>performance</a:t>
            </a:r>
            <a:endParaRPr sz="2921" dirty="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849" y="55937"/>
            <a:ext cx="6455071" cy="1214115"/>
          </a:xfrm>
          <a:prstGeom prst="rect">
            <a:avLst/>
          </a:prstGeom>
        </p:spPr>
        <p:txBody>
          <a:bodyPr vert="horz" wrap="square" lIns="0" tIns="15177" rIns="0" bIns="0" rtlCol="0" anchor="ctr">
            <a:spAutoFit/>
          </a:bodyPr>
          <a:lstStyle/>
          <a:p>
            <a:pPr marL="2215806" algn="l">
              <a:spcBef>
                <a:spcPts val="120"/>
              </a:spcBef>
            </a:pPr>
            <a:r>
              <a:rPr lang="en-US" spc="-115" dirty="0"/>
              <a:t>Summary of Requirements</a:t>
            </a:r>
            <a:endParaRPr spc="-115" dirty="0"/>
          </a:p>
        </p:txBody>
      </p:sp>
      <p:sp>
        <p:nvSpPr>
          <p:cNvPr id="3" name="object 3"/>
          <p:cNvSpPr txBox="1"/>
          <p:nvPr/>
        </p:nvSpPr>
        <p:spPr>
          <a:xfrm>
            <a:off x="465769" y="1370100"/>
            <a:ext cx="7052013" cy="4045259"/>
          </a:xfrm>
          <a:prstGeom prst="rect">
            <a:avLst/>
          </a:prstGeom>
        </p:spPr>
        <p:txBody>
          <a:bodyPr vert="horz" wrap="square" lIns="0" tIns="69137" rIns="0" bIns="0" rtlCol="0">
            <a:spAutoFit/>
          </a:bodyPr>
          <a:lstStyle/>
          <a:p>
            <a:pPr marL="326019" marR="92184" indent="-315339">
              <a:lnSpc>
                <a:spcPts val="2886"/>
              </a:lnSpc>
              <a:spcBef>
                <a:spcPts val="544"/>
              </a:spcBef>
              <a:buChar char="•"/>
              <a:tabLst>
                <a:tab pos="326019" algn="l"/>
                <a:tab pos="328830" algn="l"/>
              </a:tabLst>
            </a:pPr>
            <a:r>
              <a:rPr sz="2744" dirty="0">
                <a:latin typeface="Calibri"/>
                <a:cs typeface="Calibri"/>
              </a:rPr>
              <a:t>	All</a:t>
            </a:r>
            <a:r>
              <a:rPr sz="2744" spc="-150" dirty="0">
                <a:latin typeface="Calibri"/>
                <a:cs typeface="Calibri"/>
              </a:rPr>
              <a:t> </a:t>
            </a:r>
            <a:r>
              <a:rPr sz="2744" spc="-27" dirty="0">
                <a:latin typeface="Calibri"/>
                <a:cs typeface="Calibri"/>
              </a:rPr>
              <a:t>the</a:t>
            </a:r>
            <a:r>
              <a:rPr sz="2744" spc="-128" dirty="0">
                <a:latin typeface="Calibri"/>
                <a:cs typeface="Calibri"/>
              </a:rPr>
              <a:t> </a:t>
            </a:r>
            <a:r>
              <a:rPr sz="2744" spc="-53" dirty="0">
                <a:latin typeface="Calibri"/>
                <a:cs typeface="Calibri"/>
              </a:rPr>
              <a:t>software</a:t>
            </a:r>
            <a:r>
              <a:rPr sz="2744" spc="-66" dirty="0">
                <a:latin typeface="Calibri"/>
                <a:cs typeface="Calibri"/>
              </a:rPr>
              <a:t> </a:t>
            </a:r>
            <a:r>
              <a:rPr sz="2744" spc="-44" dirty="0">
                <a:latin typeface="Calibri"/>
                <a:cs typeface="Calibri"/>
              </a:rPr>
              <a:t>projects</a:t>
            </a:r>
            <a:r>
              <a:rPr sz="2744" spc="-80" dirty="0">
                <a:latin typeface="Calibri"/>
                <a:cs typeface="Calibri"/>
              </a:rPr>
              <a:t> </a:t>
            </a:r>
            <a:r>
              <a:rPr sz="2744" spc="-40" dirty="0">
                <a:latin typeface="Calibri"/>
                <a:cs typeface="Calibri"/>
              </a:rPr>
              <a:t>include</a:t>
            </a:r>
            <a:r>
              <a:rPr sz="2744" spc="-62" dirty="0">
                <a:latin typeface="Calibri"/>
                <a:cs typeface="Calibri"/>
              </a:rPr>
              <a:t> </a:t>
            </a:r>
            <a:r>
              <a:rPr sz="2744" spc="-18" dirty="0">
                <a:latin typeface="Calibri"/>
                <a:cs typeface="Calibri"/>
              </a:rPr>
              <a:t>the</a:t>
            </a:r>
            <a:r>
              <a:rPr sz="2744" spc="-137" dirty="0">
                <a:latin typeface="Calibri"/>
                <a:cs typeface="Calibri"/>
              </a:rPr>
              <a:t> </a:t>
            </a:r>
            <a:r>
              <a:rPr sz="2744" spc="-35" dirty="0">
                <a:latin typeface="Calibri"/>
                <a:cs typeface="Calibri"/>
              </a:rPr>
              <a:t>information that</a:t>
            </a:r>
            <a:r>
              <a:rPr sz="2744" spc="-120" dirty="0">
                <a:latin typeface="Calibri"/>
                <a:cs typeface="Calibri"/>
              </a:rPr>
              <a:t> </a:t>
            </a:r>
            <a:r>
              <a:rPr sz="2744" spc="-49" dirty="0">
                <a:latin typeface="Calibri"/>
                <a:cs typeface="Calibri"/>
              </a:rPr>
              <a:t>describe</a:t>
            </a:r>
            <a:r>
              <a:rPr sz="2744" spc="-58" dirty="0">
                <a:latin typeface="Calibri"/>
                <a:cs typeface="Calibri"/>
              </a:rPr>
              <a:t> </a:t>
            </a:r>
            <a:r>
              <a:rPr sz="2744" spc="-18" dirty="0">
                <a:latin typeface="Calibri"/>
                <a:cs typeface="Calibri"/>
              </a:rPr>
              <a:t>the</a:t>
            </a:r>
            <a:r>
              <a:rPr sz="2744" spc="-133" dirty="0">
                <a:latin typeface="Calibri"/>
                <a:cs typeface="Calibri"/>
              </a:rPr>
              <a:t> </a:t>
            </a:r>
            <a:r>
              <a:rPr sz="2744" spc="-49" dirty="0">
                <a:latin typeface="Calibri"/>
                <a:cs typeface="Calibri"/>
              </a:rPr>
              <a:t>product</a:t>
            </a:r>
            <a:r>
              <a:rPr sz="2744" spc="-80" dirty="0">
                <a:latin typeface="Calibri"/>
                <a:cs typeface="Calibri"/>
              </a:rPr>
              <a:t> </a:t>
            </a:r>
            <a:r>
              <a:rPr sz="2744" spc="-35" dirty="0">
                <a:latin typeface="Calibri"/>
                <a:cs typeface="Calibri"/>
              </a:rPr>
              <a:t>and</a:t>
            </a:r>
            <a:r>
              <a:rPr sz="2744" spc="-120" dirty="0">
                <a:latin typeface="Calibri"/>
                <a:cs typeface="Calibri"/>
              </a:rPr>
              <a:t> </a:t>
            </a:r>
            <a:r>
              <a:rPr sz="2744" spc="-40" dirty="0">
                <a:latin typeface="Calibri"/>
                <a:cs typeface="Calibri"/>
              </a:rPr>
              <a:t>project</a:t>
            </a:r>
            <a:r>
              <a:rPr sz="2744" spc="-75" dirty="0">
                <a:latin typeface="Calibri"/>
                <a:cs typeface="Calibri"/>
              </a:rPr>
              <a:t> </a:t>
            </a:r>
            <a:r>
              <a:rPr sz="2744" spc="-9" dirty="0">
                <a:latin typeface="Calibri"/>
                <a:cs typeface="Calibri"/>
              </a:rPr>
              <a:t>goals.</a:t>
            </a:r>
            <a:endParaRPr sz="2744">
              <a:latin typeface="Calibri"/>
              <a:cs typeface="Calibri"/>
            </a:endParaRPr>
          </a:p>
          <a:p>
            <a:pPr marL="324333" marR="6745" indent="-313653">
              <a:lnSpc>
                <a:spcPts val="2858"/>
              </a:lnSpc>
              <a:spcBef>
                <a:spcPts val="651"/>
              </a:spcBef>
              <a:buChar char="•"/>
              <a:tabLst>
                <a:tab pos="329392" algn="l"/>
              </a:tabLst>
            </a:pPr>
            <a:r>
              <a:rPr sz="2744" spc="-84" dirty="0">
                <a:latin typeface="Calibri"/>
                <a:cs typeface="Calibri"/>
              </a:rPr>
              <a:t>High-</a:t>
            </a:r>
            <a:r>
              <a:rPr sz="2744" spc="-31" dirty="0">
                <a:latin typeface="Calibri"/>
                <a:cs typeface="Calibri"/>
              </a:rPr>
              <a:t>quality</a:t>
            </a:r>
            <a:r>
              <a:rPr sz="2744" spc="31" dirty="0">
                <a:latin typeface="Calibri"/>
                <a:cs typeface="Calibri"/>
              </a:rPr>
              <a:t> </a:t>
            </a:r>
            <a:r>
              <a:rPr sz="2744" spc="-44" dirty="0">
                <a:latin typeface="Calibri"/>
                <a:cs typeface="Calibri"/>
              </a:rPr>
              <a:t>SRS</a:t>
            </a:r>
            <a:r>
              <a:rPr sz="2744" spc="-111" dirty="0">
                <a:latin typeface="Calibri"/>
                <a:cs typeface="Calibri"/>
              </a:rPr>
              <a:t> </a:t>
            </a:r>
            <a:r>
              <a:rPr sz="2744" spc="-18" dirty="0">
                <a:latin typeface="Calibri"/>
                <a:cs typeface="Calibri"/>
              </a:rPr>
              <a:t>will</a:t>
            </a:r>
            <a:r>
              <a:rPr sz="2744" spc="-128" dirty="0">
                <a:latin typeface="Calibri"/>
                <a:cs typeface="Calibri"/>
              </a:rPr>
              <a:t> </a:t>
            </a:r>
            <a:r>
              <a:rPr sz="2744" spc="-53" dirty="0">
                <a:latin typeface="Calibri"/>
                <a:cs typeface="Calibri"/>
              </a:rPr>
              <a:t>facilitate</a:t>
            </a:r>
            <a:r>
              <a:rPr sz="2744" spc="-58" dirty="0">
                <a:latin typeface="Calibri"/>
                <a:cs typeface="Calibri"/>
              </a:rPr>
              <a:t> </a:t>
            </a:r>
            <a:r>
              <a:rPr sz="2744" spc="-18" dirty="0">
                <a:latin typeface="Calibri"/>
                <a:cs typeface="Calibri"/>
              </a:rPr>
              <a:t>the</a:t>
            </a:r>
            <a:r>
              <a:rPr sz="2744" spc="-106" dirty="0">
                <a:latin typeface="Calibri"/>
                <a:cs typeface="Calibri"/>
              </a:rPr>
              <a:t> </a:t>
            </a:r>
            <a:r>
              <a:rPr sz="2744" spc="-58" dirty="0">
                <a:latin typeface="Calibri"/>
                <a:cs typeface="Calibri"/>
              </a:rPr>
              <a:t>optimization</a:t>
            </a:r>
            <a:r>
              <a:rPr sz="2744" spc="4" dirty="0">
                <a:latin typeface="Calibri"/>
                <a:cs typeface="Calibri"/>
              </a:rPr>
              <a:t> </a:t>
            </a:r>
            <a:r>
              <a:rPr sz="2744" spc="-22" dirty="0">
                <a:latin typeface="Calibri"/>
                <a:cs typeface="Calibri"/>
              </a:rPr>
              <a:t>of 	</a:t>
            </a:r>
            <a:r>
              <a:rPr sz="2744" spc="-18" dirty="0">
                <a:latin typeface="Calibri"/>
                <a:cs typeface="Calibri"/>
              </a:rPr>
              <a:t>the</a:t>
            </a:r>
            <a:r>
              <a:rPr sz="2744" spc="-124" dirty="0">
                <a:latin typeface="Calibri"/>
                <a:cs typeface="Calibri"/>
              </a:rPr>
              <a:t> </a:t>
            </a:r>
            <a:r>
              <a:rPr sz="2744" spc="-66" dirty="0">
                <a:latin typeface="Calibri"/>
                <a:cs typeface="Calibri"/>
              </a:rPr>
              <a:t>development</a:t>
            </a:r>
            <a:r>
              <a:rPr sz="2744" spc="4" dirty="0">
                <a:latin typeface="Calibri"/>
                <a:cs typeface="Calibri"/>
              </a:rPr>
              <a:t> </a:t>
            </a:r>
            <a:r>
              <a:rPr sz="2744" spc="-9" dirty="0">
                <a:latin typeface="Calibri"/>
                <a:cs typeface="Calibri"/>
              </a:rPr>
              <a:t>process.</a:t>
            </a:r>
            <a:endParaRPr sz="2744">
              <a:latin typeface="Calibri"/>
              <a:cs typeface="Calibri"/>
            </a:endParaRPr>
          </a:p>
          <a:p>
            <a:pPr marL="326019" marR="4497" indent="-315339">
              <a:lnSpc>
                <a:spcPts val="2858"/>
              </a:lnSpc>
              <a:spcBef>
                <a:spcPts val="628"/>
              </a:spcBef>
              <a:buChar char="•"/>
              <a:tabLst>
                <a:tab pos="327705" algn="l"/>
                <a:tab pos="3422639" algn="l"/>
              </a:tabLst>
            </a:pPr>
            <a:r>
              <a:rPr sz="2744" spc="-53" dirty="0">
                <a:latin typeface="Calibri"/>
                <a:cs typeface="Calibri"/>
              </a:rPr>
              <a:t>Software</a:t>
            </a:r>
            <a:r>
              <a:rPr sz="2744" spc="-89" dirty="0">
                <a:latin typeface="Calibri"/>
                <a:cs typeface="Calibri"/>
              </a:rPr>
              <a:t> </a:t>
            </a:r>
            <a:r>
              <a:rPr sz="2744" spc="-9" dirty="0">
                <a:latin typeface="Calibri"/>
                <a:cs typeface="Calibri"/>
              </a:rPr>
              <a:t>requirement</a:t>
            </a:r>
            <a:r>
              <a:rPr sz="2744" dirty="0">
                <a:latin typeface="Calibri"/>
                <a:cs typeface="Calibri"/>
              </a:rPr>
              <a:t>	</a:t>
            </a:r>
            <a:r>
              <a:rPr sz="2744" spc="-49" dirty="0">
                <a:latin typeface="Calibri"/>
                <a:cs typeface="Calibri"/>
              </a:rPr>
              <a:t>specifications</a:t>
            </a:r>
            <a:r>
              <a:rPr sz="2744" spc="-106" dirty="0">
                <a:latin typeface="Calibri"/>
                <a:cs typeface="Calibri"/>
              </a:rPr>
              <a:t> </a:t>
            </a:r>
            <a:r>
              <a:rPr sz="2744" spc="-49" dirty="0">
                <a:latin typeface="Calibri"/>
                <a:cs typeface="Calibri"/>
              </a:rPr>
              <a:t>answer</a:t>
            </a:r>
            <a:r>
              <a:rPr sz="2744" spc="-66" dirty="0">
                <a:latin typeface="Calibri"/>
                <a:cs typeface="Calibri"/>
              </a:rPr>
              <a:t> </a:t>
            </a:r>
            <a:r>
              <a:rPr sz="2744" spc="-22" dirty="0">
                <a:latin typeface="Calibri"/>
                <a:cs typeface="Calibri"/>
              </a:rPr>
              <a:t>all 	</a:t>
            </a:r>
            <a:r>
              <a:rPr sz="2744" spc="-53" dirty="0">
                <a:latin typeface="Calibri"/>
                <a:cs typeface="Calibri"/>
              </a:rPr>
              <a:t>developer's</a:t>
            </a:r>
            <a:r>
              <a:rPr sz="2744" dirty="0">
                <a:latin typeface="Calibri"/>
                <a:cs typeface="Calibri"/>
              </a:rPr>
              <a:t> </a:t>
            </a:r>
            <a:r>
              <a:rPr sz="2744" spc="-53" dirty="0">
                <a:latin typeface="Calibri"/>
                <a:cs typeface="Calibri"/>
              </a:rPr>
              <a:t>questions</a:t>
            </a:r>
            <a:r>
              <a:rPr sz="2744" spc="-40" dirty="0">
                <a:latin typeface="Calibri"/>
                <a:cs typeface="Calibri"/>
              </a:rPr>
              <a:t> </a:t>
            </a:r>
            <a:r>
              <a:rPr sz="2744" spc="-35" dirty="0">
                <a:latin typeface="Calibri"/>
                <a:cs typeface="Calibri"/>
              </a:rPr>
              <a:t>about</a:t>
            </a:r>
            <a:r>
              <a:rPr sz="2744" spc="-62" dirty="0">
                <a:latin typeface="Calibri"/>
                <a:cs typeface="Calibri"/>
              </a:rPr>
              <a:t> </a:t>
            </a:r>
            <a:r>
              <a:rPr sz="2744" spc="-18" dirty="0">
                <a:latin typeface="Calibri"/>
                <a:cs typeface="Calibri"/>
              </a:rPr>
              <a:t>the</a:t>
            </a:r>
            <a:r>
              <a:rPr sz="2744" spc="-137" dirty="0">
                <a:latin typeface="Calibri"/>
                <a:cs typeface="Calibri"/>
              </a:rPr>
              <a:t> </a:t>
            </a:r>
            <a:r>
              <a:rPr sz="2744" spc="-49" dirty="0">
                <a:latin typeface="Calibri"/>
                <a:cs typeface="Calibri"/>
              </a:rPr>
              <a:t>product</a:t>
            </a:r>
            <a:r>
              <a:rPr sz="2744" spc="-80" dirty="0">
                <a:latin typeface="Calibri"/>
                <a:cs typeface="Calibri"/>
              </a:rPr>
              <a:t> </a:t>
            </a:r>
            <a:r>
              <a:rPr sz="2744" spc="-35" dirty="0">
                <a:latin typeface="Calibri"/>
                <a:cs typeface="Calibri"/>
              </a:rPr>
              <a:t>that</a:t>
            </a:r>
            <a:r>
              <a:rPr sz="2744" spc="-120" dirty="0">
                <a:latin typeface="Calibri"/>
                <a:cs typeface="Calibri"/>
              </a:rPr>
              <a:t> </a:t>
            </a:r>
            <a:r>
              <a:rPr sz="2744" spc="-22" dirty="0">
                <a:latin typeface="Calibri"/>
                <a:cs typeface="Calibri"/>
              </a:rPr>
              <a:t>are 	</a:t>
            </a:r>
            <a:r>
              <a:rPr sz="2744" spc="-40" dirty="0">
                <a:latin typeface="Calibri"/>
                <a:cs typeface="Calibri"/>
              </a:rPr>
              <a:t>required</a:t>
            </a:r>
            <a:r>
              <a:rPr sz="2744" spc="-80" dirty="0">
                <a:latin typeface="Calibri"/>
                <a:cs typeface="Calibri"/>
              </a:rPr>
              <a:t> </a:t>
            </a:r>
            <a:r>
              <a:rPr sz="2744" dirty="0">
                <a:latin typeface="Calibri"/>
                <a:cs typeface="Calibri"/>
              </a:rPr>
              <a:t>to</a:t>
            </a:r>
            <a:r>
              <a:rPr sz="2744" spc="-155" dirty="0">
                <a:latin typeface="Calibri"/>
                <a:cs typeface="Calibri"/>
              </a:rPr>
              <a:t> </a:t>
            </a:r>
            <a:r>
              <a:rPr sz="2744" spc="-40" dirty="0">
                <a:latin typeface="Calibri"/>
                <a:cs typeface="Calibri"/>
              </a:rPr>
              <a:t>start</a:t>
            </a:r>
            <a:r>
              <a:rPr sz="2744" spc="-80" dirty="0">
                <a:latin typeface="Calibri"/>
                <a:cs typeface="Calibri"/>
              </a:rPr>
              <a:t> </a:t>
            </a:r>
            <a:r>
              <a:rPr sz="2744" spc="-18" dirty="0">
                <a:latin typeface="Calibri"/>
                <a:cs typeface="Calibri"/>
              </a:rPr>
              <a:t>the</a:t>
            </a:r>
            <a:r>
              <a:rPr sz="2744" spc="-115" dirty="0">
                <a:latin typeface="Calibri"/>
                <a:cs typeface="Calibri"/>
              </a:rPr>
              <a:t> </a:t>
            </a:r>
            <a:r>
              <a:rPr sz="2744" spc="-9" dirty="0">
                <a:latin typeface="Calibri"/>
                <a:cs typeface="Calibri"/>
              </a:rPr>
              <a:t>work.</a:t>
            </a:r>
            <a:endParaRPr sz="2744">
              <a:latin typeface="Calibri"/>
              <a:cs typeface="Calibri"/>
            </a:endParaRPr>
          </a:p>
          <a:p>
            <a:pPr marL="328830" marR="333326" indent="-318150" algn="just">
              <a:lnSpc>
                <a:spcPts val="2858"/>
              </a:lnSpc>
              <a:spcBef>
                <a:spcPts val="682"/>
              </a:spcBef>
              <a:buChar char="•"/>
              <a:tabLst>
                <a:tab pos="328830" algn="l"/>
              </a:tabLst>
            </a:pPr>
            <a:r>
              <a:rPr sz="2744" spc="-40" dirty="0">
                <a:latin typeface="Calibri"/>
                <a:cs typeface="Calibri"/>
              </a:rPr>
              <a:t>The</a:t>
            </a:r>
            <a:r>
              <a:rPr sz="2744" spc="-115" dirty="0">
                <a:latin typeface="Calibri"/>
                <a:cs typeface="Calibri"/>
              </a:rPr>
              <a:t> </a:t>
            </a:r>
            <a:r>
              <a:rPr sz="2744" spc="-40" dirty="0">
                <a:latin typeface="Calibri"/>
                <a:cs typeface="Calibri"/>
              </a:rPr>
              <a:t>functional</a:t>
            </a:r>
            <a:r>
              <a:rPr sz="2744" spc="-84" dirty="0">
                <a:latin typeface="Calibri"/>
                <a:cs typeface="Calibri"/>
              </a:rPr>
              <a:t> </a:t>
            </a:r>
            <a:r>
              <a:rPr sz="2744" spc="-49" dirty="0">
                <a:latin typeface="Calibri"/>
                <a:cs typeface="Calibri"/>
              </a:rPr>
              <a:t>specification</a:t>
            </a:r>
            <a:r>
              <a:rPr sz="2744" spc="-13" dirty="0">
                <a:latin typeface="Calibri"/>
                <a:cs typeface="Calibri"/>
              </a:rPr>
              <a:t> </a:t>
            </a:r>
            <a:r>
              <a:rPr sz="2744" dirty="0">
                <a:latin typeface="Calibri"/>
                <a:cs typeface="Calibri"/>
              </a:rPr>
              <a:t>is</a:t>
            </a:r>
            <a:r>
              <a:rPr sz="2744" spc="-155" dirty="0">
                <a:latin typeface="Calibri"/>
                <a:cs typeface="Calibri"/>
              </a:rPr>
              <a:t> </a:t>
            </a:r>
            <a:r>
              <a:rPr sz="2744" spc="-58" dirty="0">
                <a:latin typeface="Calibri"/>
                <a:cs typeface="Calibri"/>
              </a:rPr>
              <a:t>approved</a:t>
            </a:r>
            <a:r>
              <a:rPr sz="2744" spc="-89" dirty="0">
                <a:latin typeface="Calibri"/>
                <a:cs typeface="Calibri"/>
              </a:rPr>
              <a:t> </a:t>
            </a:r>
            <a:r>
              <a:rPr sz="2744" dirty="0">
                <a:latin typeface="Calibri"/>
                <a:cs typeface="Calibri"/>
              </a:rPr>
              <a:t>by</a:t>
            </a:r>
            <a:r>
              <a:rPr sz="2744" spc="-146" dirty="0">
                <a:latin typeface="Calibri"/>
                <a:cs typeface="Calibri"/>
              </a:rPr>
              <a:t> </a:t>
            </a:r>
            <a:r>
              <a:rPr sz="2744" spc="-22" dirty="0">
                <a:latin typeface="Calibri"/>
                <a:cs typeface="Calibri"/>
              </a:rPr>
              <a:t>the </a:t>
            </a:r>
            <a:r>
              <a:rPr sz="2700" spc="-18" dirty="0">
                <a:latin typeface="Calibri"/>
                <a:cs typeface="Calibri"/>
              </a:rPr>
              <a:t>client</a:t>
            </a:r>
            <a:r>
              <a:rPr sz="2700" spc="-120" dirty="0">
                <a:latin typeface="Calibri"/>
                <a:cs typeface="Calibri"/>
              </a:rPr>
              <a:t> </a:t>
            </a:r>
            <a:r>
              <a:rPr sz="2700" dirty="0">
                <a:latin typeface="Calibri"/>
                <a:cs typeface="Calibri"/>
              </a:rPr>
              <a:t>and</a:t>
            </a:r>
            <a:r>
              <a:rPr sz="2700" spc="-150" dirty="0">
                <a:latin typeface="Calibri"/>
                <a:cs typeface="Calibri"/>
              </a:rPr>
              <a:t> </a:t>
            </a:r>
            <a:r>
              <a:rPr sz="2700" spc="-9" dirty="0">
                <a:latin typeface="Calibri"/>
                <a:cs typeface="Calibri"/>
              </a:rPr>
              <a:t>ensures</a:t>
            </a:r>
            <a:r>
              <a:rPr sz="2700" spc="-93" dirty="0">
                <a:latin typeface="Calibri"/>
                <a:cs typeface="Calibri"/>
              </a:rPr>
              <a:t> </a:t>
            </a:r>
            <a:r>
              <a:rPr sz="2700" spc="-9" dirty="0">
                <a:latin typeface="Calibri"/>
                <a:cs typeface="Calibri"/>
              </a:rPr>
              <a:t>that</a:t>
            </a:r>
            <a:r>
              <a:rPr sz="2700" spc="-128" dirty="0">
                <a:latin typeface="Calibri"/>
                <a:cs typeface="Calibri"/>
              </a:rPr>
              <a:t> </a:t>
            </a:r>
            <a:r>
              <a:rPr sz="2700" spc="-35" dirty="0">
                <a:latin typeface="Calibri"/>
                <a:cs typeface="Calibri"/>
              </a:rPr>
              <a:t>developers</a:t>
            </a:r>
            <a:r>
              <a:rPr sz="2700" spc="-44" dirty="0">
                <a:latin typeface="Calibri"/>
                <a:cs typeface="Calibri"/>
              </a:rPr>
              <a:t> </a:t>
            </a:r>
            <a:r>
              <a:rPr sz="2700" dirty="0">
                <a:latin typeface="Calibri"/>
                <a:cs typeface="Calibri"/>
              </a:rPr>
              <a:t>are</a:t>
            </a:r>
            <a:r>
              <a:rPr sz="2700" spc="-142" dirty="0">
                <a:latin typeface="Calibri"/>
                <a:cs typeface="Calibri"/>
              </a:rPr>
              <a:t> </a:t>
            </a:r>
            <a:r>
              <a:rPr sz="2700" spc="-9" dirty="0">
                <a:latin typeface="Calibri"/>
                <a:cs typeface="Calibri"/>
              </a:rPr>
              <a:t>building </a:t>
            </a:r>
            <a:r>
              <a:rPr sz="2744" spc="-53" dirty="0">
                <a:latin typeface="Calibri"/>
                <a:cs typeface="Calibri"/>
              </a:rPr>
              <a:t>what</a:t>
            </a:r>
            <a:r>
              <a:rPr sz="2744" spc="-101" dirty="0">
                <a:latin typeface="Calibri"/>
                <a:cs typeface="Calibri"/>
              </a:rPr>
              <a:t> </a:t>
            </a:r>
            <a:r>
              <a:rPr sz="2744" spc="-18" dirty="0">
                <a:latin typeface="Calibri"/>
                <a:cs typeface="Calibri"/>
              </a:rPr>
              <a:t>the</a:t>
            </a:r>
            <a:r>
              <a:rPr sz="2744" spc="-137" dirty="0">
                <a:latin typeface="Calibri"/>
                <a:cs typeface="Calibri"/>
              </a:rPr>
              <a:t> </a:t>
            </a:r>
            <a:r>
              <a:rPr sz="2744" spc="-58" dirty="0">
                <a:latin typeface="Calibri"/>
                <a:cs typeface="Calibri"/>
              </a:rPr>
              <a:t>customer</a:t>
            </a:r>
            <a:r>
              <a:rPr sz="2744" spc="-44" dirty="0">
                <a:latin typeface="Calibri"/>
                <a:cs typeface="Calibri"/>
              </a:rPr>
              <a:t> </a:t>
            </a:r>
            <a:r>
              <a:rPr sz="2744" spc="-9" dirty="0">
                <a:latin typeface="Calibri"/>
                <a:cs typeface="Calibri"/>
              </a:rPr>
              <a:t>wants.</a:t>
            </a:r>
            <a:endParaRPr sz="2744">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A983-A04E-9CDC-80BC-CF48663AF690}"/>
              </a:ext>
            </a:extLst>
          </p:cNvPr>
          <p:cNvSpPr>
            <a:spLocks noGrp="1"/>
          </p:cNvSpPr>
          <p:nvPr>
            <p:ph type="title"/>
          </p:nvPr>
        </p:nvSpPr>
        <p:spPr/>
        <p:txBody>
          <a:bodyPr/>
          <a:lstStyle/>
          <a:p>
            <a:r>
              <a:rPr lang="en-US" dirty="0"/>
              <a:t>INTERFACE SPECIFICATION</a:t>
            </a:r>
            <a:endParaRPr lang="en-IN" dirty="0"/>
          </a:p>
        </p:txBody>
      </p:sp>
      <p:sp>
        <p:nvSpPr>
          <p:cNvPr id="3" name="Content Placeholder 2">
            <a:extLst>
              <a:ext uri="{FF2B5EF4-FFF2-40B4-BE49-F238E27FC236}">
                <a16:creationId xmlns:a16="http://schemas.microsoft.com/office/drawing/2014/main" id="{5DD77223-EB22-FFB4-2B79-975C1B0D95D3}"/>
              </a:ext>
            </a:extLst>
          </p:cNvPr>
          <p:cNvSpPr>
            <a:spLocks noGrp="1"/>
          </p:cNvSpPr>
          <p:nvPr>
            <p:ph idx="1"/>
          </p:nvPr>
        </p:nvSpPr>
        <p:spPr/>
        <p:txBody>
          <a:bodyPr/>
          <a:lstStyle/>
          <a:p>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software engineering, an interface specification is a document that describes how different parts of a software system should communicate with each other. It's a contract that ensures that the various parts of a software system work together seamlessly. </a:t>
            </a:r>
          </a:p>
          <a:p>
            <a:endParaRPr lang="en-IN" dirty="0"/>
          </a:p>
        </p:txBody>
      </p:sp>
    </p:spTree>
    <p:extLst>
      <p:ext uri="{BB962C8B-B14F-4D97-AF65-F5344CB8AC3E}">
        <p14:creationId xmlns:p14="http://schemas.microsoft.com/office/powerpoint/2010/main" val="3898731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56660-639A-5361-3382-6C06C7E4CC42}"/>
              </a:ext>
            </a:extLst>
          </p:cNvPr>
          <p:cNvSpPr>
            <a:spLocks noGrp="1"/>
          </p:cNvSpPr>
          <p:nvPr>
            <p:ph type="title"/>
          </p:nvPr>
        </p:nvSpPr>
        <p:spPr/>
        <p:txBody>
          <a:bodyPr>
            <a:normAutofit fontScale="90000"/>
          </a:bodyPr>
          <a:lstStyle/>
          <a:p>
            <a:r>
              <a:rPr lang="en-US" dirty="0"/>
              <a:t>INTERFACE SPECIFICATION TEMPLATE</a:t>
            </a:r>
            <a:endParaRPr lang="en-IN" dirty="0"/>
          </a:p>
        </p:txBody>
      </p:sp>
      <p:sp>
        <p:nvSpPr>
          <p:cNvPr id="3" name="Content Placeholder 2">
            <a:extLst>
              <a:ext uri="{FF2B5EF4-FFF2-40B4-BE49-F238E27FC236}">
                <a16:creationId xmlns:a16="http://schemas.microsoft.com/office/drawing/2014/main" id="{527C4357-60A8-3FC4-FC08-8D493ECA874A}"/>
              </a:ext>
            </a:extLst>
          </p:cNvPr>
          <p:cNvSpPr>
            <a:spLocks noGrp="1"/>
          </p:cNvSpPr>
          <p:nvPr>
            <p:ph idx="1"/>
          </p:nvPr>
        </p:nvSpPr>
        <p:spPr/>
        <p:txBody>
          <a:bodyPr>
            <a:normAutofit fontScale="55000" lnSpcReduction="20000"/>
          </a:bodyPr>
          <a:lstStyle/>
          <a:p>
            <a:pPr marL="0" indent="0">
              <a:lnSpc>
                <a:spcPct val="107000"/>
              </a:lnSpc>
              <a:spcBef>
                <a:spcPts val="1800"/>
              </a:spcBef>
              <a:spcAft>
                <a:spcPts val="400"/>
              </a:spcAft>
              <a:buNone/>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1.. Introduction</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1.1Document Purpose</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1.2Product Overview</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1.3Operating Environment</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1.4 References</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1.5Assumptions</a:t>
            </a:r>
          </a:p>
          <a:p>
            <a:pPr marL="0" indent="0">
              <a:lnSpc>
                <a:spcPct val="107000"/>
              </a:lnSpc>
              <a:spcBef>
                <a:spcPts val="1800"/>
              </a:spcBef>
              <a:spcAft>
                <a:spcPts val="400"/>
              </a:spcAft>
              <a:buNone/>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2.Interface Diagrams</a:t>
            </a:r>
          </a:p>
          <a:p>
            <a:pPr>
              <a:lnSpc>
                <a:spcPct val="107000"/>
              </a:lnSpc>
              <a:spcBef>
                <a:spcPts val="1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3.Data Interfaces</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Interface ID 1</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Overview</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Data Types</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Interface File Formats</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Communication Protocol</a:t>
            </a:r>
          </a:p>
          <a:p>
            <a:pPr marL="0" indent="0">
              <a:buNone/>
            </a:pPr>
            <a:endParaRPr lang="en-IN" dirty="0"/>
          </a:p>
        </p:txBody>
      </p:sp>
    </p:spTree>
    <p:extLst>
      <p:ext uri="{BB962C8B-B14F-4D97-AF65-F5344CB8AC3E}">
        <p14:creationId xmlns:p14="http://schemas.microsoft.com/office/powerpoint/2010/main" val="694504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E090F-65C9-F1B8-3D5B-F67A3B505272}"/>
              </a:ext>
            </a:extLst>
          </p:cNvPr>
          <p:cNvSpPr>
            <a:spLocks noGrp="1"/>
          </p:cNvSpPr>
          <p:nvPr>
            <p:ph type="title"/>
          </p:nvPr>
        </p:nvSpPr>
        <p:spPr/>
        <p:txBody>
          <a:bodyPr>
            <a:normAutofit fontScale="90000"/>
          </a:bodyPr>
          <a:lstStyle/>
          <a:p>
            <a:r>
              <a:rPr lang="en-US" dirty="0"/>
              <a:t>INTERFACE SPECIFICATION TEMPLATE</a:t>
            </a:r>
            <a:endParaRPr lang="en-IN" dirty="0"/>
          </a:p>
        </p:txBody>
      </p:sp>
      <p:sp>
        <p:nvSpPr>
          <p:cNvPr id="3" name="Content Placeholder 2">
            <a:extLst>
              <a:ext uri="{FF2B5EF4-FFF2-40B4-BE49-F238E27FC236}">
                <a16:creationId xmlns:a16="http://schemas.microsoft.com/office/drawing/2014/main" id="{52526A25-D1CD-FAD5-86DA-7F8762F6EC59}"/>
              </a:ext>
            </a:extLst>
          </p:cNvPr>
          <p:cNvSpPr>
            <a:spLocks noGrp="1"/>
          </p:cNvSpPr>
          <p:nvPr>
            <p:ph idx="1"/>
          </p:nvPr>
        </p:nvSpPr>
        <p:spPr/>
        <p:txBody>
          <a:bodyPr>
            <a:normAutofit fontScale="62500" lnSpcReduction="20000"/>
          </a:bodyPr>
          <a:lstStyle/>
          <a:p>
            <a:pPr marL="0" indent="0">
              <a:lnSpc>
                <a:spcPct val="107000"/>
              </a:lnSpc>
              <a:spcBef>
                <a:spcPts val="1800"/>
              </a:spcBef>
              <a:spcAft>
                <a:spcPts val="400"/>
              </a:spcAft>
              <a:buNone/>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4.Software Interfaces</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Interface ID 1</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Overview</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Interface Specification</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Timing Issues</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Communication Protocol</a:t>
            </a:r>
          </a:p>
          <a:p>
            <a:pPr>
              <a:lnSpc>
                <a:spcPct val="107000"/>
              </a:lnSpc>
              <a:spcBef>
                <a:spcPts val="1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5.Hardware Interfaces</a:t>
            </a:r>
          </a:p>
          <a:p>
            <a:pPr>
              <a:lnSpc>
                <a:spcPct val="107000"/>
              </a:lnSpc>
              <a:spcBef>
                <a:spcPts val="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Interface ID 1</a:t>
            </a:r>
          </a:p>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&lt;Instead of actually saying “Interface ID 1” state the unique identifier and name for the interface. Repeat this section for each discretely </a:t>
            </a:r>
            <a:r>
              <a:rPr lang="en-IN" sz="1800" i="1" kern="100" dirty="0" err="1">
                <a:effectLst/>
                <a:latin typeface="Calibri" panose="020F0502020204030204" pitchFamily="34" charset="0"/>
                <a:ea typeface="Calibri" panose="020F0502020204030204" pitchFamily="34" charset="0"/>
                <a:cs typeface="Times New Roman" panose="02020603050405020304" pitchFamily="18" charset="0"/>
              </a:rPr>
              <a:t>labeled</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 hardware interface.&gt;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Overview</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Connection</a:t>
            </a:r>
          </a:p>
          <a:p>
            <a:pPr>
              <a:lnSpc>
                <a:spcPct val="107000"/>
              </a:lnSpc>
              <a:spcBef>
                <a:spcPts val="800"/>
              </a:spcBef>
              <a:spcAft>
                <a:spcPts val="400"/>
              </a:spcAft>
            </a:pPr>
            <a:r>
              <a:rPr lang="en-IN" sz="1800" b="1" kern="100" dirty="0">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rPr>
              <a:t>Data and Control Flow</a:t>
            </a:r>
          </a:p>
          <a:p>
            <a:pPr marL="0" indent="0">
              <a:buNone/>
            </a:pPr>
            <a:endParaRPr lang="en-IN" dirty="0"/>
          </a:p>
        </p:txBody>
      </p:sp>
    </p:spTree>
    <p:extLst>
      <p:ext uri="{BB962C8B-B14F-4D97-AF65-F5344CB8AC3E}">
        <p14:creationId xmlns:p14="http://schemas.microsoft.com/office/powerpoint/2010/main" val="2094816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131C7-8FF8-EF91-2631-B3EDB9891102}"/>
              </a:ext>
            </a:extLst>
          </p:cNvPr>
          <p:cNvSpPr>
            <a:spLocks noGrp="1"/>
          </p:cNvSpPr>
          <p:nvPr>
            <p:ph type="title"/>
          </p:nvPr>
        </p:nvSpPr>
        <p:spPr/>
        <p:txBody>
          <a:bodyPr>
            <a:normAutofit fontScale="90000"/>
          </a:bodyPr>
          <a:lstStyle/>
          <a:p>
            <a:r>
              <a:rPr lang="en-US" dirty="0"/>
              <a:t>INTERFACE SPECIFICATION TEMPLATE</a:t>
            </a:r>
            <a:endParaRPr lang="en-IN" dirty="0"/>
          </a:p>
        </p:txBody>
      </p:sp>
      <p:sp>
        <p:nvSpPr>
          <p:cNvPr id="3" name="Content Placeholder 2">
            <a:extLst>
              <a:ext uri="{FF2B5EF4-FFF2-40B4-BE49-F238E27FC236}">
                <a16:creationId xmlns:a16="http://schemas.microsoft.com/office/drawing/2014/main" id="{088A14CB-D9FD-A585-B116-1AFDE06683E6}"/>
              </a:ext>
            </a:extLst>
          </p:cNvPr>
          <p:cNvSpPr>
            <a:spLocks noGrp="1"/>
          </p:cNvSpPr>
          <p:nvPr>
            <p:ph idx="1"/>
          </p:nvPr>
        </p:nvSpPr>
        <p:spPr/>
        <p:txBody>
          <a:bodyPr/>
          <a:lstStyle/>
          <a:p>
            <a:pPr>
              <a:lnSpc>
                <a:spcPct val="107000"/>
              </a:lnSpc>
              <a:spcBef>
                <a:spcPts val="1800"/>
              </a:spcBef>
              <a:spcAft>
                <a:spcPts val="400"/>
              </a:spcAft>
            </a:pPr>
            <a:r>
              <a:rPr lang="en-IN"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6.User Interfaces</a:t>
            </a:r>
          </a:p>
          <a:p>
            <a:pPr marL="342900" lvl="0" indent="-342900">
              <a:lnSpc>
                <a:spcPts val="1200"/>
              </a:lnSpc>
              <a:buFont typeface="Symbol" panose="05050102010706020507" pitchFamily="18" charset="2"/>
              <a:buChar char=""/>
              <a:tabLst>
                <a:tab pos="228600" algn="l"/>
              </a:tabLs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Standards and conventions to follow for the user interface, such as a product family user interface style guide, screen labeling conventions, text font and style conventions, function and shortcut key assignments, color schemes, branding, and specifications for standard types of dialog elements or controls, such as comment boxes, forms, error messages, and so forth.</a:t>
            </a:r>
            <a:endParaRPr lang="en-IN" sz="18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200"/>
              </a:lnSpc>
              <a:buFont typeface="Symbol" panose="05050102010706020507" pitchFamily="18" charset="2"/>
              <a:buChar char=""/>
              <a:tabLst>
                <a:tab pos="228600" algn="l"/>
              </a:tabLs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User interface architecture, showing the major dialog elements (screens, pages, forms, menus, dialog boxes, line prompts) and the permitted navigation connections between them. A dialog map is a specialized type of state-transition diagram that works well for depicting user interface architecture (Wiegers, Karl E. Software Requirements, 2nd Edition, Microsoft Press, 2003).</a:t>
            </a:r>
            <a:endParaRPr lang="en-IN" sz="18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ts val="1200"/>
              </a:lnSpc>
              <a:buFont typeface="Symbol" panose="05050102010706020507" pitchFamily="18" charset="2"/>
              <a:buChar char=""/>
              <a:tabLst>
                <a:tab pos="228600" algn="l"/>
              </a:tabLst>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Screen layouts for individual user interface displays, including field positions and characteristics, allowed values for fields, values for drop-down lists, defaults, validations to perform on entered data, inter-field relationships, and so forth.&gt;</a:t>
            </a:r>
            <a:endParaRPr lang="en-IN" sz="18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255355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2300" y="4851400"/>
            <a:ext cx="88900" cy="50800"/>
          </a:xfrm>
          <a:prstGeom prst="rect">
            <a:avLst/>
          </a:prstGeom>
        </p:spPr>
      </p:pic>
      <p:pic>
        <p:nvPicPr>
          <p:cNvPr id="3" name="object 3"/>
          <p:cNvPicPr/>
          <p:nvPr/>
        </p:nvPicPr>
        <p:blipFill>
          <a:blip r:embed="rId3" cstate="print"/>
          <a:stretch>
            <a:fillRect/>
          </a:stretch>
        </p:blipFill>
        <p:spPr>
          <a:xfrm>
            <a:off x="609600" y="3568700"/>
            <a:ext cx="101600" cy="63500"/>
          </a:xfrm>
          <a:prstGeom prst="rect">
            <a:avLst/>
          </a:prstGeom>
        </p:spPr>
      </p:pic>
      <p:pic>
        <p:nvPicPr>
          <p:cNvPr id="4" name="object 4"/>
          <p:cNvPicPr/>
          <p:nvPr/>
        </p:nvPicPr>
        <p:blipFill>
          <a:blip r:embed="rId4" cstate="print"/>
          <a:stretch>
            <a:fillRect/>
          </a:stretch>
        </p:blipFill>
        <p:spPr>
          <a:xfrm>
            <a:off x="622300" y="3149600"/>
            <a:ext cx="88900" cy="63500"/>
          </a:xfrm>
          <a:prstGeom prst="rect">
            <a:avLst/>
          </a:prstGeom>
        </p:spPr>
      </p:pic>
      <p:pic>
        <p:nvPicPr>
          <p:cNvPr id="5" name="object 5"/>
          <p:cNvPicPr/>
          <p:nvPr/>
        </p:nvPicPr>
        <p:blipFill>
          <a:blip r:embed="rId5" cstate="print"/>
          <a:stretch>
            <a:fillRect/>
          </a:stretch>
        </p:blipFill>
        <p:spPr>
          <a:xfrm>
            <a:off x="622300" y="2743200"/>
            <a:ext cx="88900" cy="38100"/>
          </a:xfrm>
          <a:prstGeom prst="rect">
            <a:avLst/>
          </a:prstGeom>
        </p:spPr>
      </p:pic>
      <p:pic>
        <p:nvPicPr>
          <p:cNvPr id="6" name="object 6"/>
          <p:cNvPicPr/>
          <p:nvPr/>
        </p:nvPicPr>
        <p:blipFill>
          <a:blip r:embed="rId6" cstate="print"/>
          <a:stretch>
            <a:fillRect/>
          </a:stretch>
        </p:blipFill>
        <p:spPr>
          <a:xfrm>
            <a:off x="622300" y="2311400"/>
            <a:ext cx="88900" cy="38100"/>
          </a:xfrm>
          <a:prstGeom prst="rect">
            <a:avLst/>
          </a:prstGeom>
        </p:spPr>
      </p:pic>
      <p:sp>
        <p:nvSpPr>
          <p:cNvPr id="7" name="object 7"/>
          <p:cNvSpPr txBox="1">
            <a:spLocks noGrp="1"/>
          </p:cNvSpPr>
          <p:nvPr>
            <p:ph type="title"/>
          </p:nvPr>
        </p:nvSpPr>
        <p:spPr>
          <a:xfrm>
            <a:off x="1059791" y="688445"/>
            <a:ext cx="6111875" cy="669925"/>
          </a:xfrm>
          <a:prstGeom prst="rect">
            <a:avLst/>
          </a:prstGeom>
        </p:spPr>
        <p:txBody>
          <a:bodyPr vert="horz" wrap="square" lIns="0" tIns="16510" rIns="0" bIns="0" rtlCol="0">
            <a:spAutoFit/>
          </a:bodyPr>
          <a:lstStyle/>
          <a:p>
            <a:pPr marL="12700">
              <a:lnSpc>
                <a:spcPct val="100000"/>
              </a:lnSpc>
              <a:spcBef>
                <a:spcPts val="130"/>
              </a:spcBef>
              <a:tabLst>
                <a:tab pos="3364865" algn="l"/>
              </a:tabLst>
            </a:pPr>
            <a:r>
              <a:rPr sz="4200" spc="45" dirty="0">
                <a:latin typeface="Calibri"/>
                <a:cs typeface="Calibri"/>
              </a:rPr>
              <a:t>Requirements</a:t>
            </a:r>
            <a:r>
              <a:rPr sz="4200" dirty="0">
                <a:latin typeface="Calibri"/>
                <a:cs typeface="Calibri"/>
              </a:rPr>
              <a:t>	</a:t>
            </a:r>
            <a:r>
              <a:rPr sz="4200" spc="95" dirty="0">
                <a:latin typeface="Calibri"/>
                <a:cs typeface="Calibri"/>
              </a:rPr>
              <a:t>Engineering</a:t>
            </a:r>
            <a:endParaRPr sz="4200">
              <a:latin typeface="Calibri"/>
              <a:cs typeface="Calibri"/>
            </a:endParaRPr>
          </a:p>
        </p:txBody>
      </p:sp>
      <p:sp>
        <p:nvSpPr>
          <p:cNvPr id="8" name="object 8"/>
          <p:cNvSpPr txBox="1"/>
          <p:nvPr/>
        </p:nvSpPr>
        <p:spPr>
          <a:xfrm>
            <a:off x="607520" y="1627089"/>
            <a:ext cx="4189095" cy="3433119"/>
          </a:xfrm>
          <a:prstGeom prst="rect">
            <a:avLst/>
          </a:prstGeom>
        </p:spPr>
        <p:txBody>
          <a:bodyPr vert="horz" wrap="square" lIns="0" tIns="48895" rIns="0" bIns="0" rtlCol="0">
            <a:spAutoFit/>
          </a:bodyPr>
          <a:lstStyle/>
          <a:p>
            <a:pPr marL="12700">
              <a:lnSpc>
                <a:spcPct val="100000"/>
              </a:lnSpc>
              <a:spcBef>
                <a:spcPts val="385"/>
              </a:spcBef>
            </a:pPr>
            <a:r>
              <a:rPr sz="2550" spc="-60" dirty="0">
                <a:latin typeface="Calibri"/>
                <a:cs typeface="Calibri"/>
              </a:rPr>
              <a:t>Requirements</a:t>
            </a:r>
            <a:r>
              <a:rPr sz="2550" spc="85" dirty="0">
                <a:latin typeface="Calibri"/>
                <a:cs typeface="Calibri"/>
              </a:rPr>
              <a:t> </a:t>
            </a:r>
            <a:r>
              <a:rPr sz="2550" spc="-55" dirty="0">
                <a:latin typeface="Calibri"/>
                <a:cs typeface="Calibri"/>
              </a:rPr>
              <a:t>engineering</a:t>
            </a:r>
            <a:r>
              <a:rPr sz="2550" spc="50" dirty="0">
                <a:latin typeface="Calibri"/>
                <a:cs typeface="Calibri"/>
              </a:rPr>
              <a:t> </a:t>
            </a:r>
            <a:r>
              <a:rPr sz="2550" spc="-10" dirty="0">
                <a:latin typeface="Calibri"/>
                <a:cs typeface="Calibri"/>
              </a:rPr>
              <a:t>tasks:</a:t>
            </a:r>
            <a:endParaRPr sz="2550" dirty="0">
              <a:latin typeface="Calibri"/>
              <a:cs typeface="Calibri"/>
            </a:endParaRPr>
          </a:p>
          <a:p>
            <a:pPr marL="177800">
              <a:lnSpc>
                <a:spcPct val="100000"/>
              </a:lnSpc>
              <a:spcBef>
                <a:spcPts val="290"/>
              </a:spcBef>
            </a:pPr>
            <a:r>
              <a:rPr sz="2500" spc="-10" dirty="0">
                <a:latin typeface="Calibri"/>
                <a:cs typeface="Calibri"/>
              </a:rPr>
              <a:t>Inception</a:t>
            </a:r>
            <a:endParaRPr sz="2500" dirty="0">
              <a:latin typeface="Calibri"/>
              <a:cs typeface="Calibri"/>
            </a:endParaRPr>
          </a:p>
          <a:p>
            <a:pPr marL="176530" marR="2521585" indent="1270">
              <a:lnSpc>
                <a:spcPct val="109200"/>
              </a:lnSpc>
              <a:spcBef>
                <a:spcPts val="125"/>
              </a:spcBef>
            </a:pPr>
            <a:r>
              <a:rPr sz="2500" spc="-10" dirty="0">
                <a:latin typeface="Calibri"/>
                <a:cs typeface="Calibri"/>
              </a:rPr>
              <a:t>Elicitation Elaboration </a:t>
            </a:r>
            <a:r>
              <a:rPr sz="2650" spc="-105" dirty="0">
                <a:latin typeface="Calibri"/>
                <a:cs typeface="Calibri"/>
              </a:rPr>
              <a:t>Negotiation</a:t>
            </a:r>
            <a:endParaRPr sz="2650" dirty="0">
              <a:latin typeface="Calibri"/>
              <a:cs typeface="Calibri"/>
            </a:endParaRPr>
          </a:p>
          <a:p>
            <a:pPr marL="15875">
              <a:lnSpc>
                <a:spcPct val="100000"/>
              </a:lnSpc>
              <a:spcBef>
                <a:spcPts val="220"/>
              </a:spcBef>
            </a:pPr>
            <a:r>
              <a:rPr sz="2550" dirty="0">
                <a:latin typeface="Calibri"/>
                <a:cs typeface="Calibri"/>
              </a:rPr>
              <a:t>-</a:t>
            </a:r>
            <a:r>
              <a:rPr sz="2550" spc="-65" dirty="0">
                <a:latin typeface="Calibri"/>
                <a:cs typeface="Calibri"/>
              </a:rPr>
              <a:t> </a:t>
            </a:r>
            <a:r>
              <a:rPr sz="2550" spc="-10" dirty="0">
                <a:latin typeface="Calibri"/>
                <a:cs typeface="Calibri"/>
              </a:rPr>
              <a:t>Specification</a:t>
            </a:r>
            <a:r>
              <a:rPr lang="en-US" sz="2550" spc="-10" dirty="0">
                <a:latin typeface="Calibri"/>
                <a:cs typeface="Calibri"/>
              </a:rPr>
              <a:t> </a:t>
            </a:r>
          </a:p>
          <a:p>
            <a:pPr marL="15875">
              <a:lnSpc>
                <a:spcPct val="100000"/>
              </a:lnSpc>
              <a:spcBef>
                <a:spcPts val="220"/>
              </a:spcBef>
            </a:pPr>
            <a:r>
              <a:rPr lang="en-US" sz="2550" spc="-10" dirty="0">
                <a:latin typeface="Calibri"/>
                <a:cs typeface="Calibri"/>
              </a:rPr>
              <a:t> - </a:t>
            </a:r>
            <a:r>
              <a:rPr sz="2500" spc="-10" dirty="0">
                <a:latin typeface="Calibri"/>
                <a:cs typeface="Calibri"/>
              </a:rPr>
              <a:t>Validation</a:t>
            </a:r>
            <a:endParaRPr sz="2500" dirty="0">
              <a:latin typeface="Calibri"/>
              <a:cs typeface="Calibri"/>
            </a:endParaRPr>
          </a:p>
          <a:p>
            <a:pPr marL="177800">
              <a:lnSpc>
                <a:spcPct val="100000"/>
              </a:lnSpc>
              <a:spcBef>
                <a:spcPts val="350"/>
              </a:spcBef>
            </a:pPr>
            <a:r>
              <a:rPr sz="2550" spc="-60" dirty="0">
                <a:latin typeface="Calibri"/>
                <a:cs typeface="Calibri"/>
              </a:rPr>
              <a:t>Requirements</a:t>
            </a:r>
            <a:r>
              <a:rPr sz="2550" spc="65" dirty="0">
                <a:latin typeface="Calibri"/>
                <a:cs typeface="Calibri"/>
              </a:rPr>
              <a:t> </a:t>
            </a:r>
            <a:r>
              <a:rPr sz="2550" spc="-10" dirty="0">
                <a:latin typeface="Calibri"/>
                <a:cs typeface="Calibri"/>
              </a:rPr>
              <a:t>Management</a:t>
            </a:r>
            <a:endParaRPr sz="2550" dirty="0">
              <a:latin typeface="Calibri"/>
              <a:cs typeface="Calibri"/>
            </a:endParaRPr>
          </a:p>
        </p:txBody>
      </p:sp>
      <p:pic>
        <p:nvPicPr>
          <p:cNvPr id="9" name="Picture 2" descr="Profile for SRM Institute of Science and Technology">
            <a:extLst>
              <a:ext uri="{FF2B5EF4-FFF2-40B4-BE49-F238E27FC236}">
                <a16:creationId xmlns:a16="http://schemas.microsoft.com/office/drawing/2014/main" id="{13C28283-E724-E4DE-744F-1B08A651D1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21117" y="28751"/>
            <a:ext cx="5656580" cy="1233170"/>
          </a:xfrm>
          <a:prstGeom prst="rect">
            <a:avLst/>
          </a:prstGeom>
        </p:spPr>
        <p:txBody>
          <a:bodyPr vert="horz" wrap="square" lIns="0" tIns="153035" rIns="0" bIns="0" rtlCol="0">
            <a:spAutoFit/>
          </a:bodyPr>
          <a:lstStyle/>
          <a:p>
            <a:pPr marL="12700" marR="5080" indent="17145">
              <a:lnSpc>
                <a:spcPct val="79500"/>
              </a:lnSpc>
              <a:spcBef>
                <a:spcPts val="1205"/>
              </a:spcBef>
            </a:pPr>
            <a:r>
              <a:rPr sz="4400" spc="85" dirty="0">
                <a:latin typeface="Calibri"/>
                <a:cs typeface="Calibri"/>
              </a:rPr>
              <a:t>The</a:t>
            </a:r>
            <a:r>
              <a:rPr sz="4400" spc="-110" dirty="0">
                <a:latin typeface="Calibri"/>
                <a:cs typeface="Calibri"/>
              </a:rPr>
              <a:t> </a:t>
            </a:r>
            <a:r>
              <a:rPr sz="4400" spc="80" dirty="0">
                <a:latin typeface="Calibri"/>
                <a:cs typeface="Calibri"/>
              </a:rPr>
              <a:t>Problems</a:t>
            </a:r>
            <a:r>
              <a:rPr sz="4400" spc="185" dirty="0">
                <a:latin typeface="Calibri"/>
                <a:cs typeface="Calibri"/>
              </a:rPr>
              <a:t> </a:t>
            </a:r>
            <a:r>
              <a:rPr sz="4400" dirty="0">
                <a:latin typeface="Calibri"/>
                <a:cs typeface="Calibri"/>
              </a:rPr>
              <a:t>with</a:t>
            </a:r>
            <a:r>
              <a:rPr sz="4400" spc="-5" dirty="0">
                <a:latin typeface="Calibri"/>
                <a:cs typeface="Calibri"/>
              </a:rPr>
              <a:t> </a:t>
            </a:r>
            <a:r>
              <a:rPr sz="4400" spc="-25" dirty="0">
                <a:latin typeface="Calibri"/>
                <a:cs typeface="Calibri"/>
              </a:rPr>
              <a:t>our </a:t>
            </a:r>
            <a:r>
              <a:rPr sz="4400" dirty="0">
                <a:latin typeface="Calibri"/>
                <a:cs typeface="Calibri"/>
              </a:rPr>
              <a:t>Requirements</a:t>
            </a:r>
            <a:r>
              <a:rPr sz="4400" spc="770" dirty="0">
                <a:latin typeface="Calibri"/>
                <a:cs typeface="Calibri"/>
              </a:rPr>
              <a:t> </a:t>
            </a:r>
            <a:r>
              <a:rPr sz="4400" spc="105" dirty="0">
                <a:latin typeface="Calibri"/>
                <a:cs typeface="Calibri"/>
              </a:rPr>
              <a:t>Practices</a:t>
            </a:r>
            <a:endParaRPr sz="4400">
              <a:latin typeface="Calibri"/>
              <a:cs typeface="Calibri"/>
            </a:endParaRPr>
          </a:p>
        </p:txBody>
      </p:sp>
      <p:sp>
        <p:nvSpPr>
          <p:cNvPr id="4" name="object 4"/>
          <p:cNvSpPr txBox="1"/>
          <p:nvPr/>
        </p:nvSpPr>
        <p:spPr>
          <a:xfrm>
            <a:off x="730584" y="1584325"/>
            <a:ext cx="6569075" cy="3399154"/>
          </a:xfrm>
          <a:prstGeom prst="rect">
            <a:avLst/>
          </a:prstGeom>
        </p:spPr>
        <p:txBody>
          <a:bodyPr vert="horz" wrap="square" lIns="0" tIns="15875" rIns="0" bIns="0" rtlCol="0">
            <a:spAutoFit/>
          </a:bodyPr>
          <a:lstStyle/>
          <a:p>
            <a:pPr marL="172720" indent="-171450">
              <a:lnSpc>
                <a:spcPts val="2935"/>
              </a:lnSpc>
              <a:spcBef>
                <a:spcPts val="125"/>
              </a:spcBef>
              <a:buSzPct val="96153"/>
              <a:buChar char="•"/>
              <a:tabLst>
                <a:tab pos="172720" algn="l"/>
              </a:tabLst>
            </a:pPr>
            <a:r>
              <a:rPr sz="2600" spc="-75" dirty="0">
                <a:latin typeface="Calibri"/>
                <a:cs typeface="Calibri"/>
              </a:rPr>
              <a:t>We </a:t>
            </a:r>
            <a:r>
              <a:rPr sz="2600" spc="-50" dirty="0">
                <a:latin typeface="Calibri"/>
                <a:cs typeface="Calibri"/>
              </a:rPr>
              <a:t>have</a:t>
            </a:r>
            <a:r>
              <a:rPr sz="2600" spc="-95" dirty="0">
                <a:latin typeface="Calibri"/>
                <a:cs typeface="Calibri"/>
              </a:rPr>
              <a:t> </a:t>
            </a:r>
            <a:r>
              <a:rPr sz="2600" spc="-80" dirty="0">
                <a:latin typeface="Calibri"/>
                <a:cs typeface="Calibri"/>
              </a:rPr>
              <a:t>trouble</a:t>
            </a:r>
            <a:r>
              <a:rPr sz="2600" spc="-55" dirty="0">
                <a:latin typeface="Calibri"/>
                <a:cs typeface="Calibri"/>
              </a:rPr>
              <a:t> </a:t>
            </a:r>
            <a:r>
              <a:rPr sz="2600" spc="-50" dirty="0">
                <a:latin typeface="Calibri"/>
                <a:cs typeface="Calibri"/>
              </a:rPr>
              <a:t>understanding</a:t>
            </a:r>
            <a:r>
              <a:rPr sz="2600" spc="120" dirty="0">
                <a:latin typeface="Calibri"/>
                <a:cs typeface="Calibri"/>
              </a:rPr>
              <a:t> </a:t>
            </a:r>
            <a:r>
              <a:rPr sz="2600" spc="-20" dirty="0">
                <a:latin typeface="Calibri"/>
                <a:cs typeface="Calibri"/>
              </a:rPr>
              <a:t>the</a:t>
            </a:r>
            <a:r>
              <a:rPr sz="2600" spc="-114" dirty="0">
                <a:latin typeface="Calibri"/>
                <a:cs typeface="Calibri"/>
              </a:rPr>
              <a:t> </a:t>
            </a:r>
            <a:r>
              <a:rPr sz="2600" spc="-45" dirty="0">
                <a:latin typeface="Calibri"/>
                <a:cs typeface="Calibri"/>
              </a:rPr>
              <a:t>requirements</a:t>
            </a:r>
            <a:endParaRPr sz="2600">
              <a:latin typeface="Calibri"/>
              <a:cs typeface="Calibri"/>
            </a:endParaRPr>
          </a:p>
          <a:p>
            <a:pPr marL="178435">
              <a:lnSpc>
                <a:spcPts val="2815"/>
              </a:lnSpc>
            </a:pPr>
            <a:r>
              <a:rPr sz="2500" dirty="0">
                <a:latin typeface="Calibri"/>
                <a:cs typeface="Calibri"/>
              </a:rPr>
              <a:t>that</a:t>
            </a:r>
            <a:r>
              <a:rPr sz="2500" spc="-65" dirty="0">
                <a:latin typeface="Calibri"/>
                <a:cs typeface="Calibri"/>
              </a:rPr>
              <a:t> </a:t>
            </a:r>
            <a:r>
              <a:rPr sz="2500" dirty="0">
                <a:latin typeface="Calibri"/>
                <a:cs typeface="Calibri"/>
              </a:rPr>
              <a:t>we</a:t>
            </a:r>
            <a:r>
              <a:rPr sz="2500" spc="-140" dirty="0">
                <a:latin typeface="Calibri"/>
                <a:cs typeface="Calibri"/>
              </a:rPr>
              <a:t> </a:t>
            </a:r>
            <a:r>
              <a:rPr sz="2500" dirty="0">
                <a:latin typeface="Calibri"/>
                <a:cs typeface="Calibri"/>
              </a:rPr>
              <a:t>do</a:t>
            </a:r>
            <a:r>
              <a:rPr sz="2500" spc="-75" dirty="0">
                <a:latin typeface="Calibri"/>
                <a:cs typeface="Calibri"/>
              </a:rPr>
              <a:t> </a:t>
            </a:r>
            <a:r>
              <a:rPr sz="2500" spc="-20" dirty="0">
                <a:latin typeface="Calibri"/>
                <a:cs typeface="Calibri"/>
              </a:rPr>
              <a:t>acquire</a:t>
            </a:r>
            <a:r>
              <a:rPr sz="2500" spc="10" dirty="0">
                <a:latin typeface="Calibri"/>
                <a:cs typeface="Calibri"/>
              </a:rPr>
              <a:t> </a:t>
            </a:r>
            <a:r>
              <a:rPr sz="2500" dirty="0">
                <a:latin typeface="Calibri"/>
                <a:cs typeface="Calibri"/>
              </a:rPr>
              <a:t>from</a:t>
            </a:r>
            <a:r>
              <a:rPr sz="2500" spc="-85" dirty="0">
                <a:latin typeface="Calibri"/>
                <a:cs typeface="Calibri"/>
              </a:rPr>
              <a:t> </a:t>
            </a:r>
            <a:r>
              <a:rPr sz="2500" dirty="0">
                <a:latin typeface="Calibri"/>
                <a:cs typeface="Calibri"/>
              </a:rPr>
              <a:t>the</a:t>
            </a:r>
            <a:r>
              <a:rPr sz="2500" spc="-60" dirty="0">
                <a:latin typeface="Calibri"/>
                <a:cs typeface="Calibri"/>
              </a:rPr>
              <a:t> </a:t>
            </a:r>
            <a:r>
              <a:rPr sz="2500" spc="-10" dirty="0">
                <a:latin typeface="Calibri"/>
                <a:cs typeface="Calibri"/>
              </a:rPr>
              <a:t>customer</a:t>
            </a:r>
            <a:endParaRPr sz="2500">
              <a:latin typeface="Calibri"/>
              <a:cs typeface="Calibri"/>
            </a:endParaRPr>
          </a:p>
          <a:p>
            <a:pPr marL="173990">
              <a:lnSpc>
                <a:spcPts val="2855"/>
              </a:lnSpc>
              <a:spcBef>
                <a:spcPts val="350"/>
              </a:spcBef>
            </a:pPr>
            <a:r>
              <a:rPr sz="2550" spc="-50" dirty="0">
                <a:latin typeface="Calibri"/>
                <a:cs typeface="Calibri"/>
              </a:rPr>
              <a:t>We</a:t>
            </a:r>
            <a:r>
              <a:rPr sz="2550" spc="-95" dirty="0">
                <a:latin typeface="Calibri"/>
                <a:cs typeface="Calibri"/>
              </a:rPr>
              <a:t> </a:t>
            </a:r>
            <a:r>
              <a:rPr sz="2550" spc="-20" dirty="0">
                <a:latin typeface="Calibri"/>
                <a:cs typeface="Calibri"/>
              </a:rPr>
              <a:t>often</a:t>
            </a:r>
            <a:r>
              <a:rPr sz="2550" spc="-114" dirty="0">
                <a:latin typeface="Calibri"/>
                <a:cs typeface="Calibri"/>
              </a:rPr>
              <a:t> </a:t>
            </a:r>
            <a:r>
              <a:rPr sz="2550" spc="-30" dirty="0">
                <a:latin typeface="Calibri"/>
                <a:cs typeface="Calibri"/>
              </a:rPr>
              <a:t>record</a:t>
            </a:r>
            <a:r>
              <a:rPr sz="2550" spc="-40" dirty="0">
                <a:latin typeface="Calibri"/>
                <a:cs typeface="Calibri"/>
              </a:rPr>
              <a:t> </a:t>
            </a:r>
            <a:r>
              <a:rPr sz="2550" spc="-60" dirty="0">
                <a:latin typeface="Calibri"/>
                <a:cs typeface="Calibri"/>
              </a:rPr>
              <a:t>requirements</a:t>
            </a:r>
            <a:r>
              <a:rPr sz="2550" spc="114" dirty="0">
                <a:latin typeface="Calibri"/>
                <a:cs typeface="Calibri"/>
              </a:rPr>
              <a:t> </a:t>
            </a:r>
            <a:r>
              <a:rPr sz="2550" spc="-35" dirty="0">
                <a:latin typeface="Calibri"/>
                <a:cs typeface="Calibri"/>
              </a:rPr>
              <a:t>in</a:t>
            </a:r>
            <a:r>
              <a:rPr sz="2550" spc="-114" dirty="0">
                <a:latin typeface="Calibri"/>
                <a:cs typeface="Calibri"/>
              </a:rPr>
              <a:t> </a:t>
            </a:r>
            <a:r>
              <a:rPr sz="2550" dirty="0">
                <a:latin typeface="Calibri"/>
                <a:cs typeface="Calibri"/>
              </a:rPr>
              <a:t>a</a:t>
            </a:r>
            <a:r>
              <a:rPr sz="2550" spc="-75" dirty="0">
                <a:latin typeface="Calibri"/>
                <a:cs typeface="Calibri"/>
              </a:rPr>
              <a:t> </a:t>
            </a:r>
            <a:r>
              <a:rPr sz="2550" spc="-10" dirty="0">
                <a:latin typeface="Calibri"/>
                <a:cs typeface="Calibri"/>
              </a:rPr>
              <a:t>disorganized</a:t>
            </a:r>
            <a:endParaRPr sz="2550">
              <a:latin typeface="Calibri"/>
              <a:cs typeface="Calibri"/>
            </a:endParaRPr>
          </a:p>
          <a:p>
            <a:pPr marL="171450">
              <a:lnSpc>
                <a:spcPts val="2915"/>
              </a:lnSpc>
            </a:pPr>
            <a:r>
              <a:rPr sz="2600" spc="-10" dirty="0">
                <a:latin typeface="Calibri"/>
                <a:cs typeface="Calibri"/>
              </a:rPr>
              <a:t>manner</a:t>
            </a:r>
            <a:endParaRPr sz="2600">
              <a:latin typeface="Calibri"/>
              <a:cs typeface="Calibri"/>
            </a:endParaRPr>
          </a:p>
          <a:p>
            <a:pPr marL="172085" marR="70485" indent="-170815">
              <a:lnSpc>
                <a:spcPts val="2700"/>
              </a:lnSpc>
              <a:spcBef>
                <a:spcPts val="620"/>
              </a:spcBef>
              <a:buChar char="•"/>
              <a:tabLst>
                <a:tab pos="172085" algn="l"/>
              </a:tabLst>
            </a:pPr>
            <a:r>
              <a:rPr sz="2500" dirty="0">
                <a:latin typeface="Calibri"/>
                <a:cs typeface="Calibri"/>
              </a:rPr>
              <a:t>We</a:t>
            </a:r>
            <a:r>
              <a:rPr sz="2500" spc="-95" dirty="0">
                <a:latin typeface="Calibri"/>
                <a:cs typeface="Calibri"/>
              </a:rPr>
              <a:t> </a:t>
            </a:r>
            <a:r>
              <a:rPr sz="2500" dirty="0">
                <a:latin typeface="Calibri"/>
                <a:cs typeface="Calibri"/>
              </a:rPr>
              <a:t>spend</a:t>
            </a:r>
            <a:r>
              <a:rPr sz="2500" spc="-25" dirty="0">
                <a:latin typeface="Calibri"/>
                <a:cs typeface="Calibri"/>
              </a:rPr>
              <a:t> </a:t>
            </a:r>
            <a:r>
              <a:rPr sz="2500" dirty="0">
                <a:latin typeface="Calibri"/>
                <a:cs typeface="Calibri"/>
              </a:rPr>
              <a:t>far</a:t>
            </a:r>
            <a:r>
              <a:rPr sz="2500" spc="-65" dirty="0">
                <a:latin typeface="Calibri"/>
                <a:cs typeface="Calibri"/>
              </a:rPr>
              <a:t> </a:t>
            </a:r>
            <a:r>
              <a:rPr sz="2500" dirty="0">
                <a:latin typeface="Calibri"/>
                <a:cs typeface="Calibri"/>
              </a:rPr>
              <a:t>too</a:t>
            </a:r>
            <a:r>
              <a:rPr sz="2500" spc="-55" dirty="0">
                <a:latin typeface="Calibri"/>
                <a:cs typeface="Calibri"/>
              </a:rPr>
              <a:t> </a:t>
            </a:r>
            <a:r>
              <a:rPr sz="2500" dirty="0">
                <a:latin typeface="Calibri"/>
                <a:cs typeface="Calibri"/>
              </a:rPr>
              <a:t>little</a:t>
            </a:r>
            <a:r>
              <a:rPr sz="2500" spc="-105" dirty="0">
                <a:latin typeface="Calibri"/>
                <a:cs typeface="Calibri"/>
              </a:rPr>
              <a:t> </a:t>
            </a:r>
            <a:r>
              <a:rPr sz="2500" dirty="0">
                <a:latin typeface="Calibri"/>
                <a:cs typeface="Calibri"/>
              </a:rPr>
              <a:t>time</a:t>
            </a:r>
            <a:r>
              <a:rPr sz="2500" spc="-35" dirty="0">
                <a:latin typeface="Calibri"/>
                <a:cs typeface="Calibri"/>
              </a:rPr>
              <a:t> </a:t>
            </a:r>
            <a:r>
              <a:rPr sz="2500" spc="-30" dirty="0">
                <a:latin typeface="Calibri"/>
                <a:cs typeface="Calibri"/>
              </a:rPr>
              <a:t>verifying</a:t>
            </a:r>
            <a:r>
              <a:rPr sz="2500" spc="100" dirty="0">
                <a:latin typeface="Calibri"/>
                <a:cs typeface="Calibri"/>
              </a:rPr>
              <a:t> </a:t>
            </a:r>
            <a:r>
              <a:rPr sz="2500" dirty="0">
                <a:latin typeface="Calibri"/>
                <a:cs typeface="Calibri"/>
              </a:rPr>
              <a:t>what</a:t>
            </a:r>
            <a:r>
              <a:rPr sz="2500" spc="25" dirty="0">
                <a:latin typeface="Calibri"/>
                <a:cs typeface="Calibri"/>
              </a:rPr>
              <a:t> </a:t>
            </a:r>
            <a:r>
              <a:rPr sz="2500" dirty="0">
                <a:latin typeface="Calibri"/>
                <a:cs typeface="Calibri"/>
              </a:rPr>
              <a:t>we</a:t>
            </a:r>
            <a:r>
              <a:rPr sz="2500" spc="-10" dirty="0">
                <a:latin typeface="Calibri"/>
                <a:cs typeface="Calibri"/>
              </a:rPr>
              <a:t> </a:t>
            </a:r>
            <a:r>
              <a:rPr sz="2500" spc="-25" dirty="0">
                <a:latin typeface="Calibri"/>
                <a:cs typeface="Calibri"/>
              </a:rPr>
              <a:t>do </a:t>
            </a:r>
            <a:r>
              <a:rPr sz="2500" spc="-10" dirty="0">
                <a:latin typeface="Calibri"/>
                <a:cs typeface="Calibri"/>
              </a:rPr>
              <a:t>record</a:t>
            </a:r>
            <a:endParaRPr sz="2500">
              <a:latin typeface="Calibri"/>
              <a:cs typeface="Calibri"/>
            </a:endParaRPr>
          </a:p>
          <a:p>
            <a:pPr marL="168275" marR="375920" indent="-168275">
              <a:lnSpc>
                <a:spcPts val="2700"/>
              </a:lnSpc>
              <a:spcBef>
                <a:spcPts val="600"/>
              </a:spcBef>
              <a:buChar char="•"/>
              <a:tabLst>
                <a:tab pos="173990" algn="l"/>
              </a:tabLst>
            </a:pPr>
            <a:r>
              <a:rPr sz="2450" dirty="0">
                <a:latin typeface="Calibri"/>
                <a:cs typeface="Calibri"/>
              </a:rPr>
              <a:t>Most</a:t>
            </a:r>
            <a:r>
              <a:rPr sz="2450" spc="50" dirty="0">
                <a:latin typeface="Calibri"/>
                <a:cs typeface="Calibri"/>
              </a:rPr>
              <a:t> </a:t>
            </a:r>
            <a:r>
              <a:rPr sz="2450" dirty="0">
                <a:latin typeface="Calibri"/>
                <a:cs typeface="Calibri"/>
              </a:rPr>
              <a:t>importantly,</a:t>
            </a:r>
            <a:r>
              <a:rPr sz="2450" spc="140" dirty="0">
                <a:latin typeface="Calibri"/>
                <a:cs typeface="Calibri"/>
              </a:rPr>
              <a:t> </a:t>
            </a:r>
            <a:r>
              <a:rPr sz="2450" dirty="0">
                <a:latin typeface="Calibri"/>
                <a:cs typeface="Calibri"/>
              </a:rPr>
              <a:t>we</a:t>
            </a:r>
            <a:r>
              <a:rPr sz="2450" spc="70" dirty="0">
                <a:latin typeface="Calibri"/>
                <a:cs typeface="Calibri"/>
              </a:rPr>
              <a:t> </a:t>
            </a:r>
            <a:r>
              <a:rPr sz="2450" dirty="0">
                <a:latin typeface="Calibri"/>
                <a:cs typeface="Calibri"/>
              </a:rPr>
              <a:t>fail</a:t>
            </a:r>
            <a:r>
              <a:rPr sz="2450" spc="25" dirty="0">
                <a:latin typeface="Calibri"/>
                <a:cs typeface="Calibri"/>
              </a:rPr>
              <a:t> </a:t>
            </a:r>
            <a:r>
              <a:rPr sz="2450" dirty="0">
                <a:latin typeface="Calibri"/>
                <a:cs typeface="Calibri"/>
              </a:rPr>
              <a:t>to</a:t>
            </a:r>
            <a:r>
              <a:rPr sz="2450" spc="-100" dirty="0">
                <a:latin typeface="Calibri"/>
                <a:cs typeface="Calibri"/>
              </a:rPr>
              <a:t> </a:t>
            </a:r>
            <a:r>
              <a:rPr sz="2450" dirty="0">
                <a:latin typeface="Calibri"/>
                <a:cs typeface="Calibri"/>
              </a:rPr>
              <a:t>establish</a:t>
            </a:r>
            <a:r>
              <a:rPr sz="2450" spc="40" dirty="0">
                <a:latin typeface="Calibri"/>
                <a:cs typeface="Calibri"/>
              </a:rPr>
              <a:t> </a:t>
            </a:r>
            <a:r>
              <a:rPr sz="2450" dirty="0">
                <a:solidFill>
                  <a:srgbClr val="181818"/>
                </a:solidFill>
                <a:latin typeface="Calibri"/>
                <a:cs typeface="Calibri"/>
              </a:rPr>
              <a:t>a</a:t>
            </a:r>
            <a:r>
              <a:rPr sz="2450" spc="10" dirty="0">
                <a:solidFill>
                  <a:srgbClr val="181818"/>
                </a:solidFill>
                <a:latin typeface="Calibri"/>
                <a:cs typeface="Calibri"/>
              </a:rPr>
              <a:t> </a:t>
            </a:r>
            <a:r>
              <a:rPr sz="2450" spc="-10" dirty="0">
                <a:latin typeface="Calibri"/>
                <a:cs typeface="Calibri"/>
              </a:rPr>
              <a:t>solid 	</a:t>
            </a:r>
            <a:r>
              <a:rPr sz="2450" dirty="0">
                <a:latin typeface="Calibri"/>
                <a:cs typeface="Calibri"/>
              </a:rPr>
              <a:t>foundation</a:t>
            </a:r>
            <a:r>
              <a:rPr sz="2450" spc="135" dirty="0">
                <a:latin typeface="Calibri"/>
                <a:cs typeface="Calibri"/>
              </a:rPr>
              <a:t> </a:t>
            </a:r>
            <a:r>
              <a:rPr sz="2450" dirty="0">
                <a:latin typeface="Calibri"/>
                <a:cs typeface="Calibri"/>
              </a:rPr>
              <a:t>for</a:t>
            </a:r>
            <a:r>
              <a:rPr sz="2450" spc="5" dirty="0">
                <a:latin typeface="Calibri"/>
                <a:cs typeface="Calibri"/>
              </a:rPr>
              <a:t> </a:t>
            </a:r>
            <a:r>
              <a:rPr sz="2450" dirty="0">
                <a:latin typeface="Calibri"/>
                <a:cs typeface="Calibri"/>
              </a:rPr>
              <a:t>the</a:t>
            </a:r>
            <a:r>
              <a:rPr sz="2450" spc="65" dirty="0">
                <a:latin typeface="Calibri"/>
                <a:cs typeface="Calibri"/>
              </a:rPr>
              <a:t> </a:t>
            </a:r>
            <a:r>
              <a:rPr sz="2450" dirty="0">
                <a:latin typeface="Calibri"/>
                <a:cs typeface="Calibri"/>
              </a:rPr>
              <a:t>system</a:t>
            </a:r>
            <a:r>
              <a:rPr sz="2450" spc="55" dirty="0">
                <a:latin typeface="Calibri"/>
                <a:cs typeface="Calibri"/>
              </a:rPr>
              <a:t> </a:t>
            </a:r>
            <a:r>
              <a:rPr sz="2450" dirty="0">
                <a:latin typeface="Calibri"/>
                <a:cs typeface="Calibri"/>
              </a:rPr>
              <a:t>or</a:t>
            </a:r>
            <a:r>
              <a:rPr sz="2450" spc="-80" dirty="0">
                <a:latin typeface="Calibri"/>
                <a:cs typeface="Calibri"/>
              </a:rPr>
              <a:t> </a:t>
            </a:r>
            <a:r>
              <a:rPr sz="2450" dirty="0">
                <a:latin typeface="Calibri"/>
                <a:cs typeface="Calibri"/>
              </a:rPr>
              <a:t>software</a:t>
            </a:r>
            <a:r>
              <a:rPr sz="2450" spc="155" dirty="0">
                <a:latin typeface="Calibri"/>
                <a:cs typeface="Calibri"/>
              </a:rPr>
              <a:t> </a:t>
            </a:r>
            <a:r>
              <a:rPr sz="2450" dirty="0">
                <a:latin typeface="Calibri"/>
                <a:cs typeface="Calibri"/>
              </a:rPr>
              <a:t>that</a:t>
            </a:r>
            <a:r>
              <a:rPr sz="2450" spc="105" dirty="0">
                <a:latin typeface="Calibri"/>
                <a:cs typeface="Calibri"/>
              </a:rPr>
              <a:t> </a:t>
            </a:r>
            <a:r>
              <a:rPr sz="2450" spc="-25" dirty="0">
                <a:latin typeface="Calibri"/>
                <a:cs typeface="Calibri"/>
              </a:rPr>
              <a:t>the 	</a:t>
            </a:r>
            <a:r>
              <a:rPr sz="2400" dirty="0">
                <a:latin typeface="Calibri"/>
                <a:cs typeface="Calibri"/>
              </a:rPr>
              <a:t>user</a:t>
            </a:r>
            <a:r>
              <a:rPr sz="2400" spc="90" dirty="0">
                <a:latin typeface="Calibri"/>
                <a:cs typeface="Calibri"/>
              </a:rPr>
              <a:t> </a:t>
            </a:r>
            <a:r>
              <a:rPr sz="2400" dirty="0">
                <a:latin typeface="Calibri"/>
                <a:cs typeface="Calibri"/>
              </a:rPr>
              <a:t>wants</a:t>
            </a:r>
            <a:r>
              <a:rPr sz="2400" spc="254" dirty="0">
                <a:latin typeface="Calibri"/>
                <a:cs typeface="Calibri"/>
              </a:rPr>
              <a:t> </a:t>
            </a:r>
            <a:r>
              <a:rPr sz="2400" spc="-10" dirty="0">
                <a:latin typeface="Calibri"/>
                <a:cs typeface="Calibri"/>
              </a:rPr>
              <a:t>built</a:t>
            </a:r>
            <a:endParaRPr sz="2400">
              <a:latin typeface="Calibri"/>
              <a:cs typeface="Calibri"/>
            </a:endParaRPr>
          </a:p>
        </p:txBody>
      </p:sp>
      <p:pic>
        <p:nvPicPr>
          <p:cNvPr id="5" name="Picture 2" descr="Profile for SRM Institute of Science and Technology">
            <a:extLst>
              <a:ext uri="{FF2B5EF4-FFF2-40B4-BE49-F238E27FC236}">
                <a16:creationId xmlns:a16="http://schemas.microsoft.com/office/drawing/2014/main" id="{0541B965-54A6-F01C-E1E4-084C4CA13D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5130" y="43347"/>
            <a:ext cx="6008370" cy="1411284"/>
          </a:xfrm>
          <a:prstGeom prst="rect">
            <a:avLst/>
          </a:prstGeom>
        </p:spPr>
        <p:txBody>
          <a:bodyPr vert="horz" wrap="square" lIns="0" tIns="13335" rIns="0" bIns="0" rtlCol="0">
            <a:spAutoFit/>
          </a:bodyPr>
          <a:lstStyle/>
          <a:p>
            <a:pPr marL="31750">
              <a:lnSpc>
                <a:spcPts val="3595"/>
              </a:lnSpc>
              <a:spcBef>
                <a:spcPts val="105"/>
              </a:spcBef>
              <a:tabLst>
                <a:tab pos="851535" algn="l"/>
              </a:tabLst>
            </a:pPr>
            <a:r>
              <a:rPr sz="3200" spc="-25" dirty="0">
                <a:latin typeface="Calibri"/>
                <a:cs typeface="Calibri"/>
              </a:rPr>
              <a:t>The</a:t>
            </a:r>
            <a:r>
              <a:rPr sz="3200" dirty="0">
                <a:latin typeface="Calibri"/>
                <a:cs typeface="Calibri"/>
              </a:rPr>
              <a:t>	</a:t>
            </a:r>
            <a:r>
              <a:rPr sz="3200" spc="254" dirty="0">
                <a:latin typeface="Calibri"/>
                <a:cs typeface="Calibri"/>
              </a:rPr>
              <a:t>Problems</a:t>
            </a:r>
            <a:r>
              <a:rPr sz="3200" spc="275" dirty="0">
                <a:latin typeface="Calibri"/>
                <a:cs typeface="Calibri"/>
              </a:rPr>
              <a:t> </a:t>
            </a:r>
            <a:r>
              <a:rPr sz="3200" spc="155" dirty="0">
                <a:latin typeface="Calibri"/>
                <a:cs typeface="Calibri"/>
              </a:rPr>
              <a:t>with</a:t>
            </a:r>
            <a:r>
              <a:rPr sz="3200" spc="204" dirty="0">
                <a:latin typeface="Calibri"/>
                <a:cs typeface="Calibri"/>
              </a:rPr>
              <a:t> </a:t>
            </a:r>
            <a:r>
              <a:rPr sz="3200" spc="155" dirty="0">
                <a:latin typeface="Calibri"/>
                <a:cs typeface="Calibri"/>
              </a:rPr>
              <a:t>out</a:t>
            </a:r>
            <a:r>
              <a:rPr sz="3200" spc="220" dirty="0">
                <a:latin typeface="Calibri"/>
                <a:cs typeface="Calibri"/>
              </a:rPr>
              <a:t> </a:t>
            </a:r>
            <a:r>
              <a:rPr sz="3200" spc="210" dirty="0">
                <a:latin typeface="Calibri"/>
                <a:cs typeface="Calibri"/>
              </a:rPr>
              <a:t>Requirements</a:t>
            </a:r>
            <a:endParaRPr sz="3200" dirty="0">
              <a:latin typeface="Calibri"/>
              <a:cs typeface="Calibri"/>
            </a:endParaRPr>
          </a:p>
          <a:p>
            <a:pPr marL="12700">
              <a:lnSpc>
                <a:spcPts val="3715"/>
              </a:lnSpc>
            </a:pPr>
            <a:r>
              <a:rPr sz="3300" spc="235" dirty="0">
                <a:latin typeface="Calibri"/>
                <a:cs typeface="Calibri"/>
              </a:rPr>
              <a:t>Practices</a:t>
            </a:r>
            <a:r>
              <a:rPr sz="3300" spc="215" dirty="0">
                <a:latin typeface="Calibri"/>
                <a:cs typeface="Calibri"/>
              </a:rPr>
              <a:t> </a:t>
            </a:r>
            <a:r>
              <a:rPr sz="3300" spc="125" dirty="0">
                <a:latin typeface="Calibri"/>
                <a:cs typeface="Calibri"/>
              </a:rPr>
              <a:t>(continued)</a:t>
            </a:r>
            <a:endParaRPr sz="3300" dirty="0">
              <a:latin typeface="Calibri"/>
              <a:cs typeface="Calibri"/>
            </a:endParaRPr>
          </a:p>
        </p:txBody>
      </p:sp>
      <p:sp>
        <p:nvSpPr>
          <p:cNvPr id="3" name="object 3"/>
          <p:cNvSpPr txBox="1"/>
          <p:nvPr/>
        </p:nvSpPr>
        <p:spPr>
          <a:xfrm>
            <a:off x="715656" y="1428573"/>
            <a:ext cx="6724015" cy="4100290"/>
          </a:xfrm>
          <a:prstGeom prst="rect">
            <a:avLst/>
          </a:prstGeom>
        </p:spPr>
        <p:txBody>
          <a:bodyPr vert="horz" wrap="square" lIns="0" tIns="12700" rIns="0" bIns="0" rtlCol="0">
            <a:spAutoFit/>
          </a:bodyPr>
          <a:lstStyle/>
          <a:p>
            <a:pPr marL="193040" indent="-154940">
              <a:lnSpc>
                <a:spcPct val="100000"/>
              </a:lnSpc>
              <a:spcBef>
                <a:spcPts val="100"/>
              </a:spcBef>
              <a:buChar char="•"/>
              <a:tabLst>
                <a:tab pos="193040" algn="l"/>
              </a:tabLst>
            </a:pPr>
            <a:r>
              <a:rPr lang="en-US" sz="2550" baseline="1633" dirty="0">
                <a:latin typeface="Calibri"/>
                <a:cs typeface="Calibri"/>
              </a:rPr>
              <a:t>Many </a:t>
            </a:r>
            <a:r>
              <a:rPr sz="2550" baseline="1633" dirty="0">
                <a:latin typeface="Calibri"/>
                <a:cs typeface="Calibri"/>
              </a:rPr>
              <a:t>software</a:t>
            </a:r>
            <a:r>
              <a:rPr sz="2550" spc="382" baseline="1633" dirty="0">
                <a:latin typeface="Calibri"/>
                <a:cs typeface="Calibri"/>
              </a:rPr>
              <a:t> </a:t>
            </a:r>
            <a:r>
              <a:rPr sz="2550" baseline="1633" dirty="0">
                <a:latin typeface="Calibri"/>
                <a:cs typeface="Calibri"/>
              </a:rPr>
              <a:t>developers</a:t>
            </a:r>
            <a:r>
              <a:rPr sz="2550" spc="502" baseline="1633" dirty="0">
                <a:latin typeface="Calibri"/>
                <a:cs typeface="Calibri"/>
              </a:rPr>
              <a:t> </a:t>
            </a:r>
            <a:r>
              <a:rPr sz="2550" baseline="1633" dirty="0">
                <a:latin typeface="Calibri"/>
                <a:cs typeface="Calibri"/>
              </a:rPr>
              <a:t>argue</a:t>
            </a:r>
            <a:r>
              <a:rPr sz="2550" spc="232" baseline="1633" dirty="0">
                <a:latin typeface="Calibri"/>
                <a:cs typeface="Calibri"/>
              </a:rPr>
              <a:t> </a:t>
            </a:r>
            <a:r>
              <a:rPr sz="2550" spc="-30" baseline="1633" dirty="0">
                <a:latin typeface="Calibri"/>
                <a:cs typeface="Calibri"/>
              </a:rPr>
              <a:t>that</a:t>
            </a:r>
            <a:endParaRPr lang="en-US" sz="2550" spc="-30" baseline="1633" dirty="0">
              <a:latin typeface="Calibri"/>
              <a:cs typeface="Calibri"/>
            </a:endParaRPr>
          </a:p>
          <a:p>
            <a:pPr marL="38100">
              <a:lnSpc>
                <a:spcPct val="100000"/>
              </a:lnSpc>
              <a:spcBef>
                <a:spcPts val="100"/>
              </a:spcBef>
              <a:tabLst>
                <a:tab pos="193040" algn="l"/>
              </a:tabLst>
            </a:pPr>
            <a:endParaRPr sz="2550" baseline="1633" dirty="0">
              <a:latin typeface="Calibri"/>
              <a:cs typeface="Calibri"/>
            </a:endParaRPr>
          </a:p>
          <a:p>
            <a:pPr marL="494030" marR="342900" lvl="1" indent="-165735">
              <a:lnSpc>
                <a:spcPts val="1900"/>
              </a:lnSpc>
              <a:spcBef>
                <a:spcPts val="340"/>
              </a:spcBef>
              <a:buChar char="•"/>
              <a:tabLst>
                <a:tab pos="500380" algn="l"/>
              </a:tabLst>
            </a:pPr>
            <a:r>
              <a:rPr sz="1850" spc="-45" dirty="0">
                <a:latin typeface="Calibri"/>
                <a:cs typeface="Calibri"/>
              </a:rPr>
              <a:t>Building</a:t>
            </a:r>
            <a:r>
              <a:rPr sz="1850" spc="-60" dirty="0">
                <a:latin typeface="Calibri"/>
                <a:cs typeface="Calibri"/>
              </a:rPr>
              <a:t> </a:t>
            </a:r>
            <a:r>
              <a:rPr sz="1850" spc="-45" dirty="0">
                <a:latin typeface="Calibri"/>
                <a:cs typeface="Calibri"/>
              </a:rPr>
              <a:t>software</a:t>
            </a:r>
            <a:r>
              <a:rPr sz="1850" spc="-20" dirty="0">
                <a:latin typeface="Calibri"/>
                <a:cs typeface="Calibri"/>
              </a:rPr>
              <a:t> </a:t>
            </a:r>
            <a:r>
              <a:rPr sz="1850" spc="-35" dirty="0">
                <a:latin typeface="Calibri"/>
                <a:cs typeface="Calibri"/>
              </a:rPr>
              <a:t>is</a:t>
            </a:r>
            <a:r>
              <a:rPr sz="1850" spc="-70" dirty="0">
                <a:latin typeface="Calibri"/>
                <a:cs typeface="Calibri"/>
              </a:rPr>
              <a:t> </a:t>
            </a:r>
            <a:r>
              <a:rPr sz="1850" spc="-50" dirty="0">
                <a:solidFill>
                  <a:srgbClr val="1C1C1C"/>
                </a:solidFill>
                <a:latin typeface="Calibri"/>
                <a:cs typeface="Calibri"/>
              </a:rPr>
              <a:t>so</a:t>
            </a:r>
            <a:r>
              <a:rPr sz="1850" spc="-55" dirty="0">
                <a:solidFill>
                  <a:srgbClr val="1C1C1C"/>
                </a:solidFill>
                <a:latin typeface="Calibri"/>
                <a:cs typeface="Calibri"/>
              </a:rPr>
              <a:t> </a:t>
            </a:r>
            <a:r>
              <a:rPr sz="1850" spc="-50" dirty="0">
                <a:latin typeface="Calibri"/>
                <a:cs typeface="Calibri"/>
              </a:rPr>
              <a:t>compelling</a:t>
            </a:r>
            <a:r>
              <a:rPr sz="1850" spc="80" dirty="0">
                <a:latin typeface="Calibri"/>
                <a:cs typeface="Calibri"/>
              </a:rPr>
              <a:t> </a:t>
            </a:r>
            <a:r>
              <a:rPr sz="1850" spc="-25" dirty="0">
                <a:latin typeface="Calibri"/>
                <a:cs typeface="Calibri"/>
              </a:rPr>
              <a:t>that</a:t>
            </a:r>
            <a:r>
              <a:rPr sz="1850" spc="-45" dirty="0">
                <a:latin typeface="Calibri"/>
                <a:cs typeface="Calibri"/>
              </a:rPr>
              <a:t> </a:t>
            </a:r>
            <a:r>
              <a:rPr sz="1850" spc="-90" dirty="0">
                <a:latin typeface="Calibri"/>
                <a:cs typeface="Calibri"/>
              </a:rPr>
              <a:t>we</a:t>
            </a:r>
            <a:r>
              <a:rPr sz="1850" spc="-10" dirty="0">
                <a:latin typeface="Calibri"/>
                <a:cs typeface="Calibri"/>
              </a:rPr>
              <a:t> </a:t>
            </a:r>
            <a:r>
              <a:rPr sz="1850" spc="-20" dirty="0">
                <a:latin typeface="Calibri"/>
                <a:cs typeface="Calibri"/>
              </a:rPr>
              <a:t>want </a:t>
            </a:r>
            <a:r>
              <a:rPr sz="1850" dirty="0">
                <a:solidFill>
                  <a:srgbClr val="1F1F1F"/>
                </a:solidFill>
                <a:latin typeface="Calibri"/>
                <a:cs typeface="Calibri"/>
              </a:rPr>
              <a:t>to</a:t>
            </a:r>
            <a:r>
              <a:rPr sz="1850" spc="-10" dirty="0">
                <a:solidFill>
                  <a:srgbClr val="1F1F1F"/>
                </a:solidFill>
                <a:latin typeface="Calibri"/>
                <a:cs typeface="Calibri"/>
              </a:rPr>
              <a:t> </a:t>
            </a:r>
            <a:r>
              <a:rPr sz="1850" spc="-35" dirty="0">
                <a:latin typeface="Calibri"/>
                <a:cs typeface="Calibri"/>
              </a:rPr>
              <a:t>jump</a:t>
            </a:r>
            <a:r>
              <a:rPr sz="1850" spc="-75" dirty="0">
                <a:latin typeface="Calibri"/>
                <a:cs typeface="Calibri"/>
              </a:rPr>
              <a:t> </a:t>
            </a:r>
            <a:r>
              <a:rPr sz="1850" dirty="0">
                <a:latin typeface="Calibri"/>
                <a:cs typeface="Calibri"/>
              </a:rPr>
              <a:t>right</a:t>
            </a:r>
            <a:r>
              <a:rPr sz="1850" spc="-85" dirty="0">
                <a:latin typeface="Calibri"/>
                <a:cs typeface="Calibri"/>
              </a:rPr>
              <a:t> </a:t>
            </a:r>
            <a:r>
              <a:rPr sz="1850" spc="-25" dirty="0">
                <a:latin typeface="Calibri"/>
                <a:cs typeface="Calibri"/>
              </a:rPr>
              <a:t>in 	</a:t>
            </a:r>
            <a:r>
              <a:rPr sz="1850" spc="-45" dirty="0">
                <a:latin typeface="Calibri"/>
                <a:cs typeface="Calibri"/>
              </a:rPr>
              <a:t>(before</a:t>
            </a:r>
            <a:r>
              <a:rPr sz="1850" spc="-35" dirty="0">
                <a:latin typeface="Calibri"/>
                <a:cs typeface="Calibri"/>
              </a:rPr>
              <a:t> </a:t>
            </a:r>
            <a:r>
              <a:rPr sz="1850" spc="-40" dirty="0">
                <a:latin typeface="Calibri"/>
                <a:cs typeface="Calibri"/>
              </a:rPr>
              <a:t>having</a:t>
            </a:r>
            <a:r>
              <a:rPr sz="1850" spc="-30" dirty="0">
                <a:latin typeface="Calibri"/>
                <a:cs typeface="Calibri"/>
              </a:rPr>
              <a:t> </a:t>
            </a:r>
            <a:r>
              <a:rPr sz="1850" dirty="0">
                <a:solidFill>
                  <a:srgbClr val="232323"/>
                </a:solidFill>
                <a:latin typeface="Calibri"/>
                <a:cs typeface="Calibri"/>
              </a:rPr>
              <a:t>a</a:t>
            </a:r>
            <a:r>
              <a:rPr sz="1850" spc="-90" dirty="0">
                <a:solidFill>
                  <a:srgbClr val="232323"/>
                </a:solidFill>
                <a:latin typeface="Calibri"/>
                <a:cs typeface="Calibri"/>
              </a:rPr>
              <a:t> </a:t>
            </a:r>
            <a:r>
              <a:rPr sz="1850" spc="-50" dirty="0">
                <a:latin typeface="Calibri"/>
                <a:cs typeface="Calibri"/>
              </a:rPr>
              <a:t>clear</a:t>
            </a:r>
            <a:r>
              <a:rPr sz="1850" spc="-55" dirty="0">
                <a:latin typeface="Calibri"/>
                <a:cs typeface="Calibri"/>
              </a:rPr>
              <a:t> understanding</a:t>
            </a:r>
            <a:r>
              <a:rPr sz="1850" spc="105" dirty="0">
                <a:latin typeface="Calibri"/>
                <a:cs typeface="Calibri"/>
              </a:rPr>
              <a:t> </a:t>
            </a:r>
            <a:r>
              <a:rPr sz="1850" dirty="0">
                <a:latin typeface="Calibri"/>
                <a:cs typeface="Calibri"/>
              </a:rPr>
              <a:t>of</a:t>
            </a:r>
            <a:r>
              <a:rPr sz="1850" spc="-85" dirty="0">
                <a:latin typeface="Calibri"/>
                <a:cs typeface="Calibri"/>
              </a:rPr>
              <a:t> </a:t>
            </a:r>
            <a:r>
              <a:rPr sz="1850" spc="-45" dirty="0">
                <a:latin typeface="Calibri"/>
                <a:cs typeface="Calibri"/>
              </a:rPr>
              <a:t>what</a:t>
            </a:r>
            <a:r>
              <a:rPr sz="1850" spc="5" dirty="0">
                <a:latin typeface="Calibri"/>
                <a:cs typeface="Calibri"/>
              </a:rPr>
              <a:t> </a:t>
            </a:r>
            <a:r>
              <a:rPr sz="1850" dirty="0">
                <a:solidFill>
                  <a:srgbClr val="161616"/>
                </a:solidFill>
                <a:latin typeface="Calibri"/>
                <a:cs typeface="Calibri"/>
              </a:rPr>
              <a:t>is</a:t>
            </a:r>
            <a:r>
              <a:rPr sz="1850" spc="-65" dirty="0">
                <a:solidFill>
                  <a:srgbClr val="161616"/>
                </a:solidFill>
                <a:latin typeface="Calibri"/>
                <a:cs typeface="Calibri"/>
              </a:rPr>
              <a:t> </a:t>
            </a:r>
            <a:r>
              <a:rPr sz="1850" spc="-10" dirty="0">
                <a:solidFill>
                  <a:srgbClr val="131313"/>
                </a:solidFill>
                <a:latin typeface="Calibri"/>
                <a:cs typeface="Calibri"/>
              </a:rPr>
              <a:t>needed)</a:t>
            </a:r>
            <a:endParaRPr sz="1850" dirty="0">
              <a:latin typeface="Calibri"/>
              <a:cs typeface="Calibri"/>
            </a:endParaRPr>
          </a:p>
          <a:p>
            <a:pPr marL="501650" lvl="1" indent="-170815">
              <a:lnSpc>
                <a:spcPct val="100000"/>
              </a:lnSpc>
              <a:spcBef>
                <a:spcPts val="220"/>
              </a:spcBef>
              <a:buChar char="•"/>
              <a:tabLst>
                <a:tab pos="501650" algn="l"/>
              </a:tabLst>
            </a:pPr>
            <a:r>
              <a:rPr sz="1650" dirty="0">
                <a:latin typeface="Calibri"/>
                <a:cs typeface="Calibri"/>
              </a:rPr>
              <a:t>Things</a:t>
            </a:r>
            <a:r>
              <a:rPr sz="1650" spc="350" dirty="0">
                <a:latin typeface="Calibri"/>
                <a:cs typeface="Calibri"/>
              </a:rPr>
              <a:t> </a:t>
            </a:r>
            <a:r>
              <a:rPr sz="1650" dirty="0">
                <a:latin typeface="Calibri"/>
                <a:cs typeface="Calibri"/>
              </a:rPr>
              <a:t>will</a:t>
            </a:r>
            <a:r>
              <a:rPr sz="1650" spc="135" dirty="0">
                <a:latin typeface="Calibri"/>
                <a:cs typeface="Calibri"/>
              </a:rPr>
              <a:t> </a:t>
            </a:r>
            <a:r>
              <a:rPr sz="1650" dirty="0">
                <a:latin typeface="Calibri"/>
                <a:cs typeface="Calibri"/>
              </a:rPr>
              <a:t>become</a:t>
            </a:r>
            <a:r>
              <a:rPr sz="1650" spc="320" dirty="0">
                <a:latin typeface="Calibri"/>
                <a:cs typeface="Calibri"/>
              </a:rPr>
              <a:t> </a:t>
            </a:r>
            <a:r>
              <a:rPr sz="1650" dirty="0">
                <a:latin typeface="Calibri"/>
                <a:cs typeface="Calibri"/>
              </a:rPr>
              <a:t>clear</a:t>
            </a:r>
            <a:r>
              <a:rPr sz="1650" spc="250" dirty="0">
                <a:latin typeface="Calibri"/>
                <a:cs typeface="Calibri"/>
              </a:rPr>
              <a:t> </a:t>
            </a:r>
            <a:r>
              <a:rPr sz="1650" dirty="0">
                <a:latin typeface="Calibri"/>
                <a:cs typeface="Calibri"/>
              </a:rPr>
              <a:t>as</a:t>
            </a:r>
            <a:r>
              <a:rPr sz="1650" spc="160" dirty="0">
                <a:latin typeface="Calibri"/>
                <a:cs typeface="Calibri"/>
              </a:rPr>
              <a:t> </a:t>
            </a:r>
            <a:r>
              <a:rPr sz="1650" dirty="0">
                <a:latin typeface="Calibri"/>
                <a:cs typeface="Calibri"/>
              </a:rPr>
              <a:t>we</a:t>
            </a:r>
            <a:r>
              <a:rPr sz="1650" spc="200" dirty="0">
                <a:latin typeface="Calibri"/>
                <a:cs typeface="Calibri"/>
              </a:rPr>
              <a:t> </a:t>
            </a:r>
            <a:r>
              <a:rPr sz="1650" dirty="0">
                <a:latin typeface="Calibri"/>
                <a:cs typeface="Calibri"/>
              </a:rPr>
              <a:t>build</a:t>
            </a:r>
            <a:r>
              <a:rPr sz="1650" spc="155" dirty="0">
                <a:latin typeface="Calibri"/>
                <a:cs typeface="Calibri"/>
              </a:rPr>
              <a:t> </a:t>
            </a:r>
            <a:r>
              <a:rPr sz="1650" dirty="0">
                <a:latin typeface="Calibri"/>
                <a:cs typeface="Calibri"/>
              </a:rPr>
              <a:t>the</a:t>
            </a:r>
            <a:r>
              <a:rPr sz="1650" spc="265" dirty="0">
                <a:latin typeface="Calibri"/>
                <a:cs typeface="Calibri"/>
              </a:rPr>
              <a:t> </a:t>
            </a:r>
            <a:r>
              <a:rPr sz="1650" spc="-10" dirty="0">
                <a:latin typeface="Calibri"/>
                <a:cs typeface="Calibri"/>
              </a:rPr>
              <a:t>software</a:t>
            </a:r>
            <a:endParaRPr sz="1650" dirty="0">
              <a:latin typeface="Calibri"/>
              <a:cs typeface="Calibri"/>
            </a:endParaRPr>
          </a:p>
          <a:p>
            <a:pPr marL="496570" marR="323215" lvl="1" indent="-154305">
              <a:lnSpc>
                <a:spcPts val="1900"/>
              </a:lnSpc>
              <a:spcBef>
                <a:spcPts val="400"/>
              </a:spcBef>
              <a:buChar char="•"/>
              <a:tabLst>
                <a:tab pos="499109" algn="l"/>
              </a:tabLst>
            </a:pPr>
            <a:r>
              <a:rPr sz="1750" dirty="0">
                <a:latin typeface="Calibri"/>
                <a:cs typeface="Calibri"/>
              </a:rPr>
              <a:t>Project stakeholders</a:t>
            </a:r>
            <a:r>
              <a:rPr sz="1750" spc="35" dirty="0">
                <a:latin typeface="Calibri"/>
                <a:cs typeface="Calibri"/>
              </a:rPr>
              <a:t> </a:t>
            </a:r>
            <a:r>
              <a:rPr sz="1750" dirty="0">
                <a:latin typeface="Calibri"/>
                <a:cs typeface="Calibri"/>
              </a:rPr>
              <a:t>will</a:t>
            </a:r>
            <a:r>
              <a:rPr sz="1750" spc="5" dirty="0">
                <a:latin typeface="Calibri"/>
                <a:cs typeface="Calibri"/>
              </a:rPr>
              <a:t> </a:t>
            </a:r>
            <a:r>
              <a:rPr sz="1750" dirty="0">
                <a:solidFill>
                  <a:srgbClr val="161616"/>
                </a:solidFill>
                <a:latin typeface="Calibri"/>
                <a:cs typeface="Calibri"/>
              </a:rPr>
              <a:t>be</a:t>
            </a:r>
            <a:r>
              <a:rPr sz="1750" spc="-15" dirty="0">
                <a:solidFill>
                  <a:srgbClr val="161616"/>
                </a:solidFill>
                <a:latin typeface="Calibri"/>
                <a:cs typeface="Calibri"/>
              </a:rPr>
              <a:t> </a:t>
            </a:r>
            <a:r>
              <a:rPr sz="1750" dirty="0">
                <a:latin typeface="Calibri"/>
                <a:cs typeface="Calibri"/>
              </a:rPr>
              <a:t>able</a:t>
            </a:r>
            <a:r>
              <a:rPr sz="1750" spc="-25" dirty="0">
                <a:latin typeface="Calibri"/>
                <a:cs typeface="Calibri"/>
              </a:rPr>
              <a:t> </a:t>
            </a:r>
            <a:r>
              <a:rPr sz="1750" dirty="0">
                <a:solidFill>
                  <a:srgbClr val="151515"/>
                </a:solidFill>
                <a:latin typeface="Calibri"/>
                <a:cs typeface="Calibri"/>
              </a:rPr>
              <a:t>to</a:t>
            </a:r>
            <a:r>
              <a:rPr sz="1750" spc="-55" dirty="0">
                <a:solidFill>
                  <a:srgbClr val="151515"/>
                </a:solidFill>
                <a:latin typeface="Calibri"/>
                <a:cs typeface="Calibri"/>
              </a:rPr>
              <a:t> </a:t>
            </a:r>
            <a:r>
              <a:rPr sz="1750" dirty="0">
                <a:latin typeface="Calibri"/>
                <a:cs typeface="Calibri"/>
              </a:rPr>
              <a:t>better</a:t>
            </a:r>
            <a:r>
              <a:rPr sz="1750" spc="25" dirty="0">
                <a:latin typeface="Calibri"/>
                <a:cs typeface="Calibri"/>
              </a:rPr>
              <a:t> </a:t>
            </a:r>
            <a:r>
              <a:rPr sz="1750" dirty="0">
                <a:latin typeface="Calibri"/>
                <a:cs typeface="Calibri"/>
              </a:rPr>
              <a:t>understand</a:t>
            </a:r>
            <a:r>
              <a:rPr sz="1750" spc="100" dirty="0">
                <a:latin typeface="Calibri"/>
                <a:cs typeface="Calibri"/>
              </a:rPr>
              <a:t> </a:t>
            </a:r>
            <a:r>
              <a:rPr sz="1750" dirty="0">
                <a:latin typeface="Calibri"/>
                <a:cs typeface="Calibri"/>
              </a:rPr>
              <a:t>what</a:t>
            </a:r>
            <a:r>
              <a:rPr sz="1750" spc="15" dirty="0">
                <a:latin typeface="Calibri"/>
                <a:cs typeface="Calibri"/>
              </a:rPr>
              <a:t> </a:t>
            </a:r>
            <a:r>
              <a:rPr sz="1750" spc="-20" dirty="0">
                <a:latin typeface="Calibri"/>
                <a:cs typeface="Calibri"/>
              </a:rPr>
              <a:t>they 	</a:t>
            </a:r>
            <a:r>
              <a:rPr sz="1750" dirty="0">
                <a:latin typeface="Calibri"/>
                <a:cs typeface="Calibri"/>
              </a:rPr>
              <a:t>need</a:t>
            </a:r>
            <a:r>
              <a:rPr sz="1750" spc="-100" dirty="0">
                <a:latin typeface="Calibri"/>
                <a:cs typeface="Calibri"/>
              </a:rPr>
              <a:t> </a:t>
            </a:r>
            <a:r>
              <a:rPr sz="1750" dirty="0">
                <a:solidFill>
                  <a:srgbClr val="0E0E0E"/>
                </a:solidFill>
                <a:latin typeface="Calibri"/>
                <a:cs typeface="Calibri"/>
              </a:rPr>
              <a:t>only</a:t>
            </a:r>
            <a:r>
              <a:rPr sz="1750" spc="-10" dirty="0">
                <a:solidFill>
                  <a:srgbClr val="0E0E0E"/>
                </a:solidFill>
                <a:latin typeface="Calibri"/>
                <a:cs typeface="Calibri"/>
              </a:rPr>
              <a:t> </a:t>
            </a:r>
            <a:r>
              <a:rPr sz="1750" dirty="0">
                <a:latin typeface="Calibri"/>
                <a:cs typeface="Calibri"/>
              </a:rPr>
              <a:t>after examining</a:t>
            </a:r>
            <a:r>
              <a:rPr sz="1750" spc="75" dirty="0">
                <a:latin typeface="Calibri"/>
                <a:cs typeface="Calibri"/>
              </a:rPr>
              <a:t> </a:t>
            </a:r>
            <a:r>
              <a:rPr sz="1750" dirty="0">
                <a:latin typeface="Calibri"/>
                <a:cs typeface="Calibri"/>
              </a:rPr>
              <a:t>early</a:t>
            </a:r>
            <a:r>
              <a:rPr sz="1750" spc="-35" dirty="0">
                <a:latin typeface="Calibri"/>
                <a:cs typeface="Calibri"/>
              </a:rPr>
              <a:t> </a:t>
            </a:r>
            <a:r>
              <a:rPr sz="1750" dirty="0">
                <a:latin typeface="Calibri"/>
                <a:cs typeface="Calibri"/>
              </a:rPr>
              <a:t>iterations</a:t>
            </a:r>
            <a:r>
              <a:rPr sz="1750" spc="-15" dirty="0">
                <a:latin typeface="Calibri"/>
                <a:cs typeface="Calibri"/>
              </a:rPr>
              <a:t> </a:t>
            </a:r>
            <a:r>
              <a:rPr sz="1750" dirty="0">
                <a:solidFill>
                  <a:srgbClr val="111111"/>
                </a:solidFill>
                <a:latin typeface="Calibri"/>
                <a:cs typeface="Calibri"/>
              </a:rPr>
              <a:t>of</a:t>
            </a:r>
            <a:r>
              <a:rPr sz="1750" spc="50" dirty="0">
                <a:solidFill>
                  <a:srgbClr val="111111"/>
                </a:solidFill>
                <a:latin typeface="Calibri"/>
                <a:cs typeface="Calibri"/>
              </a:rPr>
              <a:t> </a:t>
            </a:r>
            <a:r>
              <a:rPr sz="1750" dirty="0">
                <a:solidFill>
                  <a:srgbClr val="212121"/>
                </a:solidFill>
                <a:latin typeface="Calibri"/>
                <a:cs typeface="Calibri"/>
              </a:rPr>
              <a:t>the</a:t>
            </a:r>
            <a:r>
              <a:rPr sz="1750" spc="35" dirty="0">
                <a:solidFill>
                  <a:srgbClr val="212121"/>
                </a:solidFill>
                <a:latin typeface="Calibri"/>
                <a:cs typeface="Calibri"/>
              </a:rPr>
              <a:t> </a:t>
            </a:r>
            <a:r>
              <a:rPr sz="1750" spc="-10" dirty="0">
                <a:latin typeface="Calibri"/>
                <a:cs typeface="Calibri"/>
              </a:rPr>
              <a:t>software</a:t>
            </a:r>
            <a:endParaRPr sz="1750" dirty="0">
              <a:latin typeface="Calibri"/>
              <a:cs typeface="Calibri"/>
            </a:endParaRPr>
          </a:p>
          <a:p>
            <a:pPr marL="502284" lvl="1" indent="-172720">
              <a:lnSpc>
                <a:spcPts val="2030"/>
              </a:lnSpc>
              <a:spcBef>
                <a:spcPts val="20"/>
              </a:spcBef>
              <a:buChar char="•"/>
              <a:tabLst>
                <a:tab pos="502284" algn="l"/>
              </a:tabLst>
            </a:pPr>
            <a:r>
              <a:rPr sz="1800" dirty="0">
                <a:latin typeface="Calibri"/>
                <a:cs typeface="Calibri"/>
              </a:rPr>
              <a:t>Things</a:t>
            </a:r>
            <a:r>
              <a:rPr sz="1800" spc="-105" dirty="0">
                <a:latin typeface="Calibri"/>
                <a:cs typeface="Calibri"/>
              </a:rPr>
              <a:t> </a:t>
            </a:r>
            <a:r>
              <a:rPr sz="1800" dirty="0">
                <a:latin typeface="Calibri"/>
                <a:cs typeface="Calibri"/>
              </a:rPr>
              <a:t>change</a:t>
            </a:r>
            <a:r>
              <a:rPr sz="1800" spc="5" dirty="0">
                <a:latin typeface="Calibri"/>
                <a:cs typeface="Calibri"/>
              </a:rPr>
              <a:t> </a:t>
            </a:r>
            <a:r>
              <a:rPr sz="1800" spc="-20" dirty="0">
                <a:latin typeface="Calibri"/>
                <a:cs typeface="Calibri"/>
              </a:rPr>
              <a:t>so</a:t>
            </a:r>
            <a:r>
              <a:rPr sz="1800" spc="-90" dirty="0">
                <a:latin typeface="Calibri"/>
                <a:cs typeface="Calibri"/>
              </a:rPr>
              <a:t> </a:t>
            </a:r>
            <a:r>
              <a:rPr sz="2700" spc="-44" baseline="1543" dirty="0">
                <a:latin typeface="Calibri"/>
                <a:cs typeface="Calibri"/>
              </a:rPr>
              <a:t>rapid</a:t>
            </a:r>
            <a:r>
              <a:rPr sz="2700" spc="-44" baseline="-4629" dirty="0">
                <a:latin typeface="Calibri"/>
                <a:cs typeface="Calibri"/>
              </a:rPr>
              <a:t>!v</a:t>
            </a:r>
            <a:r>
              <a:rPr sz="2700" spc="-112" baseline="-4629" dirty="0">
                <a:latin typeface="Calibri"/>
                <a:cs typeface="Calibri"/>
              </a:rPr>
              <a:t> </a:t>
            </a:r>
            <a:r>
              <a:rPr sz="1800" dirty="0">
                <a:latin typeface="Calibri"/>
                <a:cs typeface="Calibri"/>
              </a:rPr>
              <a:t>that</a:t>
            </a:r>
            <a:r>
              <a:rPr sz="1800" spc="-25" dirty="0">
                <a:latin typeface="Calibri"/>
                <a:cs typeface="Calibri"/>
              </a:rPr>
              <a:t> </a:t>
            </a:r>
            <a:r>
              <a:rPr sz="1800" spc="-30" dirty="0">
                <a:latin typeface="Calibri"/>
                <a:cs typeface="Calibri"/>
              </a:rPr>
              <a:t>requirements</a:t>
            </a:r>
            <a:r>
              <a:rPr sz="1800" spc="10" dirty="0">
                <a:latin typeface="Calibri"/>
                <a:cs typeface="Calibri"/>
              </a:rPr>
              <a:t> </a:t>
            </a:r>
            <a:r>
              <a:rPr sz="1800" spc="-25" dirty="0">
                <a:latin typeface="Calibri"/>
                <a:cs typeface="Calibri"/>
              </a:rPr>
              <a:t>engineering</a:t>
            </a:r>
            <a:r>
              <a:rPr sz="1800" spc="50" dirty="0">
                <a:latin typeface="Calibri"/>
                <a:cs typeface="Calibri"/>
              </a:rPr>
              <a:t> </a:t>
            </a:r>
            <a:r>
              <a:rPr sz="1800" dirty="0">
                <a:solidFill>
                  <a:srgbClr val="0C0C0C"/>
                </a:solidFill>
                <a:latin typeface="Calibri"/>
                <a:cs typeface="Calibri"/>
              </a:rPr>
              <a:t>is</a:t>
            </a:r>
            <a:r>
              <a:rPr sz="1800" spc="-30" dirty="0">
                <a:solidFill>
                  <a:srgbClr val="0C0C0C"/>
                </a:solidFill>
                <a:latin typeface="Calibri"/>
                <a:cs typeface="Calibri"/>
              </a:rPr>
              <a:t> </a:t>
            </a:r>
            <a:r>
              <a:rPr sz="1800" dirty="0">
                <a:solidFill>
                  <a:srgbClr val="0F0F0F"/>
                </a:solidFill>
                <a:latin typeface="Calibri"/>
                <a:cs typeface="Calibri"/>
              </a:rPr>
              <a:t>a</a:t>
            </a:r>
            <a:r>
              <a:rPr sz="1800" spc="-40" dirty="0">
                <a:solidFill>
                  <a:srgbClr val="0F0F0F"/>
                </a:solidFill>
                <a:latin typeface="Calibri"/>
                <a:cs typeface="Calibri"/>
              </a:rPr>
              <a:t> </a:t>
            </a:r>
            <a:r>
              <a:rPr sz="1800" spc="-10" dirty="0">
                <a:latin typeface="Calibri"/>
                <a:cs typeface="Calibri"/>
              </a:rPr>
              <a:t>waste</a:t>
            </a:r>
            <a:endParaRPr sz="1800" dirty="0">
              <a:latin typeface="Calibri"/>
              <a:cs typeface="Calibri"/>
            </a:endParaRPr>
          </a:p>
          <a:p>
            <a:pPr marL="492759">
              <a:lnSpc>
                <a:spcPts val="2090"/>
              </a:lnSpc>
            </a:pPr>
            <a:r>
              <a:rPr sz="1850" dirty="0">
                <a:latin typeface="Calibri"/>
                <a:cs typeface="Calibri"/>
              </a:rPr>
              <a:t>of</a:t>
            </a:r>
            <a:r>
              <a:rPr sz="1850" spc="-15" dirty="0">
                <a:latin typeface="Calibri"/>
                <a:cs typeface="Calibri"/>
              </a:rPr>
              <a:t> </a:t>
            </a:r>
            <a:r>
              <a:rPr sz="1850" spc="-20" dirty="0">
                <a:latin typeface="Calibri"/>
                <a:cs typeface="Calibri"/>
              </a:rPr>
              <a:t>time</a:t>
            </a:r>
            <a:endParaRPr sz="1850" dirty="0">
              <a:latin typeface="Calibri"/>
              <a:cs typeface="Calibri"/>
            </a:endParaRPr>
          </a:p>
          <a:p>
            <a:pPr marL="500380" lvl="1" indent="-171450">
              <a:lnSpc>
                <a:spcPts val="2110"/>
              </a:lnSpc>
              <a:spcBef>
                <a:spcPts val="30"/>
              </a:spcBef>
              <a:buChar char="•"/>
              <a:tabLst>
                <a:tab pos="500380" algn="l"/>
              </a:tabLst>
            </a:pPr>
            <a:r>
              <a:rPr sz="1850" spc="-90" dirty="0">
                <a:latin typeface="Calibri"/>
                <a:cs typeface="Calibri"/>
              </a:rPr>
              <a:t>The</a:t>
            </a:r>
            <a:r>
              <a:rPr sz="1850" spc="-15" dirty="0">
                <a:latin typeface="Calibri"/>
                <a:cs typeface="Calibri"/>
              </a:rPr>
              <a:t> </a:t>
            </a:r>
            <a:r>
              <a:rPr sz="1850" spc="-45" dirty="0">
                <a:latin typeface="Calibri"/>
                <a:cs typeface="Calibri"/>
              </a:rPr>
              <a:t>bottDl</a:t>
            </a:r>
            <a:r>
              <a:rPr sz="1850" spc="15" dirty="0">
                <a:latin typeface="Calibri"/>
                <a:cs typeface="Calibri"/>
              </a:rPr>
              <a:t> </a:t>
            </a:r>
            <a:r>
              <a:rPr sz="1850" spc="-25" dirty="0">
                <a:latin typeface="Calibri"/>
                <a:cs typeface="Calibri"/>
              </a:rPr>
              <a:t>I</a:t>
            </a:r>
            <a:r>
              <a:rPr sz="1850" spc="-95" dirty="0">
                <a:latin typeface="Calibri"/>
                <a:cs typeface="Calibri"/>
              </a:rPr>
              <a:t> </a:t>
            </a:r>
            <a:r>
              <a:rPr sz="1850" dirty="0">
                <a:latin typeface="Calibri"/>
                <a:cs typeface="Calibri"/>
              </a:rPr>
              <a:t>line</a:t>
            </a:r>
            <a:r>
              <a:rPr sz="1850" spc="-55" dirty="0">
                <a:latin typeface="Calibri"/>
                <a:cs typeface="Calibri"/>
              </a:rPr>
              <a:t> </a:t>
            </a:r>
            <a:r>
              <a:rPr sz="1850" dirty="0">
                <a:latin typeface="Calibri"/>
                <a:cs typeface="Calibri"/>
              </a:rPr>
              <a:t>is</a:t>
            </a:r>
            <a:r>
              <a:rPr sz="1850" spc="-75" dirty="0">
                <a:latin typeface="Calibri"/>
                <a:cs typeface="Calibri"/>
              </a:rPr>
              <a:t> </a:t>
            </a:r>
            <a:r>
              <a:rPr sz="1850" spc="-50" dirty="0">
                <a:latin typeface="Calibri"/>
                <a:cs typeface="Calibri"/>
              </a:rPr>
              <a:t>producing</a:t>
            </a:r>
            <a:r>
              <a:rPr sz="1850" spc="30" dirty="0">
                <a:latin typeface="Calibri"/>
                <a:cs typeface="Calibri"/>
              </a:rPr>
              <a:t> </a:t>
            </a:r>
            <a:r>
              <a:rPr sz="1850" dirty="0">
                <a:latin typeface="Calibri"/>
                <a:cs typeface="Calibri"/>
              </a:rPr>
              <a:t>a</a:t>
            </a:r>
            <a:r>
              <a:rPr sz="1850" spc="-65" dirty="0">
                <a:latin typeface="Calibri"/>
                <a:cs typeface="Calibri"/>
              </a:rPr>
              <a:t> </a:t>
            </a:r>
            <a:r>
              <a:rPr sz="1850" spc="-25" dirty="0">
                <a:latin typeface="Calibri"/>
                <a:cs typeface="Calibri"/>
              </a:rPr>
              <a:t>working</a:t>
            </a:r>
            <a:r>
              <a:rPr sz="1850" spc="-45" dirty="0">
                <a:latin typeface="Calibri"/>
                <a:cs typeface="Calibri"/>
              </a:rPr>
              <a:t> </a:t>
            </a:r>
            <a:r>
              <a:rPr sz="1850" spc="-25" dirty="0">
                <a:latin typeface="Calibri"/>
                <a:cs typeface="Calibri"/>
              </a:rPr>
              <a:t>program</a:t>
            </a:r>
            <a:r>
              <a:rPr sz="1850" spc="-5" dirty="0">
                <a:latin typeface="Calibri"/>
                <a:cs typeface="Calibri"/>
              </a:rPr>
              <a:t> </a:t>
            </a:r>
            <a:r>
              <a:rPr sz="1850" spc="-20" dirty="0">
                <a:solidFill>
                  <a:srgbClr val="131313"/>
                </a:solidFill>
                <a:latin typeface="Calibri"/>
                <a:cs typeface="Calibri"/>
              </a:rPr>
              <a:t>and</a:t>
            </a:r>
            <a:r>
              <a:rPr sz="1850" spc="-85" dirty="0">
                <a:solidFill>
                  <a:srgbClr val="131313"/>
                </a:solidFill>
                <a:latin typeface="Calibri"/>
                <a:cs typeface="Calibri"/>
              </a:rPr>
              <a:t> </a:t>
            </a:r>
            <a:r>
              <a:rPr sz="1850" spc="-35" dirty="0">
                <a:solidFill>
                  <a:srgbClr val="0F0F0F"/>
                </a:solidFill>
                <a:latin typeface="Calibri"/>
                <a:cs typeface="Calibri"/>
              </a:rPr>
              <a:t>that</a:t>
            </a:r>
            <a:r>
              <a:rPr sz="1850" spc="-70" dirty="0">
                <a:solidFill>
                  <a:srgbClr val="0F0F0F"/>
                </a:solidFill>
                <a:latin typeface="Calibri"/>
                <a:cs typeface="Calibri"/>
              </a:rPr>
              <a:t> </a:t>
            </a:r>
            <a:r>
              <a:rPr sz="1850" dirty="0">
                <a:latin typeface="Calibri"/>
                <a:cs typeface="Calibri"/>
              </a:rPr>
              <a:t>all</a:t>
            </a:r>
            <a:r>
              <a:rPr sz="1850" spc="-70" dirty="0">
                <a:latin typeface="Calibri"/>
                <a:cs typeface="Calibri"/>
              </a:rPr>
              <a:t> </a:t>
            </a:r>
            <a:r>
              <a:rPr sz="1850" spc="-30" dirty="0">
                <a:solidFill>
                  <a:srgbClr val="151515"/>
                </a:solidFill>
                <a:latin typeface="Calibri"/>
                <a:cs typeface="Calibri"/>
              </a:rPr>
              <a:t>else</a:t>
            </a:r>
            <a:r>
              <a:rPr sz="1850" spc="-35" dirty="0">
                <a:solidFill>
                  <a:srgbClr val="151515"/>
                </a:solidFill>
                <a:latin typeface="Calibri"/>
                <a:cs typeface="Calibri"/>
              </a:rPr>
              <a:t> </a:t>
            </a:r>
            <a:r>
              <a:rPr sz="1850" spc="-25" dirty="0">
                <a:solidFill>
                  <a:srgbClr val="0F0F0F"/>
                </a:solidFill>
                <a:latin typeface="Calibri"/>
                <a:cs typeface="Calibri"/>
              </a:rPr>
              <a:t>is</a:t>
            </a:r>
            <a:endParaRPr sz="1850" dirty="0">
              <a:latin typeface="Calibri"/>
              <a:cs typeface="Calibri"/>
            </a:endParaRPr>
          </a:p>
          <a:p>
            <a:pPr marL="494665">
              <a:lnSpc>
                <a:spcPts val="1989"/>
              </a:lnSpc>
            </a:pPr>
            <a:r>
              <a:rPr sz="1750" spc="-10" dirty="0">
                <a:latin typeface="Calibri"/>
                <a:cs typeface="Calibri"/>
              </a:rPr>
              <a:t>secondary</a:t>
            </a:r>
            <a:endParaRPr sz="1750" dirty="0">
              <a:latin typeface="Calibri"/>
              <a:cs typeface="Calibri"/>
            </a:endParaRPr>
          </a:p>
          <a:p>
            <a:pPr marL="194945" marR="30480" indent="-157480">
              <a:lnSpc>
                <a:spcPts val="1900"/>
              </a:lnSpc>
              <a:spcBef>
                <a:spcPts val="730"/>
              </a:spcBef>
              <a:buClr>
                <a:srgbClr val="000000"/>
              </a:buClr>
              <a:buChar char="•"/>
              <a:tabLst>
                <a:tab pos="194945" algn="l"/>
              </a:tabLst>
            </a:pPr>
            <a:r>
              <a:rPr sz="1750" dirty="0">
                <a:solidFill>
                  <a:srgbClr val="161616"/>
                </a:solidFill>
                <a:latin typeface="Calibri"/>
                <a:cs typeface="Calibri"/>
              </a:rPr>
              <a:t>All</a:t>
            </a:r>
            <a:r>
              <a:rPr sz="1750" spc="-55" dirty="0">
                <a:solidFill>
                  <a:srgbClr val="161616"/>
                </a:solidFill>
                <a:latin typeface="Calibri"/>
                <a:cs typeface="Calibri"/>
              </a:rPr>
              <a:t> </a:t>
            </a:r>
            <a:r>
              <a:rPr sz="1750" dirty="0">
                <a:latin typeface="Calibri"/>
                <a:cs typeface="Calibri"/>
              </a:rPr>
              <a:t>of</a:t>
            </a:r>
            <a:r>
              <a:rPr sz="1750" spc="-55" dirty="0">
                <a:latin typeface="Calibri"/>
                <a:cs typeface="Calibri"/>
              </a:rPr>
              <a:t> </a:t>
            </a:r>
            <a:r>
              <a:rPr sz="1750" dirty="0">
                <a:latin typeface="Calibri"/>
                <a:cs typeface="Calibri"/>
              </a:rPr>
              <a:t>these</a:t>
            </a:r>
            <a:r>
              <a:rPr sz="1750" spc="-55" dirty="0">
                <a:latin typeface="Calibri"/>
                <a:cs typeface="Calibri"/>
              </a:rPr>
              <a:t> </a:t>
            </a:r>
            <a:r>
              <a:rPr sz="1750" dirty="0">
                <a:latin typeface="Calibri"/>
                <a:cs typeface="Calibri"/>
              </a:rPr>
              <a:t>arguments</a:t>
            </a:r>
            <a:r>
              <a:rPr sz="1750" spc="120" dirty="0">
                <a:latin typeface="Calibri"/>
                <a:cs typeface="Calibri"/>
              </a:rPr>
              <a:t> </a:t>
            </a:r>
            <a:r>
              <a:rPr sz="1750" dirty="0">
                <a:latin typeface="Calibri"/>
                <a:cs typeface="Calibri"/>
              </a:rPr>
              <a:t>contain</a:t>
            </a:r>
            <a:r>
              <a:rPr sz="1750" spc="-5" dirty="0">
                <a:latin typeface="Calibri"/>
                <a:cs typeface="Calibri"/>
              </a:rPr>
              <a:t> </a:t>
            </a:r>
            <a:r>
              <a:rPr sz="1750" dirty="0">
                <a:latin typeface="Calibri"/>
                <a:cs typeface="Calibri"/>
              </a:rPr>
              <a:t>some</a:t>
            </a:r>
            <a:r>
              <a:rPr sz="1750" spc="-15" dirty="0">
                <a:latin typeface="Calibri"/>
                <a:cs typeface="Calibri"/>
              </a:rPr>
              <a:t> </a:t>
            </a:r>
            <a:r>
              <a:rPr sz="1750" dirty="0">
                <a:latin typeface="Calibri"/>
                <a:cs typeface="Calibri"/>
              </a:rPr>
              <a:t>truth,</a:t>
            </a:r>
            <a:r>
              <a:rPr sz="1750" spc="-10" dirty="0">
                <a:latin typeface="Calibri"/>
                <a:cs typeface="Calibri"/>
              </a:rPr>
              <a:t> </a:t>
            </a:r>
            <a:r>
              <a:rPr sz="1750" dirty="0">
                <a:latin typeface="Calibri"/>
                <a:cs typeface="Calibri"/>
              </a:rPr>
              <a:t>especially</a:t>
            </a:r>
            <a:r>
              <a:rPr sz="1750" spc="100" dirty="0">
                <a:latin typeface="Calibri"/>
                <a:cs typeface="Calibri"/>
              </a:rPr>
              <a:t> </a:t>
            </a:r>
            <a:r>
              <a:rPr sz="1750" dirty="0">
                <a:latin typeface="Calibri"/>
                <a:cs typeface="Calibri"/>
              </a:rPr>
              <a:t>for</a:t>
            </a:r>
            <a:r>
              <a:rPr sz="1750" spc="-40" dirty="0">
                <a:latin typeface="Calibri"/>
                <a:cs typeface="Calibri"/>
              </a:rPr>
              <a:t> </a:t>
            </a:r>
            <a:r>
              <a:rPr sz="1750" dirty="0">
                <a:latin typeface="Calibri"/>
                <a:cs typeface="Calibri"/>
              </a:rPr>
              <a:t>small</a:t>
            </a:r>
            <a:r>
              <a:rPr sz="1750" spc="-60" dirty="0">
                <a:latin typeface="Calibri"/>
                <a:cs typeface="Calibri"/>
              </a:rPr>
              <a:t> </a:t>
            </a:r>
            <a:r>
              <a:rPr sz="1750" spc="-10" dirty="0">
                <a:latin typeface="Calibri"/>
                <a:cs typeface="Calibri"/>
              </a:rPr>
              <a:t>projects </a:t>
            </a:r>
            <a:r>
              <a:rPr sz="1750" dirty="0">
                <a:latin typeface="Calibri"/>
                <a:cs typeface="Calibri"/>
              </a:rPr>
              <a:t>that</a:t>
            </a:r>
            <a:r>
              <a:rPr sz="1750" spc="25" dirty="0">
                <a:latin typeface="Calibri"/>
                <a:cs typeface="Calibri"/>
              </a:rPr>
              <a:t> </a:t>
            </a:r>
            <a:r>
              <a:rPr sz="1750" dirty="0">
                <a:latin typeface="Calibri"/>
                <a:cs typeface="Calibri"/>
              </a:rPr>
              <a:t>take</a:t>
            </a:r>
            <a:r>
              <a:rPr sz="1750" spc="-5" dirty="0">
                <a:latin typeface="Calibri"/>
                <a:cs typeface="Calibri"/>
              </a:rPr>
              <a:t> </a:t>
            </a:r>
            <a:r>
              <a:rPr sz="1750" dirty="0">
                <a:latin typeface="Calibri"/>
                <a:cs typeface="Calibri"/>
              </a:rPr>
              <a:t>less</a:t>
            </a:r>
            <a:r>
              <a:rPr sz="1750" spc="-5" dirty="0">
                <a:latin typeface="Calibri"/>
                <a:cs typeface="Calibri"/>
              </a:rPr>
              <a:t> </a:t>
            </a:r>
            <a:r>
              <a:rPr sz="1750" dirty="0">
                <a:solidFill>
                  <a:srgbClr val="111111"/>
                </a:solidFill>
                <a:latin typeface="Calibri"/>
                <a:cs typeface="Calibri"/>
              </a:rPr>
              <a:t>than</a:t>
            </a:r>
            <a:r>
              <a:rPr sz="1750" spc="55" dirty="0">
                <a:solidFill>
                  <a:srgbClr val="111111"/>
                </a:solidFill>
                <a:latin typeface="Calibri"/>
                <a:cs typeface="Calibri"/>
              </a:rPr>
              <a:t> </a:t>
            </a:r>
            <a:r>
              <a:rPr sz="1750" dirty="0">
                <a:latin typeface="Calibri"/>
                <a:cs typeface="Calibri"/>
              </a:rPr>
              <a:t>two</a:t>
            </a:r>
            <a:r>
              <a:rPr sz="1750" spc="-45" dirty="0">
                <a:latin typeface="Calibri"/>
                <a:cs typeface="Calibri"/>
              </a:rPr>
              <a:t> </a:t>
            </a:r>
            <a:r>
              <a:rPr sz="1750" dirty="0">
                <a:solidFill>
                  <a:srgbClr val="1A1A1A"/>
                </a:solidFill>
                <a:latin typeface="Calibri"/>
                <a:cs typeface="Calibri"/>
              </a:rPr>
              <a:t>or</a:t>
            </a:r>
            <a:r>
              <a:rPr sz="1750" spc="-60" dirty="0">
                <a:solidFill>
                  <a:srgbClr val="1A1A1A"/>
                </a:solidFill>
                <a:latin typeface="Calibri"/>
                <a:cs typeface="Calibri"/>
              </a:rPr>
              <a:t> </a:t>
            </a:r>
            <a:r>
              <a:rPr sz="1750" dirty="0">
                <a:solidFill>
                  <a:srgbClr val="0E0E0E"/>
                </a:solidFill>
                <a:latin typeface="Calibri"/>
                <a:cs typeface="Calibri"/>
              </a:rPr>
              <a:t>three </a:t>
            </a:r>
            <a:r>
              <a:rPr sz="1750" dirty="0">
                <a:latin typeface="Calibri"/>
                <a:cs typeface="Calibri"/>
              </a:rPr>
              <a:t>month</a:t>
            </a:r>
            <a:r>
              <a:rPr sz="1750" spc="65" dirty="0">
                <a:latin typeface="Calibri"/>
                <a:cs typeface="Calibri"/>
              </a:rPr>
              <a:t> </a:t>
            </a:r>
            <a:r>
              <a:rPr sz="1750" dirty="0">
                <a:solidFill>
                  <a:srgbClr val="0F0F0F"/>
                </a:solidFill>
                <a:latin typeface="Calibri"/>
                <a:cs typeface="Calibri"/>
              </a:rPr>
              <a:t>to</a:t>
            </a:r>
            <a:r>
              <a:rPr sz="1750" spc="-65" dirty="0">
                <a:solidFill>
                  <a:srgbClr val="0F0F0F"/>
                </a:solidFill>
                <a:latin typeface="Calibri"/>
                <a:cs typeface="Calibri"/>
              </a:rPr>
              <a:t> </a:t>
            </a:r>
            <a:r>
              <a:rPr sz="1750" spc="-10" dirty="0">
                <a:latin typeface="Calibri"/>
                <a:cs typeface="Calibri"/>
              </a:rPr>
              <a:t>complete</a:t>
            </a:r>
            <a:endParaRPr sz="1750" dirty="0">
              <a:latin typeface="Calibri"/>
              <a:cs typeface="Calibri"/>
            </a:endParaRPr>
          </a:p>
          <a:p>
            <a:pPr marL="193675" marR="242570" indent="-146685">
              <a:lnSpc>
                <a:spcPts val="1900"/>
              </a:lnSpc>
              <a:spcBef>
                <a:spcPts val="700"/>
              </a:spcBef>
            </a:pPr>
            <a:r>
              <a:rPr sz="1850" dirty="0">
                <a:latin typeface="Calibri"/>
                <a:cs typeface="Calibri"/>
              </a:rPr>
              <a:t>°</a:t>
            </a:r>
            <a:r>
              <a:rPr sz="1850" spc="-45" dirty="0">
                <a:latin typeface="Calibri"/>
                <a:cs typeface="Calibri"/>
              </a:rPr>
              <a:t> </a:t>
            </a:r>
            <a:r>
              <a:rPr sz="1850" spc="-55" dirty="0">
                <a:latin typeface="Calibri"/>
                <a:cs typeface="Calibri"/>
              </a:rPr>
              <a:t>However,</a:t>
            </a:r>
            <a:r>
              <a:rPr sz="1850" spc="100" dirty="0">
                <a:latin typeface="Calibri"/>
                <a:cs typeface="Calibri"/>
              </a:rPr>
              <a:t> </a:t>
            </a:r>
            <a:r>
              <a:rPr sz="1850" spc="-35" dirty="0">
                <a:latin typeface="Calibri"/>
                <a:cs typeface="Calibri"/>
              </a:rPr>
              <a:t>as</a:t>
            </a:r>
            <a:r>
              <a:rPr sz="1850" spc="-70" dirty="0">
                <a:latin typeface="Calibri"/>
                <a:cs typeface="Calibri"/>
              </a:rPr>
              <a:t> </a:t>
            </a:r>
            <a:r>
              <a:rPr sz="1850" spc="-50" dirty="0">
                <a:latin typeface="Calibri"/>
                <a:cs typeface="Calibri"/>
              </a:rPr>
              <a:t>software</a:t>
            </a:r>
            <a:r>
              <a:rPr sz="1850" spc="-30" dirty="0">
                <a:latin typeface="Calibri"/>
                <a:cs typeface="Calibri"/>
              </a:rPr>
              <a:t> </a:t>
            </a:r>
            <a:r>
              <a:rPr sz="1850" spc="-25" dirty="0">
                <a:latin typeface="Calibri"/>
                <a:cs typeface="Calibri"/>
              </a:rPr>
              <a:t>grows</a:t>
            </a:r>
            <a:r>
              <a:rPr sz="1850" spc="-30" dirty="0">
                <a:latin typeface="Calibri"/>
                <a:cs typeface="Calibri"/>
              </a:rPr>
              <a:t> </a:t>
            </a:r>
            <a:r>
              <a:rPr sz="1850" dirty="0">
                <a:latin typeface="Calibri"/>
                <a:cs typeface="Calibri"/>
              </a:rPr>
              <a:t>in</a:t>
            </a:r>
            <a:r>
              <a:rPr sz="1850" spc="-70" dirty="0">
                <a:latin typeface="Calibri"/>
                <a:cs typeface="Calibri"/>
              </a:rPr>
              <a:t> </a:t>
            </a:r>
            <a:r>
              <a:rPr sz="1850" spc="-60" dirty="0">
                <a:latin typeface="Calibri"/>
                <a:cs typeface="Calibri"/>
              </a:rPr>
              <a:t>size</a:t>
            </a:r>
            <a:r>
              <a:rPr sz="1850" spc="-40" dirty="0">
                <a:latin typeface="Calibri"/>
                <a:cs typeface="Calibri"/>
              </a:rPr>
              <a:t> </a:t>
            </a:r>
            <a:r>
              <a:rPr sz="1850" dirty="0">
                <a:solidFill>
                  <a:srgbClr val="181818"/>
                </a:solidFill>
                <a:latin typeface="Calibri"/>
                <a:cs typeface="Calibri"/>
              </a:rPr>
              <a:t>and</a:t>
            </a:r>
            <a:r>
              <a:rPr sz="1850" spc="-70" dirty="0">
                <a:solidFill>
                  <a:srgbClr val="181818"/>
                </a:solidFill>
                <a:latin typeface="Calibri"/>
                <a:cs typeface="Calibri"/>
              </a:rPr>
              <a:t> </a:t>
            </a:r>
            <a:r>
              <a:rPr sz="1850" spc="-50" dirty="0">
                <a:latin typeface="Calibri"/>
                <a:cs typeface="Calibri"/>
              </a:rPr>
              <a:t>complexity,</a:t>
            </a:r>
            <a:r>
              <a:rPr sz="1850" spc="60" dirty="0">
                <a:latin typeface="Calibri"/>
                <a:cs typeface="Calibri"/>
              </a:rPr>
              <a:t> </a:t>
            </a:r>
            <a:r>
              <a:rPr sz="1850" spc="-50" dirty="0">
                <a:solidFill>
                  <a:srgbClr val="1D1D1D"/>
                </a:solidFill>
                <a:latin typeface="Calibri"/>
                <a:cs typeface="Calibri"/>
              </a:rPr>
              <a:t>these</a:t>
            </a:r>
            <a:r>
              <a:rPr sz="1850" spc="10" dirty="0">
                <a:solidFill>
                  <a:srgbClr val="1D1D1D"/>
                </a:solidFill>
                <a:latin typeface="Calibri"/>
                <a:cs typeface="Calibri"/>
              </a:rPr>
              <a:t> </a:t>
            </a:r>
            <a:r>
              <a:rPr sz="1850" spc="-10" dirty="0">
                <a:latin typeface="Calibri"/>
                <a:cs typeface="Calibri"/>
              </a:rPr>
              <a:t>arguments </a:t>
            </a:r>
            <a:r>
              <a:rPr sz="1850" spc="-40" dirty="0">
                <a:latin typeface="Calibri"/>
                <a:cs typeface="Calibri"/>
              </a:rPr>
              <a:t>begin</a:t>
            </a:r>
            <a:r>
              <a:rPr sz="1850" spc="-65" dirty="0">
                <a:latin typeface="Calibri"/>
                <a:cs typeface="Calibri"/>
              </a:rPr>
              <a:t> </a:t>
            </a:r>
            <a:r>
              <a:rPr sz="1850" spc="-45" dirty="0">
                <a:solidFill>
                  <a:srgbClr val="1C1C1C"/>
                </a:solidFill>
                <a:latin typeface="Calibri"/>
                <a:cs typeface="Calibri"/>
              </a:rPr>
              <a:t>to</a:t>
            </a:r>
            <a:r>
              <a:rPr sz="1850" spc="-60" dirty="0">
                <a:solidFill>
                  <a:srgbClr val="1C1C1C"/>
                </a:solidFill>
                <a:latin typeface="Calibri"/>
                <a:cs typeface="Calibri"/>
              </a:rPr>
              <a:t> </a:t>
            </a:r>
            <a:r>
              <a:rPr sz="1850" spc="-55" dirty="0">
                <a:latin typeface="Calibri"/>
                <a:cs typeface="Calibri"/>
              </a:rPr>
              <a:t>break</a:t>
            </a:r>
            <a:r>
              <a:rPr sz="1850" spc="-45" dirty="0">
                <a:latin typeface="Calibri"/>
                <a:cs typeface="Calibri"/>
              </a:rPr>
              <a:t> down</a:t>
            </a:r>
            <a:r>
              <a:rPr sz="1850" spc="-60" dirty="0">
                <a:latin typeface="Calibri"/>
                <a:cs typeface="Calibri"/>
              </a:rPr>
              <a:t> </a:t>
            </a:r>
            <a:r>
              <a:rPr sz="1850" spc="-45" dirty="0">
                <a:latin typeface="Calibri"/>
                <a:cs typeface="Calibri"/>
              </a:rPr>
              <a:t>and</a:t>
            </a:r>
            <a:r>
              <a:rPr sz="1850" spc="-60" dirty="0">
                <a:latin typeface="Calibri"/>
                <a:cs typeface="Calibri"/>
              </a:rPr>
              <a:t> </a:t>
            </a:r>
            <a:r>
              <a:rPr sz="1850" spc="-25" dirty="0">
                <a:latin typeface="Calibri"/>
                <a:cs typeface="Calibri"/>
              </a:rPr>
              <a:t>can</a:t>
            </a:r>
            <a:r>
              <a:rPr sz="1850" spc="-75" dirty="0">
                <a:latin typeface="Calibri"/>
                <a:cs typeface="Calibri"/>
              </a:rPr>
              <a:t> </a:t>
            </a:r>
            <a:r>
              <a:rPr sz="1850" spc="-25" dirty="0">
                <a:latin typeface="Calibri"/>
                <a:cs typeface="Calibri"/>
              </a:rPr>
              <a:t>lead</a:t>
            </a:r>
            <a:r>
              <a:rPr sz="1850" spc="-30" dirty="0">
                <a:latin typeface="Calibri"/>
                <a:cs typeface="Calibri"/>
              </a:rPr>
              <a:t> </a:t>
            </a:r>
            <a:r>
              <a:rPr sz="1850" dirty="0">
                <a:latin typeface="Calibri"/>
                <a:cs typeface="Calibri"/>
              </a:rPr>
              <a:t>to</a:t>
            </a:r>
            <a:r>
              <a:rPr sz="1850" spc="-50" dirty="0">
                <a:latin typeface="Calibri"/>
                <a:cs typeface="Calibri"/>
              </a:rPr>
              <a:t> </a:t>
            </a:r>
            <a:r>
              <a:rPr sz="1850" dirty="0">
                <a:latin typeface="Calibri"/>
                <a:cs typeface="Calibri"/>
              </a:rPr>
              <a:t>a</a:t>
            </a:r>
            <a:r>
              <a:rPr sz="1850" spc="-50" dirty="0">
                <a:latin typeface="Calibri"/>
                <a:cs typeface="Calibri"/>
              </a:rPr>
              <a:t> </a:t>
            </a:r>
            <a:r>
              <a:rPr sz="1850" spc="-35" dirty="0">
                <a:latin typeface="Calibri"/>
                <a:cs typeface="Calibri"/>
              </a:rPr>
              <a:t>failed</a:t>
            </a:r>
            <a:r>
              <a:rPr sz="1850" spc="35" dirty="0">
                <a:latin typeface="Calibri"/>
                <a:cs typeface="Calibri"/>
              </a:rPr>
              <a:t> </a:t>
            </a:r>
            <a:r>
              <a:rPr sz="1850" spc="-50" dirty="0">
                <a:latin typeface="Calibri"/>
                <a:cs typeface="Calibri"/>
              </a:rPr>
              <a:t>software</a:t>
            </a:r>
            <a:r>
              <a:rPr sz="1850" spc="-30" dirty="0">
                <a:latin typeface="Calibri"/>
                <a:cs typeface="Calibri"/>
              </a:rPr>
              <a:t> </a:t>
            </a:r>
            <a:r>
              <a:rPr sz="1850" spc="-10" dirty="0">
                <a:latin typeface="Calibri"/>
                <a:cs typeface="Calibri"/>
              </a:rPr>
              <a:t>project</a:t>
            </a:r>
            <a:endParaRPr sz="1850" dirty="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7AF86067-F560-93BF-3FB1-20CDDC9D80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8473" y="1888772"/>
            <a:ext cx="5897880" cy="1337945"/>
          </a:xfrm>
          <a:prstGeom prst="rect">
            <a:avLst/>
          </a:prstGeom>
        </p:spPr>
        <p:txBody>
          <a:bodyPr vert="horz" wrap="square" lIns="0" tIns="3175" rIns="0" bIns="0" rtlCol="0">
            <a:spAutoFit/>
          </a:bodyPr>
          <a:lstStyle/>
          <a:p>
            <a:pPr marL="12700" marR="5080" indent="1944370">
              <a:lnSpc>
                <a:spcPct val="102000"/>
              </a:lnSpc>
              <a:spcBef>
                <a:spcPts val="25"/>
              </a:spcBef>
            </a:pPr>
            <a:r>
              <a:rPr sz="4250" spc="-10" dirty="0">
                <a:latin typeface="Calibri"/>
                <a:cs typeface="Calibri"/>
              </a:rPr>
              <a:t>Solution: </a:t>
            </a:r>
            <a:r>
              <a:rPr sz="4250" dirty="0">
                <a:latin typeface="Calibri"/>
                <a:cs typeface="Calibri"/>
              </a:rPr>
              <a:t>Requirements</a:t>
            </a:r>
            <a:r>
              <a:rPr sz="4250" spc="229" dirty="0">
                <a:latin typeface="Calibri"/>
                <a:cs typeface="Calibri"/>
              </a:rPr>
              <a:t> </a:t>
            </a:r>
            <a:r>
              <a:rPr sz="4250" spc="-10" dirty="0">
                <a:latin typeface="Calibri"/>
                <a:cs typeface="Calibri"/>
              </a:rPr>
              <a:t>Engineering</a:t>
            </a:r>
            <a:endParaRPr sz="4250">
              <a:latin typeface="Calibri"/>
              <a:cs typeface="Calibri"/>
            </a:endParaRPr>
          </a:p>
        </p:txBody>
      </p:sp>
      <p:pic>
        <p:nvPicPr>
          <p:cNvPr id="3" name="Picture 2" descr="Profile for SRM Institute of Science and Technology">
            <a:extLst>
              <a:ext uri="{FF2B5EF4-FFF2-40B4-BE49-F238E27FC236}">
                <a16:creationId xmlns:a16="http://schemas.microsoft.com/office/drawing/2014/main" id="{D25CE814-1397-72D8-AFE3-F6818FF3D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24873" rIns="0" bIns="0" rtlCol="0">
            <a:spAutoFit/>
          </a:bodyPr>
          <a:lstStyle/>
          <a:p>
            <a:pPr marL="563880">
              <a:lnSpc>
                <a:spcPct val="100000"/>
              </a:lnSpc>
              <a:spcBef>
                <a:spcPts val="114"/>
              </a:spcBef>
            </a:pPr>
            <a:r>
              <a:rPr sz="2950" spc="60" dirty="0">
                <a:latin typeface="Arial MT"/>
                <a:cs typeface="Arial MT"/>
              </a:rPr>
              <a:t>Requirements</a:t>
            </a:r>
            <a:r>
              <a:rPr sz="2950" spc="290" dirty="0">
                <a:latin typeface="Arial MT"/>
                <a:cs typeface="Arial MT"/>
              </a:rPr>
              <a:t> </a:t>
            </a:r>
            <a:r>
              <a:rPr sz="2950" spc="65" dirty="0">
                <a:latin typeface="Arial MT"/>
                <a:cs typeface="Arial MT"/>
              </a:rPr>
              <a:t>Engineering</a:t>
            </a:r>
            <a:r>
              <a:rPr sz="2950" spc="245" dirty="0">
                <a:latin typeface="Arial MT"/>
                <a:cs typeface="Arial MT"/>
              </a:rPr>
              <a:t> </a:t>
            </a:r>
            <a:r>
              <a:rPr sz="2950" spc="50" dirty="0">
                <a:latin typeface="Arial MT"/>
                <a:cs typeface="Arial MT"/>
              </a:rPr>
              <a:t>Tasks</a:t>
            </a:r>
            <a:endParaRPr sz="2950" dirty="0">
              <a:latin typeface="Arial MT"/>
              <a:cs typeface="Arial MT"/>
            </a:endParaRPr>
          </a:p>
        </p:txBody>
      </p:sp>
      <p:sp>
        <p:nvSpPr>
          <p:cNvPr id="3" name="object 3"/>
          <p:cNvSpPr txBox="1"/>
          <p:nvPr/>
        </p:nvSpPr>
        <p:spPr>
          <a:xfrm>
            <a:off x="661365" y="1448858"/>
            <a:ext cx="6585584" cy="3578416"/>
          </a:xfrm>
          <a:prstGeom prst="rect">
            <a:avLst/>
          </a:prstGeom>
        </p:spPr>
        <p:txBody>
          <a:bodyPr vert="horz" wrap="square" lIns="0" tIns="11430" rIns="0" bIns="0" rtlCol="0">
            <a:spAutoFit/>
          </a:bodyPr>
          <a:lstStyle/>
          <a:p>
            <a:pPr marL="179705" indent="-167005">
              <a:lnSpc>
                <a:spcPct val="100000"/>
              </a:lnSpc>
              <a:spcBef>
                <a:spcPts val="90"/>
              </a:spcBef>
              <a:buChar char="•"/>
              <a:tabLst>
                <a:tab pos="179705" algn="l"/>
              </a:tabLst>
            </a:pPr>
            <a:r>
              <a:rPr sz="1600" dirty="0">
                <a:latin typeface="+mj-lt"/>
                <a:cs typeface="Calibri"/>
              </a:rPr>
              <a:t>Seven</a:t>
            </a:r>
            <a:r>
              <a:rPr sz="1600" spc="204" dirty="0">
                <a:latin typeface="+mj-lt"/>
                <a:cs typeface="Calibri"/>
              </a:rPr>
              <a:t> </a:t>
            </a:r>
            <a:r>
              <a:rPr sz="1600" dirty="0">
                <a:latin typeface="+mj-lt"/>
                <a:cs typeface="Calibri"/>
              </a:rPr>
              <a:t>distinct</a:t>
            </a:r>
            <a:r>
              <a:rPr sz="1600" spc="75" dirty="0">
                <a:latin typeface="+mj-lt"/>
                <a:cs typeface="Calibri"/>
              </a:rPr>
              <a:t> </a:t>
            </a:r>
            <a:r>
              <a:rPr sz="1600" spc="-10" dirty="0">
                <a:latin typeface="+mj-lt"/>
                <a:cs typeface="Calibri"/>
              </a:rPr>
              <a:t>tasks</a:t>
            </a:r>
            <a:endParaRPr sz="1600" dirty="0">
              <a:latin typeface="+mj-lt"/>
              <a:cs typeface="Calibri"/>
            </a:endParaRPr>
          </a:p>
          <a:p>
            <a:pPr marL="476884" lvl="1" indent="-154305">
              <a:lnSpc>
                <a:spcPct val="100000"/>
              </a:lnSpc>
              <a:spcBef>
                <a:spcPts val="90"/>
              </a:spcBef>
              <a:buChar char="•"/>
              <a:tabLst>
                <a:tab pos="476884" algn="l"/>
              </a:tabLst>
            </a:pPr>
            <a:r>
              <a:rPr sz="1600" spc="50" dirty="0">
                <a:latin typeface="+mj-lt"/>
                <a:cs typeface="Calibri"/>
              </a:rPr>
              <a:t>Inception</a:t>
            </a:r>
            <a:endParaRPr sz="1600" dirty="0">
              <a:latin typeface="+mj-lt"/>
              <a:cs typeface="Calibri"/>
            </a:endParaRPr>
          </a:p>
          <a:p>
            <a:pPr marL="490855" indent="-241935">
              <a:lnSpc>
                <a:spcPct val="100000"/>
              </a:lnSpc>
              <a:spcBef>
                <a:spcPts val="430"/>
              </a:spcBef>
              <a:buChar char="•"/>
              <a:tabLst>
                <a:tab pos="490855" algn="l"/>
              </a:tabLst>
            </a:pPr>
            <a:r>
              <a:rPr lang="en-US" sz="1600" spc="-25" dirty="0">
                <a:latin typeface="+mj-lt"/>
                <a:cs typeface="Calibri"/>
              </a:rPr>
              <a:t>Elicitation</a:t>
            </a:r>
            <a:endParaRPr sz="1600" dirty="0">
              <a:latin typeface="+mj-lt"/>
              <a:cs typeface="Calibri"/>
            </a:endParaRPr>
          </a:p>
          <a:p>
            <a:pPr marL="476250" lvl="1" indent="-154940">
              <a:lnSpc>
                <a:spcPct val="100000"/>
              </a:lnSpc>
              <a:spcBef>
                <a:spcPts val="90"/>
              </a:spcBef>
              <a:buChar char="•"/>
              <a:tabLst>
                <a:tab pos="476250" algn="l"/>
              </a:tabLst>
            </a:pPr>
            <a:r>
              <a:rPr sz="1600" spc="-10" dirty="0">
                <a:latin typeface="+mj-lt"/>
                <a:cs typeface="Calibri"/>
              </a:rPr>
              <a:t>Elaboration</a:t>
            </a:r>
            <a:endParaRPr sz="1600" dirty="0">
              <a:latin typeface="+mj-lt"/>
              <a:cs typeface="Calibri"/>
            </a:endParaRPr>
          </a:p>
          <a:p>
            <a:pPr marL="476250" lvl="1" indent="-153670">
              <a:lnSpc>
                <a:spcPts val="1910"/>
              </a:lnSpc>
              <a:spcBef>
                <a:spcPts val="60"/>
              </a:spcBef>
              <a:buChar char="•"/>
              <a:tabLst>
                <a:tab pos="476250" algn="l"/>
              </a:tabLst>
            </a:pPr>
            <a:r>
              <a:rPr sz="1600" spc="50" dirty="0">
                <a:latin typeface="+mj-lt"/>
                <a:cs typeface="Calibri"/>
              </a:rPr>
              <a:t>Negotiation</a:t>
            </a:r>
            <a:endParaRPr sz="1600" dirty="0">
              <a:latin typeface="+mj-lt"/>
              <a:cs typeface="Calibri"/>
            </a:endParaRPr>
          </a:p>
          <a:p>
            <a:pPr marL="486409" lvl="1" indent="-166370">
              <a:lnSpc>
                <a:spcPts val="2095"/>
              </a:lnSpc>
              <a:buChar char="•"/>
              <a:tabLst>
                <a:tab pos="486409" algn="l"/>
              </a:tabLst>
            </a:pPr>
            <a:r>
              <a:rPr sz="1600" spc="-10" dirty="0">
                <a:latin typeface="+mj-lt"/>
                <a:cs typeface="Calibri"/>
              </a:rPr>
              <a:t>Specification</a:t>
            </a:r>
            <a:endParaRPr sz="1600" dirty="0">
              <a:latin typeface="+mj-lt"/>
              <a:cs typeface="Calibri"/>
            </a:endParaRPr>
          </a:p>
          <a:p>
            <a:pPr marL="490220" lvl="1" indent="-169545">
              <a:lnSpc>
                <a:spcPts val="2045"/>
              </a:lnSpc>
              <a:buChar char="•"/>
              <a:tabLst>
                <a:tab pos="490220" algn="l"/>
              </a:tabLst>
            </a:pPr>
            <a:r>
              <a:rPr sz="1600" spc="-10" dirty="0">
                <a:latin typeface="+mj-lt"/>
                <a:cs typeface="Calibri"/>
              </a:rPr>
              <a:t>Validation</a:t>
            </a:r>
            <a:endParaRPr sz="1600" dirty="0">
              <a:latin typeface="+mj-lt"/>
              <a:cs typeface="Calibri"/>
            </a:endParaRPr>
          </a:p>
          <a:p>
            <a:pPr marL="476884" lvl="1" indent="-154305">
              <a:lnSpc>
                <a:spcPct val="100000"/>
              </a:lnSpc>
              <a:spcBef>
                <a:spcPts val="50"/>
              </a:spcBef>
              <a:buChar char="•"/>
              <a:tabLst>
                <a:tab pos="476884" algn="l"/>
              </a:tabLst>
            </a:pPr>
            <a:r>
              <a:rPr sz="1600" spc="70" dirty="0">
                <a:latin typeface="+mj-lt"/>
                <a:cs typeface="Calibri"/>
              </a:rPr>
              <a:t>Requirements</a:t>
            </a:r>
            <a:r>
              <a:rPr sz="1600" spc="165" dirty="0">
                <a:latin typeface="+mj-lt"/>
                <a:cs typeface="Calibri"/>
              </a:rPr>
              <a:t> </a:t>
            </a:r>
            <a:r>
              <a:rPr sz="1600" spc="60" dirty="0">
                <a:latin typeface="+mj-lt"/>
                <a:cs typeface="Calibri"/>
              </a:rPr>
              <a:t>Management</a:t>
            </a:r>
            <a:endParaRPr sz="1600" dirty="0">
              <a:latin typeface="+mj-lt"/>
              <a:cs typeface="Calibri"/>
            </a:endParaRPr>
          </a:p>
          <a:p>
            <a:pPr>
              <a:lnSpc>
                <a:spcPct val="100000"/>
              </a:lnSpc>
              <a:spcBef>
                <a:spcPts val="625"/>
              </a:spcBef>
            </a:pPr>
            <a:endParaRPr sz="1600" dirty="0">
              <a:latin typeface="+mj-lt"/>
              <a:cs typeface="Calibri"/>
            </a:endParaRPr>
          </a:p>
          <a:p>
            <a:pPr marL="176530" indent="-154305">
              <a:lnSpc>
                <a:spcPts val="2285"/>
              </a:lnSpc>
              <a:buChar char="•"/>
              <a:tabLst>
                <a:tab pos="176530" algn="l"/>
              </a:tabLst>
            </a:pPr>
            <a:r>
              <a:rPr sz="1600" spc="-204" dirty="0">
                <a:latin typeface="+mj-lt"/>
                <a:cs typeface="Arial MT"/>
              </a:rPr>
              <a:t>Some</a:t>
            </a:r>
            <a:r>
              <a:rPr sz="1600" spc="-10" dirty="0">
                <a:latin typeface="+mj-lt"/>
                <a:cs typeface="Arial MT"/>
              </a:rPr>
              <a:t> </a:t>
            </a:r>
            <a:r>
              <a:rPr sz="1600" dirty="0">
                <a:latin typeface="+mj-lt"/>
                <a:cs typeface="Arial MT"/>
              </a:rPr>
              <a:t>of</a:t>
            </a:r>
            <a:r>
              <a:rPr sz="1600" spc="-150" dirty="0">
                <a:latin typeface="+mj-lt"/>
                <a:cs typeface="Arial MT"/>
              </a:rPr>
              <a:t> </a:t>
            </a:r>
            <a:r>
              <a:rPr sz="1600" spc="-85" dirty="0">
                <a:latin typeface="+mj-lt"/>
                <a:cs typeface="Arial MT"/>
              </a:rPr>
              <a:t>these</a:t>
            </a:r>
            <a:r>
              <a:rPr sz="1600" spc="-40" dirty="0">
                <a:latin typeface="+mj-lt"/>
                <a:cs typeface="Arial MT"/>
              </a:rPr>
              <a:t> </a:t>
            </a:r>
            <a:r>
              <a:rPr sz="1600" spc="-145" dirty="0">
                <a:latin typeface="+mj-lt"/>
                <a:cs typeface="Arial MT"/>
              </a:rPr>
              <a:t>tasks</a:t>
            </a:r>
            <a:r>
              <a:rPr sz="1600" spc="-5" dirty="0">
                <a:latin typeface="+mj-lt"/>
                <a:cs typeface="Arial MT"/>
              </a:rPr>
              <a:t> </a:t>
            </a:r>
            <a:r>
              <a:rPr sz="1600" spc="-130" dirty="0">
                <a:latin typeface="+mj-lt"/>
                <a:cs typeface="Arial MT"/>
              </a:rPr>
              <a:t>may</a:t>
            </a:r>
            <a:r>
              <a:rPr sz="1600" dirty="0">
                <a:latin typeface="+mj-lt"/>
                <a:cs typeface="Arial MT"/>
              </a:rPr>
              <a:t> </a:t>
            </a:r>
            <a:r>
              <a:rPr sz="1600" spc="-110" dirty="0">
                <a:latin typeface="+mj-lt"/>
                <a:cs typeface="Arial MT"/>
              </a:rPr>
              <a:t>occur</a:t>
            </a:r>
            <a:r>
              <a:rPr sz="1600" spc="-70" dirty="0">
                <a:latin typeface="+mj-lt"/>
                <a:cs typeface="Arial MT"/>
              </a:rPr>
              <a:t> </a:t>
            </a:r>
            <a:r>
              <a:rPr sz="1600" spc="-35" dirty="0">
                <a:latin typeface="+mj-lt"/>
                <a:cs typeface="Arial MT"/>
              </a:rPr>
              <a:t>In</a:t>
            </a:r>
            <a:r>
              <a:rPr sz="1600" spc="-140" dirty="0">
                <a:latin typeface="+mj-lt"/>
                <a:cs typeface="Arial MT"/>
              </a:rPr>
              <a:t> </a:t>
            </a:r>
            <a:r>
              <a:rPr sz="1600" spc="-40" dirty="0">
                <a:latin typeface="+mj-lt"/>
                <a:cs typeface="Arial MT"/>
              </a:rPr>
              <a:t>parallel</a:t>
            </a:r>
            <a:r>
              <a:rPr sz="1600" dirty="0">
                <a:latin typeface="+mj-lt"/>
                <a:cs typeface="Arial MT"/>
              </a:rPr>
              <a:t> </a:t>
            </a:r>
            <a:r>
              <a:rPr sz="1600" spc="-120" dirty="0">
                <a:latin typeface="+mj-lt"/>
                <a:cs typeface="Arial MT"/>
              </a:rPr>
              <a:t>and</a:t>
            </a:r>
            <a:r>
              <a:rPr sz="1600" spc="-25" dirty="0">
                <a:latin typeface="+mj-lt"/>
                <a:cs typeface="Arial MT"/>
              </a:rPr>
              <a:t> </a:t>
            </a:r>
            <a:r>
              <a:rPr sz="1600" spc="-30" dirty="0">
                <a:latin typeface="+mj-lt"/>
                <a:cs typeface="Arial MT"/>
              </a:rPr>
              <a:t>all</a:t>
            </a:r>
            <a:r>
              <a:rPr sz="1600" spc="-85" dirty="0">
                <a:latin typeface="+mj-lt"/>
                <a:cs typeface="Arial MT"/>
              </a:rPr>
              <a:t> </a:t>
            </a:r>
            <a:r>
              <a:rPr sz="1600" spc="-25" dirty="0">
                <a:latin typeface="+mj-lt"/>
                <a:cs typeface="Arial MT"/>
              </a:rPr>
              <a:t>are</a:t>
            </a:r>
            <a:endParaRPr sz="1600" dirty="0">
              <a:latin typeface="+mj-lt"/>
              <a:cs typeface="Arial MT"/>
            </a:endParaRPr>
          </a:p>
          <a:p>
            <a:pPr marL="179705">
              <a:lnSpc>
                <a:spcPts val="2225"/>
              </a:lnSpc>
            </a:pPr>
            <a:r>
              <a:rPr sz="1600" spc="-50" dirty="0">
                <a:latin typeface="+mj-lt"/>
                <a:cs typeface="Arial MT"/>
              </a:rPr>
              <a:t>adapted</a:t>
            </a:r>
            <a:r>
              <a:rPr sz="1600" spc="45" dirty="0">
                <a:latin typeface="+mj-lt"/>
                <a:cs typeface="Arial MT"/>
              </a:rPr>
              <a:t> </a:t>
            </a:r>
            <a:r>
              <a:rPr sz="1600" dirty="0">
                <a:latin typeface="+mj-lt"/>
                <a:cs typeface="Arial MT"/>
              </a:rPr>
              <a:t>to</a:t>
            </a:r>
            <a:r>
              <a:rPr sz="1600" spc="-125" dirty="0">
                <a:latin typeface="+mj-lt"/>
                <a:cs typeface="Arial MT"/>
              </a:rPr>
              <a:t> </a:t>
            </a:r>
            <a:r>
              <a:rPr sz="1600" dirty="0">
                <a:latin typeface="+mj-lt"/>
                <a:cs typeface="Arial MT"/>
              </a:rPr>
              <a:t>the</a:t>
            </a:r>
            <a:r>
              <a:rPr sz="1600" spc="-100" dirty="0">
                <a:latin typeface="+mj-lt"/>
                <a:cs typeface="Arial MT"/>
              </a:rPr>
              <a:t> needs</a:t>
            </a:r>
            <a:r>
              <a:rPr sz="1600" spc="15" dirty="0">
                <a:latin typeface="+mj-lt"/>
                <a:cs typeface="Arial MT"/>
              </a:rPr>
              <a:t> </a:t>
            </a:r>
            <a:r>
              <a:rPr sz="1600" dirty="0">
                <a:solidFill>
                  <a:srgbClr val="131313"/>
                </a:solidFill>
                <a:latin typeface="+mj-lt"/>
                <a:cs typeface="Arial MT"/>
              </a:rPr>
              <a:t>of</a:t>
            </a:r>
            <a:r>
              <a:rPr sz="1600" spc="-75" dirty="0">
                <a:solidFill>
                  <a:srgbClr val="131313"/>
                </a:solidFill>
                <a:latin typeface="+mj-lt"/>
                <a:cs typeface="Arial MT"/>
              </a:rPr>
              <a:t> </a:t>
            </a:r>
            <a:r>
              <a:rPr sz="1600" dirty="0">
                <a:solidFill>
                  <a:srgbClr val="0E0E0E"/>
                </a:solidFill>
                <a:latin typeface="+mj-lt"/>
                <a:cs typeface="Arial MT"/>
              </a:rPr>
              <a:t>the</a:t>
            </a:r>
            <a:r>
              <a:rPr sz="1600" spc="-5" dirty="0">
                <a:solidFill>
                  <a:srgbClr val="0E0E0E"/>
                </a:solidFill>
                <a:latin typeface="+mj-lt"/>
                <a:cs typeface="Arial MT"/>
              </a:rPr>
              <a:t> </a:t>
            </a:r>
            <a:r>
              <a:rPr sz="1600" spc="-10" dirty="0">
                <a:latin typeface="+mj-lt"/>
                <a:cs typeface="Arial MT"/>
              </a:rPr>
              <a:t>project</a:t>
            </a:r>
            <a:endParaRPr sz="1600" dirty="0">
              <a:latin typeface="+mj-lt"/>
              <a:cs typeface="Arial MT"/>
            </a:endParaRPr>
          </a:p>
          <a:p>
            <a:pPr marL="189230" indent="-167005">
              <a:lnSpc>
                <a:spcPct val="100000"/>
              </a:lnSpc>
              <a:spcBef>
                <a:spcPts val="190"/>
              </a:spcBef>
              <a:buChar char="•"/>
              <a:tabLst>
                <a:tab pos="189230" algn="l"/>
              </a:tabLst>
            </a:pPr>
            <a:r>
              <a:rPr sz="1600" spc="-90" dirty="0">
                <a:latin typeface="+mj-lt"/>
                <a:cs typeface="Arial MT"/>
              </a:rPr>
              <a:t>All</a:t>
            </a:r>
            <a:r>
              <a:rPr sz="1600" spc="-60" dirty="0">
                <a:latin typeface="+mj-lt"/>
                <a:cs typeface="Arial MT"/>
              </a:rPr>
              <a:t> </a:t>
            </a:r>
            <a:r>
              <a:rPr sz="1600" spc="-65" dirty="0">
                <a:latin typeface="+mj-lt"/>
                <a:cs typeface="Arial MT"/>
              </a:rPr>
              <a:t>strive</a:t>
            </a:r>
            <a:r>
              <a:rPr sz="1600" spc="-80" dirty="0">
                <a:latin typeface="+mj-lt"/>
                <a:cs typeface="Arial MT"/>
              </a:rPr>
              <a:t> </a:t>
            </a:r>
            <a:r>
              <a:rPr sz="1600" dirty="0">
                <a:latin typeface="+mj-lt"/>
                <a:cs typeface="Arial MT"/>
              </a:rPr>
              <a:t>to</a:t>
            </a:r>
            <a:r>
              <a:rPr sz="1600" spc="-105" dirty="0">
                <a:latin typeface="+mj-lt"/>
                <a:cs typeface="Arial MT"/>
              </a:rPr>
              <a:t> </a:t>
            </a:r>
            <a:r>
              <a:rPr sz="1600" spc="-50" dirty="0">
                <a:latin typeface="+mj-lt"/>
                <a:cs typeface="Arial MT"/>
              </a:rPr>
              <a:t>define</a:t>
            </a:r>
            <a:r>
              <a:rPr sz="1600" spc="-45" dirty="0">
                <a:latin typeface="+mj-lt"/>
                <a:cs typeface="Arial MT"/>
              </a:rPr>
              <a:t> </a:t>
            </a:r>
            <a:r>
              <a:rPr sz="1600" spc="-55" dirty="0">
                <a:latin typeface="+mj-lt"/>
                <a:cs typeface="Arial MT"/>
              </a:rPr>
              <a:t>what</a:t>
            </a:r>
            <a:r>
              <a:rPr sz="1600" dirty="0">
                <a:latin typeface="+mj-lt"/>
                <a:cs typeface="Arial MT"/>
              </a:rPr>
              <a:t> </a:t>
            </a:r>
            <a:r>
              <a:rPr sz="1600" dirty="0">
                <a:solidFill>
                  <a:srgbClr val="0F0F0F"/>
                </a:solidFill>
                <a:latin typeface="+mj-lt"/>
                <a:cs typeface="Arial MT"/>
              </a:rPr>
              <a:t>the</a:t>
            </a:r>
            <a:r>
              <a:rPr sz="1600" spc="-50" dirty="0">
                <a:solidFill>
                  <a:srgbClr val="0F0F0F"/>
                </a:solidFill>
                <a:latin typeface="+mj-lt"/>
                <a:cs typeface="Arial MT"/>
              </a:rPr>
              <a:t> </a:t>
            </a:r>
            <a:r>
              <a:rPr sz="1600" spc="-55" dirty="0">
                <a:latin typeface="+mj-lt"/>
                <a:cs typeface="Arial MT"/>
              </a:rPr>
              <a:t>customer</a:t>
            </a:r>
            <a:r>
              <a:rPr sz="1600" spc="25" dirty="0">
                <a:latin typeface="+mj-lt"/>
                <a:cs typeface="Arial MT"/>
              </a:rPr>
              <a:t> </a:t>
            </a:r>
            <a:r>
              <a:rPr sz="1600" spc="-10" dirty="0">
                <a:latin typeface="+mj-lt"/>
                <a:cs typeface="Arial MT"/>
              </a:rPr>
              <a:t>wants</a:t>
            </a:r>
            <a:endParaRPr sz="1600" dirty="0">
              <a:latin typeface="+mj-lt"/>
              <a:cs typeface="Arial MT"/>
            </a:endParaRPr>
          </a:p>
          <a:p>
            <a:pPr marL="178435" marR="5080" indent="-156845">
              <a:lnSpc>
                <a:spcPct val="79500"/>
              </a:lnSpc>
              <a:spcBef>
                <a:spcPts val="660"/>
              </a:spcBef>
              <a:buChar char="•"/>
              <a:tabLst>
                <a:tab pos="178435" algn="l"/>
                <a:tab pos="188595" algn="l"/>
              </a:tabLst>
            </a:pPr>
            <a:r>
              <a:rPr sz="1600" dirty="0">
                <a:latin typeface="+mj-lt"/>
                <a:cs typeface="Arial MT"/>
              </a:rPr>
              <a:t>	</a:t>
            </a:r>
            <a:r>
              <a:rPr sz="1600" spc="-110" dirty="0">
                <a:latin typeface="+mj-lt"/>
                <a:cs typeface="Arial MT"/>
              </a:rPr>
              <a:t>All</a:t>
            </a:r>
            <a:r>
              <a:rPr sz="1600" spc="-70" dirty="0">
                <a:latin typeface="+mj-lt"/>
                <a:cs typeface="Arial MT"/>
              </a:rPr>
              <a:t> </a:t>
            </a:r>
            <a:r>
              <a:rPr sz="1600" spc="-180" dirty="0">
                <a:latin typeface="+mj-lt"/>
                <a:cs typeface="Arial MT"/>
              </a:rPr>
              <a:t>serve</a:t>
            </a:r>
            <a:r>
              <a:rPr sz="1600" spc="-10" dirty="0">
                <a:latin typeface="+mj-lt"/>
                <a:cs typeface="Arial MT"/>
              </a:rPr>
              <a:t> </a:t>
            </a:r>
            <a:r>
              <a:rPr sz="1600" dirty="0">
                <a:latin typeface="+mj-lt"/>
                <a:cs typeface="Arial MT"/>
              </a:rPr>
              <a:t>to</a:t>
            </a:r>
            <a:r>
              <a:rPr sz="1600" spc="-150" dirty="0">
                <a:latin typeface="+mj-lt"/>
                <a:cs typeface="Arial MT"/>
              </a:rPr>
              <a:t> </a:t>
            </a:r>
            <a:r>
              <a:rPr sz="1600" spc="-110" dirty="0">
                <a:latin typeface="+mj-lt"/>
                <a:cs typeface="Arial MT"/>
              </a:rPr>
              <a:t>establish</a:t>
            </a:r>
            <a:r>
              <a:rPr sz="1600" spc="-40" dirty="0">
                <a:latin typeface="+mj-lt"/>
                <a:cs typeface="Arial MT"/>
              </a:rPr>
              <a:t> </a:t>
            </a:r>
            <a:r>
              <a:rPr sz="1600" spc="-420" dirty="0">
                <a:latin typeface="+mj-lt"/>
                <a:cs typeface="Arial MT"/>
              </a:rPr>
              <a:t>a</a:t>
            </a:r>
            <a:r>
              <a:rPr sz="1600" spc="120" dirty="0">
                <a:latin typeface="+mj-lt"/>
                <a:cs typeface="Arial MT"/>
              </a:rPr>
              <a:t> </a:t>
            </a:r>
            <a:r>
              <a:rPr sz="1600" spc="-70" dirty="0">
                <a:latin typeface="+mj-lt"/>
                <a:cs typeface="Arial MT"/>
              </a:rPr>
              <a:t>solid</a:t>
            </a:r>
            <a:r>
              <a:rPr sz="1600" spc="-90" dirty="0">
                <a:latin typeface="+mj-lt"/>
                <a:cs typeface="Arial MT"/>
              </a:rPr>
              <a:t> </a:t>
            </a:r>
            <a:r>
              <a:rPr sz="1600" spc="-40" dirty="0">
                <a:latin typeface="+mj-lt"/>
                <a:cs typeface="Arial MT"/>
              </a:rPr>
              <a:t>foundation </a:t>
            </a:r>
            <a:r>
              <a:rPr sz="1600" dirty="0">
                <a:latin typeface="+mj-lt"/>
                <a:cs typeface="Arial MT"/>
              </a:rPr>
              <a:t>for</a:t>
            </a:r>
            <a:r>
              <a:rPr sz="1600" spc="15" dirty="0">
                <a:latin typeface="+mj-lt"/>
                <a:cs typeface="Arial MT"/>
              </a:rPr>
              <a:t> </a:t>
            </a:r>
            <a:r>
              <a:rPr sz="1600" spc="-55" dirty="0">
                <a:latin typeface="+mj-lt"/>
                <a:cs typeface="Arial MT"/>
              </a:rPr>
              <a:t>the</a:t>
            </a:r>
            <a:r>
              <a:rPr sz="1600" spc="-30" dirty="0">
                <a:latin typeface="+mj-lt"/>
                <a:cs typeface="Arial MT"/>
              </a:rPr>
              <a:t> </a:t>
            </a:r>
            <a:r>
              <a:rPr sz="1600" spc="-150" dirty="0">
                <a:latin typeface="+mj-lt"/>
                <a:cs typeface="Arial MT"/>
              </a:rPr>
              <a:t>design</a:t>
            </a:r>
            <a:r>
              <a:rPr sz="1600" dirty="0">
                <a:latin typeface="+mj-lt"/>
                <a:cs typeface="Arial MT"/>
              </a:rPr>
              <a:t> </a:t>
            </a:r>
            <a:r>
              <a:rPr sz="1600" spc="-55" dirty="0">
                <a:latin typeface="+mj-lt"/>
                <a:cs typeface="Arial MT"/>
              </a:rPr>
              <a:t>and </a:t>
            </a:r>
            <a:r>
              <a:rPr sz="1600" spc="-80" dirty="0">
                <a:latin typeface="+mj-lt"/>
                <a:cs typeface="Arial MT"/>
              </a:rPr>
              <a:t>construction</a:t>
            </a:r>
            <a:r>
              <a:rPr sz="1600" spc="-15" dirty="0">
                <a:latin typeface="+mj-lt"/>
                <a:cs typeface="Arial MT"/>
              </a:rPr>
              <a:t> </a:t>
            </a:r>
            <a:r>
              <a:rPr sz="1600" spc="-30" dirty="0">
                <a:latin typeface="+mj-lt"/>
                <a:cs typeface="Arial MT"/>
              </a:rPr>
              <a:t>of</a:t>
            </a:r>
            <a:r>
              <a:rPr sz="1600" spc="-140" dirty="0">
                <a:latin typeface="+mj-lt"/>
                <a:cs typeface="Arial MT"/>
              </a:rPr>
              <a:t> </a:t>
            </a:r>
            <a:r>
              <a:rPr sz="1600" spc="-50" dirty="0">
                <a:latin typeface="+mj-lt"/>
                <a:cs typeface="Arial MT"/>
              </a:rPr>
              <a:t>the</a:t>
            </a:r>
            <a:r>
              <a:rPr sz="1600" spc="-100" dirty="0">
                <a:latin typeface="+mj-lt"/>
                <a:cs typeface="Arial MT"/>
              </a:rPr>
              <a:t> </a:t>
            </a:r>
            <a:r>
              <a:rPr sz="1600" spc="-10" dirty="0">
                <a:latin typeface="+mj-lt"/>
                <a:cs typeface="Arial MT"/>
              </a:rPr>
              <a:t>software</a:t>
            </a:r>
            <a:endParaRPr sz="1600" dirty="0">
              <a:latin typeface="+mj-lt"/>
              <a:cs typeface="Arial MT"/>
            </a:endParaRPr>
          </a:p>
        </p:txBody>
      </p:sp>
      <p:pic>
        <p:nvPicPr>
          <p:cNvPr id="4" name="Picture 2" descr="Profile for SRM Institute of Science and Technology">
            <a:extLst>
              <a:ext uri="{FF2B5EF4-FFF2-40B4-BE49-F238E27FC236}">
                <a16:creationId xmlns:a16="http://schemas.microsoft.com/office/drawing/2014/main" id="{773A0FBA-449A-D82F-FAA6-C5093FAA7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pic>
        <p:nvPicPr>
          <p:cNvPr id="16" name="Picture 2" descr="Gallery Item 10">
            <a:extLst>
              <a:ext uri="{FF2B5EF4-FFF2-40B4-BE49-F238E27FC236}">
                <a16:creationId xmlns:a16="http://schemas.microsoft.com/office/drawing/2014/main" id="{5A2665A8-1C76-62FE-1DA2-112A181E6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84" y="757518"/>
            <a:ext cx="7522316" cy="4792381"/>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2">
            <a:extLst>
              <a:ext uri="{FF2B5EF4-FFF2-40B4-BE49-F238E27FC236}">
                <a16:creationId xmlns:a16="http://schemas.microsoft.com/office/drawing/2014/main" id="{E3B2208C-EED0-DDEF-2AC7-ECAC0F9C7D29}"/>
              </a:ext>
            </a:extLst>
          </p:cNvPr>
          <p:cNvSpPr txBox="1">
            <a:spLocks/>
          </p:cNvSpPr>
          <p:nvPr/>
        </p:nvSpPr>
        <p:spPr>
          <a:xfrm>
            <a:off x="405130" y="243105"/>
            <a:ext cx="7292340" cy="1011767"/>
          </a:xfrm>
          <a:prstGeom prst="rect">
            <a:avLst/>
          </a:prstGeom>
        </p:spPr>
        <p:txBody>
          <a:bodyPr vert="horz" wrap="square" lIns="0" tIns="324873" rIns="0" bIns="0" rtlCol="0">
            <a:spAutoFit/>
          </a:bodyPr>
          <a:lstStyle>
            <a:lvl1pPr algn="ctr" defTabSz="809427" rtl="0" eaLnBrk="1" latinLnBrk="0" hangingPunct="1">
              <a:spcBef>
                <a:spcPct val="0"/>
              </a:spcBef>
              <a:buNone/>
              <a:defRPr sz="3895" kern="1200">
                <a:solidFill>
                  <a:schemeClr val="tx1"/>
                </a:solidFill>
                <a:latin typeface="+mj-lt"/>
                <a:ea typeface="+mj-ea"/>
                <a:cs typeface="+mj-cs"/>
              </a:defRPr>
            </a:lvl1pPr>
          </a:lstStyle>
          <a:p>
            <a:pPr marL="563880">
              <a:spcBef>
                <a:spcPts val="114"/>
              </a:spcBef>
            </a:pPr>
            <a:r>
              <a:rPr lang="en-IN" sz="2950" spc="60">
                <a:latin typeface="Arial MT"/>
                <a:cs typeface="Arial MT"/>
              </a:rPr>
              <a:t>Requirements</a:t>
            </a:r>
            <a:r>
              <a:rPr lang="en-IN" sz="2950" spc="290">
                <a:latin typeface="Arial MT"/>
                <a:cs typeface="Arial MT"/>
              </a:rPr>
              <a:t> </a:t>
            </a:r>
            <a:r>
              <a:rPr lang="en-IN" sz="2950" spc="65">
                <a:latin typeface="Arial MT"/>
                <a:cs typeface="Arial MT"/>
              </a:rPr>
              <a:t>Engineering</a:t>
            </a:r>
            <a:r>
              <a:rPr lang="en-IN" sz="2950" spc="245">
                <a:latin typeface="Arial MT"/>
                <a:cs typeface="Arial MT"/>
              </a:rPr>
              <a:t> </a:t>
            </a:r>
            <a:r>
              <a:rPr lang="en-IN" sz="2950" spc="50">
                <a:latin typeface="Arial MT"/>
                <a:cs typeface="Arial MT"/>
              </a:rPr>
              <a:t>Tasks</a:t>
            </a:r>
            <a:endParaRPr lang="en-IN" sz="2950" dirty="0">
              <a:latin typeface="Arial MT"/>
              <a:cs typeface="Arial M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5128" rIns="0" bIns="0" rtlCol="0">
            <a:spAutoFit/>
          </a:bodyPr>
          <a:lstStyle/>
          <a:p>
            <a:pPr marL="694055">
              <a:lnSpc>
                <a:spcPct val="100000"/>
              </a:lnSpc>
              <a:spcBef>
                <a:spcPts val="95"/>
              </a:spcBef>
            </a:pPr>
            <a:r>
              <a:rPr sz="3700" spc="150" dirty="0">
                <a:latin typeface="Calibri"/>
                <a:cs typeface="Calibri"/>
              </a:rPr>
              <a:t>Inception</a:t>
            </a:r>
            <a:r>
              <a:rPr sz="3700" spc="240" dirty="0">
                <a:latin typeface="Calibri"/>
                <a:cs typeface="Calibri"/>
              </a:rPr>
              <a:t> </a:t>
            </a:r>
            <a:r>
              <a:rPr sz="3700" spc="275" dirty="0">
                <a:latin typeface="Calibri"/>
                <a:cs typeface="Calibri"/>
              </a:rPr>
              <a:t>Task</a:t>
            </a:r>
            <a:endParaRPr sz="3700">
              <a:latin typeface="Calibri"/>
              <a:cs typeface="Calibri"/>
            </a:endParaRPr>
          </a:p>
        </p:txBody>
      </p:sp>
      <p:sp>
        <p:nvSpPr>
          <p:cNvPr id="3" name="object 3"/>
          <p:cNvSpPr txBox="1"/>
          <p:nvPr/>
        </p:nvSpPr>
        <p:spPr>
          <a:xfrm>
            <a:off x="388266" y="1355548"/>
            <a:ext cx="7183755" cy="4074795"/>
          </a:xfrm>
          <a:prstGeom prst="rect">
            <a:avLst/>
          </a:prstGeom>
        </p:spPr>
        <p:txBody>
          <a:bodyPr vert="horz" wrap="square" lIns="0" tIns="15875" rIns="0" bIns="0" rtlCol="0">
            <a:spAutoFit/>
          </a:bodyPr>
          <a:lstStyle/>
          <a:p>
            <a:pPr marL="180340" indent="-174625">
              <a:lnSpc>
                <a:spcPts val="2680"/>
              </a:lnSpc>
              <a:spcBef>
                <a:spcPts val="125"/>
              </a:spcBef>
              <a:buChar char="•"/>
              <a:tabLst>
                <a:tab pos="180340" algn="l"/>
              </a:tabLst>
            </a:pPr>
            <a:r>
              <a:rPr sz="2550" spc="-40" dirty="0">
                <a:latin typeface="Calibri"/>
                <a:cs typeface="Calibri"/>
              </a:rPr>
              <a:t>During</a:t>
            </a:r>
            <a:r>
              <a:rPr sz="2550" spc="-105" dirty="0">
                <a:latin typeface="Calibri"/>
                <a:cs typeface="Calibri"/>
              </a:rPr>
              <a:t> </a:t>
            </a:r>
            <a:r>
              <a:rPr sz="2550" spc="-45" dirty="0">
                <a:latin typeface="Calibri"/>
                <a:cs typeface="Calibri"/>
              </a:rPr>
              <a:t>inception,</a:t>
            </a:r>
            <a:r>
              <a:rPr sz="2550" spc="15" dirty="0">
                <a:latin typeface="Calibri"/>
                <a:cs typeface="Calibri"/>
              </a:rPr>
              <a:t> </a:t>
            </a:r>
            <a:r>
              <a:rPr sz="2550" dirty="0">
                <a:latin typeface="Calibri"/>
                <a:cs typeface="Calibri"/>
              </a:rPr>
              <a:t>the</a:t>
            </a:r>
            <a:r>
              <a:rPr sz="2550" spc="-90" dirty="0">
                <a:latin typeface="Calibri"/>
                <a:cs typeface="Calibri"/>
              </a:rPr>
              <a:t> </a:t>
            </a:r>
            <a:r>
              <a:rPr sz="2550" spc="-60" dirty="0">
                <a:latin typeface="Calibri"/>
                <a:cs typeface="Calibri"/>
              </a:rPr>
              <a:t>requirements</a:t>
            </a:r>
            <a:r>
              <a:rPr sz="2550" spc="25" dirty="0">
                <a:latin typeface="Calibri"/>
                <a:cs typeface="Calibri"/>
              </a:rPr>
              <a:t> </a:t>
            </a:r>
            <a:r>
              <a:rPr sz="2550" spc="-40" dirty="0">
                <a:latin typeface="Calibri"/>
                <a:cs typeface="Calibri"/>
              </a:rPr>
              <a:t>engineer</a:t>
            </a:r>
            <a:r>
              <a:rPr sz="2550" spc="-45" dirty="0">
                <a:latin typeface="Calibri"/>
                <a:cs typeface="Calibri"/>
              </a:rPr>
              <a:t> </a:t>
            </a:r>
            <a:r>
              <a:rPr sz="2550" spc="-30" dirty="0">
                <a:latin typeface="Calibri"/>
                <a:cs typeface="Calibri"/>
              </a:rPr>
              <a:t>asks</a:t>
            </a:r>
            <a:r>
              <a:rPr sz="2550" spc="-65" dirty="0">
                <a:latin typeface="Calibri"/>
                <a:cs typeface="Calibri"/>
              </a:rPr>
              <a:t> </a:t>
            </a:r>
            <a:r>
              <a:rPr sz="2550" dirty="0">
                <a:latin typeface="Calibri"/>
                <a:cs typeface="Calibri"/>
              </a:rPr>
              <a:t>a</a:t>
            </a:r>
            <a:r>
              <a:rPr sz="2550" spc="-145" dirty="0">
                <a:latin typeface="Calibri"/>
                <a:cs typeface="Calibri"/>
              </a:rPr>
              <a:t> </a:t>
            </a:r>
            <a:r>
              <a:rPr sz="2550" spc="-25" dirty="0">
                <a:latin typeface="Calibri"/>
                <a:cs typeface="Calibri"/>
              </a:rPr>
              <a:t>set</a:t>
            </a:r>
            <a:endParaRPr sz="2550" dirty="0">
              <a:latin typeface="Calibri"/>
              <a:cs typeface="Calibri"/>
            </a:endParaRPr>
          </a:p>
          <a:p>
            <a:pPr marL="180975">
              <a:lnSpc>
                <a:spcPts val="2660"/>
              </a:lnSpc>
            </a:pPr>
            <a:r>
              <a:rPr sz="2650" spc="-90" dirty="0">
                <a:latin typeface="Calibri"/>
                <a:cs typeface="Calibri"/>
              </a:rPr>
              <a:t>of</a:t>
            </a:r>
            <a:r>
              <a:rPr sz="2650" spc="-60" dirty="0">
                <a:latin typeface="Calibri"/>
                <a:cs typeface="Calibri"/>
              </a:rPr>
              <a:t> </a:t>
            </a:r>
            <a:r>
              <a:rPr sz="2650" spc="-85" dirty="0">
                <a:latin typeface="Calibri"/>
                <a:cs typeface="Calibri"/>
              </a:rPr>
              <a:t>questions</a:t>
            </a:r>
            <a:r>
              <a:rPr sz="2650" spc="-25" dirty="0">
                <a:latin typeface="Calibri"/>
                <a:cs typeface="Calibri"/>
              </a:rPr>
              <a:t> </a:t>
            </a:r>
            <a:r>
              <a:rPr sz="2650" spc="-110" dirty="0">
                <a:latin typeface="Calibri"/>
                <a:cs typeface="Calibri"/>
              </a:rPr>
              <a:t>to</a:t>
            </a:r>
            <a:r>
              <a:rPr sz="2650" spc="-75" dirty="0">
                <a:latin typeface="Calibri"/>
                <a:cs typeface="Calibri"/>
              </a:rPr>
              <a:t> </a:t>
            </a:r>
            <a:r>
              <a:rPr sz="2650" spc="-10" dirty="0">
                <a:latin typeface="Calibri"/>
                <a:cs typeface="Calibri"/>
              </a:rPr>
              <a:t>establish...</a:t>
            </a:r>
            <a:endParaRPr sz="2650" dirty="0">
              <a:latin typeface="Calibri"/>
              <a:cs typeface="Calibri"/>
            </a:endParaRPr>
          </a:p>
          <a:p>
            <a:pPr marL="334010">
              <a:lnSpc>
                <a:spcPts val="2275"/>
              </a:lnSpc>
            </a:pPr>
            <a:r>
              <a:rPr sz="2150" dirty="0">
                <a:latin typeface="Calibri"/>
                <a:cs typeface="Calibri"/>
              </a:rPr>
              <a:t>°</a:t>
            </a:r>
            <a:r>
              <a:rPr sz="2150" spc="-100" dirty="0">
                <a:latin typeface="Calibri"/>
                <a:cs typeface="Calibri"/>
              </a:rPr>
              <a:t> </a:t>
            </a:r>
            <a:r>
              <a:rPr sz="2150" dirty="0">
                <a:latin typeface="Calibri"/>
                <a:cs typeface="Calibri"/>
              </a:rPr>
              <a:t>A</a:t>
            </a:r>
            <a:r>
              <a:rPr sz="2150" spc="-15" dirty="0">
                <a:latin typeface="Calibri"/>
                <a:cs typeface="Calibri"/>
              </a:rPr>
              <a:t> </a:t>
            </a:r>
            <a:r>
              <a:rPr sz="2150" dirty="0">
                <a:latin typeface="Calibri"/>
                <a:cs typeface="Calibri"/>
              </a:rPr>
              <a:t>basic</a:t>
            </a:r>
            <a:r>
              <a:rPr sz="2150" spc="-60" dirty="0">
                <a:latin typeface="Calibri"/>
                <a:cs typeface="Calibri"/>
              </a:rPr>
              <a:t> </a:t>
            </a:r>
            <a:r>
              <a:rPr sz="2150" dirty="0">
                <a:latin typeface="Calibri"/>
                <a:cs typeface="Calibri"/>
              </a:rPr>
              <a:t>understanding</a:t>
            </a:r>
            <a:r>
              <a:rPr sz="2150" spc="160" dirty="0">
                <a:latin typeface="Calibri"/>
                <a:cs typeface="Calibri"/>
              </a:rPr>
              <a:t> </a:t>
            </a:r>
            <a:r>
              <a:rPr sz="2150" dirty="0">
                <a:latin typeface="Calibri"/>
                <a:cs typeface="Calibri"/>
              </a:rPr>
              <a:t>of</a:t>
            </a:r>
            <a:r>
              <a:rPr sz="2150" spc="-15" dirty="0">
                <a:latin typeface="Calibri"/>
                <a:cs typeface="Calibri"/>
              </a:rPr>
              <a:t> </a:t>
            </a:r>
            <a:r>
              <a:rPr sz="2150" dirty="0">
                <a:latin typeface="Calibri"/>
                <a:cs typeface="Calibri"/>
              </a:rPr>
              <a:t>the</a:t>
            </a:r>
            <a:r>
              <a:rPr sz="2150" spc="-120" dirty="0">
                <a:latin typeface="Calibri"/>
                <a:cs typeface="Calibri"/>
              </a:rPr>
              <a:t> </a:t>
            </a:r>
            <a:r>
              <a:rPr sz="2150" spc="-10" dirty="0">
                <a:latin typeface="Calibri"/>
                <a:cs typeface="Calibri"/>
              </a:rPr>
              <a:t>problem</a:t>
            </a:r>
            <a:endParaRPr sz="2150" dirty="0">
              <a:latin typeface="Calibri"/>
              <a:cs typeface="Calibri"/>
            </a:endParaRPr>
          </a:p>
          <a:p>
            <a:pPr marL="485140" lvl="1" indent="-165100">
              <a:lnSpc>
                <a:spcPts val="2465"/>
              </a:lnSpc>
              <a:buChar char="•"/>
              <a:tabLst>
                <a:tab pos="485140" algn="l"/>
              </a:tabLst>
            </a:pPr>
            <a:r>
              <a:rPr sz="2300" spc="-140" dirty="0">
                <a:latin typeface="Calibri"/>
                <a:cs typeface="Calibri"/>
              </a:rPr>
              <a:t>The</a:t>
            </a:r>
            <a:r>
              <a:rPr sz="2300" spc="-15" dirty="0">
                <a:latin typeface="Calibri"/>
                <a:cs typeface="Calibri"/>
              </a:rPr>
              <a:t> </a:t>
            </a:r>
            <a:r>
              <a:rPr sz="2300" spc="-80" dirty="0">
                <a:latin typeface="Calibri"/>
                <a:cs typeface="Calibri"/>
              </a:rPr>
              <a:t>people</a:t>
            </a:r>
            <a:r>
              <a:rPr sz="2300" spc="15" dirty="0">
                <a:latin typeface="Calibri"/>
                <a:cs typeface="Calibri"/>
              </a:rPr>
              <a:t> </a:t>
            </a:r>
            <a:r>
              <a:rPr sz="2300" spc="-95" dirty="0">
                <a:latin typeface="Calibri"/>
                <a:cs typeface="Calibri"/>
              </a:rPr>
              <a:t>who</a:t>
            </a:r>
            <a:r>
              <a:rPr sz="2300" spc="-35" dirty="0">
                <a:latin typeface="Calibri"/>
                <a:cs typeface="Calibri"/>
              </a:rPr>
              <a:t> </a:t>
            </a:r>
            <a:r>
              <a:rPr sz="2300" spc="-65" dirty="0">
                <a:latin typeface="Calibri"/>
                <a:cs typeface="Calibri"/>
              </a:rPr>
              <a:t>want</a:t>
            </a:r>
            <a:r>
              <a:rPr sz="2300" spc="-70" dirty="0">
                <a:latin typeface="Calibri"/>
                <a:cs typeface="Calibri"/>
              </a:rPr>
              <a:t> </a:t>
            </a:r>
            <a:r>
              <a:rPr sz="2300" dirty="0">
                <a:solidFill>
                  <a:srgbClr val="131313"/>
                </a:solidFill>
                <a:latin typeface="Calibri"/>
                <a:cs typeface="Calibri"/>
              </a:rPr>
              <a:t>a</a:t>
            </a:r>
            <a:r>
              <a:rPr sz="2300" spc="-105" dirty="0">
                <a:solidFill>
                  <a:srgbClr val="131313"/>
                </a:solidFill>
                <a:latin typeface="Calibri"/>
                <a:cs typeface="Calibri"/>
              </a:rPr>
              <a:t> </a:t>
            </a:r>
            <a:r>
              <a:rPr sz="2300" spc="-10" dirty="0">
                <a:latin typeface="Calibri"/>
                <a:cs typeface="Calibri"/>
              </a:rPr>
              <a:t>solution</a:t>
            </a:r>
            <a:endParaRPr sz="2300" dirty="0">
              <a:latin typeface="Calibri"/>
              <a:cs typeface="Calibri"/>
            </a:endParaRPr>
          </a:p>
          <a:p>
            <a:pPr marL="485775" lvl="1" indent="-162560">
              <a:lnSpc>
                <a:spcPts val="2390"/>
              </a:lnSpc>
              <a:buChar char="•"/>
              <a:tabLst>
                <a:tab pos="485775" algn="l"/>
              </a:tabLst>
            </a:pPr>
            <a:r>
              <a:rPr sz="2100" dirty="0">
                <a:latin typeface="Calibri"/>
                <a:cs typeface="Calibri"/>
              </a:rPr>
              <a:t>The</a:t>
            </a:r>
            <a:r>
              <a:rPr sz="2100" spc="50" dirty="0">
                <a:latin typeface="Calibri"/>
                <a:cs typeface="Calibri"/>
              </a:rPr>
              <a:t> </a:t>
            </a:r>
            <a:r>
              <a:rPr sz="2100" dirty="0">
                <a:latin typeface="Calibri"/>
                <a:cs typeface="Calibri"/>
              </a:rPr>
              <a:t>nature</a:t>
            </a:r>
            <a:r>
              <a:rPr sz="2100" spc="80" dirty="0">
                <a:latin typeface="Calibri"/>
                <a:cs typeface="Calibri"/>
              </a:rPr>
              <a:t> </a:t>
            </a:r>
            <a:r>
              <a:rPr sz="2100" dirty="0">
                <a:latin typeface="Calibri"/>
                <a:cs typeface="Calibri"/>
              </a:rPr>
              <a:t>of</a:t>
            </a:r>
            <a:r>
              <a:rPr sz="2100" spc="-45" dirty="0">
                <a:latin typeface="Calibri"/>
                <a:cs typeface="Calibri"/>
              </a:rPr>
              <a:t> </a:t>
            </a:r>
            <a:r>
              <a:rPr sz="2100" dirty="0">
                <a:latin typeface="Calibri"/>
                <a:cs typeface="Calibri"/>
              </a:rPr>
              <a:t>the</a:t>
            </a:r>
            <a:r>
              <a:rPr sz="2100" spc="20" dirty="0">
                <a:latin typeface="Calibri"/>
                <a:cs typeface="Calibri"/>
              </a:rPr>
              <a:t> </a:t>
            </a:r>
            <a:r>
              <a:rPr sz="2100" dirty="0">
                <a:latin typeface="Calibri"/>
                <a:cs typeface="Calibri"/>
              </a:rPr>
              <a:t>solution</a:t>
            </a:r>
            <a:r>
              <a:rPr sz="2100" spc="225" dirty="0">
                <a:latin typeface="Calibri"/>
                <a:cs typeface="Calibri"/>
              </a:rPr>
              <a:t> </a:t>
            </a:r>
            <a:r>
              <a:rPr sz="2100" dirty="0">
                <a:latin typeface="Calibri"/>
                <a:cs typeface="Calibri"/>
              </a:rPr>
              <a:t>that</a:t>
            </a:r>
            <a:r>
              <a:rPr sz="2100" spc="125" dirty="0">
                <a:latin typeface="Calibri"/>
                <a:cs typeface="Calibri"/>
              </a:rPr>
              <a:t> </a:t>
            </a:r>
            <a:r>
              <a:rPr sz="2100" dirty="0">
                <a:latin typeface="Calibri"/>
                <a:cs typeface="Calibri"/>
              </a:rPr>
              <a:t>is</a:t>
            </a:r>
            <a:r>
              <a:rPr sz="2100" spc="95" dirty="0">
                <a:latin typeface="Calibri"/>
                <a:cs typeface="Calibri"/>
              </a:rPr>
              <a:t> </a:t>
            </a:r>
            <a:r>
              <a:rPr sz="2100" spc="-10" dirty="0">
                <a:latin typeface="Calibri"/>
                <a:cs typeface="Calibri"/>
              </a:rPr>
              <a:t>desired</a:t>
            </a:r>
            <a:endParaRPr sz="2100" dirty="0">
              <a:latin typeface="Calibri"/>
              <a:cs typeface="Calibri"/>
            </a:endParaRPr>
          </a:p>
          <a:p>
            <a:pPr marL="483870" marR="565785" lvl="1" indent="-159385">
              <a:lnSpc>
                <a:spcPts val="2000"/>
              </a:lnSpc>
              <a:spcBef>
                <a:spcPts val="380"/>
              </a:spcBef>
              <a:buClr>
                <a:srgbClr val="000000"/>
              </a:buClr>
              <a:buChar char="•"/>
              <a:tabLst>
                <a:tab pos="489584" algn="l"/>
              </a:tabLst>
            </a:pPr>
            <a:r>
              <a:rPr sz="1900" spc="80" dirty="0">
                <a:solidFill>
                  <a:srgbClr val="0C0C0C"/>
                </a:solidFill>
                <a:latin typeface="Calibri"/>
                <a:cs typeface="Calibri"/>
              </a:rPr>
              <a:t>The</a:t>
            </a:r>
            <a:r>
              <a:rPr sz="1900" spc="165" dirty="0">
                <a:solidFill>
                  <a:srgbClr val="0C0C0C"/>
                </a:solidFill>
                <a:latin typeface="Calibri"/>
                <a:cs typeface="Calibri"/>
              </a:rPr>
              <a:t> </a:t>
            </a:r>
            <a:r>
              <a:rPr sz="1900" spc="65" dirty="0">
                <a:latin typeface="Calibri"/>
                <a:cs typeface="Calibri"/>
              </a:rPr>
              <a:t>effectiveness</a:t>
            </a:r>
            <a:r>
              <a:rPr sz="1900" spc="245" dirty="0">
                <a:latin typeface="Calibri"/>
                <a:cs typeface="Calibri"/>
              </a:rPr>
              <a:t> </a:t>
            </a:r>
            <a:r>
              <a:rPr sz="1900" spc="75" dirty="0">
                <a:latin typeface="Calibri"/>
                <a:cs typeface="Calibri"/>
              </a:rPr>
              <a:t>of</a:t>
            </a:r>
            <a:r>
              <a:rPr sz="1900" spc="90" dirty="0">
                <a:latin typeface="Calibri"/>
                <a:cs typeface="Calibri"/>
              </a:rPr>
              <a:t> </a:t>
            </a:r>
            <a:r>
              <a:rPr sz="1900" spc="65" dirty="0">
                <a:latin typeface="Calibri"/>
                <a:cs typeface="Calibri"/>
              </a:rPr>
              <a:t>preliminary</a:t>
            </a:r>
            <a:r>
              <a:rPr sz="1900" spc="335" dirty="0">
                <a:latin typeface="Calibri"/>
                <a:cs typeface="Calibri"/>
              </a:rPr>
              <a:t> </a:t>
            </a:r>
            <a:r>
              <a:rPr sz="1900" spc="75" dirty="0">
                <a:latin typeface="Calibri"/>
                <a:cs typeface="Calibri"/>
              </a:rPr>
              <a:t>communication</a:t>
            </a:r>
            <a:r>
              <a:rPr sz="1900" spc="254" dirty="0">
                <a:latin typeface="Calibri"/>
                <a:cs typeface="Calibri"/>
              </a:rPr>
              <a:t> </a:t>
            </a:r>
            <a:r>
              <a:rPr sz="1900" spc="55" dirty="0">
                <a:solidFill>
                  <a:srgbClr val="0F0F0F"/>
                </a:solidFill>
                <a:latin typeface="Calibri"/>
                <a:cs typeface="Calibri"/>
              </a:rPr>
              <a:t>and 	</a:t>
            </a:r>
            <a:r>
              <a:rPr sz="1900" spc="65" dirty="0">
                <a:latin typeface="Calibri"/>
                <a:cs typeface="Calibri"/>
              </a:rPr>
              <a:t>collaboration</a:t>
            </a:r>
            <a:r>
              <a:rPr sz="1900" spc="200" dirty="0">
                <a:latin typeface="Calibri"/>
                <a:cs typeface="Calibri"/>
              </a:rPr>
              <a:t> </a:t>
            </a:r>
            <a:r>
              <a:rPr sz="1900" spc="90" dirty="0">
                <a:latin typeface="Calibri"/>
                <a:cs typeface="Calibri"/>
              </a:rPr>
              <a:t>between</a:t>
            </a:r>
            <a:r>
              <a:rPr sz="1900" spc="235" dirty="0">
                <a:latin typeface="Calibri"/>
                <a:cs typeface="Calibri"/>
              </a:rPr>
              <a:t> </a:t>
            </a:r>
            <a:r>
              <a:rPr sz="1900" spc="55" dirty="0">
                <a:latin typeface="Calibri"/>
                <a:cs typeface="Calibri"/>
              </a:rPr>
              <a:t>the</a:t>
            </a:r>
            <a:r>
              <a:rPr sz="1900" spc="145" dirty="0">
                <a:latin typeface="Calibri"/>
                <a:cs typeface="Calibri"/>
              </a:rPr>
              <a:t> </a:t>
            </a:r>
            <a:r>
              <a:rPr sz="1900" spc="95" dirty="0">
                <a:latin typeface="Calibri"/>
                <a:cs typeface="Calibri"/>
              </a:rPr>
              <a:t>customer</a:t>
            </a:r>
            <a:r>
              <a:rPr sz="1900" spc="220" dirty="0">
                <a:latin typeface="Calibri"/>
                <a:cs typeface="Calibri"/>
              </a:rPr>
              <a:t> </a:t>
            </a:r>
            <a:r>
              <a:rPr sz="1900" spc="100" dirty="0">
                <a:latin typeface="Calibri"/>
                <a:cs typeface="Calibri"/>
              </a:rPr>
              <a:t>and</a:t>
            </a:r>
            <a:r>
              <a:rPr sz="1900" spc="85" dirty="0">
                <a:latin typeface="Calibri"/>
                <a:cs typeface="Calibri"/>
              </a:rPr>
              <a:t> </a:t>
            </a:r>
            <a:r>
              <a:rPr sz="1900" spc="90" dirty="0">
                <a:latin typeface="Calibri"/>
                <a:cs typeface="Calibri"/>
              </a:rPr>
              <a:t>the</a:t>
            </a:r>
            <a:r>
              <a:rPr sz="1900" spc="145" dirty="0">
                <a:latin typeface="Calibri"/>
                <a:cs typeface="Calibri"/>
              </a:rPr>
              <a:t> </a:t>
            </a:r>
            <a:r>
              <a:rPr sz="1900" spc="80" dirty="0">
                <a:latin typeface="Calibri"/>
                <a:cs typeface="Calibri"/>
              </a:rPr>
              <a:t>dRveloper</a:t>
            </a:r>
            <a:endParaRPr sz="1900" dirty="0">
              <a:latin typeface="Calibri"/>
              <a:cs typeface="Calibri"/>
            </a:endParaRPr>
          </a:p>
          <a:p>
            <a:pPr marL="179705" indent="-171450">
              <a:lnSpc>
                <a:spcPts val="2675"/>
              </a:lnSpc>
              <a:spcBef>
                <a:spcPts val="100"/>
              </a:spcBef>
              <a:buChar char="•"/>
              <a:tabLst>
                <a:tab pos="179705" algn="l"/>
              </a:tabLst>
            </a:pPr>
            <a:r>
              <a:rPr sz="2500" spc="-10" dirty="0">
                <a:latin typeface="Calibri"/>
                <a:cs typeface="Calibri"/>
              </a:rPr>
              <a:t>Through</a:t>
            </a:r>
            <a:r>
              <a:rPr sz="2500" spc="-125" dirty="0">
                <a:latin typeface="Calibri"/>
                <a:cs typeface="Calibri"/>
              </a:rPr>
              <a:t> </a:t>
            </a:r>
            <a:r>
              <a:rPr sz="2500" spc="-10" dirty="0">
                <a:latin typeface="Calibri"/>
                <a:cs typeface="Calibri"/>
              </a:rPr>
              <a:t>these</a:t>
            </a:r>
            <a:r>
              <a:rPr sz="2500" spc="-60" dirty="0">
                <a:latin typeface="Calibri"/>
                <a:cs typeface="Calibri"/>
              </a:rPr>
              <a:t> </a:t>
            </a:r>
            <a:r>
              <a:rPr sz="2500" spc="-10" dirty="0">
                <a:latin typeface="Calibri"/>
                <a:cs typeface="Calibri"/>
              </a:rPr>
              <a:t>questions,</a:t>
            </a:r>
            <a:r>
              <a:rPr sz="2500" spc="35" dirty="0">
                <a:latin typeface="Calibri"/>
                <a:cs typeface="Calibri"/>
              </a:rPr>
              <a:t> </a:t>
            </a:r>
            <a:r>
              <a:rPr sz="2500" spc="-10" dirty="0">
                <a:latin typeface="Calibri"/>
                <a:cs typeface="Calibri"/>
              </a:rPr>
              <a:t>the</a:t>
            </a:r>
            <a:r>
              <a:rPr sz="2500" spc="-130" dirty="0">
                <a:latin typeface="Calibri"/>
                <a:cs typeface="Calibri"/>
              </a:rPr>
              <a:t> </a:t>
            </a:r>
            <a:r>
              <a:rPr sz="2500" spc="-35" dirty="0">
                <a:latin typeface="Calibri"/>
                <a:cs typeface="Calibri"/>
              </a:rPr>
              <a:t>requirements</a:t>
            </a:r>
            <a:r>
              <a:rPr sz="2500" spc="90" dirty="0">
                <a:latin typeface="Calibri"/>
                <a:cs typeface="Calibri"/>
              </a:rPr>
              <a:t> </a:t>
            </a:r>
            <a:r>
              <a:rPr sz="2500" spc="-10" dirty="0">
                <a:latin typeface="Calibri"/>
                <a:cs typeface="Calibri"/>
              </a:rPr>
              <a:t>engineer</a:t>
            </a:r>
            <a:endParaRPr sz="2500" dirty="0">
              <a:latin typeface="Calibri"/>
              <a:cs typeface="Calibri"/>
            </a:endParaRPr>
          </a:p>
          <a:p>
            <a:pPr marL="184150">
              <a:lnSpc>
                <a:spcPts val="2605"/>
              </a:lnSpc>
            </a:pPr>
            <a:r>
              <a:rPr sz="2550" spc="-50" dirty="0">
                <a:latin typeface="Calibri"/>
                <a:cs typeface="Calibri"/>
              </a:rPr>
              <a:t>needs</a:t>
            </a:r>
            <a:r>
              <a:rPr sz="2550" spc="-75" dirty="0">
                <a:latin typeface="Calibri"/>
                <a:cs typeface="Calibri"/>
              </a:rPr>
              <a:t> </a:t>
            </a:r>
            <a:r>
              <a:rPr sz="2550" spc="-10" dirty="0">
                <a:latin typeface="Calibri"/>
                <a:cs typeface="Calibri"/>
              </a:rPr>
              <a:t>to...</a:t>
            </a:r>
            <a:endParaRPr sz="2550" dirty="0">
              <a:latin typeface="Calibri"/>
              <a:cs typeface="Calibri"/>
            </a:endParaRPr>
          </a:p>
          <a:p>
            <a:pPr marL="476884" lvl="1" indent="-154940">
              <a:lnSpc>
                <a:spcPts val="2385"/>
              </a:lnSpc>
              <a:buChar char="•"/>
              <a:tabLst>
                <a:tab pos="476884" algn="l"/>
              </a:tabLst>
            </a:pPr>
            <a:r>
              <a:rPr sz="2150" spc="-10" dirty="0">
                <a:latin typeface="Calibri"/>
                <a:cs typeface="Calibri"/>
              </a:rPr>
              <a:t>Identify</a:t>
            </a:r>
            <a:r>
              <a:rPr sz="2150" spc="-20" dirty="0">
                <a:latin typeface="Calibri"/>
                <a:cs typeface="Calibri"/>
              </a:rPr>
              <a:t> </a:t>
            </a:r>
            <a:r>
              <a:rPr sz="2150" dirty="0">
                <a:latin typeface="Calibri"/>
                <a:cs typeface="Calibri"/>
              </a:rPr>
              <a:t>the</a:t>
            </a:r>
            <a:r>
              <a:rPr sz="2150" spc="-114" dirty="0">
                <a:latin typeface="Calibri"/>
                <a:cs typeface="Calibri"/>
              </a:rPr>
              <a:t> </a:t>
            </a:r>
            <a:r>
              <a:rPr sz="2150" spc="-10" dirty="0">
                <a:latin typeface="Calibri"/>
                <a:cs typeface="Calibri"/>
              </a:rPr>
              <a:t>stakeholders</a:t>
            </a:r>
            <a:endParaRPr sz="2150" dirty="0">
              <a:latin typeface="Calibri"/>
              <a:cs typeface="Calibri"/>
            </a:endParaRPr>
          </a:p>
          <a:p>
            <a:pPr marL="478155" lvl="1" indent="-154940">
              <a:lnSpc>
                <a:spcPts val="2320"/>
              </a:lnSpc>
              <a:buChar char="•"/>
              <a:tabLst>
                <a:tab pos="478155" algn="l"/>
              </a:tabLst>
            </a:pPr>
            <a:r>
              <a:rPr sz="2100" dirty="0">
                <a:latin typeface="Calibri"/>
                <a:cs typeface="Calibri"/>
              </a:rPr>
              <a:t>Recognize</a:t>
            </a:r>
            <a:r>
              <a:rPr sz="2100" spc="190" dirty="0">
                <a:latin typeface="Calibri"/>
                <a:cs typeface="Calibri"/>
              </a:rPr>
              <a:t> </a:t>
            </a:r>
            <a:r>
              <a:rPr sz="2100" dirty="0">
                <a:latin typeface="Calibri"/>
                <a:cs typeface="Calibri"/>
              </a:rPr>
              <a:t>multiple</a:t>
            </a:r>
            <a:r>
              <a:rPr sz="2100" spc="150" dirty="0">
                <a:latin typeface="Calibri"/>
                <a:cs typeface="Calibri"/>
              </a:rPr>
              <a:t> </a:t>
            </a:r>
            <a:r>
              <a:rPr sz="2100" spc="-10" dirty="0">
                <a:latin typeface="Calibri"/>
                <a:cs typeface="Calibri"/>
              </a:rPr>
              <a:t>viewpoints</a:t>
            </a:r>
            <a:endParaRPr sz="2100" dirty="0">
              <a:latin typeface="Calibri"/>
              <a:cs typeface="Calibri"/>
            </a:endParaRPr>
          </a:p>
          <a:p>
            <a:pPr marL="333375">
              <a:lnSpc>
                <a:spcPts val="2390"/>
              </a:lnSpc>
            </a:pPr>
            <a:r>
              <a:rPr sz="2250" dirty="0">
                <a:latin typeface="Calibri"/>
                <a:cs typeface="Calibri"/>
              </a:rPr>
              <a:t>°</a:t>
            </a:r>
            <a:r>
              <a:rPr sz="2250" spc="-65" dirty="0">
                <a:latin typeface="Calibri"/>
                <a:cs typeface="Calibri"/>
              </a:rPr>
              <a:t> </a:t>
            </a:r>
            <a:r>
              <a:rPr sz="2250" spc="-95" dirty="0">
                <a:latin typeface="Calibri"/>
                <a:cs typeface="Calibri"/>
              </a:rPr>
              <a:t>Work</a:t>
            </a:r>
            <a:r>
              <a:rPr sz="2250" spc="35" dirty="0">
                <a:latin typeface="Calibri"/>
                <a:cs typeface="Calibri"/>
              </a:rPr>
              <a:t> </a:t>
            </a:r>
            <a:r>
              <a:rPr sz="2250" spc="-65" dirty="0">
                <a:latin typeface="Calibri"/>
                <a:cs typeface="Calibri"/>
              </a:rPr>
              <a:t>toward</a:t>
            </a:r>
            <a:r>
              <a:rPr sz="2250" spc="-5" dirty="0">
                <a:latin typeface="Calibri"/>
                <a:cs typeface="Calibri"/>
              </a:rPr>
              <a:t> </a:t>
            </a:r>
            <a:r>
              <a:rPr sz="2250" spc="-45" dirty="0">
                <a:latin typeface="Calibri"/>
                <a:cs typeface="Calibri"/>
              </a:rPr>
              <a:t>collaboration(give</a:t>
            </a:r>
            <a:r>
              <a:rPr sz="2250" spc="-85" dirty="0">
                <a:latin typeface="Calibri"/>
                <a:cs typeface="Calibri"/>
              </a:rPr>
              <a:t> </a:t>
            </a:r>
            <a:r>
              <a:rPr sz="2250" spc="-45" dirty="0">
                <a:latin typeface="Calibri"/>
                <a:cs typeface="Calibri"/>
              </a:rPr>
              <a:t>and</a:t>
            </a:r>
            <a:r>
              <a:rPr sz="2250" dirty="0">
                <a:latin typeface="Calibri"/>
                <a:cs typeface="Calibri"/>
              </a:rPr>
              <a:t> </a:t>
            </a:r>
            <a:r>
              <a:rPr sz="2250" spc="-75" dirty="0">
                <a:latin typeface="Calibri"/>
                <a:cs typeface="Calibri"/>
              </a:rPr>
              <a:t>take</a:t>
            </a:r>
            <a:r>
              <a:rPr sz="2250" spc="-55" dirty="0">
                <a:latin typeface="Calibri"/>
                <a:cs typeface="Calibri"/>
              </a:rPr>
              <a:t> </a:t>
            </a:r>
            <a:r>
              <a:rPr sz="2250" spc="-10" dirty="0">
                <a:latin typeface="Calibri"/>
                <a:cs typeface="Calibri"/>
              </a:rPr>
              <a:t>policy)</a:t>
            </a:r>
            <a:endParaRPr sz="2250" dirty="0">
              <a:latin typeface="Calibri"/>
              <a:cs typeface="Calibri"/>
            </a:endParaRPr>
          </a:p>
          <a:p>
            <a:pPr marL="475615" lvl="1" indent="-155575">
              <a:lnSpc>
                <a:spcPts val="2525"/>
              </a:lnSpc>
              <a:buChar char="•"/>
              <a:tabLst>
                <a:tab pos="475615" algn="l"/>
              </a:tabLst>
            </a:pPr>
            <a:r>
              <a:rPr sz="2250" spc="-40" dirty="0">
                <a:latin typeface="Calibri"/>
                <a:cs typeface="Calibri"/>
              </a:rPr>
              <a:t>Initiate</a:t>
            </a:r>
            <a:r>
              <a:rPr sz="2250" spc="-70" dirty="0">
                <a:latin typeface="Calibri"/>
                <a:cs typeface="Calibri"/>
              </a:rPr>
              <a:t> </a:t>
            </a:r>
            <a:r>
              <a:rPr sz="2250" spc="-65" dirty="0">
                <a:latin typeface="Calibri"/>
                <a:cs typeface="Calibri"/>
              </a:rPr>
              <a:t>the </a:t>
            </a:r>
            <a:r>
              <a:rPr sz="2250" spc="-10" dirty="0">
                <a:latin typeface="Calibri"/>
                <a:cs typeface="Calibri"/>
              </a:rPr>
              <a:t>communication</a:t>
            </a:r>
            <a:endParaRPr sz="2250" dirty="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F1D6C989-BFC8-8CE1-04B6-008C72FD04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8673" rIns="0" bIns="0" rtlCol="0">
            <a:spAutoFit/>
          </a:bodyPr>
          <a:lstStyle/>
          <a:p>
            <a:pPr marL="635635">
              <a:lnSpc>
                <a:spcPct val="100000"/>
              </a:lnSpc>
              <a:spcBef>
                <a:spcPts val="114"/>
              </a:spcBef>
            </a:pPr>
            <a:r>
              <a:rPr sz="2950" dirty="0">
                <a:latin typeface="Arial MT"/>
                <a:cs typeface="Arial MT"/>
              </a:rPr>
              <a:t>The</a:t>
            </a:r>
            <a:r>
              <a:rPr sz="2950" spc="-5" dirty="0">
                <a:latin typeface="Arial MT"/>
                <a:cs typeface="Arial MT"/>
              </a:rPr>
              <a:t> </a:t>
            </a:r>
            <a:r>
              <a:rPr sz="2950" spc="95" dirty="0">
                <a:latin typeface="Arial MT"/>
                <a:cs typeface="Arial MT"/>
              </a:rPr>
              <a:t>First</a:t>
            </a:r>
            <a:r>
              <a:rPr sz="2950" spc="130" dirty="0">
                <a:latin typeface="Arial MT"/>
                <a:cs typeface="Arial MT"/>
              </a:rPr>
              <a:t> </a:t>
            </a:r>
            <a:r>
              <a:rPr sz="2950" dirty="0">
                <a:latin typeface="Arial MT"/>
                <a:cs typeface="Arial MT"/>
              </a:rPr>
              <a:t>Set</a:t>
            </a:r>
            <a:r>
              <a:rPr sz="2950" spc="30" dirty="0">
                <a:latin typeface="Arial MT"/>
                <a:cs typeface="Arial MT"/>
              </a:rPr>
              <a:t> </a:t>
            </a:r>
            <a:r>
              <a:rPr sz="2950" spc="80" dirty="0">
                <a:latin typeface="Arial MT"/>
                <a:cs typeface="Arial MT"/>
              </a:rPr>
              <a:t>of</a:t>
            </a:r>
            <a:r>
              <a:rPr sz="2950" spc="125" dirty="0">
                <a:latin typeface="Arial MT"/>
                <a:cs typeface="Arial MT"/>
              </a:rPr>
              <a:t> </a:t>
            </a:r>
            <a:r>
              <a:rPr sz="2950" spc="75" dirty="0">
                <a:latin typeface="Arial MT"/>
                <a:cs typeface="Arial MT"/>
              </a:rPr>
              <a:t>Questions</a:t>
            </a:r>
            <a:endParaRPr sz="2950">
              <a:latin typeface="Arial MT"/>
              <a:cs typeface="Arial MT"/>
            </a:endParaRPr>
          </a:p>
        </p:txBody>
      </p:sp>
      <p:sp>
        <p:nvSpPr>
          <p:cNvPr id="3" name="object 3"/>
          <p:cNvSpPr txBox="1"/>
          <p:nvPr/>
        </p:nvSpPr>
        <p:spPr>
          <a:xfrm>
            <a:off x="629708" y="1250738"/>
            <a:ext cx="6644005" cy="737870"/>
          </a:xfrm>
          <a:prstGeom prst="rect">
            <a:avLst/>
          </a:prstGeom>
          <a:ln w="14816">
            <a:solidFill>
              <a:srgbClr val="676767"/>
            </a:solidFill>
          </a:ln>
        </p:spPr>
        <p:txBody>
          <a:bodyPr vert="horz" wrap="square" lIns="0" tIns="6350" rIns="0" bIns="0" rtlCol="0">
            <a:spAutoFit/>
          </a:bodyPr>
          <a:lstStyle/>
          <a:p>
            <a:pPr marL="123825">
              <a:lnSpc>
                <a:spcPct val="100000"/>
              </a:lnSpc>
              <a:spcBef>
                <a:spcPts val="50"/>
              </a:spcBef>
            </a:pPr>
            <a:r>
              <a:rPr sz="2050" dirty="0">
                <a:latin typeface="Times New Roman"/>
                <a:cs typeface="Times New Roman"/>
              </a:rPr>
              <a:t>These</a:t>
            </a:r>
            <a:r>
              <a:rPr sz="2050" spc="114" dirty="0">
                <a:latin typeface="Times New Roman"/>
                <a:cs typeface="Times New Roman"/>
              </a:rPr>
              <a:t> </a:t>
            </a:r>
            <a:r>
              <a:rPr sz="2050" dirty="0">
                <a:latin typeface="Times New Roman"/>
                <a:cs typeface="Times New Roman"/>
              </a:rPr>
              <a:t>questions</a:t>
            </a:r>
            <a:r>
              <a:rPr sz="2050" spc="395" dirty="0">
                <a:latin typeface="Times New Roman"/>
                <a:cs typeface="Times New Roman"/>
              </a:rPr>
              <a:t> </a:t>
            </a:r>
            <a:r>
              <a:rPr sz="2050" dirty="0">
                <a:latin typeface="Times New Roman"/>
                <a:cs typeface="Times New Roman"/>
              </a:rPr>
              <a:t>locus</a:t>
            </a:r>
            <a:r>
              <a:rPr sz="2050" spc="90" dirty="0">
                <a:latin typeface="Times New Roman"/>
                <a:cs typeface="Times New Roman"/>
              </a:rPr>
              <a:t> </a:t>
            </a:r>
            <a:r>
              <a:rPr sz="2050" dirty="0">
                <a:latin typeface="Times New Roman"/>
                <a:cs typeface="Times New Roman"/>
              </a:rPr>
              <a:t>on</a:t>
            </a:r>
            <a:r>
              <a:rPr sz="2050" spc="250" dirty="0">
                <a:latin typeface="Times New Roman"/>
                <a:cs typeface="Times New Roman"/>
              </a:rPr>
              <a:t> </a:t>
            </a:r>
            <a:r>
              <a:rPr sz="2050" dirty="0">
                <a:latin typeface="Times New Roman"/>
                <a:cs typeface="Times New Roman"/>
              </a:rPr>
              <a:t>the</a:t>
            </a:r>
            <a:r>
              <a:rPr sz="2050" spc="40" dirty="0">
                <a:latin typeface="Times New Roman"/>
                <a:cs typeface="Times New Roman"/>
              </a:rPr>
              <a:t> </a:t>
            </a:r>
            <a:r>
              <a:rPr sz="2050" dirty="0">
                <a:latin typeface="Times New Roman"/>
                <a:cs typeface="Times New Roman"/>
              </a:rPr>
              <a:t>customer,</a:t>
            </a:r>
            <a:r>
              <a:rPr sz="2050" spc="204" dirty="0">
                <a:latin typeface="Times New Roman"/>
                <a:cs typeface="Times New Roman"/>
              </a:rPr>
              <a:t> </a:t>
            </a:r>
            <a:r>
              <a:rPr sz="2050" dirty="0">
                <a:latin typeface="Times New Roman"/>
                <a:cs typeface="Times New Roman"/>
              </a:rPr>
              <a:t>other</a:t>
            </a:r>
            <a:r>
              <a:rPr sz="2050" spc="125" dirty="0">
                <a:latin typeface="Times New Roman"/>
                <a:cs typeface="Times New Roman"/>
              </a:rPr>
              <a:t> </a:t>
            </a:r>
            <a:r>
              <a:rPr sz="2050" spc="70" dirty="0">
                <a:latin typeface="Times New Roman"/>
                <a:cs typeface="Times New Roman"/>
              </a:rPr>
              <a:t>stakeholders,</a:t>
            </a:r>
            <a:endParaRPr sz="2050">
              <a:latin typeface="Times New Roman"/>
              <a:cs typeface="Times New Roman"/>
            </a:endParaRPr>
          </a:p>
          <a:p>
            <a:pPr marL="129539">
              <a:lnSpc>
                <a:spcPct val="100000"/>
              </a:lnSpc>
              <a:spcBef>
                <a:spcPts val="90"/>
              </a:spcBef>
            </a:pPr>
            <a:r>
              <a:rPr sz="2100" dirty="0">
                <a:latin typeface="Times New Roman"/>
                <a:cs typeface="Times New Roman"/>
              </a:rPr>
              <a:t>the</a:t>
            </a:r>
            <a:r>
              <a:rPr sz="2100" spc="50" dirty="0">
                <a:latin typeface="Times New Roman"/>
                <a:cs typeface="Times New Roman"/>
              </a:rPr>
              <a:t> </a:t>
            </a:r>
            <a:r>
              <a:rPr sz="2100" dirty="0">
                <a:latin typeface="Times New Roman"/>
                <a:cs typeface="Times New Roman"/>
              </a:rPr>
              <a:t>overall</a:t>
            </a:r>
            <a:r>
              <a:rPr sz="2100" spc="250" dirty="0">
                <a:latin typeface="Times New Roman"/>
                <a:cs typeface="Times New Roman"/>
              </a:rPr>
              <a:t> </a:t>
            </a:r>
            <a:r>
              <a:rPr sz="2100" dirty="0">
                <a:latin typeface="Times New Roman"/>
                <a:cs typeface="Times New Roman"/>
              </a:rPr>
              <a:t>goats.</a:t>
            </a:r>
            <a:r>
              <a:rPr sz="2100" spc="25" dirty="0">
                <a:latin typeface="Times New Roman"/>
                <a:cs typeface="Times New Roman"/>
              </a:rPr>
              <a:t> </a:t>
            </a:r>
            <a:r>
              <a:rPr sz="2100" dirty="0">
                <a:latin typeface="Times New Roman"/>
                <a:cs typeface="Times New Roman"/>
              </a:rPr>
              <a:t>and</a:t>
            </a:r>
            <a:r>
              <a:rPr sz="2100" spc="190" dirty="0">
                <a:latin typeface="Times New Roman"/>
                <a:cs typeface="Times New Roman"/>
              </a:rPr>
              <a:t> </a:t>
            </a:r>
            <a:r>
              <a:rPr sz="2100" dirty="0">
                <a:latin typeface="Times New Roman"/>
                <a:cs typeface="Times New Roman"/>
              </a:rPr>
              <a:t>the</a:t>
            </a:r>
            <a:r>
              <a:rPr sz="2100" spc="130" dirty="0">
                <a:latin typeface="Times New Roman"/>
                <a:cs typeface="Times New Roman"/>
              </a:rPr>
              <a:t> </a:t>
            </a:r>
            <a:r>
              <a:rPr sz="2100" spc="-10" dirty="0">
                <a:latin typeface="Times New Roman"/>
                <a:cs typeface="Times New Roman"/>
              </a:rPr>
              <a:t>benefits</a:t>
            </a:r>
            <a:endParaRPr sz="2100">
              <a:latin typeface="Times New Roman"/>
              <a:cs typeface="Times New Roman"/>
            </a:endParaRPr>
          </a:p>
        </p:txBody>
      </p:sp>
      <p:sp>
        <p:nvSpPr>
          <p:cNvPr id="4" name="object 4"/>
          <p:cNvSpPr txBox="1"/>
          <p:nvPr/>
        </p:nvSpPr>
        <p:spPr>
          <a:xfrm>
            <a:off x="795829" y="2435692"/>
            <a:ext cx="5808980" cy="2411730"/>
          </a:xfrm>
          <a:prstGeom prst="rect">
            <a:avLst/>
          </a:prstGeom>
        </p:spPr>
        <p:txBody>
          <a:bodyPr vert="horz" wrap="square" lIns="0" tIns="72390" rIns="0" bIns="0" rtlCol="0">
            <a:spAutoFit/>
          </a:bodyPr>
          <a:lstStyle/>
          <a:p>
            <a:pPr marL="189865" indent="-164465">
              <a:lnSpc>
                <a:spcPct val="100000"/>
              </a:lnSpc>
              <a:spcBef>
                <a:spcPts val="570"/>
              </a:spcBef>
              <a:buChar char="•"/>
              <a:tabLst>
                <a:tab pos="189865" algn="l"/>
              </a:tabLst>
            </a:pPr>
            <a:r>
              <a:rPr sz="2400" dirty="0">
                <a:latin typeface="Times New Roman"/>
                <a:cs typeface="Times New Roman"/>
              </a:rPr>
              <a:t>Who</a:t>
            </a:r>
            <a:r>
              <a:rPr sz="2400" spc="120" dirty="0">
                <a:latin typeface="Times New Roman"/>
                <a:cs typeface="Times New Roman"/>
              </a:rPr>
              <a:t> </a:t>
            </a:r>
            <a:r>
              <a:rPr sz="2400" dirty="0">
                <a:latin typeface="Times New Roman"/>
                <a:cs typeface="Times New Roman"/>
              </a:rPr>
              <a:t>is</a:t>
            </a:r>
            <a:r>
              <a:rPr sz="2400" spc="155" dirty="0">
                <a:latin typeface="Times New Roman"/>
                <a:cs typeface="Times New Roman"/>
              </a:rPr>
              <a:t> </a:t>
            </a:r>
            <a:r>
              <a:rPr sz="2400" dirty="0">
                <a:latin typeface="Times New Roman"/>
                <a:cs typeface="Times New Roman"/>
              </a:rPr>
              <a:t>behind</a:t>
            </a:r>
            <a:r>
              <a:rPr sz="2400" spc="210" dirty="0">
                <a:latin typeface="Times New Roman"/>
                <a:cs typeface="Times New Roman"/>
              </a:rPr>
              <a:t> </a:t>
            </a:r>
            <a:r>
              <a:rPr sz="2400" spc="90" dirty="0">
                <a:latin typeface="Times New Roman"/>
                <a:cs typeface="Times New Roman"/>
              </a:rPr>
              <a:t>the</a:t>
            </a:r>
            <a:r>
              <a:rPr sz="2400" spc="265" dirty="0">
                <a:latin typeface="Times New Roman"/>
                <a:cs typeface="Times New Roman"/>
              </a:rPr>
              <a:t> </a:t>
            </a:r>
            <a:r>
              <a:rPr sz="2400" spc="45" dirty="0">
                <a:latin typeface="Times New Roman"/>
                <a:cs typeface="Times New Roman"/>
              </a:rPr>
              <a:t>request</a:t>
            </a:r>
            <a:r>
              <a:rPr sz="2400" spc="120" dirty="0">
                <a:latin typeface="Times New Roman"/>
                <a:cs typeface="Times New Roman"/>
              </a:rPr>
              <a:t> </a:t>
            </a:r>
            <a:r>
              <a:rPr sz="2400" dirty="0">
                <a:latin typeface="Times New Roman"/>
                <a:cs typeface="Times New Roman"/>
              </a:rPr>
              <a:t>for</a:t>
            </a:r>
            <a:r>
              <a:rPr sz="2400" spc="45" dirty="0">
                <a:latin typeface="Times New Roman"/>
                <a:cs typeface="Times New Roman"/>
              </a:rPr>
              <a:t> </a:t>
            </a:r>
            <a:r>
              <a:rPr sz="2400" dirty="0">
                <a:latin typeface="Times New Roman"/>
                <a:cs typeface="Times New Roman"/>
              </a:rPr>
              <a:t>this</a:t>
            </a:r>
            <a:r>
              <a:rPr sz="2400" spc="150" dirty="0">
                <a:latin typeface="Times New Roman"/>
                <a:cs typeface="Times New Roman"/>
              </a:rPr>
              <a:t> </a:t>
            </a:r>
            <a:r>
              <a:rPr sz="2400" spc="-10" dirty="0">
                <a:latin typeface="Times New Roman"/>
                <a:cs typeface="Times New Roman"/>
              </a:rPr>
              <a:t>work?</a:t>
            </a:r>
            <a:endParaRPr sz="2400">
              <a:latin typeface="Times New Roman"/>
              <a:cs typeface="Times New Roman"/>
            </a:endParaRPr>
          </a:p>
          <a:p>
            <a:pPr marL="189230" indent="-163830">
              <a:lnSpc>
                <a:spcPct val="100000"/>
              </a:lnSpc>
              <a:spcBef>
                <a:spcPts val="470"/>
              </a:spcBef>
              <a:buChar char="•"/>
              <a:tabLst>
                <a:tab pos="189230" algn="l"/>
              </a:tabLst>
            </a:pPr>
            <a:r>
              <a:rPr sz="2350" dirty="0">
                <a:latin typeface="Times New Roman"/>
                <a:cs typeface="Times New Roman"/>
              </a:rPr>
              <a:t>Who</a:t>
            </a:r>
            <a:r>
              <a:rPr sz="2350" spc="105" dirty="0">
                <a:latin typeface="Times New Roman"/>
                <a:cs typeface="Times New Roman"/>
              </a:rPr>
              <a:t> </a:t>
            </a:r>
            <a:r>
              <a:rPr sz="2350" spc="-50" dirty="0">
                <a:latin typeface="Times New Roman"/>
                <a:cs typeface="Times New Roman"/>
              </a:rPr>
              <a:t>will</a:t>
            </a:r>
            <a:r>
              <a:rPr sz="2350" spc="350" dirty="0">
                <a:latin typeface="Times New Roman"/>
                <a:cs typeface="Times New Roman"/>
              </a:rPr>
              <a:t> </a:t>
            </a:r>
            <a:r>
              <a:rPr sz="2350" dirty="0">
                <a:latin typeface="Times New Roman"/>
                <a:cs typeface="Times New Roman"/>
              </a:rPr>
              <a:t>use</a:t>
            </a:r>
            <a:r>
              <a:rPr sz="2350" spc="95" dirty="0">
                <a:latin typeface="Times New Roman"/>
                <a:cs typeface="Times New Roman"/>
              </a:rPr>
              <a:t> </a:t>
            </a:r>
            <a:r>
              <a:rPr sz="2350" dirty="0">
                <a:latin typeface="Times New Roman"/>
                <a:cs typeface="Times New Roman"/>
              </a:rPr>
              <a:t>the</a:t>
            </a:r>
            <a:r>
              <a:rPr sz="2350" spc="204" dirty="0">
                <a:latin typeface="Times New Roman"/>
                <a:cs typeface="Times New Roman"/>
              </a:rPr>
              <a:t> </a:t>
            </a:r>
            <a:r>
              <a:rPr sz="2350" spc="40" dirty="0">
                <a:latin typeface="Times New Roman"/>
                <a:cs typeface="Times New Roman"/>
              </a:rPr>
              <a:t>solution?</a:t>
            </a:r>
            <a:endParaRPr sz="2350">
              <a:latin typeface="Times New Roman"/>
              <a:cs typeface="Times New Roman"/>
            </a:endParaRPr>
          </a:p>
          <a:p>
            <a:pPr marL="189230" indent="-165735">
              <a:lnSpc>
                <a:spcPts val="2990"/>
              </a:lnSpc>
              <a:spcBef>
                <a:spcPts val="229"/>
              </a:spcBef>
              <a:buChar char="•"/>
              <a:tabLst>
                <a:tab pos="189230" algn="l"/>
              </a:tabLst>
            </a:pPr>
            <a:r>
              <a:rPr sz="2650" spc="-95" dirty="0">
                <a:latin typeface="Times New Roman"/>
                <a:cs typeface="Times New Roman"/>
              </a:rPr>
              <a:t>What</a:t>
            </a:r>
            <a:r>
              <a:rPr sz="2650" spc="-80" dirty="0">
                <a:latin typeface="Times New Roman"/>
                <a:cs typeface="Times New Roman"/>
              </a:rPr>
              <a:t> </a:t>
            </a:r>
            <a:r>
              <a:rPr sz="2650" spc="-155" dirty="0">
                <a:latin typeface="Times New Roman"/>
                <a:cs typeface="Times New Roman"/>
              </a:rPr>
              <a:t>will</a:t>
            </a:r>
            <a:r>
              <a:rPr sz="2650" spc="40" dirty="0">
                <a:latin typeface="Times New Roman"/>
                <a:cs typeface="Times New Roman"/>
              </a:rPr>
              <a:t> </a:t>
            </a:r>
            <a:r>
              <a:rPr sz="2650" spc="-160" dirty="0">
                <a:latin typeface="Times New Roman"/>
                <a:cs typeface="Times New Roman"/>
              </a:rPr>
              <a:t>be</a:t>
            </a:r>
            <a:r>
              <a:rPr sz="2650" spc="-20" dirty="0">
                <a:latin typeface="Times New Roman"/>
                <a:cs typeface="Times New Roman"/>
              </a:rPr>
              <a:t> </a:t>
            </a:r>
            <a:r>
              <a:rPr sz="2650" dirty="0">
                <a:latin typeface="Times New Roman"/>
                <a:cs typeface="Times New Roman"/>
              </a:rPr>
              <a:t>the</a:t>
            </a:r>
            <a:r>
              <a:rPr sz="2650" spc="-100" dirty="0">
                <a:latin typeface="Times New Roman"/>
                <a:cs typeface="Times New Roman"/>
              </a:rPr>
              <a:t> </a:t>
            </a:r>
            <a:r>
              <a:rPr sz="2650" spc="-75" dirty="0">
                <a:latin typeface="Times New Roman"/>
                <a:cs typeface="Times New Roman"/>
              </a:rPr>
              <a:t>economic</a:t>
            </a:r>
            <a:r>
              <a:rPr sz="2650" spc="114" dirty="0">
                <a:latin typeface="Times New Roman"/>
                <a:cs typeface="Times New Roman"/>
              </a:rPr>
              <a:t> </a:t>
            </a:r>
            <a:r>
              <a:rPr sz="2650" spc="-65" dirty="0">
                <a:latin typeface="Times New Roman"/>
                <a:cs typeface="Times New Roman"/>
              </a:rPr>
              <a:t>benefit</a:t>
            </a:r>
            <a:r>
              <a:rPr sz="2650" spc="-30" dirty="0">
                <a:latin typeface="Times New Roman"/>
                <a:cs typeface="Times New Roman"/>
              </a:rPr>
              <a:t> </a:t>
            </a:r>
            <a:r>
              <a:rPr sz="2650" spc="-130" dirty="0">
                <a:latin typeface="Times New Roman"/>
                <a:cs typeface="Times New Roman"/>
              </a:rPr>
              <a:t>of</a:t>
            </a:r>
            <a:r>
              <a:rPr sz="2650" spc="-25" dirty="0">
                <a:latin typeface="Times New Roman"/>
                <a:cs typeface="Times New Roman"/>
              </a:rPr>
              <a:t> </a:t>
            </a:r>
            <a:r>
              <a:rPr sz="2650" spc="-50" dirty="0">
                <a:latin typeface="Times New Roman"/>
                <a:cs typeface="Times New Roman"/>
              </a:rPr>
              <a:t>a</a:t>
            </a:r>
            <a:endParaRPr sz="2650">
              <a:latin typeface="Times New Roman"/>
              <a:cs typeface="Times New Roman"/>
            </a:endParaRPr>
          </a:p>
          <a:p>
            <a:pPr marL="179070">
              <a:lnSpc>
                <a:spcPts val="2810"/>
              </a:lnSpc>
            </a:pPr>
            <a:r>
              <a:rPr sz="2500" spc="-35" dirty="0">
                <a:latin typeface="Times New Roman"/>
                <a:cs typeface="Times New Roman"/>
              </a:rPr>
              <a:t>successful</a:t>
            </a:r>
            <a:r>
              <a:rPr sz="2500" spc="10" dirty="0">
                <a:latin typeface="Times New Roman"/>
                <a:cs typeface="Times New Roman"/>
              </a:rPr>
              <a:t> </a:t>
            </a:r>
            <a:r>
              <a:rPr sz="2500" spc="-10" dirty="0">
                <a:latin typeface="Times New Roman"/>
                <a:cs typeface="Times New Roman"/>
              </a:rPr>
              <a:t>solution?</a:t>
            </a:r>
            <a:endParaRPr sz="2500">
              <a:latin typeface="Times New Roman"/>
              <a:cs typeface="Times New Roman"/>
            </a:endParaRPr>
          </a:p>
          <a:p>
            <a:pPr marL="179705" indent="-168275">
              <a:lnSpc>
                <a:spcPts val="2770"/>
              </a:lnSpc>
              <a:spcBef>
                <a:spcPts val="450"/>
              </a:spcBef>
              <a:buClr>
                <a:srgbClr val="000000"/>
              </a:buClr>
              <a:buChar char="•"/>
              <a:tabLst>
                <a:tab pos="179705" algn="l"/>
              </a:tabLst>
            </a:pPr>
            <a:r>
              <a:rPr sz="2450" dirty="0">
                <a:solidFill>
                  <a:srgbClr val="0C0C0C"/>
                </a:solidFill>
                <a:latin typeface="Calibri"/>
                <a:cs typeface="Calibri"/>
              </a:rPr>
              <a:t>Is</a:t>
            </a:r>
            <a:r>
              <a:rPr sz="2450" spc="-55" dirty="0">
                <a:solidFill>
                  <a:srgbClr val="0C0C0C"/>
                </a:solidFill>
                <a:latin typeface="Calibri"/>
                <a:cs typeface="Calibri"/>
              </a:rPr>
              <a:t> </a:t>
            </a:r>
            <a:r>
              <a:rPr sz="2450" dirty="0">
                <a:latin typeface="Calibri"/>
                <a:cs typeface="Calibri"/>
              </a:rPr>
              <a:t>there</a:t>
            </a:r>
            <a:r>
              <a:rPr sz="2450" spc="40" dirty="0">
                <a:latin typeface="Calibri"/>
                <a:cs typeface="Calibri"/>
              </a:rPr>
              <a:t> </a:t>
            </a:r>
            <a:r>
              <a:rPr sz="2450" dirty="0">
                <a:latin typeface="Calibri"/>
                <a:cs typeface="Calibri"/>
              </a:rPr>
              <a:t>another</a:t>
            </a:r>
            <a:r>
              <a:rPr sz="2450" spc="85" dirty="0">
                <a:latin typeface="Calibri"/>
                <a:cs typeface="Calibri"/>
              </a:rPr>
              <a:t> </a:t>
            </a:r>
            <a:r>
              <a:rPr sz="2450" dirty="0">
                <a:latin typeface="Calibri"/>
                <a:cs typeface="Calibri"/>
              </a:rPr>
              <a:t>source</a:t>
            </a:r>
            <a:r>
              <a:rPr sz="2450" spc="30" dirty="0">
                <a:latin typeface="Calibri"/>
                <a:cs typeface="Calibri"/>
              </a:rPr>
              <a:t> </a:t>
            </a:r>
            <a:r>
              <a:rPr sz="2450" dirty="0">
                <a:latin typeface="Calibri"/>
                <a:cs typeface="Calibri"/>
              </a:rPr>
              <a:t>for</a:t>
            </a:r>
            <a:r>
              <a:rPr sz="2450" spc="-50" dirty="0">
                <a:latin typeface="Calibri"/>
                <a:cs typeface="Calibri"/>
              </a:rPr>
              <a:t> </a:t>
            </a:r>
            <a:r>
              <a:rPr sz="2450" dirty="0">
                <a:latin typeface="Calibri"/>
                <a:cs typeface="Calibri"/>
              </a:rPr>
              <a:t>the</a:t>
            </a:r>
            <a:r>
              <a:rPr sz="2450" spc="10" dirty="0">
                <a:latin typeface="Calibri"/>
                <a:cs typeface="Calibri"/>
              </a:rPr>
              <a:t> </a:t>
            </a:r>
            <a:r>
              <a:rPr sz="2450" dirty="0">
                <a:latin typeface="Calibri"/>
                <a:cs typeface="Calibri"/>
              </a:rPr>
              <a:t>solution</a:t>
            </a:r>
            <a:r>
              <a:rPr sz="2450" spc="30" dirty="0">
                <a:latin typeface="Calibri"/>
                <a:cs typeface="Calibri"/>
              </a:rPr>
              <a:t> </a:t>
            </a:r>
            <a:r>
              <a:rPr sz="2450" spc="-20" dirty="0">
                <a:latin typeface="Calibri"/>
                <a:cs typeface="Calibri"/>
              </a:rPr>
              <a:t>that</a:t>
            </a:r>
            <a:endParaRPr sz="2450">
              <a:latin typeface="Calibri"/>
              <a:cs typeface="Calibri"/>
            </a:endParaRPr>
          </a:p>
          <a:p>
            <a:pPr marL="176530">
              <a:lnSpc>
                <a:spcPts val="2890"/>
              </a:lnSpc>
            </a:pPr>
            <a:r>
              <a:rPr sz="2550" spc="-20" dirty="0">
                <a:latin typeface="Calibri"/>
                <a:cs typeface="Calibri"/>
              </a:rPr>
              <a:t>you</a:t>
            </a:r>
            <a:r>
              <a:rPr sz="2550" spc="-114" dirty="0">
                <a:latin typeface="Calibri"/>
                <a:cs typeface="Calibri"/>
              </a:rPr>
              <a:t> </a:t>
            </a:r>
            <a:r>
              <a:rPr sz="2550" spc="-10" dirty="0">
                <a:latin typeface="Calibri"/>
                <a:cs typeface="Calibri"/>
              </a:rPr>
              <a:t>need*</a:t>
            </a:r>
            <a:endParaRPr sz="2550">
              <a:latin typeface="Calibri"/>
              <a:cs typeface="Calibri"/>
            </a:endParaRPr>
          </a:p>
        </p:txBody>
      </p:sp>
      <p:pic>
        <p:nvPicPr>
          <p:cNvPr id="5" name="Picture 2" descr="Profile for SRM Institute of Science and Technology">
            <a:extLst>
              <a:ext uri="{FF2B5EF4-FFF2-40B4-BE49-F238E27FC236}">
                <a16:creationId xmlns:a16="http://schemas.microsoft.com/office/drawing/2014/main" id="{5D3EA423-C985-D63D-C4CE-E68508A88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98500" y="1193800"/>
            <a:ext cx="6362700" cy="254000"/>
          </a:xfrm>
          <a:prstGeom prst="rect">
            <a:avLst/>
          </a:prstGeom>
        </p:spPr>
      </p:pic>
      <p:sp>
        <p:nvSpPr>
          <p:cNvPr id="3" name="object 3"/>
          <p:cNvSpPr txBox="1">
            <a:spLocks noGrp="1"/>
          </p:cNvSpPr>
          <p:nvPr>
            <p:ph type="title"/>
          </p:nvPr>
        </p:nvSpPr>
        <p:spPr>
          <a:prstGeom prst="rect">
            <a:avLst/>
          </a:prstGeom>
        </p:spPr>
        <p:txBody>
          <a:bodyPr vert="horz" wrap="square" lIns="0" tIns="229517" rIns="0" bIns="0" rtlCol="0">
            <a:spAutoFit/>
          </a:bodyPr>
          <a:lstStyle/>
          <a:p>
            <a:pPr marL="558800">
              <a:lnSpc>
                <a:spcPct val="100000"/>
              </a:lnSpc>
              <a:spcBef>
                <a:spcPts val="110"/>
              </a:spcBef>
            </a:pPr>
            <a:r>
              <a:rPr sz="3100" dirty="0">
                <a:latin typeface="Arial MT"/>
                <a:cs typeface="Arial MT"/>
              </a:rPr>
              <a:t>The</a:t>
            </a:r>
            <a:r>
              <a:rPr sz="3100" spc="-130" dirty="0">
                <a:latin typeface="Arial MT"/>
                <a:cs typeface="Arial MT"/>
              </a:rPr>
              <a:t> </a:t>
            </a:r>
            <a:r>
              <a:rPr sz="3100" dirty="0">
                <a:latin typeface="Arial MT"/>
                <a:cs typeface="Arial MT"/>
              </a:rPr>
              <a:t>Next</a:t>
            </a:r>
            <a:r>
              <a:rPr sz="3100" spc="-75" dirty="0">
                <a:latin typeface="Arial MT"/>
                <a:cs typeface="Arial MT"/>
              </a:rPr>
              <a:t> </a:t>
            </a:r>
            <a:r>
              <a:rPr sz="3100" dirty="0">
                <a:latin typeface="Arial MT"/>
                <a:cs typeface="Arial MT"/>
              </a:rPr>
              <a:t>Set</a:t>
            </a:r>
            <a:r>
              <a:rPr sz="3100" spc="-105" dirty="0">
                <a:latin typeface="Arial MT"/>
                <a:cs typeface="Arial MT"/>
              </a:rPr>
              <a:t> </a:t>
            </a:r>
            <a:r>
              <a:rPr sz="3100" dirty="0">
                <a:latin typeface="Arial MT"/>
                <a:cs typeface="Arial MT"/>
              </a:rPr>
              <a:t>of</a:t>
            </a:r>
            <a:r>
              <a:rPr sz="3100" spc="-55" dirty="0">
                <a:latin typeface="Arial MT"/>
                <a:cs typeface="Arial MT"/>
              </a:rPr>
              <a:t> </a:t>
            </a:r>
            <a:r>
              <a:rPr sz="3100" spc="-10" dirty="0">
                <a:latin typeface="Arial MT"/>
                <a:cs typeface="Arial MT"/>
              </a:rPr>
              <a:t>Questions</a:t>
            </a:r>
            <a:endParaRPr sz="3100">
              <a:latin typeface="Arial MT"/>
              <a:cs typeface="Arial MT"/>
            </a:endParaRPr>
          </a:p>
        </p:txBody>
      </p:sp>
      <p:sp>
        <p:nvSpPr>
          <p:cNvPr id="4" name="object 4"/>
          <p:cNvSpPr txBox="1"/>
          <p:nvPr/>
        </p:nvSpPr>
        <p:spPr>
          <a:xfrm>
            <a:off x="564514" y="1111461"/>
            <a:ext cx="6644005" cy="1066800"/>
          </a:xfrm>
          <a:prstGeom prst="rect">
            <a:avLst/>
          </a:prstGeom>
          <a:ln w="14816">
            <a:solidFill>
              <a:srgbClr val="777777"/>
            </a:solidFill>
          </a:ln>
        </p:spPr>
        <p:txBody>
          <a:bodyPr vert="horz" wrap="square" lIns="0" tIns="12700" rIns="0" bIns="0" rtlCol="0">
            <a:spAutoFit/>
          </a:bodyPr>
          <a:lstStyle/>
          <a:p>
            <a:pPr>
              <a:lnSpc>
                <a:spcPct val="100000"/>
              </a:lnSpc>
              <a:spcBef>
                <a:spcPts val="100"/>
              </a:spcBef>
            </a:pPr>
            <a:endParaRPr sz="2100">
              <a:latin typeface="Times New Roman"/>
              <a:cs typeface="Times New Roman"/>
            </a:endParaRPr>
          </a:p>
          <a:p>
            <a:pPr marL="120014" marR="289560" indent="6985">
              <a:lnSpc>
                <a:spcPct val="103200"/>
              </a:lnSpc>
            </a:pPr>
            <a:r>
              <a:rPr sz="2100" spc="-105" dirty="0">
                <a:latin typeface="Cambria"/>
                <a:cs typeface="Cambria"/>
              </a:rPr>
              <a:t>better</a:t>
            </a:r>
            <a:r>
              <a:rPr sz="2100" spc="-15" dirty="0">
                <a:latin typeface="Cambria"/>
                <a:cs typeface="Cambria"/>
              </a:rPr>
              <a:t> </a:t>
            </a:r>
            <a:r>
              <a:rPr sz="2100" spc="-75" dirty="0">
                <a:latin typeface="Cambria"/>
                <a:cs typeface="Cambria"/>
              </a:rPr>
              <a:t>riiideistandiiig</a:t>
            </a:r>
            <a:r>
              <a:rPr sz="2100" spc="-40" dirty="0">
                <a:latin typeface="Cambria"/>
                <a:cs typeface="Cambria"/>
              </a:rPr>
              <a:t> </a:t>
            </a:r>
            <a:r>
              <a:rPr sz="2100" dirty="0">
                <a:latin typeface="Cambria"/>
                <a:cs typeface="Cambria"/>
              </a:rPr>
              <a:t>of</a:t>
            </a:r>
            <a:r>
              <a:rPr sz="2100" spc="-114" dirty="0">
                <a:latin typeface="Cambria"/>
                <a:cs typeface="Cambria"/>
              </a:rPr>
              <a:t> </a:t>
            </a:r>
            <a:r>
              <a:rPr sz="2100" spc="-45" dirty="0">
                <a:latin typeface="Cambria"/>
                <a:cs typeface="Cambria"/>
              </a:rPr>
              <a:t>the</a:t>
            </a:r>
            <a:r>
              <a:rPr sz="2100" spc="65" dirty="0">
                <a:latin typeface="Cambria"/>
                <a:cs typeface="Cambria"/>
              </a:rPr>
              <a:t> </a:t>
            </a:r>
            <a:r>
              <a:rPr sz="2100" spc="-20" dirty="0">
                <a:latin typeface="Cambria"/>
                <a:cs typeface="Cambria"/>
              </a:rPr>
              <a:t>problem</a:t>
            </a:r>
            <a:r>
              <a:rPr sz="2100" spc="75" dirty="0">
                <a:latin typeface="Cambria"/>
                <a:cs typeface="Cambria"/>
              </a:rPr>
              <a:t> </a:t>
            </a:r>
            <a:r>
              <a:rPr sz="2100" spc="-75" dirty="0">
                <a:latin typeface="Cambria"/>
                <a:cs typeface="Cambria"/>
              </a:rPr>
              <a:t>and</a:t>
            </a:r>
            <a:r>
              <a:rPr sz="2100" spc="20" dirty="0">
                <a:latin typeface="Cambria"/>
                <a:cs typeface="Cambria"/>
              </a:rPr>
              <a:t> </a:t>
            </a:r>
            <a:r>
              <a:rPr sz="2100" spc="-30" dirty="0">
                <a:latin typeface="Cambria"/>
                <a:cs typeface="Cambria"/>
              </a:rPr>
              <a:t>allow</a:t>
            </a:r>
            <a:r>
              <a:rPr sz="2100" spc="95" dirty="0">
                <a:latin typeface="Cambria"/>
                <a:cs typeface="Cambria"/>
              </a:rPr>
              <a:t> </a:t>
            </a:r>
            <a:r>
              <a:rPr sz="2100" spc="-20" dirty="0">
                <a:latin typeface="Cambria"/>
                <a:cs typeface="Cambria"/>
              </a:rPr>
              <a:t>ltte </a:t>
            </a:r>
            <a:r>
              <a:rPr sz="2100" spc="-85" dirty="0">
                <a:latin typeface="Cambria"/>
                <a:cs typeface="Cambria"/>
              </a:rPr>
              <a:t>customer</a:t>
            </a:r>
            <a:r>
              <a:rPr sz="2100" spc="20" dirty="0">
                <a:latin typeface="Cambria"/>
                <a:cs typeface="Cambria"/>
              </a:rPr>
              <a:t> </a:t>
            </a:r>
            <a:r>
              <a:rPr sz="2100" spc="-20" dirty="0">
                <a:latin typeface="Cambria"/>
                <a:cs typeface="Cambria"/>
              </a:rPr>
              <a:t>to</a:t>
            </a:r>
            <a:r>
              <a:rPr sz="2100" spc="25" dirty="0">
                <a:latin typeface="Cambria"/>
                <a:cs typeface="Cambria"/>
              </a:rPr>
              <a:t> </a:t>
            </a:r>
            <a:r>
              <a:rPr sz="2100" spc="-25" dirty="0">
                <a:latin typeface="Cambria"/>
                <a:cs typeface="Cambria"/>
              </a:rPr>
              <a:t>voice</a:t>
            </a:r>
            <a:r>
              <a:rPr sz="2100" spc="120" dirty="0">
                <a:latin typeface="Cambria"/>
                <a:cs typeface="Cambria"/>
              </a:rPr>
              <a:t> </a:t>
            </a:r>
            <a:r>
              <a:rPr sz="2100" spc="-175" dirty="0">
                <a:latin typeface="Cambria"/>
                <a:cs typeface="Cambria"/>
              </a:rPr>
              <a:t>lais</a:t>
            </a:r>
            <a:r>
              <a:rPr sz="2100" spc="60" dirty="0">
                <a:latin typeface="Cambria"/>
                <a:cs typeface="Cambria"/>
              </a:rPr>
              <a:t> </a:t>
            </a:r>
            <a:r>
              <a:rPr sz="2100" spc="-320" dirty="0">
                <a:latin typeface="Cambria"/>
                <a:cs typeface="Cambria"/>
              </a:rPr>
              <a:t>or</a:t>
            </a:r>
            <a:r>
              <a:rPr sz="2100" spc="315" dirty="0">
                <a:latin typeface="Cambria"/>
                <a:cs typeface="Cambria"/>
              </a:rPr>
              <a:t> </a:t>
            </a:r>
            <a:r>
              <a:rPr sz="2100" spc="-80" dirty="0">
                <a:latin typeface="Cambria"/>
                <a:cs typeface="Cambria"/>
              </a:rPr>
              <a:t>her</a:t>
            </a:r>
            <a:r>
              <a:rPr sz="2100" spc="45" dirty="0">
                <a:latin typeface="Cambria"/>
                <a:cs typeface="Cambria"/>
              </a:rPr>
              <a:t> </a:t>
            </a:r>
            <a:r>
              <a:rPr sz="2100" spc="-30" dirty="0">
                <a:latin typeface="Cambria"/>
                <a:cs typeface="Cambria"/>
              </a:rPr>
              <a:t>perceptions</a:t>
            </a:r>
            <a:r>
              <a:rPr sz="2100" spc="75" dirty="0">
                <a:latin typeface="Cambria"/>
                <a:cs typeface="Cambria"/>
              </a:rPr>
              <a:t> </a:t>
            </a:r>
            <a:r>
              <a:rPr sz="2100" spc="-85" dirty="0">
                <a:latin typeface="Cambria"/>
                <a:cs typeface="Cambria"/>
              </a:rPr>
              <a:t>about</a:t>
            </a:r>
            <a:r>
              <a:rPr sz="2100" spc="110" dirty="0">
                <a:latin typeface="Cambria"/>
                <a:cs typeface="Cambria"/>
              </a:rPr>
              <a:t> </a:t>
            </a:r>
            <a:r>
              <a:rPr sz="2100" dirty="0">
                <a:solidFill>
                  <a:srgbClr val="151515"/>
                </a:solidFill>
                <a:latin typeface="Cambria"/>
                <a:cs typeface="Cambria"/>
              </a:rPr>
              <a:t>a</a:t>
            </a:r>
            <a:r>
              <a:rPr sz="2100" spc="-90" dirty="0">
                <a:solidFill>
                  <a:srgbClr val="151515"/>
                </a:solidFill>
                <a:latin typeface="Cambria"/>
                <a:cs typeface="Cambria"/>
              </a:rPr>
              <a:t> </a:t>
            </a:r>
            <a:r>
              <a:rPr sz="2100" spc="-10" dirty="0">
                <a:latin typeface="Cambria"/>
                <a:cs typeface="Cambria"/>
              </a:rPr>
              <a:t>solution</a:t>
            </a:r>
            <a:endParaRPr sz="2100">
              <a:latin typeface="Cambria"/>
              <a:cs typeface="Cambria"/>
            </a:endParaRPr>
          </a:p>
        </p:txBody>
      </p:sp>
      <p:sp>
        <p:nvSpPr>
          <p:cNvPr id="5" name="object 5"/>
          <p:cNvSpPr txBox="1"/>
          <p:nvPr/>
        </p:nvSpPr>
        <p:spPr>
          <a:xfrm>
            <a:off x="730584" y="2536648"/>
            <a:ext cx="6356985" cy="1942464"/>
          </a:xfrm>
          <a:prstGeom prst="rect">
            <a:avLst/>
          </a:prstGeom>
        </p:spPr>
        <p:txBody>
          <a:bodyPr vert="horz" wrap="square" lIns="0" tIns="65405" rIns="0" bIns="0" rtlCol="0">
            <a:spAutoFit/>
          </a:bodyPr>
          <a:lstStyle/>
          <a:p>
            <a:pPr marL="175260" marR="5080" indent="-169545">
              <a:lnSpc>
                <a:spcPts val="2700"/>
              </a:lnSpc>
              <a:spcBef>
                <a:spcPts val="515"/>
              </a:spcBef>
              <a:buChar char="•"/>
              <a:tabLst>
                <a:tab pos="175260" algn="l"/>
                <a:tab pos="180340" algn="l"/>
                <a:tab pos="3897629" algn="l"/>
              </a:tabLst>
            </a:pPr>
            <a:r>
              <a:rPr sz="2550" dirty="0">
                <a:latin typeface="Calibri"/>
                <a:cs typeface="Calibri"/>
              </a:rPr>
              <a:t>	</a:t>
            </a:r>
            <a:r>
              <a:rPr sz="2550" spc="-55" dirty="0">
                <a:latin typeface="Calibri"/>
                <a:cs typeface="Calibri"/>
              </a:rPr>
              <a:t>How</a:t>
            </a:r>
            <a:r>
              <a:rPr sz="2550" spc="-90" dirty="0">
                <a:latin typeface="Calibri"/>
                <a:cs typeface="Calibri"/>
              </a:rPr>
              <a:t> </a:t>
            </a:r>
            <a:r>
              <a:rPr sz="2550" spc="-40" dirty="0">
                <a:latin typeface="Calibri"/>
                <a:cs typeface="Calibri"/>
              </a:rPr>
              <a:t>would</a:t>
            </a:r>
            <a:r>
              <a:rPr sz="2550" spc="-35" dirty="0">
                <a:latin typeface="Calibri"/>
                <a:cs typeface="Calibri"/>
              </a:rPr>
              <a:t> you</a:t>
            </a:r>
            <a:r>
              <a:rPr sz="2550" spc="-110" dirty="0">
                <a:latin typeface="Calibri"/>
                <a:cs typeface="Calibri"/>
              </a:rPr>
              <a:t> </a:t>
            </a:r>
            <a:r>
              <a:rPr sz="2550" spc="-10" dirty="0">
                <a:latin typeface="Calibri"/>
                <a:cs typeface="Calibri"/>
              </a:rPr>
              <a:t>characterize</a:t>
            </a:r>
            <a:r>
              <a:rPr sz="2550" dirty="0">
                <a:latin typeface="Calibri"/>
                <a:cs typeface="Calibri"/>
              </a:rPr>
              <a:t>	</a:t>
            </a:r>
            <a:r>
              <a:rPr sz="2550" spc="-35" dirty="0">
                <a:latin typeface="Calibri"/>
                <a:cs typeface="Calibri"/>
              </a:rPr>
              <a:t>”good”</a:t>
            </a:r>
            <a:r>
              <a:rPr sz="2550" spc="-95" dirty="0">
                <a:latin typeface="Calibri"/>
                <a:cs typeface="Calibri"/>
              </a:rPr>
              <a:t> </a:t>
            </a:r>
            <a:r>
              <a:rPr sz="2550" spc="-25" dirty="0">
                <a:latin typeface="Calibri"/>
                <a:cs typeface="Calibri"/>
              </a:rPr>
              <a:t>output</a:t>
            </a:r>
            <a:r>
              <a:rPr sz="2550" spc="-30" dirty="0">
                <a:latin typeface="Calibri"/>
                <a:cs typeface="Calibri"/>
              </a:rPr>
              <a:t> </a:t>
            </a:r>
            <a:r>
              <a:rPr sz="2550" spc="-40" dirty="0">
                <a:latin typeface="Calibri"/>
                <a:cs typeface="Calibri"/>
              </a:rPr>
              <a:t>that </a:t>
            </a:r>
            <a:r>
              <a:rPr sz="2550" spc="-50" dirty="0">
                <a:latin typeface="Calibri"/>
                <a:cs typeface="Calibri"/>
              </a:rPr>
              <a:t>would </a:t>
            </a:r>
            <a:r>
              <a:rPr sz="2550" dirty="0">
                <a:latin typeface="Calibri"/>
                <a:cs typeface="Calibri"/>
              </a:rPr>
              <a:t>be</a:t>
            </a:r>
            <a:r>
              <a:rPr sz="2550" spc="-125" dirty="0">
                <a:latin typeface="Calibri"/>
                <a:cs typeface="Calibri"/>
              </a:rPr>
              <a:t> </a:t>
            </a:r>
            <a:r>
              <a:rPr sz="2550" spc="-55" dirty="0">
                <a:latin typeface="Calibri"/>
                <a:cs typeface="Calibri"/>
              </a:rPr>
              <a:t>generated</a:t>
            </a:r>
            <a:r>
              <a:rPr sz="2550" spc="30" dirty="0">
                <a:latin typeface="Calibri"/>
                <a:cs typeface="Calibri"/>
              </a:rPr>
              <a:t> </a:t>
            </a:r>
            <a:r>
              <a:rPr sz="2550" dirty="0">
                <a:latin typeface="Calibri"/>
                <a:cs typeface="Calibri"/>
              </a:rPr>
              <a:t>by</a:t>
            </a:r>
            <a:r>
              <a:rPr sz="2550" spc="-95" dirty="0">
                <a:latin typeface="Calibri"/>
                <a:cs typeface="Calibri"/>
              </a:rPr>
              <a:t> </a:t>
            </a:r>
            <a:r>
              <a:rPr sz="2550" dirty="0">
                <a:latin typeface="Calibri"/>
                <a:cs typeface="Calibri"/>
              </a:rPr>
              <a:t>a</a:t>
            </a:r>
            <a:r>
              <a:rPr sz="2550" spc="-70" dirty="0">
                <a:latin typeface="Calibri"/>
                <a:cs typeface="Calibri"/>
              </a:rPr>
              <a:t> </a:t>
            </a:r>
            <a:r>
              <a:rPr sz="2550" spc="-25" dirty="0">
                <a:latin typeface="Calibri"/>
                <a:cs typeface="Calibri"/>
              </a:rPr>
              <a:t>successful</a:t>
            </a:r>
            <a:r>
              <a:rPr sz="2550" spc="30" dirty="0">
                <a:latin typeface="Calibri"/>
                <a:cs typeface="Calibri"/>
              </a:rPr>
              <a:t> </a:t>
            </a:r>
            <a:r>
              <a:rPr sz="2550" spc="-10" dirty="0">
                <a:latin typeface="Calibri"/>
                <a:cs typeface="Calibri"/>
              </a:rPr>
              <a:t>solution?</a:t>
            </a:r>
            <a:endParaRPr sz="2550">
              <a:latin typeface="Calibri"/>
              <a:cs typeface="Calibri"/>
            </a:endParaRPr>
          </a:p>
          <a:p>
            <a:pPr marL="172720" indent="-171450">
              <a:lnSpc>
                <a:spcPct val="100000"/>
              </a:lnSpc>
              <a:spcBef>
                <a:spcPts val="210"/>
              </a:spcBef>
              <a:buSzPct val="98039"/>
              <a:buChar char="•"/>
              <a:tabLst>
                <a:tab pos="172720" algn="l"/>
              </a:tabLst>
            </a:pPr>
            <a:r>
              <a:rPr sz="2550" spc="-20" dirty="0">
                <a:latin typeface="Calibri"/>
                <a:cs typeface="Calibri"/>
              </a:rPr>
              <a:t>What</a:t>
            </a:r>
            <a:r>
              <a:rPr sz="2550" spc="-125" dirty="0">
                <a:latin typeface="Calibri"/>
                <a:cs typeface="Calibri"/>
              </a:rPr>
              <a:t> </a:t>
            </a:r>
            <a:r>
              <a:rPr sz="2550" spc="-50" dirty="0">
                <a:latin typeface="Calibri"/>
                <a:cs typeface="Calibri"/>
              </a:rPr>
              <a:t>problem(s)</a:t>
            </a:r>
            <a:r>
              <a:rPr sz="2550" spc="40" dirty="0">
                <a:latin typeface="Calibri"/>
                <a:cs typeface="Calibri"/>
              </a:rPr>
              <a:t> </a:t>
            </a:r>
            <a:r>
              <a:rPr sz="2550" spc="-20" dirty="0">
                <a:latin typeface="Calibri"/>
                <a:cs typeface="Calibri"/>
              </a:rPr>
              <a:t>will</a:t>
            </a:r>
            <a:r>
              <a:rPr sz="2550" spc="-105" dirty="0">
                <a:latin typeface="Calibri"/>
                <a:cs typeface="Calibri"/>
              </a:rPr>
              <a:t> </a:t>
            </a:r>
            <a:r>
              <a:rPr sz="2550" dirty="0">
                <a:latin typeface="Calibri"/>
                <a:cs typeface="Calibri"/>
              </a:rPr>
              <a:t>this</a:t>
            </a:r>
            <a:r>
              <a:rPr sz="2550" spc="-110" dirty="0">
                <a:latin typeface="Calibri"/>
                <a:cs typeface="Calibri"/>
              </a:rPr>
              <a:t> </a:t>
            </a:r>
            <a:r>
              <a:rPr sz="2550" spc="-10" dirty="0">
                <a:latin typeface="Calibri"/>
                <a:cs typeface="Calibri"/>
              </a:rPr>
              <a:t>solution</a:t>
            </a:r>
            <a:r>
              <a:rPr sz="2550" spc="-100" dirty="0">
                <a:latin typeface="Calibri"/>
                <a:cs typeface="Calibri"/>
              </a:rPr>
              <a:t> </a:t>
            </a:r>
            <a:r>
              <a:rPr sz="2550" spc="-10" dirty="0">
                <a:latin typeface="Calibri"/>
                <a:cs typeface="Calibri"/>
              </a:rPr>
              <a:t>address?</a:t>
            </a:r>
            <a:endParaRPr sz="2550">
              <a:latin typeface="Calibri"/>
              <a:cs typeface="Calibri"/>
            </a:endParaRPr>
          </a:p>
          <a:p>
            <a:pPr marL="179705" indent="-177800">
              <a:lnSpc>
                <a:spcPts val="2885"/>
              </a:lnSpc>
              <a:spcBef>
                <a:spcPts val="290"/>
              </a:spcBef>
              <a:buChar char="•"/>
              <a:tabLst>
                <a:tab pos="179705" algn="l"/>
              </a:tabLst>
            </a:pPr>
            <a:r>
              <a:rPr sz="2600" spc="-60" dirty="0">
                <a:latin typeface="Calibri"/>
                <a:cs typeface="Calibri"/>
              </a:rPr>
              <a:t>Can</a:t>
            </a:r>
            <a:r>
              <a:rPr sz="2600" spc="-90" dirty="0">
                <a:latin typeface="Calibri"/>
                <a:cs typeface="Calibri"/>
              </a:rPr>
              <a:t> you</a:t>
            </a:r>
            <a:r>
              <a:rPr sz="2600" spc="-55" dirty="0">
                <a:latin typeface="Calibri"/>
                <a:cs typeface="Calibri"/>
              </a:rPr>
              <a:t> </a:t>
            </a:r>
            <a:r>
              <a:rPr sz="2600" spc="-70" dirty="0">
                <a:latin typeface="Calibri"/>
                <a:cs typeface="Calibri"/>
              </a:rPr>
              <a:t>show</a:t>
            </a:r>
            <a:r>
              <a:rPr sz="2600" spc="-80" dirty="0">
                <a:latin typeface="Calibri"/>
                <a:cs typeface="Calibri"/>
              </a:rPr>
              <a:t> </a:t>
            </a:r>
            <a:r>
              <a:rPr sz="2600" spc="-90" dirty="0">
                <a:latin typeface="Calibri"/>
                <a:cs typeface="Calibri"/>
              </a:rPr>
              <a:t>me</a:t>
            </a:r>
            <a:r>
              <a:rPr sz="2600" spc="-55" dirty="0">
                <a:latin typeface="Calibri"/>
                <a:cs typeface="Calibri"/>
              </a:rPr>
              <a:t> </a:t>
            </a:r>
            <a:r>
              <a:rPr sz="2600" dirty="0">
                <a:latin typeface="Calibri"/>
                <a:cs typeface="Calibri"/>
              </a:rPr>
              <a:t>(or</a:t>
            </a:r>
            <a:r>
              <a:rPr sz="2600" spc="-145" dirty="0">
                <a:latin typeface="Calibri"/>
                <a:cs typeface="Calibri"/>
              </a:rPr>
              <a:t> </a:t>
            </a:r>
            <a:r>
              <a:rPr sz="2600" spc="-55" dirty="0">
                <a:latin typeface="Calibri"/>
                <a:cs typeface="Calibri"/>
              </a:rPr>
              <a:t>describe)</a:t>
            </a:r>
            <a:r>
              <a:rPr sz="2600" spc="-80" dirty="0">
                <a:latin typeface="Calibri"/>
                <a:cs typeface="Calibri"/>
              </a:rPr>
              <a:t> </a:t>
            </a:r>
            <a:r>
              <a:rPr sz="2600" spc="-20" dirty="0">
                <a:latin typeface="Calibri"/>
                <a:cs typeface="Calibri"/>
              </a:rPr>
              <a:t>the</a:t>
            </a:r>
            <a:r>
              <a:rPr sz="2600" spc="-50" dirty="0">
                <a:latin typeface="Calibri"/>
                <a:cs typeface="Calibri"/>
              </a:rPr>
              <a:t> </a:t>
            </a:r>
            <a:r>
              <a:rPr sz="2600" spc="-10" dirty="0">
                <a:latin typeface="Calibri"/>
                <a:cs typeface="Calibri"/>
              </a:rPr>
              <a:t>business</a:t>
            </a:r>
            <a:endParaRPr sz="2600">
              <a:latin typeface="Calibri"/>
              <a:cs typeface="Calibri"/>
            </a:endParaRPr>
          </a:p>
          <a:p>
            <a:pPr marL="168910">
              <a:lnSpc>
                <a:spcPts val="2825"/>
              </a:lnSpc>
            </a:pPr>
            <a:r>
              <a:rPr sz="2550" spc="-25" dirty="0">
                <a:latin typeface="Calibri"/>
                <a:cs typeface="Calibri"/>
              </a:rPr>
              <a:t>environment</a:t>
            </a:r>
            <a:r>
              <a:rPr sz="2550" spc="50" dirty="0">
                <a:latin typeface="Calibri"/>
                <a:cs typeface="Calibri"/>
              </a:rPr>
              <a:t> </a:t>
            </a:r>
            <a:r>
              <a:rPr sz="2550" dirty="0">
                <a:latin typeface="Calibri"/>
                <a:cs typeface="Calibri"/>
              </a:rPr>
              <a:t>in</a:t>
            </a:r>
            <a:r>
              <a:rPr sz="2550" spc="-120" dirty="0">
                <a:latin typeface="Calibri"/>
                <a:cs typeface="Calibri"/>
              </a:rPr>
              <a:t> </a:t>
            </a:r>
            <a:r>
              <a:rPr sz="2550" spc="-35" dirty="0">
                <a:latin typeface="Calibri"/>
                <a:cs typeface="Calibri"/>
              </a:rPr>
              <a:t>which</a:t>
            </a:r>
            <a:r>
              <a:rPr sz="2550" spc="20" dirty="0">
                <a:latin typeface="Calibri"/>
                <a:cs typeface="Calibri"/>
              </a:rPr>
              <a:t> </a:t>
            </a:r>
            <a:r>
              <a:rPr sz="2550" spc="-50" dirty="0">
                <a:latin typeface="Calibri"/>
                <a:cs typeface="Calibri"/>
              </a:rPr>
              <a:t>the</a:t>
            </a:r>
            <a:r>
              <a:rPr sz="2550" spc="-95" dirty="0">
                <a:latin typeface="Calibri"/>
                <a:cs typeface="Calibri"/>
              </a:rPr>
              <a:t> </a:t>
            </a:r>
            <a:r>
              <a:rPr sz="2550" spc="-35" dirty="0">
                <a:latin typeface="Calibri"/>
                <a:cs typeface="Calibri"/>
              </a:rPr>
              <a:t>solution</a:t>
            </a:r>
            <a:r>
              <a:rPr sz="2550" spc="-20" dirty="0">
                <a:latin typeface="Calibri"/>
                <a:cs typeface="Calibri"/>
              </a:rPr>
              <a:t> </a:t>
            </a:r>
            <a:r>
              <a:rPr sz="2550" spc="-30" dirty="0">
                <a:latin typeface="Calibri"/>
                <a:cs typeface="Calibri"/>
              </a:rPr>
              <a:t>will</a:t>
            </a:r>
            <a:r>
              <a:rPr sz="2550" spc="-85" dirty="0">
                <a:latin typeface="Calibri"/>
                <a:cs typeface="Calibri"/>
              </a:rPr>
              <a:t> </a:t>
            </a:r>
            <a:r>
              <a:rPr sz="2550" dirty="0">
                <a:latin typeface="Calibri"/>
                <a:cs typeface="Calibri"/>
              </a:rPr>
              <a:t>be</a:t>
            </a:r>
            <a:r>
              <a:rPr sz="2550" spc="-135" dirty="0">
                <a:latin typeface="Calibri"/>
                <a:cs typeface="Calibri"/>
              </a:rPr>
              <a:t> </a:t>
            </a:r>
            <a:r>
              <a:rPr sz="2550" spc="-10" dirty="0">
                <a:latin typeface="Calibri"/>
                <a:cs typeface="Calibri"/>
              </a:rPr>
              <a:t>used?</a:t>
            </a:r>
            <a:endParaRPr sz="2550">
              <a:latin typeface="Calibri"/>
              <a:cs typeface="Calibri"/>
            </a:endParaRPr>
          </a:p>
        </p:txBody>
      </p:sp>
      <p:pic>
        <p:nvPicPr>
          <p:cNvPr id="6" name="Picture 2" descr="Profile for SRM Institute of Science and Technology">
            <a:extLst>
              <a:ext uri="{FF2B5EF4-FFF2-40B4-BE49-F238E27FC236}">
                <a16:creationId xmlns:a16="http://schemas.microsoft.com/office/drawing/2014/main" id="{7C324A9F-1E36-8A54-E6D4-0B1D5E7C9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4493-4B6D-813A-0D27-861DAC8A10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7F0BD7-95F4-8532-9CF2-F1264A2A59EB}"/>
              </a:ext>
            </a:extLst>
          </p:cNvPr>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a:extLst>
              <a:ext uri="{FF2B5EF4-FFF2-40B4-BE49-F238E27FC236}">
                <a16:creationId xmlns:a16="http://schemas.microsoft.com/office/drawing/2014/main" id="{B7E1C2A5-A345-89A6-49FF-553030FC7FE9}"/>
              </a:ext>
            </a:extLst>
          </p:cNvPr>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a:extLst>
              <a:ext uri="{FF2B5EF4-FFF2-40B4-BE49-F238E27FC236}">
                <a16:creationId xmlns:a16="http://schemas.microsoft.com/office/drawing/2014/main" id="{A16308A9-FABD-9E32-16A0-01F61C2D0388}"/>
              </a:ext>
            </a:extLst>
          </p:cNvPr>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pic>
        <p:nvPicPr>
          <p:cNvPr id="16" name="Picture 2" descr="Gallery Item 10">
            <a:extLst>
              <a:ext uri="{FF2B5EF4-FFF2-40B4-BE49-F238E27FC236}">
                <a16:creationId xmlns:a16="http://schemas.microsoft.com/office/drawing/2014/main" id="{A049A445-B5A3-DB6D-81C5-D6DD6F840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84" y="757518"/>
            <a:ext cx="7522316" cy="4792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1379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7900" y="1333500"/>
            <a:ext cx="3835400" cy="266700"/>
          </a:xfrm>
          <a:prstGeom prst="rect">
            <a:avLst/>
          </a:prstGeom>
        </p:spPr>
      </p:pic>
      <p:sp>
        <p:nvSpPr>
          <p:cNvPr id="3" name="object 3"/>
          <p:cNvSpPr txBox="1">
            <a:spLocks noGrp="1"/>
          </p:cNvSpPr>
          <p:nvPr>
            <p:ph type="title"/>
          </p:nvPr>
        </p:nvSpPr>
        <p:spPr>
          <a:xfrm>
            <a:off x="599742" y="272344"/>
            <a:ext cx="4937125" cy="529590"/>
          </a:xfrm>
          <a:prstGeom prst="rect">
            <a:avLst/>
          </a:prstGeom>
        </p:spPr>
        <p:txBody>
          <a:bodyPr vert="horz" wrap="square" lIns="0" tIns="13335" rIns="0" bIns="0" rtlCol="0">
            <a:spAutoFit/>
          </a:bodyPr>
          <a:lstStyle/>
          <a:p>
            <a:pPr marL="12700">
              <a:lnSpc>
                <a:spcPct val="100000"/>
              </a:lnSpc>
              <a:spcBef>
                <a:spcPts val="105"/>
              </a:spcBef>
              <a:tabLst>
                <a:tab pos="401320" algn="l"/>
              </a:tabLst>
            </a:pPr>
            <a:r>
              <a:rPr sz="3300" spc="-50" dirty="0">
                <a:latin typeface="Calibri"/>
                <a:cs typeface="Calibri"/>
              </a:rPr>
              <a:t>E</a:t>
            </a:r>
            <a:r>
              <a:rPr lang="en-US" sz="3300" spc="-50" dirty="0">
                <a:latin typeface="Calibri"/>
                <a:cs typeface="Calibri"/>
              </a:rPr>
              <a:t>l</a:t>
            </a:r>
            <a:r>
              <a:rPr sz="3300" spc="125" dirty="0">
                <a:latin typeface="Calibri"/>
                <a:cs typeface="Calibri"/>
              </a:rPr>
              <a:t>icitation</a:t>
            </a:r>
            <a:r>
              <a:rPr sz="3300" spc="145" dirty="0">
                <a:latin typeface="Calibri"/>
                <a:cs typeface="Calibri"/>
              </a:rPr>
              <a:t> </a:t>
            </a:r>
            <a:r>
              <a:rPr sz="3300" spc="140" dirty="0">
                <a:latin typeface="Calibri"/>
                <a:cs typeface="Calibri"/>
              </a:rPr>
              <a:t>Work</a:t>
            </a:r>
            <a:r>
              <a:rPr sz="3300" spc="180" dirty="0">
                <a:latin typeface="Calibri"/>
                <a:cs typeface="Calibri"/>
              </a:rPr>
              <a:t> </a:t>
            </a:r>
            <a:r>
              <a:rPr sz="3300" spc="220" dirty="0">
                <a:latin typeface="Calibri"/>
                <a:cs typeface="Calibri"/>
              </a:rPr>
              <a:t>Products</a:t>
            </a:r>
            <a:endParaRPr sz="3300" dirty="0">
              <a:latin typeface="Calibri"/>
              <a:cs typeface="Calibri"/>
            </a:endParaRPr>
          </a:p>
        </p:txBody>
      </p:sp>
      <p:sp>
        <p:nvSpPr>
          <p:cNvPr id="4" name="object 4"/>
          <p:cNvSpPr txBox="1"/>
          <p:nvPr/>
        </p:nvSpPr>
        <p:spPr>
          <a:xfrm>
            <a:off x="831215" y="1046268"/>
            <a:ext cx="6160770" cy="637540"/>
          </a:xfrm>
          <a:prstGeom prst="rect">
            <a:avLst/>
          </a:prstGeom>
          <a:ln w="14816">
            <a:solidFill>
              <a:srgbClr val="646464"/>
            </a:solidFill>
          </a:ln>
        </p:spPr>
        <p:txBody>
          <a:bodyPr vert="horz" wrap="square" lIns="0" tIns="13970" rIns="0" bIns="0" rtlCol="0">
            <a:spAutoFit/>
          </a:bodyPr>
          <a:lstStyle/>
          <a:p>
            <a:pPr marL="127000">
              <a:lnSpc>
                <a:spcPct val="100000"/>
              </a:lnSpc>
              <a:spcBef>
                <a:spcPts val="110"/>
              </a:spcBef>
            </a:pPr>
            <a:r>
              <a:rPr sz="1700" dirty="0">
                <a:latin typeface="Cambria"/>
                <a:cs typeface="Cambria"/>
              </a:rPr>
              <a:t>The</a:t>
            </a:r>
            <a:r>
              <a:rPr sz="1700" spc="-40" dirty="0">
                <a:latin typeface="Cambria"/>
                <a:cs typeface="Cambria"/>
              </a:rPr>
              <a:t> </a:t>
            </a:r>
            <a:r>
              <a:rPr sz="1700" spc="-50" dirty="0">
                <a:latin typeface="Cambria"/>
                <a:cs typeface="Cambria"/>
              </a:rPr>
              <a:t>work</a:t>
            </a:r>
            <a:r>
              <a:rPr sz="1700" spc="100" dirty="0">
                <a:latin typeface="Cambria"/>
                <a:cs typeface="Cambria"/>
              </a:rPr>
              <a:t> </a:t>
            </a:r>
            <a:r>
              <a:rPr sz="1700" spc="-40" dirty="0">
                <a:latin typeface="Cambria"/>
                <a:cs typeface="Cambria"/>
              </a:rPr>
              <a:t>products</a:t>
            </a:r>
            <a:r>
              <a:rPr sz="1700" spc="75" dirty="0">
                <a:latin typeface="Cambria"/>
                <a:cs typeface="Cambria"/>
              </a:rPr>
              <a:t> </a:t>
            </a:r>
            <a:r>
              <a:rPr sz="1700" spc="-85" dirty="0">
                <a:latin typeface="Cambria"/>
                <a:cs typeface="Cambria"/>
              </a:rPr>
              <a:t>w'ill</a:t>
            </a:r>
            <a:r>
              <a:rPr sz="1700" spc="90" dirty="0">
                <a:latin typeface="Cambria"/>
                <a:cs typeface="Cambria"/>
              </a:rPr>
              <a:t> </a:t>
            </a:r>
            <a:r>
              <a:rPr sz="1700" spc="-30" dirty="0">
                <a:latin typeface="Cambria"/>
                <a:cs typeface="Cambria"/>
              </a:rPr>
              <a:t>›'ary</a:t>
            </a:r>
            <a:r>
              <a:rPr sz="1700" spc="65" dirty="0">
                <a:latin typeface="Cambria"/>
                <a:cs typeface="Cambria"/>
              </a:rPr>
              <a:t> </a:t>
            </a:r>
            <a:r>
              <a:rPr sz="1700" spc="-40" dirty="0">
                <a:latin typeface="Cambria"/>
                <a:cs typeface="Cambria"/>
              </a:rPr>
              <a:t>depending</a:t>
            </a:r>
            <a:r>
              <a:rPr sz="1700" spc="40" dirty="0">
                <a:latin typeface="Cambria"/>
                <a:cs typeface="Cambria"/>
              </a:rPr>
              <a:t> </a:t>
            </a:r>
            <a:r>
              <a:rPr sz="1700" dirty="0">
                <a:latin typeface="Cambria"/>
                <a:cs typeface="Cambria"/>
              </a:rPr>
              <a:t>on</a:t>
            </a:r>
            <a:r>
              <a:rPr sz="1700" spc="25" dirty="0">
                <a:latin typeface="Cambria"/>
                <a:cs typeface="Cambria"/>
              </a:rPr>
              <a:t> </a:t>
            </a:r>
            <a:r>
              <a:rPr sz="1700" spc="-50" dirty="0">
                <a:latin typeface="Cambria"/>
                <a:cs typeface="Cambria"/>
              </a:rPr>
              <a:t>the</a:t>
            </a:r>
            <a:r>
              <a:rPr sz="1700" spc="10" dirty="0">
                <a:latin typeface="Cambria"/>
                <a:cs typeface="Cambria"/>
              </a:rPr>
              <a:t> </a:t>
            </a:r>
            <a:r>
              <a:rPr sz="1700" spc="-10" dirty="0">
                <a:latin typeface="Cambria"/>
                <a:cs typeface="Cambria"/>
              </a:rPr>
              <a:t>system,</a:t>
            </a:r>
            <a:r>
              <a:rPr sz="1700" spc="50" dirty="0">
                <a:latin typeface="Cambria"/>
                <a:cs typeface="Cambria"/>
              </a:rPr>
              <a:t> </a:t>
            </a:r>
            <a:r>
              <a:rPr sz="1700" spc="-65" dirty="0">
                <a:latin typeface="Cambria"/>
                <a:cs typeface="Cambria"/>
              </a:rPr>
              <a:t>but</a:t>
            </a:r>
            <a:r>
              <a:rPr sz="1700" spc="60" dirty="0">
                <a:latin typeface="Cambria"/>
                <a:cs typeface="Cambria"/>
              </a:rPr>
              <a:t> </a:t>
            </a:r>
            <a:r>
              <a:rPr sz="1700" spc="-10" dirty="0">
                <a:latin typeface="Cambria"/>
                <a:cs typeface="Cambria"/>
              </a:rPr>
              <a:t>siiould</a:t>
            </a:r>
            <a:endParaRPr sz="1700">
              <a:latin typeface="Cambria"/>
              <a:cs typeface="Cambria"/>
            </a:endParaRPr>
          </a:p>
        </p:txBody>
      </p:sp>
      <p:sp>
        <p:nvSpPr>
          <p:cNvPr id="5" name="object 5"/>
          <p:cNvSpPr txBox="1"/>
          <p:nvPr/>
        </p:nvSpPr>
        <p:spPr>
          <a:xfrm>
            <a:off x="657875" y="1916700"/>
            <a:ext cx="6798309" cy="3994150"/>
          </a:xfrm>
          <a:prstGeom prst="rect">
            <a:avLst/>
          </a:prstGeom>
        </p:spPr>
        <p:txBody>
          <a:bodyPr vert="horz" wrap="square" lIns="0" tIns="45085" rIns="0" bIns="0" rtlCol="0">
            <a:spAutoFit/>
          </a:bodyPr>
          <a:lstStyle/>
          <a:p>
            <a:pPr marL="187325" indent="-172720" algn="just">
              <a:lnSpc>
                <a:spcPct val="100000"/>
              </a:lnSpc>
              <a:spcBef>
                <a:spcPts val="355"/>
              </a:spcBef>
              <a:buChar char="•"/>
              <a:tabLst>
                <a:tab pos="187325" algn="l"/>
              </a:tabLst>
            </a:pPr>
            <a:r>
              <a:rPr sz="2100" dirty="0">
                <a:latin typeface="Calibri"/>
                <a:cs typeface="Calibri"/>
              </a:rPr>
              <a:t>A</a:t>
            </a:r>
            <a:r>
              <a:rPr sz="2100" spc="10" dirty="0">
                <a:latin typeface="Calibri"/>
                <a:cs typeface="Calibri"/>
              </a:rPr>
              <a:t> </a:t>
            </a:r>
            <a:r>
              <a:rPr sz="2100" dirty="0">
                <a:latin typeface="Calibri"/>
                <a:cs typeface="Calibri"/>
              </a:rPr>
              <a:t>statement</a:t>
            </a:r>
            <a:r>
              <a:rPr sz="2100" spc="110" dirty="0">
                <a:latin typeface="Calibri"/>
                <a:cs typeface="Calibri"/>
              </a:rPr>
              <a:t> </a:t>
            </a:r>
            <a:r>
              <a:rPr sz="2100" dirty="0">
                <a:latin typeface="Calibri"/>
                <a:cs typeface="Calibri"/>
              </a:rPr>
              <a:t>of</a:t>
            </a:r>
            <a:r>
              <a:rPr sz="2100" spc="-15" dirty="0">
                <a:latin typeface="Calibri"/>
                <a:cs typeface="Calibri"/>
              </a:rPr>
              <a:t> </a:t>
            </a:r>
            <a:r>
              <a:rPr sz="2100" dirty="0">
                <a:latin typeface="Calibri"/>
                <a:cs typeface="Calibri"/>
              </a:rPr>
              <a:t>need</a:t>
            </a:r>
            <a:r>
              <a:rPr sz="2100" spc="-95" dirty="0">
                <a:latin typeface="Calibri"/>
                <a:cs typeface="Calibri"/>
              </a:rPr>
              <a:t> </a:t>
            </a:r>
            <a:r>
              <a:rPr sz="2100" spc="60" dirty="0">
                <a:latin typeface="Calibri"/>
                <a:cs typeface="Calibri"/>
              </a:rPr>
              <a:t>and</a:t>
            </a:r>
            <a:r>
              <a:rPr sz="2100" spc="-40" dirty="0">
                <a:latin typeface="Calibri"/>
                <a:cs typeface="Calibri"/>
              </a:rPr>
              <a:t> </a:t>
            </a:r>
            <a:r>
              <a:rPr sz="2100" spc="-10" dirty="0">
                <a:latin typeface="Calibri"/>
                <a:cs typeface="Calibri"/>
              </a:rPr>
              <a:t>feasibility</a:t>
            </a:r>
            <a:endParaRPr sz="2100">
              <a:latin typeface="Calibri"/>
              <a:cs typeface="Calibri"/>
            </a:endParaRPr>
          </a:p>
          <a:p>
            <a:pPr marL="187960" indent="-175260" algn="just">
              <a:lnSpc>
                <a:spcPct val="100000"/>
              </a:lnSpc>
              <a:spcBef>
                <a:spcPts val="280"/>
              </a:spcBef>
              <a:buChar char="•"/>
              <a:tabLst>
                <a:tab pos="187960" algn="l"/>
              </a:tabLst>
            </a:pPr>
            <a:r>
              <a:rPr sz="2300" spc="-195" dirty="0">
                <a:latin typeface="Calibri"/>
                <a:cs typeface="Calibri"/>
              </a:rPr>
              <a:t>A</a:t>
            </a:r>
            <a:r>
              <a:rPr sz="2300" spc="-5" dirty="0">
                <a:latin typeface="Calibri"/>
                <a:cs typeface="Calibri"/>
              </a:rPr>
              <a:t> </a:t>
            </a:r>
            <a:r>
              <a:rPr sz="2300" spc="-114" dirty="0">
                <a:latin typeface="Calibri"/>
                <a:cs typeface="Calibri"/>
              </a:rPr>
              <a:t>bounded</a:t>
            </a:r>
            <a:r>
              <a:rPr sz="2300" spc="-20" dirty="0">
                <a:latin typeface="Calibri"/>
                <a:cs typeface="Calibri"/>
              </a:rPr>
              <a:t> </a:t>
            </a:r>
            <a:r>
              <a:rPr sz="2300" spc="-80" dirty="0">
                <a:latin typeface="Calibri"/>
                <a:cs typeface="Calibri"/>
              </a:rPr>
              <a:t>statement</a:t>
            </a:r>
            <a:r>
              <a:rPr sz="2300" spc="-25" dirty="0">
                <a:latin typeface="Calibri"/>
                <a:cs typeface="Calibri"/>
              </a:rPr>
              <a:t> </a:t>
            </a:r>
            <a:r>
              <a:rPr sz="2300" spc="-110" dirty="0">
                <a:latin typeface="Calibri"/>
                <a:cs typeface="Calibri"/>
              </a:rPr>
              <a:t>of</a:t>
            </a:r>
            <a:r>
              <a:rPr sz="2300" spc="-5" dirty="0">
                <a:latin typeface="Calibri"/>
                <a:cs typeface="Calibri"/>
              </a:rPr>
              <a:t> </a:t>
            </a:r>
            <a:r>
              <a:rPr sz="2300" spc="-80" dirty="0">
                <a:latin typeface="Calibri"/>
                <a:cs typeface="Calibri"/>
              </a:rPr>
              <a:t>scope</a:t>
            </a:r>
            <a:r>
              <a:rPr sz="2300" spc="10" dirty="0">
                <a:latin typeface="Calibri"/>
                <a:cs typeface="Calibri"/>
              </a:rPr>
              <a:t> </a:t>
            </a:r>
            <a:r>
              <a:rPr sz="2300" spc="-60" dirty="0">
                <a:latin typeface="Calibri"/>
                <a:cs typeface="Calibri"/>
              </a:rPr>
              <a:t>for</a:t>
            </a:r>
            <a:r>
              <a:rPr sz="2300" spc="-75" dirty="0">
                <a:latin typeface="Calibri"/>
                <a:cs typeface="Calibri"/>
              </a:rPr>
              <a:t> </a:t>
            </a:r>
            <a:r>
              <a:rPr sz="2300" spc="-105" dirty="0">
                <a:latin typeface="Calibri"/>
                <a:cs typeface="Calibri"/>
              </a:rPr>
              <a:t>the</a:t>
            </a:r>
            <a:r>
              <a:rPr sz="2300" spc="-60" dirty="0">
                <a:latin typeface="Calibri"/>
                <a:cs typeface="Calibri"/>
              </a:rPr>
              <a:t> </a:t>
            </a:r>
            <a:r>
              <a:rPr sz="2300" spc="-90" dirty="0">
                <a:latin typeface="Calibri"/>
                <a:cs typeface="Calibri"/>
              </a:rPr>
              <a:t>system</a:t>
            </a:r>
            <a:r>
              <a:rPr sz="2300" dirty="0">
                <a:latin typeface="Calibri"/>
                <a:cs typeface="Calibri"/>
              </a:rPr>
              <a:t> </a:t>
            </a:r>
            <a:r>
              <a:rPr sz="2300" spc="-70" dirty="0">
                <a:latin typeface="Calibri"/>
                <a:cs typeface="Calibri"/>
              </a:rPr>
              <a:t>or</a:t>
            </a:r>
            <a:r>
              <a:rPr sz="2300" spc="-95" dirty="0">
                <a:latin typeface="Calibri"/>
                <a:cs typeface="Calibri"/>
              </a:rPr>
              <a:t> </a:t>
            </a:r>
            <a:r>
              <a:rPr sz="2300" spc="-10" dirty="0">
                <a:latin typeface="Calibri"/>
                <a:cs typeface="Calibri"/>
              </a:rPr>
              <a:t>product</a:t>
            </a:r>
            <a:endParaRPr sz="2300">
              <a:latin typeface="Calibri"/>
              <a:cs typeface="Calibri"/>
            </a:endParaRPr>
          </a:p>
          <a:p>
            <a:pPr marL="186690" marR="624840" indent="-170180" algn="just">
              <a:lnSpc>
                <a:spcPts val="2300"/>
              </a:lnSpc>
              <a:spcBef>
                <a:spcPts val="600"/>
              </a:spcBef>
              <a:buChar char="•"/>
              <a:tabLst>
                <a:tab pos="186690" algn="l"/>
              </a:tabLst>
            </a:pPr>
            <a:r>
              <a:rPr sz="1950" dirty="0">
                <a:latin typeface="Calibri"/>
                <a:cs typeface="Calibri"/>
              </a:rPr>
              <a:t>A</a:t>
            </a:r>
            <a:r>
              <a:rPr sz="1950" spc="235" dirty="0">
                <a:latin typeface="Calibri"/>
                <a:cs typeface="Calibri"/>
              </a:rPr>
              <a:t> </a:t>
            </a:r>
            <a:r>
              <a:rPr sz="1950" dirty="0">
                <a:latin typeface="Calibri"/>
                <a:cs typeface="Calibri"/>
              </a:rPr>
              <a:t>list</a:t>
            </a:r>
            <a:r>
              <a:rPr sz="1950" spc="165" dirty="0">
                <a:latin typeface="Calibri"/>
                <a:cs typeface="Calibri"/>
              </a:rPr>
              <a:t> </a:t>
            </a:r>
            <a:r>
              <a:rPr sz="1950" dirty="0">
                <a:latin typeface="Calibri"/>
                <a:cs typeface="Calibri"/>
              </a:rPr>
              <a:t>of</a:t>
            </a:r>
            <a:r>
              <a:rPr sz="1950" spc="275" dirty="0">
                <a:latin typeface="Calibri"/>
                <a:cs typeface="Calibri"/>
              </a:rPr>
              <a:t> </a:t>
            </a:r>
            <a:r>
              <a:rPr sz="1950" dirty="0">
                <a:latin typeface="Calibri"/>
                <a:cs typeface="Calibri"/>
              </a:rPr>
              <a:t>customers,</a:t>
            </a:r>
            <a:r>
              <a:rPr sz="1950" spc="340" dirty="0">
                <a:latin typeface="Calibri"/>
                <a:cs typeface="Calibri"/>
              </a:rPr>
              <a:t> </a:t>
            </a:r>
            <a:r>
              <a:rPr sz="1950" dirty="0">
                <a:latin typeface="Calibri"/>
                <a:cs typeface="Calibri"/>
              </a:rPr>
              <a:t>users,</a:t>
            </a:r>
            <a:r>
              <a:rPr sz="1950" spc="265" dirty="0">
                <a:latin typeface="Calibri"/>
                <a:cs typeface="Calibri"/>
              </a:rPr>
              <a:t> </a:t>
            </a:r>
            <a:r>
              <a:rPr sz="1950" spc="55" dirty="0">
                <a:latin typeface="Calibri"/>
                <a:cs typeface="Calibri"/>
              </a:rPr>
              <a:t>and</a:t>
            </a:r>
            <a:r>
              <a:rPr sz="1950" spc="345" dirty="0">
                <a:latin typeface="Calibri"/>
                <a:cs typeface="Calibri"/>
              </a:rPr>
              <a:t> </a:t>
            </a:r>
            <a:r>
              <a:rPr sz="1950" dirty="0">
                <a:latin typeface="Calibri"/>
                <a:cs typeface="Calibri"/>
              </a:rPr>
              <a:t>other</a:t>
            </a:r>
            <a:r>
              <a:rPr sz="1950" spc="275" dirty="0">
                <a:latin typeface="Calibri"/>
                <a:cs typeface="Calibri"/>
              </a:rPr>
              <a:t> </a:t>
            </a:r>
            <a:r>
              <a:rPr sz="1950" spc="80" dirty="0">
                <a:latin typeface="Calibri"/>
                <a:cs typeface="Calibri"/>
              </a:rPr>
              <a:t>stakeholders</a:t>
            </a:r>
            <a:r>
              <a:rPr sz="1950" spc="434" dirty="0">
                <a:latin typeface="Calibri"/>
                <a:cs typeface="Calibri"/>
              </a:rPr>
              <a:t> </a:t>
            </a:r>
            <a:r>
              <a:rPr sz="1950" spc="35" dirty="0">
                <a:latin typeface="Calibri"/>
                <a:cs typeface="Calibri"/>
              </a:rPr>
              <a:t>who </a:t>
            </a:r>
            <a:r>
              <a:rPr sz="1950" spc="50" dirty="0">
                <a:latin typeface="Calibri"/>
                <a:cs typeface="Calibri"/>
              </a:rPr>
              <a:t>participated</a:t>
            </a:r>
            <a:r>
              <a:rPr sz="1950" spc="175" dirty="0">
                <a:latin typeface="Calibri"/>
                <a:cs typeface="Calibri"/>
              </a:rPr>
              <a:t> </a:t>
            </a:r>
            <a:r>
              <a:rPr sz="1950" dirty="0">
                <a:latin typeface="Calibri"/>
                <a:cs typeface="Calibri"/>
              </a:rPr>
              <a:t>in</a:t>
            </a:r>
            <a:r>
              <a:rPr sz="1950" spc="100" dirty="0">
                <a:latin typeface="Calibri"/>
                <a:cs typeface="Calibri"/>
              </a:rPr>
              <a:t> </a:t>
            </a:r>
            <a:r>
              <a:rPr sz="1950" spc="55" dirty="0">
                <a:latin typeface="Calibri"/>
                <a:cs typeface="Calibri"/>
              </a:rPr>
              <a:t>requirements</a:t>
            </a:r>
            <a:r>
              <a:rPr sz="1950" spc="275" dirty="0">
                <a:latin typeface="Calibri"/>
                <a:cs typeface="Calibri"/>
              </a:rPr>
              <a:t> </a:t>
            </a:r>
            <a:r>
              <a:rPr sz="1950" spc="-10" dirty="0">
                <a:latin typeface="Calibri"/>
                <a:cs typeface="Calibri"/>
              </a:rPr>
              <a:t>elicitation</a:t>
            </a:r>
            <a:endParaRPr sz="1950">
              <a:latin typeface="Calibri"/>
              <a:cs typeface="Calibri"/>
            </a:endParaRPr>
          </a:p>
          <a:p>
            <a:pPr marL="187325" indent="-173990" algn="just">
              <a:lnSpc>
                <a:spcPct val="100000"/>
              </a:lnSpc>
              <a:spcBef>
                <a:spcPts val="340"/>
              </a:spcBef>
              <a:buChar char="•"/>
              <a:tabLst>
                <a:tab pos="187325" algn="l"/>
              </a:tabLst>
            </a:pPr>
            <a:r>
              <a:rPr sz="2200" spc="-150" dirty="0">
                <a:latin typeface="Calibri"/>
                <a:cs typeface="Calibri"/>
              </a:rPr>
              <a:t>A</a:t>
            </a:r>
            <a:r>
              <a:rPr sz="2200" spc="-5" dirty="0">
                <a:latin typeface="Calibri"/>
                <a:cs typeface="Calibri"/>
              </a:rPr>
              <a:t> </a:t>
            </a:r>
            <a:r>
              <a:rPr sz="2200" spc="-35" dirty="0">
                <a:latin typeface="Calibri"/>
                <a:cs typeface="Calibri"/>
              </a:rPr>
              <a:t>description</a:t>
            </a:r>
            <a:r>
              <a:rPr sz="2200" spc="-90" dirty="0">
                <a:latin typeface="Calibri"/>
                <a:cs typeface="Calibri"/>
              </a:rPr>
              <a:t> </a:t>
            </a:r>
            <a:r>
              <a:rPr sz="2200" dirty="0">
                <a:solidFill>
                  <a:srgbClr val="151515"/>
                </a:solidFill>
                <a:latin typeface="Calibri"/>
                <a:cs typeface="Calibri"/>
              </a:rPr>
              <a:t>of</a:t>
            </a:r>
            <a:r>
              <a:rPr sz="2200" spc="-110" dirty="0">
                <a:solidFill>
                  <a:srgbClr val="151515"/>
                </a:solidFill>
                <a:latin typeface="Calibri"/>
                <a:cs typeface="Calibri"/>
              </a:rPr>
              <a:t> </a:t>
            </a:r>
            <a:r>
              <a:rPr sz="2200" spc="-20" dirty="0">
                <a:latin typeface="Calibri"/>
                <a:cs typeface="Calibri"/>
              </a:rPr>
              <a:t>the</a:t>
            </a:r>
            <a:r>
              <a:rPr sz="2200" spc="-45" dirty="0">
                <a:latin typeface="Calibri"/>
                <a:cs typeface="Calibri"/>
              </a:rPr>
              <a:t> </a:t>
            </a:r>
            <a:r>
              <a:rPr sz="2200" spc="-10" dirty="0">
                <a:latin typeface="Calibri"/>
                <a:cs typeface="Calibri"/>
              </a:rPr>
              <a:t>system's</a:t>
            </a:r>
            <a:r>
              <a:rPr sz="2200" spc="-40" dirty="0">
                <a:latin typeface="Calibri"/>
                <a:cs typeface="Calibri"/>
              </a:rPr>
              <a:t> </a:t>
            </a:r>
            <a:r>
              <a:rPr sz="2200" spc="-20" dirty="0">
                <a:latin typeface="Calibri"/>
                <a:cs typeface="Calibri"/>
              </a:rPr>
              <a:t>technical</a:t>
            </a:r>
            <a:r>
              <a:rPr sz="2200" spc="-55" dirty="0">
                <a:latin typeface="Calibri"/>
                <a:cs typeface="Calibri"/>
              </a:rPr>
              <a:t> </a:t>
            </a:r>
            <a:r>
              <a:rPr sz="2200" spc="-10" dirty="0">
                <a:latin typeface="Calibri"/>
                <a:cs typeface="Calibri"/>
              </a:rPr>
              <a:t>environment</a:t>
            </a:r>
            <a:endParaRPr sz="2200">
              <a:latin typeface="Calibri"/>
              <a:cs typeface="Calibri"/>
            </a:endParaRPr>
          </a:p>
          <a:p>
            <a:pPr marL="179705" marR="685165" indent="-165735" algn="just">
              <a:lnSpc>
                <a:spcPts val="2300"/>
              </a:lnSpc>
              <a:spcBef>
                <a:spcPts val="620"/>
              </a:spcBef>
              <a:buChar char="•"/>
              <a:tabLst>
                <a:tab pos="179705" algn="l"/>
                <a:tab pos="186690" algn="l"/>
              </a:tabLst>
            </a:pPr>
            <a:r>
              <a:rPr sz="2100" dirty="0">
                <a:latin typeface="Calibri"/>
                <a:cs typeface="Calibri"/>
              </a:rPr>
              <a:t>	A</a:t>
            </a:r>
            <a:r>
              <a:rPr sz="2100" spc="20" dirty="0">
                <a:latin typeface="Calibri"/>
                <a:cs typeface="Calibri"/>
              </a:rPr>
              <a:t> </a:t>
            </a:r>
            <a:r>
              <a:rPr sz="2100" dirty="0">
                <a:latin typeface="Calibri"/>
                <a:cs typeface="Calibri"/>
              </a:rPr>
              <a:t>list</a:t>
            </a:r>
            <a:r>
              <a:rPr sz="2100" spc="-25" dirty="0">
                <a:latin typeface="Calibri"/>
                <a:cs typeface="Calibri"/>
              </a:rPr>
              <a:t> </a:t>
            </a:r>
            <a:r>
              <a:rPr sz="2100" dirty="0">
                <a:latin typeface="Calibri"/>
                <a:cs typeface="Calibri"/>
              </a:rPr>
              <a:t>of</a:t>
            </a:r>
            <a:r>
              <a:rPr sz="2100" spc="-105" dirty="0">
                <a:latin typeface="Calibri"/>
                <a:cs typeface="Calibri"/>
              </a:rPr>
              <a:t> </a:t>
            </a:r>
            <a:r>
              <a:rPr sz="2100" dirty="0">
                <a:latin typeface="Calibri"/>
                <a:cs typeface="Calibri"/>
              </a:rPr>
              <a:t>requirements</a:t>
            </a:r>
            <a:r>
              <a:rPr sz="2100" spc="190" dirty="0">
                <a:latin typeface="Calibri"/>
                <a:cs typeface="Calibri"/>
              </a:rPr>
              <a:t> </a:t>
            </a:r>
            <a:r>
              <a:rPr sz="2100" dirty="0">
                <a:latin typeface="Calibri"/>
                <a:cs typeface="Calibri"/>
              </a:rPr>
              <a:t>(organized</a:t>
            </a:r>
            <a:r>
              <a:rPr sz="2100" spc="145" dirty="0">
                <a:latin typeface="Calibri"/>
                <a:cs typeface="Calibri"/>
              </a:rPr>
              <a:t> </a:t>
            </a:r>
            <a:r>
              <a:rPr sz="2100" dirty="0">
                <a:latin typeface="Calibri"/>
                <a:cs typeface="Calibri"/>
              </a:rPr>
              <a:t>by</a:t>
            </a:r>
            <a:r>
              <a:rPr sz="2100" spc="60" dirty="0">
                <a:latin typeface="Calibri"/>
                <a:cs typeface="Calibri"/>
              </a:rPr>
              <a:t> </a:t>
            </a:r>
            <a:r>
              <a:rPr sz="2100" dirty="0">
                <a:latin typeface="Calibri"/>
                <a:cs typeface="Calibri"/>
              </a:rPr>
              <a:t>function)</a:t>
            </a:r>
            <a:r>
              <a:rPr sz="2100" spc="75" dirty="0">
                <a:latin typeface="Calibri"/>
                <a:cs typeface="Calibri"/>
              </a:rPr>
              <a:t> </a:t>
            </a:r>
            <a:r>
              <a:rPr sz="2100" dirty="0">
                <a:latin typeface="Calibri"/>
                <a:cs typeface="Calibri"/>
              </a:rPr>
              <a:t>and</a:t>
            </a:r>
            <a:r>
              <a:rPr sz="2100" spc="70" dirty="0">
                <a:latin typeface="Calibri"/>
                <a:cs typeface="Calibri"/>
              </a:rPr>
              <a:t> </a:t>
            </a:r>
            <a:r>
              <a:rPr sz="2100" spc="-25" dirty="0">
                <a:latin typeface="Calibri"/>
                <a:cs typeface="Calibri"/>
              </a:rPr>
              <a:t>the </a:t>
            </a:r>
            <a:r>
              <a:rPr sz="2100" dirty="0">
                <a:latin typeface="Calibri"/>
                <a:cs typeface="Calibri"/>
              </a:rPr>
              <a:t>domain</a:t>
            </a:r>
            <a:r>
              <a:rPr sz="2100" spc="10" dirty="0">
                <a:latin typeface="Calibri"/>
                <a:cs typeface="Calibri"/>
              </a:rPr>
              <a:t> </a:t>
            </a:r>
            <a:r>
              <a:rPr sz="2100" dirty="0">
                <a:latin typeface="Calibri"/>
                <a:cs typeface="Calibri"/>
              </a:rPr>
              <a:t>constraints</a:t>
            </a:r>
            <a:r>
              <a:rPr sz="2100" spc="90" dirty="0">
                <a:latin typeface="Calibri"/>
                <a:cs typeface="Calibri"/>
              </a:rPr>
              <a:t> </a:t>
            </a:r>
            <a:r>
              <a:rPr sz="2100" dirty="0">
                <a:latin typeface="Calibri"/>
                <a:cs typeface="Calibri"/>
              </a:rPr>
              <a:t>that</a:t>
            </a:r>
            <a:r>
              <a:rPr sz="2100" spc="10" dirty="0">
                <a:latin typeface="Calibri"/>
                <a:cs typeface="Calibri"/>
              </a:rPr>
              <a:t> </a:t>
            </a:r>
            <a:r>
              <a:rPr sz="2100" dirty="0">
                <a:latin typeface="Calibri"/>
                <a:cs typeface="Calibri"/>
              </a:rPr>
              <a:t>apply</a:t>
            </a:r>
            <a:r>
              <a:rPr sz="2100" spc="30" dirty="0">
                <a:latin typeface="Calibri"/>
                <a:cs typeface="Calibri"/>
              </a:rPr>
              <a:t> </a:t>
            </a:r>
            <a:r>
              <a:rPr sz="2100" dirty="0">
                <a:latin typeface="Calibri"/>
                <a:cs typeface="Calibri"/>
              </a:rPr>
              <a:t>to</a:t>
            </a:r>
            <a:r>
              <a:rPr sz="2100" spc="-114" dirty="0">
                <a:latin typeface="Calibri"/>
                <a:cs typeface="Calibri"/>
              </a:rPr>
              <a:t> </a:t>
            </a:r>
            <a:r>
              <a:rPr sz="2100" spc="-20" dirty="0">
                <a:latin typeface="Calibri"/>
                <a:cs typeface="Calibri"/>
              </a:rPr>
              <a:t>each</a:t>
            </a:r>
            <a:endParaRPr sz="2100">
              <a:latin typeface="Calibri"/>
              <a:cs typeface="Calibri"/>
            </a:endParaRPr>
          </a:p>
          <a:p>
            <a:pPr marL="180340" marR="527050" indent="-154305" algn="just">
              <a:lnSpc>
                <a:spcPts val="2300"/>
              </a:lnSpc>
              <a:spcBef>
                <a:spcPts val="700"/>
              </a:spcBef>
            </a:pPr>
            <a:r>
              <a:rPr sz="2150" dirty="0">
                <a:latin typeface="Calibri"/>
                <a:cs typeface="Calibri"/>
              </a:rPr>
              <a:t>°</a:t>
            </a:r>
            <a:r>
              <a:rPr sz="2150" spc="-45" dirty="0">
                <a:latin typeface="Calibri"/>
                <a:cs typeface="Calibri"/>
              </a:rPr>
              <a:t> </a:t>
            </a:r>
            <a:r>
              <a:rPr sz="2150" dirty="0">
                <a:latin typeface="Calibri"/>
                <a:cs typeface="Calibri"/>
              </a:rPr>
              <a:t>A</a:t>
            </a:r>
            <a:r>
              <a:rPr sz="2150" spc="-65" dirty="0">
                <a:latin typeface="Calibri"/>
                <a:cs typeface="Calibri"/>
              </a:rPr>
              <a:t> </a:t>
            </a:r>
            <a:r>
              <a:rPr sz="2150" dirty="0">
                <a:latin typeface="Calibri"/>
                <a:cs typeface="Calibri"/>
              </a:rPr>
              <a:t>set</a:t>
            </a:r>
            <a:r>
              <a:rPr sz="2150" spc="-75" dirty="0">
                <a:latin typeface="Calibri"/>
                <a:cs typeface="Calibri"/>
              </a:rPr>
              <a:t> </a:t>
            </a:r>
            <a:r>
              <a:rPr sz="2150" dirty="0">
                <a:latin typeface="Calibri"/>
                <a:cs typeface="Calibri"/>
              </a:rPr>
              <a:t>of</a:t>
            </a:r>
            <a:r>
              <a:rPr sz="2150" spc="-75" dirty="0">
                <a:latin typeface="Calibri"/>
                <a:cs typeface="Calibri"/>
              </a:rPr>
              <a:t> </a:t>
            </a:r>
            <a:r>
              <a:rPr sz="2150" spc="-10" dirty="0">
                <a:latin typeface="Calibri"/>
                <a:cs typeface="Calibri"/>
              </a:rPr>
              <a:t>preliminary</a:t>
            </a:r>
            <a:r>
              <a:rPr sz="2150" spc="114" dirty="0">
                <a:latin typeface="Calibri"/>
                <a:cs typeface="Calibri"/>
              </a:rPr>
              <a:t> </a:t>
            </a:r>
            <a:r>
              <a:rPr sz="2150" dirty="0">
                <a:latin typeface="Calibri"/>
                <a:cs typeface="Calibri"/>
              </a:rPr>
              <a:t>usage</a:t>
            </a:r>
            <a:r>
              <a:rPr sz="2150" spc="-75" dirty="0">
                <a:latin typeface="Calibri"/>
                <a:cs typeface="Calibri"/>
              </a:rPr>
              <a:t> </a:t>
            </a:r>
            <a:r>
              <a:rPr sz="2150" dirty="0">
                <a:latin typeface="Calibri"/>
                <a:cs typeface="Calibri"/>
              </a:rPr>
              <a:t>scenarios (in</a:t>
            </a:r>
            <a:r>
              <a:rPr sz="2150" spc="-105" dirty="0">
                <a:latin typeface="Calibri"/>
                <a:cs typeface="Calibri"/>
              </a:rPr>
              <a:t> </a:t>
            </a:r>
            <a:r>
              <a:rPr sz="2150" dirty="0">
                <a:latin typeface="Calibri"/>
                <a:cs typeface="Calibri"/>
              </a:rPr>
              <a:t>the</a:t>
            </a:r>
            <a:r>
              <a:rPr sz="2150" spc="-60" dirty="0">
                <a:latin typeface="Calibri"/>
                <a:cs typeface="Calibri"/>
              </a:rPr>
              <a:t> </a:t>
            </a:r>
            <a:r>
              <a:rPr sz="2150" spc="-10" dirty="0">
                <a:latin typeface="Calibri"/>
                <a:cs typeface="Calibri"/>
              </a:rPr>
              <a:t>form</a:t>
            </a:r>
            <a:r>
              <a:rPr sz="2150" spc="-50" dirty="0">
                <a:latin typeface="Calibri"/>
                <a:cs typeface="Calibri"/>
              </a:rPr>
              <a:t> </a:t>
            </a:r>
            <a:r>
              <a:rPr sz="2150" dirty="0">
                <a:latin typeface="Calibri"/>
                <a:cs typeface="Calibri"/>
              </a:rPr>
              <a:t>of</a:t>
            </a:r>
            <a:r>
              <a:rPr sz="2150" spc="-65" dirty="0">
                <a:latin typeface="Calibri"/>
                <a:cs typeface="Calibri"/>
              </a:rPr>
              <a:t> </a:t>
            </a:r>
            <a:r>
              <a:rPr sz="2150" spc="-25" dirty="0">
                <a:latin typeface="Calibri"/>
                <a:cs typeface="Calibri"/>
              </a:rPr>
              <a:t>use </a:t>
            </a:r>
            <a:r>
              <a:rPr sz="2150" spc="-10" dirty="0">
                <a:latin typeface="Calibri"/>
                <a:cs typeface="Calibri"/>
              </a:rPr>
              <a:t>cases)</a:t>
            </a:r>
            <a:r>
              <a:rPr sz="2150" spc="-125" dirty="0">
                <a:latin typeface="Calibri"/>
                <a:cs typeface="Calibri"/>
              </a:rPr>
              <a:t> </a:t>
            </a:r>
            <a:r>
              <a:rPr sz="2150" dirty="0">
                <a:latin typeface="Calibri"/>
                <a:cs typeface="Calibri"/>
              </a:rPr>
              <a:t>that</a:t>
            </a:r>
            <a:r>
              <a:rPr sz="2150" spc="-55" dirty="0">
                <a:latin typeface="Calibri"/>
                <a:cs typeface="Calibri"/>
              </a:rPr>
              <a:t> </a:t>
            </a:r>
            <a:r>
              <a:rPr sz="2150" spc="-20" dirty="0">
                <a:latin typeface="Calibri"/>
                <a:cs typeface="Calibri"/>
              </a:rPr>
              <a:t>provide</a:t>
            </a:r>
            <a:r>
              <a:rPr sz="2150" spc="-45" dirty="0">
                <a:latin typeface="Calibri"/>
                <a:cs typeface="Calibri"/>
              </a:rPr>
              <a:t> </a:t>
            </a:r>
            <a:r>
              <a:rPr sz="2150" dirty="0">
                <a:latin typeface="Calibri"/>
                <a:cs typeface="Calibri"/>
              </a:rPr>
              <a:t>insight into</a:t>
            </a:r>
            <a:r>
              <a:rPr sz="2150" spc="-70" dirty="0">
                <a:latin typeface="Calibri"/>
                <a:cs typeface="Calibri"/>
              </a:rPr>
              <a:t> </a:t>
            </a:r>
            <a:r>
              <a:rPr sz="2150" spc="-20" dirty="0">
                <a:latin typeface="Calibri"/>
                <a:cs typeface="Calibri"/>
              </a:rPr>
              <a:t>the</a:t>
            </a:r>
            <a:r>
              <a:rPr sz="2150" spc="-85" dirty="0">
                <a:latin typeface="Calibri"/>
                <a:cs typeface="Calibri"/>
              </a:rPr>
              <a:t> </a:t>
            </a:r>
            <a:r>
              <a:rPr sz="2150" dirty="0">
                <a:latin typeface="Calibri"/>
                <a:cs typeface="Calibri"/>
              </a:rPr>
              <a:t>use</a:t>
            </a:r>
            <a:r>
              <a:rPr sz="2150" spc="-55" dirty="0">
                <a:latin typeface="Calibri"/>
                <a:cs typeface="Calibri"/>
              </a:rPr>
              <a:t> </a:t>
            </a:r>
            <a:r>
              <a:rPr sz="2150" spc="-10" dirty="0">
                <a:latin typeface="Calibri"/>
                <a:cs typeface="Calibri"/>
              </a:rPr>
              <a:t>of</a:t>
            </a:r>
            <a:r>
              <a:rPr sz="2150" spc="-110" dirty="0">
                <a:latin typeface="Calibri"/>
                <a:cs typeface="Calibri"/>
              </a:rPr>
              <a:t> </a:t>
            </a:r>
            <a:r>
              <a:rPr sz="2150" dirty="0">
                <a:latin typeface="Calibri"/>
                <a:cs typeface="Calibri"/>
              </a:rPr>
              <a:t>the</a:t>
            </a:r>
            <a:r>
              <a:rPr sz="2150" spc="-50" dirty="0">
                <a:latin typeface="Calibri"/>
                <a:cs typeface="Calibri"/>
              </a:rPr>
              <a:t> </a:t>
            </a:r>
            <a:r>
              <a:rPr sz="2150" spc="-25" dirty="0">
                <a:latin typeface="Calibri"/>
                <a:cs typeface="Calibri"/>
              </a:rPr>
              <a:t>system</a:t>
            </a:r>
            <a:r>
              <a:rPr sz="2150" spc="-20" dirty="0">
                <a:latin typeface="Calibri"/>
                <a:cs typeface="Calibri"/>
              </a:rPr>
              <a:t> </a:t>
            </a:r>
            <a:r>
              <a:rPr sz="2150" spc="-25" dirty="0">
                <a:latin typeface="Calibri"/>
                <a:cs typeface="Calibri"/>
              </a:rPr>
              <a:t>or </a:t>
            </a:r>
            <a:r>
              <a:rPr sz="2150" spc="-20" dirty="0">
                <a:latin typeface="Calibri"/>
                <a:cs typeface="Calibri"/>
              </a:rPr>
              <a:t>product</a:t>
            </a:r>
            <a:r>
              <a:rPr sz="2150" spc="-15" dirty="0">
                <a:latin typeface="Calibri"/>
                <a:cs typeface="Calibri"/>
              </a:rPr>
              <a:t> </a:t>
            </a:r>
            <a:r>
              <a:rPr sz="2150" spc="-25" dirty="0">
                <a:latin typeface="Calibri"/>
                <a:cs typeface="Calibri"/>
              </a:rPr>
              <a:t>under</a:t>
            </a:r>
            <a:r>
              <a:rPr sz="2150" spc="-70" dirty="0">
                <a:latin typeface="Calibri"/>
                <a:cs typeface="Calibri"/>
              </a:rPr>
              <a:t> </a:t>
            </a:r>
            <a:r>
              <a:rPr sz="2150" spc="-10" dirty="0">
                <a:latin typeface="Calibri"/>
                <a:cs typeface="Calibri"/>
              </a:rPr>
              <a:t>different</a:t>
            </a:r>
            <a:r>
              <a:rPr sz="2150" spc="-30" dirty="0">
                <a:latin typeface="Calibri"/>
                <a:cs typeface="Calibri"/>
              </a:rPr>
              <a:t> </a:t>
            </a:r>
            <a:r>
              <a:rPr sz="2150" spc="-20" dirty="0">
                <a:latin typeface="Calibri"/>
                <a:cs typeface="Calibri"/>
              </a:rPr>
              <a:t>operating</a:t>
            </a:r>
            <a:r>
              <a:rPr sz="2150" spc="45" dirty="0">
                <a:latin typeface="Calibri"/>
                <a:cs typeface="Calibri"/>
              </a:rPr>
              <a:t> </a:t>
            </a:r>
            <a:r>
              <a:rPr sz="2150" spc="-10" dirty="0">
                <a:latin typeface="Calibri"/>
                <a:cs typeface="Calibri"/>
              </a:rPr>
              <a:t>conditions</a:t>
            </a:r>
            <a:endParaRPr sz="2150">
              <a:latin typeface="Calibri"/>
              <a:cs typeface="Calibri"/>
            </a:endParaRPr>
          </a:p>
          <a:p>
            <a:pPr marL="187325" indent="-169545" algn="just">
              <a:lnSpc>
                <a:spcPts val="2215"/>
              </a:lnSpc>
              <a:spcBef>
                <a:spcPts val="540"/>
              </a:spcBef>
              <a:buChar char="•"/>
              <a:tabLst>
                <a:tab pos="187325" algn="l"/>
              </a:tabLst>
            </a:pPr>
            <a:r>
              <a:rPr sz="1900" spc="75" dirty="0">
                <a:latin typeface="Calibri"/>
                <a:cs typeface="Calibri"/>
              </a:rPr>
              <a:t>Any</a:t>
            </a:r>
            <a:r>
              <a:rPr sz="1900" spc="60" dirty="0">
                <a:latin typeface="Calibri"/>
                <a:cs typeface="Calibri"/>
              </a:rPr>
              <a:t> </a:t>
            </a:r>
            <a:r>
              <a:rPr sz="1900" spc="110" dirty="0">
                <a:latin typeface="Calibri"/>
                <a:cs typeface="Calibri"/>
              </a:rPr>
              <a:t>prototypes </a:t>
            </a:r>
            <a:r>
              <a:rPr sz="1900" spc="85" dirty="0">
                <a:latin typeface="Calibri"/>
                <a:cs typeface="Calibri"/>
              </a:rPr>
              <a:t>developed</a:t>
            </a:r>
            <a:r>
              <a:rPr sz="1900" spc="250" dirty="0">
                <a:latin typeface="Calibri"/>
                <a:cs typeface="Calibri"/>
              </a:rPr>
              <a:t> </a:t>
            </a:r>
            <a:r>
              <a:rPr sz="1900" dirty="0">
                <a:latin typeface="Calibri"/>
                <a:cs typeface="Calibri"/>
              </a:rPr>
              <a:t>to</a:t>
            </a:r>
            <a:r>
              <a:rPr sz="1900" spc="95" dirty="0">
                <a:latin typeface="Calibri"/>
                <a:cs typeface="Calibri"/>
              </a:rPr>
              <a:t> </a:t>
            </a:r>
            <a:r>
              <a:rPr sz="1900" spc="80" dirty="0">
                <a:latin typeface="Calibri"/>
                <a:cs typeface="Calibri"/>
              </a:rPr>
              <a:t>better</a:t>
            </a:r>
            <a:r>
              <a:rPr sz="1900" spc="160" dirty="0">
                <a:latin typeface="Calibri"/>
                <a:cs typeface="Calibri"/>
              </a:rPr>
              <a:t> </a:t>
            </a:r>
            <a:r>
              <a:rPr sz="1900" spc="75" dirty="0">
                <a:latin typeface="Calibri"/>
                <a:cs typeface="Calibri"/>
              </a:rPr>
              <a:t>define</a:t>
            </a:r>
            <a:r>
              <a:rPr sz="1900" spc="110" dirty="0">
                <a:latin typeface="Calibri"/>
                <a:cs typeface="Calibri"/>
              </a:rPr>
              <a:t> </a:t>
            </a:r>
            <a:r>
              <a:rPr sz="1900" spc="60" dirty="0">
                <a:latin typeface="Calibri"/>
                <a:cs typeface="Calibri"/>
              </a:rPr>
              <a:t>requirements</a:t>
            </a:r>
            <a:endParaRPr sz="1900">
              <a:latin typeface="Calibri"/>
              <a:cs typeface="Calibri"/>
            </a:endParaRPr>
          </a:p>
          <a:p>
            <a:pPr marR="5080" algn="r">
              <a:lnSpc>
                <a:spcPts val="1675"/>
              </a:lnSpc>
            </a:pPr>
            <a:r>
              <a:rPr sz="1450" spc="-280" dirty="0">
                <a:solidFill>
                  <a:srgbClr val="838383"/>
                </a:solidFill>
                <a:latin typeface="Consolas"/>
                <a:cs typeface="Consolas"/>
              </a:rPr>
              <a:t>11</a:t>
            </a:r>
            <a:endParaRPr sz="1450">
              <a:latin typeface="Consolas"/>
              <a:cs typeface="Consolas"/>
            </a:endParaRPr>
          </a:p>
        </p:txBody>
      </p:sp>
      <p:pic>
        <p:nvPicPr>
          <p:cNvPr id="6" name="Picture 2" descr="Profile for SRM Institute of Science and Technology">
            <a:extLst>
              <a:ext uri="{FF2B5EF4-FFF2-40B4-BE49-F238E27FC236}">
                <a16:creationId xmlns:a16="http://schemas.microsoft.com/office/drawing/2014/main" id="{49B4568D-476C-EA76-E037-9B174B0DD3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90600" y="2565400"/>
            <a:ext cx="5499100" cy="254000"/>
          </a:xfrm>
          <a:prstGeom prst="rect">
            <a:avLst/>
          </a:prstGeom>
        </p:spPr>
      </p:pic>
      <p:sp>
        <p:nvSpPr>
          <p:cNvPr id="3" name="object 3"/>
          <p:cNvSpPr txBox="1">
            <a:spLocks noGrp="1"/>
          </p:cNvSpPr>
          <p:nvPr>
            <p:ph type="title"/>
          </p:nvPr>
        </p:nvSpPr>
        <p:spPr>
          <a:xfrm>
            <a:off x="652092" y="-11641"/>
            <a:ext cx="4490720" cy="869950"/>
          </a:xfrm>
          <a:prstGeom prst="rect">
            <a:avLst/>
          </a:prstGeom>
        </p:spPr>
        <p:txBody>
          <a:bodyPr vert="horz" wrap="square" lIns="0" tIns="11430" rIns="0" bIns="0" rtlCol="0">
            <a:spAutoFit/>
          </a:bodyPr>
          <a:lstStyle/>
          <a:p>
            <a:pPr marL="12700">
              <a:lnSpc>
                <a:spcPct val="100000"/>
              </a:lnSpc>
              <a:spcBef>
                <a:spcPts val="90"/>
              </a:spcBef>
            </a:pPr>
            <a:r>
              <a:rPr sz="5550" dirty="0">
                <a:latin typeface="Calibri"/>
                <a:cs typeface="Calibri"/>
              </a:rPr>
              <a:t>Elicitation</a:t>
            </a:r>
            <a:r>
              <a:rPr sz="5550" spc="470" dirty="0">
                <a:latin typeface="Calibri"/>
                <a:cs typeface="Calibri"/>
              </a:rPr>
              <a:t> </a:t>
            </a:r>
            <a:r>
              <a:rPr sz="5550" spc="150" dirty="0">
                <a:latin typeface="Calibri"/>
                <a:cs typeface="Calibri"/>
              </a:rPr>
              <a:t>Task</a:t>
            </a:r>
            <a:endParaRPr sz="5550">
              <a:latin typeface="Calibri"/>
              <a:cs typeface="Calibri"/>
            </a:endParaRPr>
          </a:p>
        </p:txBody>
      </p:sp>
      <p:sp>
        <p:nvSpPr>
          <p:cNvPr id="4" name="object 4"/>
          <p:cNvSpPr txBox="1"/>
          <p:nvPr/>
        </p:nvSpPr>
        <p:spPr>
          <a:xfrm>
            <a:off x="661365" y="1334558"/>
            <a:ext cx="6717665" cy="2275205"/>
          </a:xfrm>
          <a:prstGeom prst="rect">
            <a:avLst/>
          </a:prstGeom>
        </p:spPr>
        <p:txBody>
          <a:bodyPr vert="horz" wrap="square" lIns="0" tIns="11430" rIns="0" bIns="0" rtlCol="0">
            <a:spAutoFit/>
          </a:bodyPr>
          <a:lstStyle/>
          <a:p>
            <a:pPr marL="179705" indent="-167005">
              <a:lnSpc>
                <a:spcPts val="2430"/>
              </a:lnSpc>
              <a:spcBef>
                <a:spcPts val="90"/>
              </a:spcBef>
              <a:buChar char="•"/>
              <a:tabLst>
                <a:tab pos="179705" algn="l"/>
              </a:tabLst>
            </a:pPr>
            <a:r>
              <a:rPr sz="2050" spc="-50" dirty="0">
                <a:latin typeface="Calibri"/>
                <a:cs typeface="Calibri"/>
              </a:rPr>
              <a:t>Eliciting</a:t>
            </a:r>
            <a:r>
              <a:rPr sz="2050" spc="-70" dirty="0">
                <a:latin typeface="Calibri"/>
                <a:cs typeface="Calibri"/>
              </a:rPr>
              <a:t> </a:t>
            </a:r>
            <a:r>
              <a:rPr sz="2050" spc="-65" dirty="0">
                <a:latin typeface="Calibri"/>
                <a:cs typeface="Calibri"/>
              </a:rPr>
              <a:t>requirements</a:t>
            </a:r>
            <a:r>
              <a:rPr sz="2050" spc="100" dirty="0">
                <a:latin typeface="Calibri"/>
                <a:cs typeface="Calibri"/>
              </a:rPr>
              <a:t> </a:t>
            </a:r>
            <a:r>
              <a:rPr sz="2050" dirty="0">
                <a:latin typeface="Calibri"/>
                <a:cs typeface="Calibri"/>
              </a:rPr>
              <a:t>is</a:t>
            </a:r>
            <a:r>
              <a:rPr sz="2050" spc="-110" dirty="0">
                <a:latin typeface="Calibri"/>
                <a:cs typeface="Calibri"/>
              </a:rPr>
              <a:t> </a:t>
            </a:r>
            <a:r>
              <a:rPr sz="2050" spc="-45" dirty="0">
                <a:latin typeface="Calibri"/>
                <a:cs typeface="Calibri"/>
              </a:rPr>
              <a:t>difficult</a:t>
            </a:r>
            <a:r>
              <a:rPr sz="2050" spc="-70" dirty="0">
                <a:latin typeface="Calibri"/>
                <a:cs typeface="Calibri"/>
              </a:rPr>
              <a:t> </a:t>
            </a:r>
            <a:r>
              <a:rPr sz="2050" spc="-50" dirty="0">
                <a:latin typeface="Calibri"/>
                <a:cs typeface="Calibri"/>
              </a:rPr>
              <a:t>because</a:t>
            </a:r>
            <a:r>
              <a:rPr sz="2050" spc="-35" dirty="0">
                <a:latin typeface="Calibri"/>
                <a:cs typeface="Calibri"/>
              </a:rPr>
              <a:t> </a:t>
            </a:r>
            <a:r>
              <a:rPr sz="2050" spc="-25" dirty="0">
                <a:latin typeface="Calibri"/>
                <a:cs typeface="Calibri"/>
              </a:rPr>
              <a:t>of</a:t>
            </a:r>
            <a:endParaRPr sz="2050">
              <a:latin typeface="Calibri"/>
              <a:cs typeface="Calibri"/>
            </a:endParaRPr>
          </a:p>
          <a:p>
            <a:pPr marL="471170" marR="401320" lvl="1" indent="-154305">
              <a:lnSpc>
                <a:spcPts val="2100"/>
              </a:lnSpc>
              <a:spcBef>
                <a:spcPts val="340"/>
              </a:spcBef>
              <a:buChar char="•"/>
              <a:tabLst>
                <a:tab pos="482600" algn="l"/>
              </a:tabLst>
            </a:pPr>
            <a:r>
              <a:rPr sz="2050" u="heavy" spc="-35" dirty="0">
                <a:uFill>
                  <a:solidFill>
                    <a:srgbClr val="1C1C1C"/>
                  </a:solidFill>
                </a:uFill>
                <a:latin typeface="Calibri"/>
                <a:cs typeface="Calibri"/>
              </a:rPr>
              <a:t>Problems</a:t>
            </a:r>
            <a:r>
              <a:rPr sz="2050" u="heavy" spc="-85" dirty="0">
                <a:uFill>
                  <a:solidFill>
                    <a:srgbClr val="1C1C1C"/>
                  </a:solidFill>
                </a:uFill>
                <a:latin typeface="Calibri"/>
                <a:cs typeface="Calibri"/>
              </a:rPr>
              <a:t> </a:t>
            </a:r>
            <a:r>
              <a:rPr sz="2050" u="heavy" dirty="0">
                <a:uFill>
                  <a:solidFill>
                    <a:srgbClr val="1C1C1C"/>
                  </a:solidFill>
                </a:uFill>
                <a:latin typeface="Calibri"/>
                <a:cs typeface="Calibri"/>
              </a:rPr>
              <a:t>of</a:t>
            </a:r>
            <a:r>
              <a:rPr sz="2050" u="heavy" spc="-114" dirty="0">
                <a:uFill>
                  <a:solidFill>
                    <a:srgbClr val="1C1C1C"/>
                  </a:solidFill>
                </a:uFill>
                <a:latin typeface="Calibri"/>
                <a:cs typeface="Calibri"/>
              </a:rPr>
              <a:t> </a:t>
            </a:r>
            <a:r>
              <a:rPr sz="2050" u="heavy" spc="-30" dirty="0">
                <a:uFill>
                  <a:solidFill>
                    <a:srgbClr val="1C1C1C"/>
                  </a:solidFill>
                </a:uFill>
                <a:latin typeface="Calibri"/>
                <a:cs typeface="Calibri"/>
              </a:rPr>
              <a:t>scope</a:t>
            </a:r>
            <a:r>
              <a:rPr sz="2050" spc="-25" dirty="0">
                <a:latin typeface="Calibri"/>
                <a:cs typeface="Calibri"/>
              </a:rPr>
              <a:t> </a:t>
            </a:r>
            <a:r>
              <a:rPr sz="2050" spc="-20" dirty="0">
                <a:latin typeface="Calibri"/>
                <a:cs typeface="Calibri"/>
              </a:rPr>
              <a:t>in</a:t>
            </a:r>
            <a:r>
              <a:rPr sz="2050" spc="-80" dirty="0">
                <a:latin typeface="Calibri"/>
                <a:cs typeface="Calibri"/>
              </a:rPr>
              <a:t> </a:t>
            </a:r>
            <a:r>
              <a:rPr sz="2050" spc="-30" dirty="0">
                <a:latin typeface="Calibri"/>
                <a:cs typeface="Calibri"/>
              </a:rPr>
              <a:t>identifying</a:t>
            </a:r>
            <a:r>
              <a:rPr sz="2050" spc="60" dirty="0">
                <a:latin typeface="Calibri"/>
                <a:cs typeface="Calibri"/>
              </a:rPr>
              <a:t> </a:t>
            </a:r>
            <a:r>
              <a:rPr sz="2050" spc="-45" dirty="0">
                <a:latin typeface="Calibri"/>
                <a:cs typeface="Calibri"/>
              </a:rPr>
              <a:t>the</a:t>
            </a:r>
            <a:r>
              <a:rPr sz="2050" spc="-80" dirty="0">
                <a:latin typeface="Calibri"/>
                <a:cs typeface="Calibri"/>
              </a:rPr>
              <a:t> </a:t>
            </a:r>
            <a:r>
              <a:rPr sz="2050" spc="-40" dirty="0">
                <a:latin typeface="Calibri"/>
                <a:cs typeface="Calibri"/>
              </a:rPr>
              <a:t>boundaries</a:t>
            </a:r>
            <a:r>
              <a:rPr sz="2050" spc="30" dirty="0">
                <a:latin typeface="Calibri"/>
                <a:cs typeface="Calibri"/>
              </a:rPr>
              <a:t> </a:t>
            </a:r>
            <a:r>
              <a:rPr sz="2050" spc="-20" dirty="0">
                <a:latin typeface="Calibri"/>
                <a:cs typeface="Calibri"/>
              </a:rPr>
              <a:t>of</a:t>
            </a:r>
            <a:r>
              <a:rPr sz="2050" spc="-100" dirty="0">
                <a:latin typeface="Calibri"/>
                <a:cs typeface="Calibri"/>
              </a:rPr>
              <a:t> </a:t>
            </a:r>
            <a:r>
              <a:rPr sz="2050" spc="-25" dirty="0">
                <a:latin typeface="Calibri"/>
                <a:cs typeface="Calibri"/>
              </a:rPr>
              <a:t>the 	</a:t>
            </a:r>
            <a:r>
              <a:rPr sz="2050" spc="-65" dirty="0">
                <a:latin typeface="Calibri"/>
                <a:cs typeface="Calibri"/>
              </a:rPr>
              <a:t>system</a:t>
            </a:r>
            <a:r>
              <a:rPr sz="2050" spc="-55" dirty="0">
                <a:latin typeface="Calibri"/>
                <a:cs typeface="Calibri"/>
              </a:rPr>
              <a:t> </a:t>
            </a:r>
            <a:r>
              <a:rPr sz="2050" spc="-35" dirty="0">
                <a:latin typeface="Calibri"/>
                <a:cs typeface="Calibri"/>
              </a:rPr>
              <a:t>or</a:t>
            </a:r>
            <a:r>
              <a:rPr sz="2050" spc="-80" dirty="0">
                <a:latin typeface="Calibri"/>
                <a:cs typeface="Calibri"/>
              </a:rPr>
              <a:t> </a:t>
            </a:r>
            <a:r>
              <a:rPr sz="2050" spc="-50" dirty="0">
                <a:latin typeface="Calibri"/>
                <a:cs typeface="Calibri"/>
              </a:rPr>
              <a:t>specifying</a:t>
            </a:r>
            <a:r>
              <a:rPr sz="2050" spc="-5" dirty="0">
                <a:latin typeface="Calibri"/>
                <a:cs typeface="Calibri"/>
              </a:rPr>
              <a:t> </a:t>
            </a:r>
            <a:r>
              <a:rPr sz="2050" spc="-30" dirty="0">
                <a:solidFill>
                  <a:srgbClr val="1A1A1A"/>
                </a:solidFill>
                <a:latin typeface="Calibri"/>
                <a:cs typeface="Calibri"/>
              </a:rPr>
              <a:t>too</a:t>
            </a:r>
            <a:r>
              <a:rPr sz="2050" spc="-40" dirty="0">
                <a:solidFill>
                  <a:srgbClr val="1A1A1A"/>
                </a:solidFill>
                <a:latin typeface="Calibri"/>
                <a:cs typeface="Calibri"/>
              </a:rPr>
              <a:t> </a:t>
            </a:r>
            <a:r>
              <a:rPr sz="2050" spc="-80" dirty="0">
                <a:latin typeface="Calibri"/>
                <a:cs typeface="Calibri"/>
              </a:rPr>
              <a:t>much</a:t>
            </a:r>
            <a:r>
              <a:rPr sz="2050" spc="-30" dirty="0">
                <a:latin typeface="Calibri"/>
                <a:cs typeface="Calibri"/>
              </a:rPr>
              <a:t> </a:t>
            </a:r>
            <a:r>
              <a:rPr sz="2050" spc="-55" dirty="0">
                <a:latin typeface="Calibri"/>
                <a:cs typeface="Calibri"/>
              </a:rPr>
              <a:t>technical</a:t>
            </a:r>
            <a:r>
              <a:rPr sz="2050" spc="-45" dirty="0">
                <a:latin typeface="Calibri"/>
                <a:cs typeface="Calibri"/>
              </a:rPr>
              <a:t> </a:t>
            </a:r>
            <a:r>
              <a:rPr sz="2050" spc="-35" dirty="0">
                <a:latin typeface="Calibri"/>
                <a:cs typeface="Calibri"/>
              </a:rPr>
              <a:t>detail</a:t>
            </a:r>
            <a:r>
              <a:rPr sz="2050" spc="-55" dirty="0">
                <a:latin typeface="Calibri"/>
                <a:cs typeface="Calibri"/>
              </a:rPr>
              <a:t> </a:t>
            </a:r>
            <a:r>
              <a:rPr sz="2050" spc="-65" dirty="0">
                <a:latin typeface="Calibri"/>
                <a:cs typeface="Calibri"/>
              </a:rPr>
              <a:t>rather</a:t>
            </a:r>
            <a:r>
              <a:rPr sz="2050" spc="10" dirty="0">
                <a:latin typeface="Calibri"/>
                <a:cs typeface="Calibri"/>
              </a:rPr>
              <a:t> </a:t>
            </a:r>
            <a:r>
              <a:rPr sz="2050" spc="-20" dirty="0">
                <a:latin typeface="Calibri"/>
                <a:cs typeface="Calibri"/>
              </a:rPr>
              <a:t>than 	</a:t>
            </a:r>
            <a:r>
              <a:rPr sz="2050" spc="-45" dirty="0">
                <a:latin typeface="Calibri"/>
                <a:cs typeface="Calibri"/>
              </a:rPr>
              <a:t>overall</a:t>
            </a:r>
            <a:r>
              <a:rPr sz="2050" spc="-35" dirty="0">
                <a:latin typeface="Calibri"/>
                <a:cs typeface="Calibri"/>
              </a:rPr>
              <a:t> </a:t>
            </a:r>
            <a:r>
              <a:rPr sz="2050" spc="-65" dirty="0">
                <a:latin typeface="Calibri"/>
                <a:cs typeface="Calibri"/>
              </a:rPr>
              <a:t>system</a:t>
            </a:r>
            <a:r>
              <a:rPr sz="2050" spc="-50" dirty="0">
                <a:latin typeface="Calibri"/>
                <a:cs typeface="Calibri"/>
              </a:rPr>
              <a:t> </a:t>
            </a:r>
            <a:r>
              <a:rPr sz="2050" spc="-10" dirty="0">
                <a:latin typeface="Calibri"/>
                <a:cs typeface="Calibri"/>
              </a:rPr>
              <a:t>objectives</a:t>
            </a:r>
            <a:endParaRPr sz="2050">
              <a:latin typeface="Calibri"/>
              <a:cs typeface="Calibri"/>
            </a:endParaRPr>
          </a:p>
          <a:p>
            <a:pPr marL="476250" marR="5080" indent="2843530">
              <a:lnSpc>
                <a:spcPts val="2100"/>
              </a:lnSpc>
              <a:spcBef>
                <a:spcPts val="300"/>
              </a:spcBef>
            </a:pPr>
            <a:r>
              <a:rPr sz="1950" dirty="0">
                <a:latin typeface="Calibri"/>
                <a:cs typeface="Calibri"/>
              </a:rPr>
              <a:t>what</a:t>
            </a:r>
            <a:r>
              <a:rPr sz="1950" spc="-65" dirty="0">
                <a:latin typeface="Calibri"/>
                <a:cs typeface="Calibri"/>
              </a:rPr>
              <a:t> </a:t>
            </a:r>
            <a:r>
              <a:rPr sz="1950" dirty="0">
                <a:solidFill>
                  <a:srgbClr val="151515"/>
                </a:solidFill>
                <a:latin typeface="Calibri"/>
                <a:cs typeface="Calibri"/>
              </a:rPr>
              <a:t>is</a:t>
            </a:r>
            <a:r>
              <a:rPr sz="1950" spc="-45" dirty="0">
                <a:solidFill>
                  <a:srgbClr val="151515"/>
                </a:solidFill>
                <a:latin typeface="Calibri"/>
                <a:cs typeface="Calibri"/>
              </a:rPr>
              <a:t> </a:t>
            </a:r>
            <a:r>
              <a:rPr sz="1950" spc="-10" dirty="0">
                <a:latin typeface="Calibri"/>
                <a:cs typeface="Calibri"/>
              </a:rPr>
              <a:t>wanted,</a:t>
            </a:r>
            <a:r>
              <a:rPr sz="1950" spc="15" dirty="0">
                <a:latin typeface="Calibri"/>
                <a:cs typeface="Calibri"/>
              </a:rPr>
              <a:t> </a:t>
            </a:r>
            <a:r>
              <a:rPr sz="1950" dirty="0">
                <a:latin typeface="Calibri"/>
                <a:cs typeface="Calibri"/>
              </a:rPr>
              <a:t>what</a:t>
            </a:r>
            <a:r>
              <a:rPr sz="1950" spc="-65" dirty="0">
                <a:latin typeface="Calibri"/>
                <a:cs typeface="Calibri"/>
              </a:rPr>
              <a:t> </a:t>
            </a:r>
            <a:r>
              <a:rPr sz="1950" spc="-25" dirty="0">
                <a:latin typeface="Calibri"/>
                <a:cs typeface="Calibri"/>
              </a:rPr>
              <a:t>the</a:t>
            </a:r>
            <a:r>
              <a:rPr sz="1950" spc="500" dirty="0">
                <a:latin typeface="Calibri"/>
                <a:cs typeface="Calibri"/>
              </a:rPr>
              <a:t> </a:t>
            </a:r>
            <a:r>
              <a:rPr sz="1900" dirty="0">
                <a:latin typeface="Calibri"/>
                <a:cs typeface="Calibri"/>
              </a:rPr>
              <a:t>problem</a:t>
            </a:r>
            <a:r>
              <a:rPr sz="1900" spc="50" dirty="0">
                <a:latin typeface="Calibri"/>
                <a:cs typeface="Calibri"/>
              </a:rPr>
              <a:t> </a:t>
            </a:r>
            <a:r>
              <a:rPr sz="1900" dirty="0">
                <a:latin typeface="Calibri"/>
                <a:cs typeface="Calibri"/>
              </a:rPr>
              <a:t>domain</a:t>
            </a:r>
            <a:r>
              <a:rPr sz="1900" spc="125" dirty="0">
                <a:latin typeface="Calibri"/>
                <a:cs typeface="Calibri"/>
              </a:rPr>
              <a:t> </a:t>
            </a:r>
            <a:r>
              <a:rPr sz="1900" dirty="0">
                <a:latin typeface="Calibri"/>
                <a:cs typeface="Calibri"/>
              </a:rPr>
              <a:t>is,</a:t>
            </a:r>
            <a:r>
              <a:rPr sz="1900" spc="-25" dirty="0">
                <a:latin typeface="Calibri"/>
                <a:cs typeface="Calibri"/>
              </a:rPr>
              <a:t> </a:t>
            </a:r>
            <a:r>
              <a:rPr sz="1900" dirty="0">
                <a:latin typeface="Calibri"/>
                <a:cs typeface="Calibri"/>
              </a:rPr>
              <a:t>and</a:t>
            </a:r>
            <a:r>
              <a:rPr sz="1900" spc="15" dirty="0">
                <a:latin typeface="Calibri"/>
                <a:cs typeface="Calibri"/>
              </a:rPr>
              <a:t> </a:t>
            </a:r>
            <a:r>
              <a:rPr sz="1900" dirty="0">
                <a:latin typeface="Calibri"/>
                <a:cs typeface="Calibri"/>
              </a:rPr>
              <a:t>what</a:t>
            </a:r>
            <a:r>
              <a:rPr sz="1900" spc="55" dirty="0">
                <a:latin typeface="Calibri"/>
                <a:cs typeface="Calibri"/>
              </a:rPr>
              <a:t> </a:t>
            </a:r>
            <a:r>
              <a:rPr sz="1900" dirty="0">
                <a:latin typeface="Calibri"/>
                <a:cs typeface="Calibri"/>
              </a:rPr>
              <a:t>the</a:t>
            </a:r>
            <a:r>
              <a:rPr sz="1900" spc="45" dirty="0">
                <a:latin typeface="Calibri"/>
                <a:cs typeface="Calibri"/>
              </a:rPr>
              <a:t> </a:t>
            </a:r>
            <a:r>
              <a:rPr sz="1900" dirty="0">
                <a:latin typeface="Calibri"/>
                <a:cs typeface="Calibri"/>
              </a:rPr>
              <a:t>computing</a:t>
            </a:r>
            <a:r>
              <a:rPr sz="1900" spc="120" dirty="0">
                <a:latin typeface="Calibri"/>
                <a:cs typeface="Calibri"/>
              </a:rPr>
              <a:t> </a:t>
            </a:r>
            <a:r>
              <a:rPr sz="1900" dirty="0">
                <a:latin typeface="Calibri"/>
                <a:cs typeface="Calibri"/>
              </a:rPr>
              <a:t>environment</a:t>
            </a:r>
            <a:r>
              <a:rPr sz="1900" spc="204" dirty="0">
                <a:latin typeface="Calibri"/>
                <a:cs typeface="Calibri"/>
              </a:rPr>
              <a:t> </a:t>
            </a:r>
            <a:r>
              <a:rPr sz="1900" spc="-25" dirty="0">
                <a:latin typeface="Calibri"/>
                <a:cs typeface="Calibri"/>
              </a:rPr>
              <a:t>can </a:t>
            </a:r>
            <a:r>
              <a:rPr sz="1900" dirty="0">
                <a:latin typeface="Calibri"/>
                <a:cs typeface="Calibri"/>
              </a:rPr>
              <a:t>handle</a:t>
            </a:r>
            <a:r>
              <a:rPr sz="1900" spc="155" dirty="0">
                <a:latin typeface="Calibri"/>
                <a:cs typeface="Calibri"/>
              </a:rPr>
              <a:t> </a:t>
            </a:r>
            <a:r>
              <a:rPr sz="1900" dirty="0">
                <a:latin typeface="Calibri"/>
                <a:cs typeface="Calibri"/>
              </a:rPr>
              <a:t>(Information</a:t>
            </a:r>
            <a:r>
              <a:rPr sz="1900" spc="85" dirty="0">
                <a:latin typeface="Calibri"/>
                <a:cs typeface="Calibri"/>
              </a:rPr>
              <a:t> </a:t>
            </a:r>
            <a:r>
              <a:rPr sz="1900" dirty="0">
                <a:latin typeface="Calibri"/>
                <a:cs typeface="Calibri"/>
              </a:rPr>
              <a:t>that</a:t>
            </a:r>
            <a:r>
              <a:rPr sz="1900" spc="40" dirty="0">
                <a:latin typeface="Calibri"/>
                <a:cs typeface="Calibri"/>
              </a:rPr>
              <a:t> </a:t>
            </a:r>
            <a:r>
              <a:rPr sz="1900" dirty="0">
                <a:latin typeface="Calibri"/>
                <a:cs typeface="Calibri"/>
              </a:rPr>
              <a:t>is</a:t>
            </a:r>
            <a:r>
              <a:rPr sz="1900" spc="70" dirty="0">
                <a:latin typeface="Calibri"/>
                <a:cs typeface="Calibri"/>
              </a:rPr>
              <a:t> </a:t>
            </a:r>
            <a:r>
              <a:rPr sz="1900" spc="-75" dirty="0">
                <a:latin typeface="Calibri"/>
                <a:cs typeface="Calibri"/>
              </a:rPr>
              <a:t>bE'lievE'd</a:t>
            </a:r>
            <a:r>
              <a:rPr sz="1900" spc="229" dirty="0">
                <a:latin typeface="Calibri"/>
                <a:cs typeface="Calibri"/>
              </a:rPr>
              <a:t> </a:t>
            </a:r>
            <a:r>
              <a:rPr sz="1900" dirty="0">
                <a:latin typeface="Calibri"/>
                <a:cs typeface="Calibri"/>
              </a:rPr>
              <a:t>to</a:t>
            </a:r>
            <a:r>
              <a:rPr sz="1900" spc="60" dirty="0">
                <a:latin typeface="Calibri"/>
                <a:cs typeface="Calibri"/>
              </a:rPr>
              <a:t> </a:t>
            </a:r>
            <a:r>
              <a:rPr sz="1900" dirty="0">
                <a:latin typeface="Calibri"/>
                <a:cs typeface="Calibri"/>
              </a:rPr>
              <a:t>be</a:t>
            </a:r>
            <a:r>
              <a:rPr sz="1900" spc="75" dirty="0">
                <a:latin typeface="Calibri"/>
                <a:cs typeface="Calibri"/>
              </a:rPr>
              <a:t> </a:t>
            </a:r>
            <a:r>
              <a:rPr sz="1900" dirty="0">
                <a:latin typeface="Calibri"/>
                <a:cs typeface="Calibri"/>
              </a:rPr>
              <a:t>"obvious"</a:t>
            </a:r>
            <a:r>
              <a:rPr sz="1900" spc="55" dirty="0">
                <a:latin typeface="Calibri"/>
                <a:cs typeface="Calibri"/>
              </a:rPr>
              <a:t> </a:t>
            </a:r>
            <a:r>
              <a:rPr sz="1900" dirty="0">
                <a:latin typeface="Calibri"/>
                <a:cs typeface="Calibri"/>
              </a:rPr>
              <a:t>is</a:t>
            </a:r>
            <a:r>
              <a:rPr sz="1900" spc="70" dirty="0">
                <a:latin typeface="Calibri"/>
                <a:cs typeface="Calibri"/>
              </a:rPr>
              <a:t> </a:t>
            </a:r>
            <a:r>
              <a:rPr sz="1900" spc="-10" dirty="0">
                <a:latin typeface="Calibri"/>
                <a:cs typeface="Calibri"/>
              </a:rPr>
              <a:t>often </a:t>
            </a:r>
            <a:r>
              <a:rPr sz="1850" spc="-10" dirty="0">
                <a:latin typeface="Calibri"/>
                <a:cs typeface="Calibri"/>
              </a:rPr>
              <a:t>omitted)</a:t>
            </a:r>
            <a:endParaRPr sz="1850">
              <a:latin typeface="Calibri"/>
              <a:cs typeface="Calibri"/>
            </a:endParaRPr>
          </a:p>
        </p:txBody>
      </p:sp>
      <p:sp>
        <p:nvSpPr>
          <p:cNvPr id="5" name="object 5"/>
          <p:cNvSpPr txBox="1"/>
          <p:nvPr/>
        </p:nvSpPr>
        <p:spPr>
          <a:xfrm>
            <a:off x="989753" y="3682152"/>
            <a:ext cx="3622040" cy="243204"/>
          </a:xfrm>
          <a:prstGeom prst="rect">
            <a:avLst/>
          </a:prstGeom>
          <a:solidFill>
            <a:srgbClr val="F4F4F4"/>
          </a:solidFill>
        </p:spPr>
        <p:txBody>
          <a:bodyPr vert="horz" wrap="square" lIns="0" tIns="0" rIns="0" bIns="0" rtlCol="0">
            <a:spAutoFit/>
          </a:bodyPr>
          <a:lstStyle/>
          <a:p>
            <a:pPr marL="142875" indent="-154305">
              <a:lnSpc>
                <a:spcPts val="1864"/>
              </a:lnSpc>
              <a:buChar char="•"/>
              <a:tabLst>
                <a:tab pos="142875" algn="l"/>
              </a:tabLst>
            </a:pPr>
            <a:r>
              <a:rPr sz="2050" u="heavy" spc="-35" dirty="0">
                <a:uFill>
                  <a:solidFill>
                    <a:srgbClr val="000000"/>
                  </a:solidFill>
                </a:uFill>
                <a:latin typeface="Calibri"/>
                <a:cs typeface="Calibri"/>
              </a:rPr>
              <a:t>Problems</a:t>
            </a:r>
            <a:r>
              <a:rPr sz="2050" u="heavy" spc="-85" dirty="0">
                <a:uFill>
                  <a:solidFill>
                    <a:srgbClr val="000000"/>
                  </a:solidFill>
                </a:uFill>
                <a:latin typeface="Calibri"/>
                <a:cs typeface="Calibri"/>
              </a:rPr>
              <a:t> </a:t>
            </a:r>
            <a:r>
              <a:rPr sz="2050" u="heavy" dirty="0">
                <a:uFill>
                  <a:solidFill>
                    <a:srgbClr val="000000"/>
                  </a:solidFill>
                </a:uFill>
                <a:latin typeface="Calibri"/>
                <a:cs typeface="Calibri"/>
              </a:rPr>
              <a:t>of</a:t>
            </a:r>
            <a:r>
              <a:rPr sz="2050" u="heavy" spc="-45" dirty="0">
                <a:uFill>
                  <a:solidFill>
                    <a:srgbClr val="000000"/>
                  </a:solidFill>
                </a:uFill>
                <a:latin typeface="Calibri"/>
                <a:cs typeface="Calibri"/>
              </a:rPr>
              <a:t> </a:t>
            </a:r>
            <a:r>
              <a:rPr sz="2050" u="heavy" spc="-20" dirty="0">
                <a:uFill>
                  <a:solidFill>
                    <a:srgbClr val="000000"/>
                  </a:solidFill>
                </a:uFill>
                <a:latin typeface="Calibri"/>
                <a:cs typeface="Calibri"/>
              </a:rPr>
              <a:t>volatility</a:t>
            </a:r>
            <a:r>
              <a:rPr sz="2050" spc="-10" dirty="0">
                <a:latin typeface="Calibri"/>
                <a:cs typeface="Calibri"/>
              </a:rPr>
              <a:t> </a:t>
            </a:r>
            <a:r>
              <a:rPr sz="2050" spc="-50" dirty="0">
                <a:solidFill>
                  <a:srgbClr val="1A1A1A"/>
                </a:solidFill>
                <a:latin typeface="Calibri"/>
                <a:cs typeface="Calibri"/>
              </a:rPr>
              <a:t>because</a:t>
            </a:r>
            <a:r>
              <a:rPr sz="2050" spc="25" dirty="0">
                <a:solidFill>
                  <a:srgbClr val="1A1A1A"/>
                </a:solidFill>
                <a:latin typeface="Calibri"/>
                <a:cs typeface="Calibri"/>
              </a:rPr>
              <a:t> </a:t>
            </a:r>
            <a:r>
              <a:rPr sz="2050" spc="-25" dirty="0">
                <a:latin typeface="Calibri"/>
                <a:cs typeface="Calibri"/>
              </a:rPr>
              <a:t>the</a:t>
            </a:r>
            <a:endParaRPr sz="2050">
              <a:latin typeface="Calibri"/>
              <a:cs typeface="Calibri"/>
            </a:endParaRPr>
          </a:p>
        </p:txBody>
      </p:sp>
      <p:sp>
        <p:nvSpPr>
          <p:cNvPr id="6" name="object 6"/>
          <p:cNvSpPr txBox="1"/>
          <p:nvPr/>
        </p:nvSpPr>
        <p:spPr>
          <a:xfrm>
            <a:off x="4641529" y="3595158"/>
            <a:ext cx="2665730" cy="336550"/>
          </a:xfrm>
          <a:prstGeom prst="rect">
            <a:avLst/>
          </a:prstGeom>
        </p:spPr>
        <p:txBody>
          <a:bodyPr vert="horz" wrap="square" lIns="0" tIns="11430" rIns="0" bIns="0" rtlCol="0">
            <a:spAutoFit/>
          </a:bodyPr>
          <a:lstStyle/>
          <a:p>
            <a:pPr marL="12700">
              <a:lnSpc>
                <a:spcPct val="100000"/>
              </a:lnSpc>
              <a:spcBef>
                <a:spcPts val="90"/>
              </a:spcBef>
            </a:pPr>
            <a:r>
              <a:rPr sz="2050" spc="-70" dirty="0">
                <a:latin typeface="Calibri"/>
                <a:cs typeface="Calibri"/>
              </a:rPr>
              <a:t>requirements</a:t>
            </a:r>
            <a:r>
              <a:rPr sz="2050" spc="65" dirty="0">
                <a:latin typeface="Calibri"/>
                <a:cs typeface="Calibri"/>
              </a:rPr>
              <a:t> </a:t>
            </a:r>
            <a:r>
              <a:rPr sz="2050" spc="-40" dirty="0">
                <a:latin typeface="Calibri"/>
                <a:cs typeface="Calibri"/>
              </a:rPr>
              <a:t>change</a:t>
            </a:r>
            <a:r>
              <a:rPr sz="2050" spc="-45" dirty="0">
                <a:latin typeface="Calibri"/>
                <a:cs typeface="Calibri"/>
              </a:rPr>
              <a:t> </a:t>
            </a:r>
            <a:r>
              <a:rPr sz="2050" spc="-25" dirty="0">
                <a:latin typeface="Calibri"/>
                <a:cs typeface="Calibri"/>
              </a:rPr>
              <a:t>over</a:t>
            </a:r>
            <a:endParaRPr sz="2050">
              <a:latin typeface="Calibri"/>
              <a:cs typeface="Calibri"/>
            </a:endParaRPr>
          </a:p>
        </p:txBody>
      </p:sp>
      <p:sp>
        <p:nvSpPr>
          <p:cNvPr id="7" name="object 7"/>
          <p:cNvSpPr txBox="1"/>
          <p:nvPr/>
        </p:nvSpPr>
        <p:spPr>
          <a:xfrm>
            <a:off x="663692" y="3799472"/>
            <a:ext cx="5641975" cy="1363345"/>
          </a:xfrm>
          <a:prstGeom prst="rect">
            <a:avLst/>
          </a:prstGeom>
        </p:spPr>
        <p:txBody>
          <a:bodyPr vert="horz" wrap="square" lIns="0" tIns="73660" rIns="0" bIns="0" rtlCol="0">
            <a:spAutoFit/>
          </a:bodyPr>
          <a:lstStyle/>
          <a:p>
            <a:pPr marL="487680">
              <a:lnSpc>
                <a:spcPct val="100000"/>
              </a:lnSpc>
              <a:spcBef>
                <a:spcPts val="580"/>
              </a:spcBef>
            </a:pPr>
            <a:r>
              <a:rPr sz="2050" spc="-20" dirty="0">
                <a:latin typeface="Calibri"/>
                <a:cs typeface="Calibri"/>
              </a:rPr>
              <a:t>time</a:t>
            </a:r>
            <a:endParaRPr sz="2050">
              <a:latin typeface="Calibri"/>
              <a:cs typeface="Calibri"/>
            </a:endParaRPr>
          </a:p>
          <a:p>
            <a:pPr marL="178435" indent="-165735">
              <a:lnSpc>
                <a:spcPct val="100000"/>
              </a:lnSpc>
              <a:spcBef>
                <a:spcPts val="440"/>
              </a:spcBef>
              <a:buChar char="•"/>
              <a:tabLst>
                <a:tab pos="178435" algn="l"/>
              </a:tabLst>
            </a:pPr>
            <a:r>
              <a:rPr sz="1850" dirty="0">
                <a:latin typeface="Calibri"/>
                <a:cs typeface="Calibri"/>
              </a:rPr>
              <a:t>Elicitation</a:t>
            </a:r>
            <a:r>
              <a:rPr sz="1850" spc="240" dirty="0">
                <a:latin typeface="Calibri"/>
                <a:cs typeface="Calibri"/>
              </a:rPr>
              <a:t> </a:t>
            </a:r>
            <a:r>
              <a:rPr sz="1850" dirty="0">
                <a:solidFill>
                  <a:srgbClr val="0F0F0F"/>
                </a:solidFill>
                <a:latin typeface="Calibri"/>
                <a:cs typeface="Calibri"/>
              </a:rPr>
              <a:t>may</a:t>
            </a:r>
            <a:r>
              <a:rPr sz="1850" spc="145" dirty="0">
                <a:solidFill>
                  <a:srgbClr val="0F0F0F"/>
                </a:solidFill>
                <a:latin typeface="Calibri"/>
                <a:cs typeface="Calibri"/>
              </a:rPr>
              <a:t> </a:t>
            </a:r>
            <a:r>
              <a:rPr sz="1850" dirty="0">
                <a:latin typeface="Calibri"/>
                <a:cs typeface="Calibri"/>
              </a:rPr>
              <a:t>be</a:t>
            </a:r>
            <a:r>
              <a:rPr sz="1850" spc="114" dirty="0">
                <a:latin typeface="Calibri"/>
                <a:cs typeface="Calibri"/>
              </a:rPr>
              <a:t> </a:t>
            </a:r>
            <a:r>
              <a:rPr sz="1850" dirty="0">
                <a:latin typeface="Calibri"/>
                <a:cs typeface="Calibri"/>
              </a:rPr>
              <a:t>accomplished</a:t>
            </a:r>
            <a:r>
              <a:rPr sz="1850" spc="345" dirty="0">
                <a:latin typeface="Calibri"/>
                <a:cs typeface="Calibri"/>
              </a:rPr>
              <a:t> </a:t>
            </a:r>
            <a:r>
              <a:rPr sz="1850" dirty="0">
                <a:latin typeface="Calibri"/>
                <a:cs typeface="Calibri"/>
              </a:rPr>
              <a:t>through</a:t>
            </a:r>
            <a:r>
              <a:rPr sz="1850" spc="229" dirty="0">
                <a:latin typeface="Calibri"/>
                <a:cs typeface="Calibri"/>
              </a:rPr>
              <a:t> </a:t>
            </a:r>
            <a:r>
              <a:rPr sz="1850" spc="-145" dirty="0">
                <a:latin typeface="Calibri"/>
                <a:cs typeface="Calibri"/>
              </a:rPr>
              <a:t>tWD</a:t>
            </a:r>
            <a:r>
              <a:rPr sz="1850" spc="114" dirty="0">
                <a:latin typeface="Calibri"/>
                <a:cs typeface="Calibri"/>
              </a:rPr>
              <a:t> </a:t>
            </a:r>
            <a:r>
              <a:rPr sz="1850" spc="-10" dirty="0">
                <a:latin typeface="Calibri"/>
                <a:cs typeface="Calibri"/>
              </a:rPr>
              <a:t>BCtivities</a:t>
            </a:r>
            <a:endParaRPr sz="1850">
              <a:latin typeface="Calibri"/>
              <a:cs typeface="Calibri"/>
            </a:endParaRPr>
          </a:p>
          <a:p>
            <a:pPr marL="478790" lvl="1" indent="-163195">
              <a:lnSpc>
                <a:spcPct val="100000"/>
              </a:lnSpc>
              <a:spcBef>
                <a:spcPts val="130"/>
              </a:spcBef>
              <a:buChar char="•"/>
              <a:tabLst>
                <a:tab pos="478790" algn="l"/>
              </a:tabLst>
            </a:pPr>
            <a:r>
              <a:rPr sz="2000" spc="-35" dirty="0">
                <a:latin typeface="Calibri"/>
                <a:cs typeface="Calibri"/>
              </a:rPr>
              <a:t>Collaborative</a:t>
            </a:r>
            <a:r>
              <a:rPr sz="2000" spc="35" dirty="0">
                <a:latin typeface="Calibri"/>
                <a:cs typeface="Calibri"/>
              </a:rPr>
              <a:t> </a:t>
            </a:r>
            <a:r>
              <a:rPr sz="2000" spc="-20" dirty="0">
                <a:latin typeface="Calibri"/>
                <a:cs typeface="Calibri"/>
              </a:rPr>
              <a:t>requirements</a:t>
            </a:r>
            <a:r>
              <a:rPr sz="2000" spc="20" dirty="0">
                <a:latin typeface="Calibri"/>
                <a:cs typeface="Calibri"/>
              </a:rPr>
              <a:t> </a:t>
            </a:r>
            <a:r>
              <a:rPr sz="2000" spc="-10" dirty="0">
                <a:latin typeface="Calibri"/>
                <a:cs typeface="Calibri"/>
              </a:rPr>
              <a:t>gathering</a:t>
            </a:r>
            <a:endParaRPr sz="2000">
              <a:latin typeface="Calibri"/>
              <a:cs typeface="Calibri"/>
            </a:endParaRPr>
          </a:p>
          <a:p>
            <a:pPr marL="478790" lvl="1" indent="-163195">
              <a:lnSpc>
                <a:spcPct val="100000"/>
              </a:lnSpc>
              <a:buChar char="•"/>
              <a:tabLst>
                <a:tab pos="478790" algn="l"/>
              </a:tabLst>
            </a:pPr>
            <a:r>
              <a:rPr sz="2000" spc="-30" dirty="0">
                <a:latin typeface="Calibri"/>
                <a:cs typeface="Calibri"/>
              </a:rPr>
              <a:t>Quality</a:t>
            </a:r>
            <a:r>
              <a:rPr sz="2000" spc="-10" dirty="0">
                <a:latin typeface="Calibri"/>
                <a:cs typeface="Calibri"/>
              </a:rPr>
              <a:t> function</a:t>
            </a:r>
            <a:r>
              <a:rPr sz="2000" spc="-90" dirty="0">
                <a:latin typeface="Calibri"/>
                <a:cs typeface="Calibri"/>
              </a:rPr>
              <a:t> </a:t>
            </a:r>
            <a:r>
              <a:rPr sz="2000" spc="-10" dirty="0">
                <a:latin typeface="Calibri"/>
                <a:cs typeface="Calibri"/>
              </a:rPr>
              <a:t>deployment</a:t>
            </a:r>
            <a:endParaRPr sz="2000">
              <a:latin typeface="Calibri"/>
              <a:cs typeface="Calibri"/>
            </a:endParaRPr>
          </a:p>
        </p:txBody>
      </p:sp>
      <p:pic>
        <p:nvPicPr>
          <p:cNvPr id="8" name="Picture 2" descr="Profile for SRM Institute of Science and Technology">
            <a:extLst>
              <a:ext uri="{FF2B5EF4-FFF2-40B4-BE49-F238E27FC236}">
                <a16:creationId xmlns:a16="http://schemas.microsoft.com/office/drawing/2014/main" id="{197CE7E5-F4B7-1C75-8AD7-8FB91252D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7390" y="245533"/>
            <a:ext cx="5916295" cy="869950"/>
          </a:xfrm>
          <a:prstGeom prst="rect">
            <a:avLst/>
          </a:prstGeom>
        </p:spPr>
        <p:txBody>
          <a:bodyPr vert="horz" wrap="square" lIns="0" tIns="62865" rIns="0" bIns="0" rtlCol="0">
            <a:spAutoFit/>
          </a:bodyPr>
          <a:lstStyle/>
          <a:p>
            <a:pPr marL="12700" marR="5080">
              <a:lnSpc>
                <a:spcPts val="3150"/>
              </a:lnSpc>
              <a:spcBef>
                <a:spcPts val="495"/>
              </a:spcBef>
              <a:tabLst>
                <a:tab pos="3113405" algn="l"/>
              </a:tabLst>
            </a:pPr>
            <a:r>
              <a:rPr sz="2900" spc="355" dirty="0">
                <a:latin typeface="Calibri"/>
                <a:cs typeface="Calibri"/>
              </a:rPr>
              <a:t>Basic</a:t>
            </a:r>
            <a:r>
              <a:rPr sz="2900" spc="135" dirty="0">
                <a:latin typeface="Calibri"/>
                <a:cs typeface="Calibri"/>
              </a:rPr>
              <a:t> </a:t>
            </a:r>
            <a:r>
              <a:rPr sz="2900" spc="204" dirty="0">
                <a:latin typeface="Calibri"/>
                <a:cs typeface="Calibri"/>
              </a:rPr>
              <a:t>Guidelines</a:t>
            </a:r>
            <a:r>
              <a:rPr sz="2900" dirty="0">
                <a:latin typeface="Calibri"/>
                <a:cs typeface="Calibri"/>
              </a:rPr>
              <a:t>	</a:t>
            </a:r>
            <a:r>
              <a:rPr sz="2900" spc="210" dirty="0">
                <a:latin typeface="Calibri"/>
                <a:cs typeface="Calibri"/>
              </a:rPr>
              <a:t>of</a:t>
            </a:r>
            <a:r>
              <a:rPr sz="2900" spc="70" dirty="0">
                <a:latin typeface="Calibri"/>
                <a:cs typeface="Calibri"/>
              </a:rPr>
              <a:t> </a:t>
            </a:r>
            <a:r>
              <a:rPr sz="2900" spc="185" dirty="0">
                <a:latin typeface="Calibri"/>
                <a:cs typeface="Calibri"/>
              </a:rPr>
              <a:t>Collaborative </a:t>
            </a:r>
            <a:r>
              <a:rPr sz="2900" spc="215" dirty="0">
                <a:latin typeface="Calibri"/>
                <a:cs typeface="Calibri"/>
              </a:rPr>
              <a:t>Requirements</a:t>
            </a:r>
            <a:r>
              <a:rPr sz="2900" spc="335" dirty="0">
                <a:latin typeface="Calibri"/>
                <a:cs typeface="Calibri"/>
              </a:rPr>
              <a:t> </a:t>
            </a:r>
            <a:r>
              <a:rPr sz="2900" spc="180" dirty="0">
                <a:latin typeface="Calibri"/>
                <a:cs typeface="Calibri"/>
              </a:rPr>
              <a:t>Gathering</a:t>
            </a:r>
            <a:endParaRPr sz="2900">
              <a:latin typeface="Calibri"/>
              <a:cs typeface="Calibri"/>
            </a:endParaRPr>
          </a:p>
        </p:txBody>
      </p:sp>
      <p:sp>
        <p:nvSpPr>
          <p:cNvPr id="3" name="object 3"/>
          <p:cNvSpPr txBox="1"/>
          <p:nvPr/>
        </p:nvSpPr>
        <p:spPr>
          <a:xfrm>
            <a:off x="657875" y="1392413"/>
            <a:ext cx="6637020" cy="3623945"/>
          </a:xfrm>
          <a:prstGeom prst="rect">
            <a:avLst/>
          </a:prstGeom>
        </p:spPr>
        <p:txBody>
          <a:bodyPr vert="horz" wrap="square" lIns="0" tIns="17145" rIns="0" bIns="0" rtlCol="0">
            <a:spAutoFit/>
          </a:bodyPr>
          <a:lstStyle/>
          <a:p>
            <a:pPr marL="180975" indent="-167640">
              <a:lnSpc>
                <a:spcPts val="2495"/>
              </a:lnSpc>
              <a:spcBef>
                <a:spcPts val="135"/>
              </a:spcBef>
              <a:buChar char="•"/>
              <a:tabLst>
                <a:tab pos="180975" algn="l"/>
              </a:tabLst>
            </a:pPr>
            <a:r>
              <a:rPr sz="2200" spc="-45" dirty="0">
                <a:latin typeface="Calibri"/>
                <a:cs typeface="Calibri"/>
              </a:rPr>
              <a:t>Meetings</a:t>
            </a:r>
            <a:r>
              <a:rPr sz="2200" spc="-55" dirty="0">
                <a:latin typeface="Calibri"/>
                <a:cs typeface="Calibri"/>
              </a:rPr>
              <a:t> </a:t>
            </a:r>
            <a:r>
              <a:rPr sz="2200" spc="-10" dirty="0">
                <a:latin typeface="Calibri"/>
                <a:cs typeface="Calibri"/>
              </a:rPr>
              <a:t>are</a:t>
            </a:r>
            <a:r>
              <a:rPr sz="2200" spc="-70" dirty="0">
                <a:latin typeface="Calibri"/>
                <a:cs typeface="Calibri"/>
              </a:rPr>
              <a:t> </a:t>
            </a:r>
            <a:r>
              <a:rPr sz="2200" spc="-50" dirty="0">
                <a:latin typeface="Calibri"/>
                <a:cs typeface="Calibri"/>
              </a:rPr>
              <a:t>conducted</a:t>
            </a:r>
            <a:r>
              <a:rPr sz="2200" dirty="0">
                <a:latin typeface="Calibri"/>
                <a:cs typeface="Calibri"/>
              </a:rPr>
              <a:t> </a:t>
            </a:r>
            <a:r>
              <a:rPr sz="2200" spc="-40" dirty="0">
                <a:latin typeface="Calibri"/>
                <a:cs typeface="Calibri"/>
              </a:rPr>
              <a:t>and</a:t>
            </a:r>
            <a:r>
              <a:rPr sz="2200" spc="-85" dirty="0">
                <a:latin typeface="Calibri"/>
                <a:cs typeface="Calibri"/>
              </a:rPr>
              <a:t> </a:t>
            </a:r>
            <a:r>
              <a:rPr sz="2200" spc="-35" dirty="0">
                <a:latin typeface="Calibri"/>
                <a:cs typeface="Calibri"/>
              </a:rPr>
              <a:t>attended</a:t>
            </a:r>
            <a:r>
              <a:rPr sz="2200" spc="-25" dirty="0">
                <a:latin typeface="Calibri"/>
                <a:cs typeface="Calibri"/>
              </a:rPr>
              <a:t> </a:t>
            </a:r>
            <a:r>
              <a:rPr sz="2200" spc="-50" dirty="0">
                <a:latin typeface="Calibri"/>
                <a:cs typeface="Calibri"/>
              </a:rPr>
              <a:t>by</a:t>
            </a:r>
            <a:r>
              <a:rPr sz="2200" spc="-75" dirty="0">
                <a:latin typeface="Calibri"/>
                <a:cs typeface="Calibri"/>
              </a:rPr>
              <a:t> </a:t>
            </a:r>
            <a:r>
              <a:rPr sz="2200" spc="-20" dirty="0">
                <a:latin typeface="Calibri"/>
                <a:cs typeface="Calibri"/>
              </a:rPr>
              <a:t>both</a:t>
            </a:r>
            <a:r>
              <a:rPr sz="2200" spc="-65" dirty="0">
                <a:latin typeface="Calibri"/>
                <a:cs typeface="Calibri"/>
              </a:rPr>
              <a:t> </a:t>
            </a:r>
            <a:r>
              <a:rPr sz="2200" spc="-10" dirty="0">
                <a:latin typeface="Calibri"/>
                <a:cs typeface="Calibri"/>
              </a:rPr>
              <a:t>software</a:t>
            </a:r>
            <a:endParaRPr sz="2200">
              <a:latin typeface="Calibri"/>
              <a:cs typeface="Calibri"/>
            </a:endParaRPr>
          </a:p>
          <a:p>
            <a:pPr marL="180340">
              <a:lnSpc>
                <a:spcPts val="2435"/>
              </a:lnSpc>
            </a:pPr>
            <a:r>
              <a:rPr sz="2150" dirty="0">
                <a:latin typeface="Calibri"/>
                <a:cs typeface="Calibri"/>
              </a:rPr>
              <a:t>engineers,</a:t>
            </a:r>
            <a:r>
              <a:rPr sz="2150" spc="-100" dirty="0">
                <a:latin typeface="Calibri"/>
                <a:cs typeface="Calibri"/>
              </a:rPr>
              <a:t> </a:t>
            </a:r>
            <a:r>
              <a:rPr sz="2150" dirty="0">
                <a:latin typeface="Calibri"/>
                <a:cs typeface="Calibri"/>
              </a:rPr>
              <a:t>customers,</a:t>
            </a:r>
            <a:r>
              <a:rPr sz="2150" spc="85" dirty="0">
                <a:latin typeface="Calibri"/>
                <a:cs typeface="Calibri"/>
              </a:rPr>
              <a:t> </a:t>
            </a:r>
            <a:r>
              <a:rPr sz="2150" dirty="0">
                <a:latin typeface="Calibri"/>
                <a:cs typeface="Calibri"/>
              </a:rPr>
              <a:t>and</a:t>
            </a:r>
            <a:r>
              <a:rPr sz="2150" spc="-110" dirty="0">
                <a:latin typeface="Calibri"/>
                <a:cs typeface="Calibri"/>
              </a:rPr>
              <a:t> </a:t>
            </a:r>
            <a:r>
              <a:rPr sz="2150" dirty="0">
                <a:latin typeface="Calibri"/>
                <a:cs typeface="Calibri"/>
              </a:rPr>
              <a:t>other</a:t>
            </a:r>
            <a:r>
              <a:rPr sz="2150" spc="-35" dirty="0">
                <a:latin typeface="Calibri"/>
                <a:cs typeface="Calibri"/>
              </a:rPr>
              <a:t> </a:t>
            </a:r>
            <a:r>
              <a:rPr sz="2150" spc="-25" dirty="0">
                <a:latin typeface="Calibri"/>
                <a:cs typeface="Calibri"/>
              </a:rPr>
              <a:t>interested</a:t>
            </a:r>
            <a:r>
              <a:rPr sz="2150" dirty="0">
                <a:latin typeface="Calibri"/>
                <a:cs typeface="Calibri"/>
              </a:rPr>
              <a:t> </a:t>
            </a:r>
            <a:r>
              <a:rPr sz="2150" spc="-10" dirty="0">
                <a:latin typeface="Calibri"/>
                <a:cs typeface="Calibri"/>
              </a:rPr>
              <a:t>stakeholders</a:t>
            </a:r>
            <a:endParaRPr sz="2150">
              <a:latin typeface="Calibri"/>
              <a:cs typeface="Calibri"/>
            </a:endParaRPr>
          </a:p>
          <a:p>
            <a:pPr marL="181610" indent="-167005">
              <a:lnSpc>
                <a:spcPct val="100000"/>
              </a:lnSpc>
              <a:spcBef>
                <a:spcPts val="420"/>
              </a:spcBef>
              <a:buChar char="•"/>
              <a:tabLst>
                <a:tab pos="181610" algn="l"/>
              </a:tabLst>
            </a:pPr>
            <a:r>
              <a:rPr sz="2100" dirty="0">
                <a:latin typeface="Calibri"/>
                <a:cs typeface="Calibri"/>
              </a:rPr>
              <a:t>Rules</a:t>
            </a:r>
            <a:r>
              <a:rPr sz="2100" spc="-30" dirty="0">
                <a:latin typeface="Calibri"/>
                <a:cs typeface="Calibri"/>
              </a:rPr>
              <a:t> </a:t>
            </a:r>
            <a:r>
              <a:rPr sz="2100" dirty="0">
                <a:latin typeface="Calibri"/>
                <a:cs typeface="Calibri"/>
              </a:rPr>
              <a:t>for</a:t>
            </a:r>
            <a:r>
              <a:rPr sz="2100" spc="-25" dirty="0">
                <a:latin typeface="Calibri"/>
                <a:cs typeface="Calibri"/>
              </a:rPr>
              <a:t> </a:t>
            </a:r>
            <a:r>
              <a:rPr sz="2100" dirty="0">
                <a:latin typeface="Calibri"/>
                <a:cs typeface="Calibri"/>
              </a:rPr>
              <a:t>preparation</a:t>
            </a:r>
            <a:r>
              <a:rPr sz="2100" spc="150" dirty="0">
                <a:latin typeface="Calibri"/>
                <a:cs typeface="Calibri"/>
              </a:rPr>
              <a:t> </a:t>
            </a:r>
            <a:r>
              <a:rPr sz="2100" dirty="0">
                <a:latin typeface="Calibri"/>
                <a:cs typeface="Calibri"/>
              </a:rPr>
              <a:t>and</a:t>
            </a:r>
            <a:r>
              <a:rPr sz="2100" spc="-100" dirty="0">
                <a:latin typeface="Calibri"/>
                <a:cs typeface="Calibri"/>
              </a:rPr>
              <a:t> </a:t>
            </a:r>
            <a:r>
              <a:rPr sz="2100" dirty="0">
                <a:latin typeface="Calibri"/>
                <a:cs typeface="Calibri"/>
              </a:rPr>
              <a:t>participation</a:t>
            </a:r>
            <a:r>
              <a:rPr sz="2100" spc="80" dirty="0">
                <a:latin typeface="Calibri"/>
                <a:cs typeface="Calibri"/>
              </a:rPr>
              <a:t> </a:t>
            </a:r>
            <a:r>
              <a:rPr sz="2100" dirty="0">
                <a:latin typeface="Calibri"/>
                <a:cs typeface="Calibri"/>
              </a:rPr>
              <a:t>are</a:t>
            </a:r>
            <a:r>
              <a:rPr sz="2100" spc="-25" dirty="0">
                <a:latin typeface="Calibri"/>
                <a:cs typeface="Calibri"/>
              </a:rPr>
              <a:t> </a:t>
            </a:r>
            <a:r>
              <a:rPr sz="2100" spc="-10" dirty="0">
                <a:latin typeface="Calibri"/>
                <a:cs typeface="Calibri"/>
              </a:rPr>
              <a:t>established</a:t>
            </a:r>
            <a:endParaRPr sz="2100">
              <a:latin typeface="Calibri"/>
              <a:cs typeface="Calibri"/>
            </a:endParaRPr>
          </a:p>
          <a:p>
            <a:pPr marL="186690" marR="199390" indent="-174625">
              <a:lnSpc>
                <a:spcPct val="84100"/>
              </a:lnSpc>
              <a:spcBef>
                <a:spcPts val="720"/>
              </a:spcBef>
              <a:buChar char="•"/>
              <a:tabLst>
                <a:tab pos="186690" algn="l"/>
              </a:tabLst>
            </a:pPr>
            <a:r>
              <a:rPr sz="2300" spc="-160" dirty="0">
                <a:latin typeface="Calibri"/>
                <a:cs typeface="Calibri"/>
              </a:rPr>
              <a:t>An</a:t>
            </a:r>
            <a:r>
              <a:rPr sz="2300" spc="-30" dirty="0">
                <a:latin typeface="Calibri"/>
                <a:cs typeface="Calibri"/>
              </a:rPr>
              <a:t> </a:t>
            </a:r>
            <a:r>
              <a:rPr sz="2300" spc="-85" dirty="0">
                <a:latin typeface="Calibri"/>
                <a:cs typeface="Calibri"/>
              </a:rPr>
              <a:t>agenda</a:t>
            </a:r>
            <a:r>
              <a:rPr sz="2300" spc="-50" dirty="0">
                <a:latin typeface="Calibri"/>
                <a:cs typeface="Calibri"/>
              </a:rPr>
              <a:t> </a:t>
            </a:r>
            <a:r>
              <a:rPr sz="2300" spc="-75" dirty="0">
                <a:solidFill>
                  <a:srgbClr val="161616"/>
                </a:solidFill>
                <a:latin typeface="Calibri"/>
                <a:cs typeface="Calibri"/>
              </a:rPr>
              <a:t>is</a:t>
            </a:r>
            <a:r>
              <a:rPr sz="2300" spc="-65" dirty="0">
                <a:solidFill>
                  <a:srgbClr val="161616"/>
                </a:solidFill>
                <a:latin typeface="Calibri"/>
                <a:cs typeface="Calibri"/>
              </a:rPr>
              <a:t> </a:t>
            </a:r>
            <a:r>
              <a:rPr sz="2300" spc="-100" dirty="0">
                <a:latin typeface="Calibri"/>
                <a:cs typeface="Calibri"/>
              </a:rPr>
              <a:t>suggested</a:t>
            </a:r>
            <a:r>
              <a:rPr sz="2300" spc="35" dirty="0">
                <a:latin typeface="Calibri"/>
                <a:cs typeface="Calibri"/>
              </a:rPr>
              <a:t> </a:t>
            </a:r>
            <a:r>
              <a:rPr sz="2300" spc="-95" dirty="0">
                <a:solidFill>
                  <a:srgbClr val="131313"/>
                </a:solidFill>
                <a:latin typeface="Calibri"/>
                <a:cs typeface="Calibri"/>
              </a:rPr>
              <a:t>that</a:t>
            </a:r>
            <a:r>
              <a:rPr sz="2300" spc="-35" dirty="0">
                <a:solidFill>
                  <a:srgbClr val="131313"/>
                </a:solidFill>
                <a:latin typeface="Calibri"/>
                <a:cs typeface="Calibri"/>
              </a:rPr>
              <a:t> </a:t>
            </a:r>
            <a:r>
              <a:rPr sz="2300" spc="-20" dirty="0">
                <a:latin typeface="Calibri"/>
                <a:cs typeface="Calibri"/>
              </a:rPr>
              <a:t>is</a:t>
            </a:r>
            <a:r>
              <a:rPr sz="2300" spc="-80" dirty="0">
                <a:latin typeface="Calibri"/>
                <a:cs typeface="Calibri"/>
              </a:rPr>
              <a:t> formal</a:t>
            </a:r>
            <a:r>
              <a:rPr sz="2300" spc="-50" dirty="0">
                <a:latin typeface="Calibri"/>
                <a:cs typeface="Calibri"/>
              </a:rPr>
              <a:t> </a:t>
            </a:r>
            <a:r>
              <a:rPr sz="2300" spc="-110" dirty="0">
                <a:latin typeface="Calibri"/>
                <a:cs typeface="Calibri"/>
              </a:rPr>
              <a:t>enough</a:t>
            </a:r>
            <a:r>
              <a:rPr sz="2300" spc="-10" dirty="0">
                <a:latin typeface="Calibri"/>
                <a:cs typeface="Calibri"/>
              </a:rPr>
              <a:t> </a:t>
            </a:r>
            <a:r>
              <a:rPr sz="2300" spc="-50" dirty="0">
                <a:solidFill>
                  <a:srgbClr val="111111"/>
                </a:solidFill>
                <a:latin typeface="Calibri"/>
                <a:cs typeface="Calibri"/>
              </a:rPr>
              <a:t>to</a:t>
            </a:r>
            <a:r>
              <a:rPr sz="2300" spc="-45" dirty="0">
                <a:solidFill>
                  <a:srgbClr val="111111"/>
                </a:solidFill>
                <a:latin typeface="Calibri"/>
                <a:cs typeface="Calibri"/>
              </a:rPr>
              <a:t> </a:t>
            </a:r>
            <a:r>
              <a:rPr sz="2300" spc="-100" dirty="0">
                <a:latin typeface="Calibri"/>
                <a:cs typeface="Calibri"/>
              </a:rPr>
              <a:t>cover</a:t>
            </a:r>
            <a:r>
              <a:rPr sz="2300" spc="-10" dirty="0">
                <a:latin typeface="Calibri"/>
                <a:cs typeface="Calibri"/>
              </a:rPr>
              <a:t> </a:t>
            </a:r>
            <a:r>
              <a:rPr sz="2300" spc="-25" dirty="0">
                <a:latin typeface="Calibri"/>
                <a:cs typeface="Calibri"/>
              </a:rPr>
              <a:t>all </a:t>
            </a:r>
            <a:r>
              <a:rPr sz="2250" spc="-70" dirty="0">
                <a:latin typeface="Calibri"/>
                <a:cs typeface="Calibri"/>
              </a:rPr>
              <a:t>important</a:t>
            </a:r>
            <a:r>
              <a:rPr sz="2250" spc="-50" dirty="0">
                <a:latin typeface="Calibri"/>
                <a:cs typeface="Calibri"/>
              </a:rPr>
              <a:t> </a:t>
            </a:r>
            <a:r>
              <a:rPr sz="2250" spc="-75" dirty="0">
                <a:latin typeface="Calibri"/>
                <a:cs typeface="Calibri"/>
              </a:rPr>
              <a:t>points</a:t>
            </a:r>
            <a:r>
              <a:rPr sz="2250" spc="-35" dirty="0">
                <a:latin typeface="Calibri"/>
                <a:cs typeface="Calibri"/>
              </a:rPr>
              <a:t> </a:t>
            </a:r>
            <a:r>
              <a:rPr sz="2250" spc="-50" dirty="0">
                <a:latin typeface="Calibri"/>
                <a:cs typeface="Calibri"/>
              </a:rPr>
              <a:t>but</a:t>
            </a:r>
            <a:r>
              <a:rPr sz="2250" spc="-80" dirty="0">
                <a:latin typeface="Calibri"/>
                <a:cs typeface="Calibri"/>
              </a:rPr>
              <a:t> </a:t>
            </a:r>
            <a:r>
              <a:rPr sz="2250" spc="-55" dirty="0">
                <a:latin typeface="Calibri"/>
                <a:cs typeface="Calibri"/>
              </a:rPr>
              <a:t>informal</a:t>
            </a:r>
            <a:r>
              <a:rPr sz="2250" spc="-5" dirty="0">
                <a:latin typeface="Calibri"/>
                <a:cs typeface="Calibri"/>
              </a:rPr>
              <a:t> </a:t>
            </a:r>
            <a:r>
              <a:rPr sz="2250" spc="-80" dirty="0">
                <a:latin typeface="Calibri"/>
                <a:cs typeface="Calibri"/>
              </a:rPr>
              <a:t>enough</a:t>
            </a:r>
            <a:r>
              <a:rPr sz="2250" spc="-40" dirty="0">
                <a:latin typeface="Calibri"/>
                <a:cs typeface="Calibri"/>
              </a:rPr>
              <a:t> </a:t>
            </a:r>
            <a:r>
              <a:rPr sz="2250" spc="-10" dirty="0">
                <a:solidFill>
                  <a:srgbClr val="111111"/>
                </a:solidFill>
                <a:latin typeface="Calibri"/>
                <a:cs typeface="Calibri"/>
              </a:rPr>
              <a:t>to</a:t>
            </a:r>
            <a:r>
              <a:rPr sz="2250" spc="-70" dirty="0">
                <a:solidFill>
                  <a:srgbClr val="111111"/>
                </a:solidFill>
                <a:latin typeface="Calibri"/>
                <a:cs typeface="Calibri"/>
              </a:rPr>
              <a:t> </a:t>
            </a:r>
            <a:r>
              <a:rPr sz="2250" spc="-75" dirty="0">
                <a:latin typeface="Calibri"/>
                <a:cs typeface="Calibri"/>
              </a:rPr>
              <a:t>encourage</a:t>
            </a:r>
            <a:r>
              <a:rPr sz="2250" spc="15" dirty="0">
                <a:latin typeface="Calibri"/>
                <a:cs typeface="Calibri"/>
              </a:rPr>
              <a:t> </a:t>
            </a:r>
            <a:r>
              <a:rPr sz="2250" spc="-25" dirty="0">
                <a:latin typeface="Calibri"/>
                <a:cs typeface="Calibri"/>
              </a:rPr>
              <a:t>the </a:t>
            </a:r>
            <a:r>
              <a:rPr sz="2250" spc="-75" dirty="0">
                <a:latin typeface="Calibri"/>
                <a:cs typeface="Calibri"/>
              </a:rPr>
              <a:t>free</a:t>
            </a:r>
            <a:r>
              <a:rPr sz="2250" spc="-65" dirty="0">
                <a:latin typeface="Calibri"/>
                <a:cs typeface="Calibri"/>
              </a:rPr>
              <a:t> </a:t>
            </a:r>
            <a:r>
              <a:rPr sz="2250" spc="-35" dirty="0">
                <a:latin typeface="Calibri"/>
                <a:cs typeface="Calibri"/>
              </a:rPr>
              <a:t>flow</a:t>
            </a:r>
            <a:r>
              <a:rPr sz="2250" spc="-45" dirty="0">
                <a:latin typeface="Calibri"/>
                <a:cs typeface="Calibri"/>
              </a:rPr>
              <a:t> </a:t>
            </a:r>
            <a:r>
              <a:rPr sz="2250" spc="-120" dirty="0">
                <a:latin typeface="Calibri"/>
                <a:cs typeface="Calibri"/>
              </a:rPr>
              <a:t>of</a:t>
            </a:r>
            <a:r>
              <a:rPr sz="2250" spc="-5" dirty="0">
                <a:latin typeface="Calibri"/>
                <a:cs typeface="Calibri"/>
              </a:rPr>
              <a:t> </a:t>
            </a:r>
            <a:r>
              <a:rPr sz="2250" spc="-10" dirty="0">
                <a:latin typeface="Calibri"/>
                <a:cs typeface="Calibri"/>
              </a:rPr>
              <a:t>ideas</a:t>
            </a:r>
            <a:endParaRPr sz="2250">
              <a:latin typeface="Calibri"/>
              <a:cs typeface="Calibri"/>
            </a:endParaRPr>
          </a:p>
          <a:p>
            <a:pPr marL="175895" marR="182880" indent="-161290">
              <a:lnSpc>
                <a:spcPts val="2300"/>
              </a:lnSpc>
              <a:spcBef>
                <a:spcPts val="660"/>
              </a:spcBef>
              <a:buChar char="•"/>
              <a:tabLst>
                <a:tab pos="175895" algn="l"/>
                <a:tab pos="187325" algn="l"/>
              </a:tabLst>
            </a:pPr>
            <a:r>
              <a:rPr sz="2100" dirty="0">
                <a:latin typeface="Calibri"/>
                <a:cs typeface="Calibri"/>
              </a:rPr>
              <a:t>	A</a:t>
            </a:r>
            <a:r>
              <a:rPr sz="2100" spc="-40" dirty="0">
                <a:latin typeface="Calibri"/>
                <a:cs typeface="Calibri"/>
              </a:rPr>
              <a:t> </a:t>
            </a:r>
            <a:r>
              <a:rPr sz="2100" spc="-10" dirty="0">
                <a:latin typeface="Calibri"/>
                <a:cs typeface="Calibri"/>
              </a:rPr>
              <a:t>"facilitator"</a:t>
            </a:r>
            <a:r>
              <a:rPr sz="2100" spc="105" dirty="0">
                <a:latin typeface="Calibri"/>
                <a:cs typeface="Calibri"/>
              </a:rPr>
              <a:t> </a:t>
            </a:r>
            <a:r>
              <a:rPr sz="2100" dirty="0">
                <a:latin typeface="Calibri"/>
                <a:cs typeface="Calibri"/>
              </a:rPr>
              <a:t>(customer,</a:t>
            </a:r>
            <a:r>
              <a:rPr sz="2100" spc="20" dirty="0">
                <a:latin typeface="Calibri"/>
                <a:cs typeface="Calibri"/>
              </a:rPr>
              <a:t> </a:t>
            </a:r>
            <a:r>
              <a:rPr sz="2100" dirty="0">
                <a:latin typeface="Calibri"/>
                <a:cs typeface="Calibri"/>
              </a:rPr>
              <a:t>developer,</a:t>
            </a:r>
            <a:r>
              <a:rPr sz="2100" spc="75" dirty="0">
                <a:latin typeface="Calibri"/>
                <a:cs typeface="Calibri"/>
              </a:rPr>
              <a:t> </a:t>
            </a:r>
            <a:r>
              <a:rPr sz="2100" dirty="0">
                <a:latin typeface="Calibri"/>
                <a:cs typeface="Calibri"/>
              </a:rPr>
              <a:t>or</a:t>
            </a:r>
            <a:r>
              <a:rPr sz="2100" spc="-80" dirty="0">
                <a:latin typeface="Calibri"/>
                <a:cs typeface="Calibri"/>
              </a:rPr>
              <a:t> </a:t>
            </a:r>
            <a:r>
              <a:rPr sz="2100" dirty="0">
                <a:latin typeface="Calibri"/>
                <a:cs typeface="Calibri"/>
              </a:rPr>
              <a:t>outsider)</a:t>
            </a:r>
            <a:r>
              <a:rPr sz="2100" spc="-5" dirty="0">
                <a:latin typeface="Calibri"/>
                <a:cs typeface="Calibri"/>
              </a:rPr>
              <a:t> </a:t>
            </a:r>
            <a:r>
              <a:rPr sz="2100" spc="-10" dirty="0">
                <a:latin typeface="Calibri"/>
                <a:cs typeface="Calibri"/>
              </a:rPr>
              <a:t>controls </a:t>
            </a:r>
            <a:r>
              <a:rPr sz="2100" dirty="0">
                <a:latin typeface="Calibri"/>
                <a:cs typeface="Calibri"/>
              </a:rPr>
              <a:t>the</a:t>
            </a:r>
            <a:r>
              <a:rPr sz="2100" spc="15" dirty="0">
                <a:latin typeface="Calibri"/>
                <a:cs typeface="Calibri"/>
              </a:rPr>
              <a:t> </a:t>
            </a:r>
            <a:r>
              <a:rPr sz="2100" spc="-10" dirty="0">
                <a:latin typeface="Calibri"/>
                <a:cs typeface="Calibri"/>
              </a:rPr>
              <a:t>meeting</a:t>
            </a:r>
            <a:endParaRPr sz="2100">
              <a:latin typeface="Calibri"/>
              <a:cs typeface="Calibri"/>
            </a:endParaRPr>
          </a:p>
          <a:p>
            <a:pPr marL="175260" marR="5080" indent="-162560">
              <a:lnSpc>
                <a:spcPts val="2300"/>
              </a:lnSpc>
              <a:spcBef>
                <a:spcPts val="700"/>
              </a:spcBef>
              <a:buChar char="•"/>
              <a:tabLst>
                <a:tab pos="175260" algn="l"/>
                <a:tab pos="177800" algn="l"/>
              </a:tabLst>
            </a:pPr>
            <a:r>
              <a:rPr sz="2250" dirty="0">
                <a:latin typeface="Calibri"/>
                <a:cs typeface="Calibri"/>
              </a:rPr>
              <a:t>	</a:t>
            </a:r>
            <a:r>
              <a:rPr sz="2250" spc="-30" dirty="0">
                <a:latin typeface="Calibri"/>
                <a:cs typeface="Calibri"/>
              </a:rPr>
              <a:t>The</a:t>
            </a:r>
            <a:r>
              <a:rPr sz="2250" spc="-110" dirty="0">
                <a:latin typeface="Calibri"/>
                <a:cs typeface="Calibri"/>
              </a:rPr>
              <a:t> </a:t>
            </a:r>
            <a:r>
              <a:rPr sz="2250" spc="-90" dirty="0">
                <a:latin typeface="Calibri"/>
                <a:cs typeface="Calibri"/>
              </a:rPr>
              <a:t>goal </a:t>
            </a:r>
            <a:r>
              <a:rPr sz="2250" dirty="0">
                <a:latin typeface="Calibri"/>
                <a:cs typeface="Calibri"/>
              </a:rPr>
              <a:t>Is</a:t>
            </a:r>
            <a:r>
              <a:rPr sz="2250" spc="-130" dirty="0">
                <a:latin typeface="Calibri"/>
                <a:cs typeface="Calibri"/>
              </a:rPr>
              <a:t> </a:t>
            </a:r>
            <a:r>
              <a:rPr sz="2250" spc="-35" dirty="0">
                <a:latin typeface="Calibri"/>
                <a:cs typeface="Calibri"/>
              </a:rPr>
              <a:t>to</a:t>
            </a:r>
            <a:r>
              <a:rPr sz="2250" spc="-114" dirty="0">
                <a:latin typeface="Calibri"/>
                <a:cs typeface="Calibri"/>
              </a:rPr>
              <a:t> </a:t>
            </a:r>
            <a:r>
              <a:rPr sz="2250" spc="-45" dirty="0">
                <a:latin typeface="Calibri"/>
                <a:cs typeface="Calibri"/>
              </a:rPr>
              <a:t>identify</a:t>
            </a:r>
            <a:r>
              <a:rPr sz="2250" spc="-40" dirty="0">
                <a:latin typeface="Calibri"/>
                <a:cs typeface="Calibri"/>
              </a:rPr>
              <a:t> </a:t>
            </a:r>
            <a:r>
              <a:rPr sz="2250" spc="-50" dirty="0">
                <a:latin typeface="Calibri"/>
                <a:cs typeface="Calibri"/>
              </a:rPr>
              <a:t>the</a:t>
            </a:r>
            <a:r>
              <a:rPr sz="2250" spc="-80" dirty="0">
                <a:latin typeface="Calibri"/>
                <a:cs typeface="Calibri"/>
              </a:rPr>
              <a:t> </a:t>
            </a:r>
            <a:r>
              <a:rPr sz="2250" spc="-40" dirty="0">
                <a:latin typeface="Calibri"/>
                <a:cs typeface="Calibri"/>
              </a:rPr>
              <a:t>problem,</a:t>
            </a:r>
            <a:r>
              <a:rPr sz="2250" spc="-30" dirty="0">
                <a:latin typeface="Calibri"/>
                <a:cs typeface="Calibri"/>
              </a:rPr>
              <a:t> </a:t>
            </a:r>
            <a:r>
              <a:rPr sz="2250" spc="-75" dirty="0">
                <a:latin typeface="Calibri"/>
                <a:cs typeface="Calibri"/>
              </a:rPr>
              <a:t>propose</a:t>
            </a:r>
            <a:r>
              <a:rPr sz="2250" spc="-45" dirty="0">
                <a:latin typeface="Calibri"/>
                <a:cs typeface="Calibri"/>
              </a:rPr>
              <a:t> </a:t>
            </a:r>
            <a:r>
              <a:rPr sz="2250" spc="-40" dirty="0">
                <a:latin typeface="Calibri"/>
                <a:cs typeface="Calibri"/>
              </a:rPr>
              <a:t>elements</a:t>
            </a:r>
            <a:r>
              <a:rPr sz="2250" spc="10" dirty="0">
                <a:latin typeface="Calibri"/>
                <a:cs typeface="Calibri"/>
              </a:rPr>
              <a:t> </a:t>
            </a:r>
            <a:r>
              <a:rPr sz="2250" spc="-25" dirty="0">
                <a:latin typeface="Calibri"/>
                <a:cs typeface="Calibri"/>
              </a:rPr>
              <a:t>of </a:t>
            </a:r>
            <a:r>
              <a:rPr sz="2250" spc="-10" dirty="0">
                <a:latin typeface="Calibri"/>
                <a:cs typeface="Calibri"/>
              </a:rPr>
              <a:t>the</a:t>
            </a:r>
            <a:r>
              <a:rPr sz="2250" spc="-120" dirty="0">
                <a:latin typeface="Calibri"/>
                <a:cs typeface="Calibri"/>
              </a:rPr>
              <a:t> </a:t>
            </a:r>
            <a:r>
              <a:rPr sz="2250" spc="-30" dirty="0">
                <a:latin typeface="Calibri"/>
                <a:cs typeface="Calibri"/>
              </a:rPr>
              <a:t>solution,</a:t>
            </a:r>
            <a:r>
              <a:rPr sz="2250" spc="-75" dirty="0">
                <a:latin typeface="Calibri"/>
                <a:cs typeface="Calibri"/>
              </a:rPr>
              <a:t> </a:t>
            </a:r>
            <a:r>
              <a:rPr sz="2250" spc="-65" dirty="0">
                <a:latin typeface="Calibri"/>
                <a:cs typeface="Calibri"/>
              </a:rPr>
              <a:t>negotiate</a:t>
            </a:r>
            <a:r>
              <a:rPr sz="2250" spc="10" dirty="0">
                <a:latin typeface="Calibri"/>
                <a:cs typeface="Calibri"/>
              </a:rPr>
              <a:t> </a:t>
            </a:r>
            <a:r>
              <a:rPr sz="2250" spc="-50" dirty="0">
                <a:latin typeface="Calibri"/>
                <a:cs typeface="Calibri"/>
              </a:rPr>
              <a:t>different</a:t>
            </a:r>
            <a:r>
              <a:rPr sz="2250" spc="-40" dirty="0">
                <a:latin typeface="Calibri"/>
                <a:cs typeface="Calibri"/>
              </a:rPr>
              <a:t> </a:t>
            </a:r>
            <a:r>
              <a:rPr sz="2250" spc="-70" dirty="0">
                <a:latin typeface="Calibri"/>
                <a:cs typeface="Calibri"/>
              </a:rPr>
              <a:t>approaches,</a:t>
            </a:r>
            <a:r>
              <a:rPr sz="2250" spc="5" dirty="0">
                <a:latin typeface="Calibri"/>
                <a:cs typeface="Calibri"/>
              </a:rPr>
              <a:t> </a:t>
            </a:r>
            <a:r>
              <a:rPr sz="2250" spc="-30" dirty="0">
                <a:latin typeface="Calibri"/>
                <a:cs typeface="Calibri"/>
              </a:rPr>
              <a:t>and</a:t>
            </a:r>
            <a:r>
              <a:rPr sz="2250" spc="-25" dirty="0">
                <a:latin typeface="Calibri"/>
                <a:cs typeface="Calibri"/>
              </a:rPr>
              <a:t> </a:t>
            </a:r>
            <a:r>
              <a:rPr sz="2250" spc="-75" dirty="0">
                <a:latin typeface="Calibri"/>
                <a:cs typeface="Calibri"/>
              </a:rPr>
              <a:t>specify</a:t>
            </a:r>
            <a:r>
              <a:rPr sz="2250" spc="-55" dirty="0">
                <a:latin typeface="Calibri"/>
                <a:cs typeface="Calibri"/>
              </a:rPr>
              <a:t> </a:t>
            </a:r>
            <a:r>
              <a:rPr sz="2250" spc="-50" dirty="0">
                <a:latin typeface="Calibri"/>
                <a:cs typeface="Calibri"/>
              </a:rPr>
              <a:t>a </a:t>
            </a:r>
            <a:r>
              <a:rPr sz="2200" spc="-45" dirty="0">
                <a:latin typeface="Calibri"/>
                <a:cs typeface="Calibri"/>
              </a:rPr>
              <a:t>preliminary</a:t>
            </a:r>
            <a:r>
              <a:rPr sz="2200" spc="-10" dirty="0">
                <a:latin typeface="Calibri"/>
                <a:cs typeface="Calibri"/>
              </a:rPr>
              <a:t> </a:t>
            </a:r>
            <a:r>
              <a:rPr sz="2200" dirty="0">
                <a:latin typeface="Calibri"/>
                <a:cs typeface="Calibri"/>
              </a:rPr>
              <a:t>set</a:t>
            </a:r>
            <a:r>
              <a:rPr sz="2200" spc="-125" dirty="0">
                <a:latin typeface="Calibri"/>
                <a:cs typeface="Calibri"/>
              </a:rPr>
              <a:t> </a:t>
            </a:r>
            <a:r>
              <a:rPr sz="2200" spc="-20" dirty="0">
                <a:latin typeface="Calibri"/>
                <a:cs typeface="Calibri"/>
              </a:rPr>
              <a:t>of</a:t>
            </a:r>
            <a:r>
              <a:rPr sz="2200" spc="-105" dirty="0">
                <a:latin typeface="Calibri"/>
                <a:cs typeface="Calibri"/>
              </a:rPr>
              <a:t> </a:t>
            </a:r>
            <a:r>
              <a:rPr sz="2200" dirty="0">
                <a:latin typeface="Calibri"/>
                <a:cs typeface="Calibri"/>
              </a:rPr>
              <a:t>solution</a:t>
            </a:r>
            <a:r>
              <a:rPr sz="2200" spc="-50" dirty="0">
                <a:latin typeface="Calibri"/>
                <a:cs typeface="Calibri"/>
              </a:rPr>
              <a:t> </a:t>
            </a:r>
            <a:r>
              <a:rPr sz="2200" spc="-10" dirty="0">
                <a:latin typeface="Calibri"/>
                <a:cs typeface="Calibri"/>
              </a:rPr>
              <a:t>requirements</a:t>
            </a:r>
            <a:endParaRPr sz="220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4D9526F4-6284-60C8-0413-1AA504B1A1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6561" rIns="0" bIns="0" rtlCol="0">
            <a:spAutoFit/>
          </a:bodyPr>
          <a:lstStyle/>
          <a:p>
            <a:pPr marL="624840">
              <a:lnSpc>
                <a:spcPct val="100000"/>
              </a:lnSpc>
              <a:spcBef>
                <a:spcPts val="105"/>
              </a:spcBef>
            </a:pPr>
            <a:r>
              <a:rPr sz="3250" dirty="0">
                <a:latin typeface="Calibri"/>
                <a:cs typeface="Calibri"/>
              </a:rPr>
              <a:t>Quality</a:t>
            </a:r>
            <a:r>
              <a:rPr sz="3250" spc="229" dirty="0">
                <a:latin typeface="Calibri"/>
                <a:cs typeface="Calibri"/>
              </a:rPr>
              <a:t> </a:t>
            </a:r>
            <a:r>
              <a:rPr sz="3250" spc="95" dirty="0">
                <a:latin typeface="Calibri"/>
                <a:cs typeface="Calibri"/>
              </a:rPr>
              <a:t>Function</a:t>
            </a:r>
            <a:r>
              <a:rPr sz="3250" spc="185" dirty="0">
                <a:latin typeface="Calibri"/>
                <a:cs typeface="Calibri"/>
              </a:rPr>
              <a:t> </a:t>
            </a:r>
            <a:r>
              <a:rPr sz="3250" spc="-10" dirty="0">
                <a:latin typeface="Calibri"/>
                <a:cs typeface="Calibri"/>
              </a:rPr>
              <a:t>Deployment</a:t>
            </a:r>
            <a:endParaRPr sz="3250">
              <a:latin typeface="Calibri"/>
              <a:cs typeface="Calibri"/>
            </a:endParaRPr>
          </a:p>
        </p:txBody>
      </p:sp>
      <p:sp>
        <p:nvSpPr>
          <p:cNvPr id="3" name="object 3"/>
          <p:cNvSpPr txBox="1"/>
          <p:nvPr/>
        </p:nvSpPr>
        <p:spPr>
          <a:xfrm>
            <a:off x="658457" y="1245658"/>
            <a:ext cx="6676390" cy="4179349"/>
          </a:xfrm>
          <a:prstGeom prst="rect">
            <a:avLst/>
          </a:prstGeom>
        </p:spPr>
        <p:txBody>
          <a:bodyPr vert="horz" wrap="square" lIns="0" tIns="11430" rIns="0" bIns="0" rtlCol="0">
            <a:spAutoFit/>
          </a:bodyPr>
          <a:lstStyle/>
          <a:p>
            <a:pPr marL="161290" marR="932815" indent="-161290" algn="r">
              <a:lnSpc>
                <a:spcPts val="2255"/>
              </a:lnSpc>
              <a:spcBef>
                <a:spcPts val="90"/>
              </a:spcBef>
              <a:buChar char="•"/>
              <a:tabLst>
                <a:tab pos="161290" algn="l"/>
              </a:tabLst>
            </a:pPr>
            <a:r>
              <a:rPr sz="2050" dirty="0">
                <a:latin typeface="Calibri"/>
                <a:cs typeface="Calibri"/>
              </a:rPr>
              <a:t>This</a:t>
            </a:r>
            <a:r>
              <a:rPr sz="2050" spc="120" dirty="0">
                <a:latin typeface="Calibri"/>
                <a:cs typeface="Calibri"/>
              </a:rPr>
              <a:t> </a:t>
            </a:r>
            <a:r>
              <a:rPr sz="2050" dirty="0">
                <a:latin typeface="Calibri"/>
                <a:cs typeface="Calibri"/>
              </a:rPr>
              <a:t>is</a:t>
            </a:r>
            <a:r>
              <a:rPr sz="2050" spc="15" dirty="0">
                <a:latin typeface="Calibri"/>
                <a:cs typeface="Calibri"/>
              </a:rPr>
              <a:t> </a:t>
            </a:r>
            <a:r>
              <a:rPr sz="2050" dirty="0">
                <a:latin typeface="Calibri"/>
                <a:cs typeface="Calibri"/>
              </a:rPr>
              <a:t>a</a:t>
            </a:r>
            <a:r>
              <a:rPr sz="2050" spc="90" dirty="0">
                <a:latin typeface="Calibri"/>
                <a:cs typeface="Calibri"/>
              </a:rPr>
              <a:t> </a:t>
            </a:r>
            <a:r>
              <a:rPr sz="2050" dirty="0">
                <a:latin typeface="Calibri"/>
                <a:cs typeface="Calibri"/>
              </a:rPr>
              <a:t>technique</a:t>
            </a:r>
            <a:r>
              <a:rPr sz="2050" spc="305" dirty="0">
                <a:latin typeface="Calibri"/>
                <a:cs typeface="Calibri"/>
              </a:rPr>
              <a:t> </a:t>
            </a:r>
            <a:r>
              <a:rPr sz="2050" dirty="0">
                <a:latin typeface="Calibri"/>
                <a:cs typeface="Calibri"/>
              </a:rPr>
              <a:t>that</a:t>
            </a:r>
            <a:r>
              <a:rPr sz="2050" spc="175" dirty="0">
                <a:latin typeface="Calibri"/>
                <a:cs typeface="Calibri"/>
              </a:rPr>
              <a:t> </a:t>
            </a:r>
            <a:r>
              <a:rPr sz="2050" dirty="0">
                <a:latin typeface="Calibri"/>
                <a:cs typeface="Calibri"/>
              </a:rPr>
              <a:t>translates</a:t>
            </a:r>
            <a:r>
              <a:rPr sz="2050" spc="245" dirty="0">
                <a:latin typeface="Calibri"/>
                <a:cs typeface="Calibri"/>
              </a:rPr>
              <a:t> </a:t>
            </a:r>
            <a:r>
              <a:rPr sz="2050" dirty="0">
                <a:latin typeface="Calibri"/>
                <a:cs typeface="Calibri"/>
              </a:rPr>
              <a:t>the</a:t>
            </a:r>
            <a:r>
              <a:rPr sz="2050" spc="85" dirty="0">
                <a:latin typeface="Calibri"/>
                <a:cs typeface="Calibri"/>
              </a:rPr>
              <a:t> </a:t>
            </a:r>
            <a:r>
              <a:rPr sz="2050" dirty="0">
                <a:latin typeface="Calibri"/>
                <a:cs typeface="Calibri"/>
              </a:rPr>
              <a:t>needs</a:t>
            </a:r>
            <a:r>
              <a:rPr sz="2050" spc="70" dirty="0">
                <a:latin typeface="Calibri"/>
                <a:cs typeface="Calibri"/>
              </a:rPr>
              <a:t> </a:t>
            </a:r>
            <a:r>
              <a:rPr sz="2050" dirty="0">
                <a:latin typeface="Calibri"/>
                <a:cs typeface="Calibri"/>
              </a:rPr>
              <a:t>of</a:t>
            </a:r>
            <a:r>
              <a:rPr sz="2050" spc="110" dirty="0">
                <a:latin typeface="Calibri"/>
                <a:cs typeface="Calibri"/>
              </a:rPr>
              <a:t> </a:t>
            </a:r>
            <a:r>
              <a:rPr sz="2050" spc="-25" dirty="0">
                <a:latin typeface="Calibri"/>
                <a:cs typeface="Calibri"/>
              </a:rPr>
              <a:t>the</a:t>
            </a:r>
            <a:endParaRPr sz="2050" dirty="0">
              <a:latin typeface="Calibri"/>
              <a:cs typeface="Calibri"/>
            </a:endParaRPr>
          </a:p>
          <a:p>
            <a:pPr marR="904240" algn="r">
              <a:lnSpc>
                <a:spcPts val="2315"/>
              </a:lnSpc>
            </a:pPr>
            <a:r>
              <a:rPr sz="2100" dirty="0">
                <a:latin typeface="Calibri"/>
                <a:cs typeface="Calibri"/>
              </a:rPr>
              <a:t>customer</a:t>
            </a:r>
            <a:r>
              <a:rPr sz="2100" spc="105" dirty="0">
                <a:latin typeface="Calibri"/>
                <a:cs typeface="Calibri"/>
              </a:rPr>
              <a:t> </a:t>
            </a:r>
            <a:r>
              <a:rPr sz="2100" dirty="0">
                <a:latin typeface="Calibri"/>
                <a:cs typeface="Calibri"/>
              </a:rPr>
              <a:t>into</a:t>
            </a:r>
            <a:r>
              <a:rPr sz="2100" spc="60" dirty="0">
                <a:latin typeface="Calibri"/>
                <a:cs typeface="Calibri"/>
              </a:rPr>
              <a:t> </a:t>
            </a:r>
            <a:r>
              <a:rPr sz="2100" dirty="0">
                <a:latin typeface="Calibri"/>
                <a:cs typeface="Calibri"/>
              </a:rPr>
              <a:t>technical</a:t>
            </a:r>
            <a:r>
              <a:rPr sz="2100" spc="50" dirty="0">
                <a:latin typeface="Calibri"/>
                <a:cs typeface="Calibri"/>
              </a:rPr>
              <a:t> </a:t>
            </a:r>
            <a:r>
              <a:rPr sz="2100" dirty="0">
                <a:latin typeface="Calibri"/>
                <a:cs typeface="Calibri"/>
              </a:rPr>
              <a:t>requirements</a:t>
            </a:r>
            <a:r>
              <a:rPr sz="2100" spc="215" dirty="0">
                <a:latin typeface="Calibri"/>
                <a:cs typeface="Calibri"/>
              </a:rPr>
              <a:t> </a:t>
            </a:r>
            <a:r>
              <a:rPr sz="2100" dirty="0">
                <a:latin typeface="Calibri"/>
                <a:cs typeface="Calibri"/>
              </a:rPr>
              <a:t>for</a:t>
            </a:r>
            <a:r>
              <a:rPr sz="2100" spc="40" dirty="0">
                <a:latin typeface="Calibri"/>
                <a:cs typeface="Calibri"/>
              </a:rPr>
              <a:t> </a:t>
            </a:r>
            <a:r>
              <a:rPr sz="2100" spc="-10" dirty="0">
                <a:latin typeface="Calibri"/>
                <a:cs typeface="Calibri"/>
              </a:rPr>
              <a:t>software</a:t>
            </a:r>
            <a:endParaRPr sz="2100" dirty="0">
              <a:latin typeface="Calibri"/>
              <a:cs typeface="Calibri"/>
            </a:endParaRPr>
          </a:p>
          <a:p>
            <a:pPr marL="175260" marR="107314" indent="-163195">
              <a:lnSpc>
                <a:spcPct val="78600"/>
              </a:lnSpc>
              <a:spcBef>
                <a:spcPts val="610"/>
              </a:spcBef>
              <a:buChar char="•"/>
              <a:tabLst>
                <a:tab pos="175260" algn="l"/>
                <a:tab pos="180340" algn="l"/>
              </a:tabLst>
            </a:pPr>
            <a:r>
              <a:rPr sz="2250" dirty="0">
                <a:latin typeface="Calibri"/>
                <a:cs typeface="Calibri"/>
              </a:rPr>
              <a:t>	</a:t>
            </a:r>
            <a:r>
              <a:rPr sz="2250" spc="-30" dirty="0">
                <a:latin typeface="Calibri"/>
                <a:cs typeface="Calibri"/>
              </a:rPr>
              <a:t>It</a:t>
            </a:r>
            <a:r>
              <a:rPr sz="2250" spc="-100" dirty="0">
                <a:latin typeface="Calibri"/>
                <a:cs typeface="Calibri"/>
              </a:rPr>
              <a:t> </a:t>
            </a:r>
            <a:r>
              <a:rPr sz="2250" spc="-70" dirty="0">
                <a:latin typeface="Calibri"/>
                <a:cs typeface="Calibri"/>
              </a:rPr>
              <a:t>emphasizes</a:t>
            </a:r>
            <a:r>
              <a:rPr sz="2250" spc="15" dirty="0">
                <a:latin typeface="Calibri"/>
                <a:cs typeface="Calibri"/>
              </a:rPr>
              <a:t> </a:t>
            </a:r>
            <a:r>
              <a:rPr sz="2250" spc="-90" dirty="0">
                <a:latin typeface="Calibri"/>
                <a:cs typeface="Calibri"/>
              </a:rPr>
              <a:t>an </a:t>
            </a:r>
            <a:r>
              <a:rPr sz="2250" spc="-45" dirty="0">
                <a:latin typeface="Calibri"/>
                <a:cs typeface="Calibri"/>
              </a:rPr>
              <a:t>understanding</a:t>
            </a:r>
            <a:r>
              <a:rPr sz="2250" spc="70" dirty="0">
                <a:latin typeface="Calibri"/>
                <a:cs typeface="Calibri"/>
              </a:rPr>
              <a:t> </a:t>
            </a:r>
            <a:r>
              <a:rPr sz="2250" spc="-30" dirty="0">
                <a:solidFill>
                  <a:srgbClr val="1F1F1F"/>
                </a:solidFill>
                <a:latin typeface="Calibri"/>
                <a:cs typeface="Calibri"/>
              </a:rPr>
              <a:t>of</a:t>
            </a:r>
            <a:r>
              <a:rPr sz="2250" spc="-95" dirty="0">
                <a:solidFill>
                  <a:srgbClr val="1F1F1F"/>
                </a:solidFill>
                <a:latin typeface="Calibri"/>
                <a:cs typeface="Calibri"/>
              </a:rPr>
              <a:t> </a:t>
            </a:r>
            <a:r>
              <a:rPr sz="2250" spc="-75" dirty="0">
                <a:latin typeface="Calibri"/>
                <a:cs typeface="Calibri"/>
              </a:rPr>
              <a:t>what</a:t>
            </a:r>
            <a:r>
              <a:rPr sz="2250" spc="-25" dirty="0">
                <a:latin typeface="Calibri"/>
                <a:cs typeface="Calibri"/>
              </a:rPr>
              <a:t> </a:t>
            </a:r>
            <a:r>
              <a:rPr sz="2250" dirty="0">
                <a:latin typeface="Calibri"/>
                <a:cs typeface="Calibri"/>
              </a:rPr>
              <a:t>is</a:t>
            </a:r>
            <a:r>
              <a:rPr sz="2250" spc="-95" dirty="0">
                <a:latin typeface="Calibri"/>
                <a:cs typeface="Calibri"/>
              </a:rPr>
              <a:t> </a:t>
            </a:r>
            <a:r>
              <a:rPr sz="2250" spc="-25" dirty="0">
                <a:latin typeface="Calibri"/>
                <a:cs typeface="Calibri"/>
              </a:rPr>
              <a:t>valuable</a:t>
            </a:r>
            <a:r>
              <a:rPr sz="2250" spc="-20" dirty="0">
                <a:latin typeface="Calibri"/>
                <a:cs typeface="Calibri"/>
              </a:rPr>
              <a:t> </a:t>
            </a:r>
            <a:r>
              <a:rPr sz="2250" spc="-45" dirty="0">
                <a:latin typeface="Calibri"/>
                <a:cs typeface="Calibri"/>
              </a:rPr>
              <a:t>to</a:t>
            </a:r>
            <a:r>
              <a:rPr sz="2250" spc="-85" dirty="0">
                <a:latin typeface="Calibri"/>
                <a:cs typeface="Calibri"/>
              </a:rPr>
              <a:t> </a:t>
            </a:r>
            <a:r>
              <a:rPr sz="2250" spc="-25" dirty="0">
                <a:latin typeface="Calibri"/>
                <a:cs typeface="Calibri"/>
              </a:rPr>
              <a:t>the </a:t>
            </a:r>
            <a:r>
              <a:rPr sz="2100" dirty="0">
                <a:latin typeface="Calibri"/>
                <a:cs typeface="Calibri"/>
              </a:rPr>
              <a:t>customer</a:t>
            </a:r>
            <a:r>
              <a:rPr sz="2100" spc="215" dirty="0">
                <a:latin typeface="Calibri"/>
                <a:cs typeface="Calibri"/>
              </a:rPr>
              <a:t> </a:t>
            </a:r>
            <a:r>
              <a:rPr sz="2100" dirty="0">
                <a:latin typeface="Calibri"/>
                <a:cs typeface="Calibri"/>
              </a:rPr>
              <a:t>and</a:t>
            </a:r>
            <a:r>
              <a:rPr sz="2100" spc="-15" dirty="0">
                <a:latin typeface="Calibri"/>
                <a:cs typeface="Calibri"/>
              </a:rPr>
              <a:t> </a:t>
            </a:r>
            <a:r>
              <a:rPr sz="2100" dirty="0">
                <a:latin typeface="Calibri"/>
                <a:cs typeface="Calibri"/>
              </a:rPr>
              <a:t>then</a:t>
            </a:r>
            <a:r>
              <a:rPr sz="2100" spc="5" dirty="0">
                <a:latin typeface="Calibri"/>
                <a:cs typeface="Calibri"/>
              </a:rPr>
              <a:t> </a:t>
            </a:r>
            <a:r>
              <a:rPr sz="2100" dirty="0">
                <a:latin typeface="Calibri"/>
                <a:cs typeface="Calibri"/>
              </a:rPr>
              <a:t>deploys</a:t>
            </a:r>
            <a:r>
              <a:rPr sz="2100" spc="125" dirty="0">
                <a:latin typeface="Calibri"/>
                <a:cs typeface="Calibri"/>
              </a:rPr>
              <a:t> </a:t>
            </a:r>
            <a:r>
              <a:rPr sz="2100" dirty="0">
                <a:latin typeface="Calibri"/>
                <a:cs typeface="Calibri"/>
              </a:rPr>
              <a:t>these</a:t>
            </a:r>
            <a:r>
              <a:rPr sz="2100" spc="45" dirty="0">
                <a:latin typeface="Calibri"/>
                <a:cs typeface="Calibri"/>
              </a:rPr>
              <a:t> </a:t>
            </a:r>
            <a:r>
              <a:rPr sz="2100" dirty="0">
                <a:latin typeface="Calibri"/>
                <a:cs typeface="Calibri"/>
              </a:rPr>
              <a:t>vaiues</a:t>
            </a:r>
            <a:r>
              <a:rPr sz="2100" spc="80" dirty="0">
                <a:latin typeface="Calibri"/>
                <a:cs typeface="Calibri"/>
              </a:rPr>
              <a:t> </a:t>
            </a:r>
            <a:r>
              <a:rPr sz="2100" spc="-10" dirty="0">
                <a:latin typeface="Calibri"/>
                <a:cs typeface="Calibri"/>
              </a:rPr>
              <a:t>throughout</a:t>
            </a:r>
            <a:r>
              <a:rPr sz="2100" spc="170" dirty="0">
                <a:latin typeface="Calibri"/>
                <a:cs typeface="Calibri"/>
              </a:rPr>
              <a:t> </a:t>
            </a:r>
            <a:r>
              <a:rPr sz="2100" spc="-25" dirty="0">
                <a:latin typeface="Calibri"/>
                <a:cs typeface="Calibri"/>
              </a:rPr>
              <a:t>the </a:t>
            </a:r>
            <a:r>
              <a:rPr sz="2200" spc="-30" dirty="0">
                <a:latin typeface="Calibri"/>
                <a:cs typeface="Calibri"/>
              </a:rPr>
              <a:t>engineering</a:t>
            </a:r>
            <a:r>
              <a:rPr sz="2200" spc="50" dirty="0">
                <a:latin typeface="Calibri"/>
                <a:cs typeface="Calibri"/>
              </a:rPr>
              <a:t> </a:t>
            </a:r>
            <a:r>
              <a:rPr sz="2200" spc="-20" dirty="0">
                <a:latin typeface="Calibri"/>
                <a:cs typeface="Calibri"/>
              </a:rPr>
              <a:t>process</a:t>
            </a:r>
            <a:r>
              <a:rPr sz="2200" spc="-5" dirty="0">
                <a:latin typeface="Calibri"/>
                <a:cs typeface="Calibri"/>
              </a:rPr>
              <a:t> </a:t>
            </a:r>
            <a:r>
              <a:rPr sz="2200" spc="-40" dirty="0">
                <a:latin typeface="Calibri"/>
                <a:cs typeface="Calibri"/>
              </a:rPr>
              <a:t>through</a:t>
            </a:r>
            <a:r>
              <a:rPr sz="2200" spc="-20" dirty="0">
                <a:latin typeface="Calibri"/>
                <a:cs typeface="Calibri"/>
              </a:rPr>
              <a:t> </a:t>
            </a:r>
            <a:r>
              <a:rPr sz="2200" spc="-45" dirty="0">
                <a:latin typeface="Calibri"/>
                <a:cs typeface="Calibri"/>
              </a:rPr>
              <a:t>functions,</a:t>
            </a:r>
            <a:r>
              <a:rPr sz="2200" spc="-30" dirty="0">
                <a:latin typeface="Calibri"/>
                <a:cs typeface="Calibri"/>
              </a:rPr>
              <a:t> </a:t>
            </a:r>
            <a:r>
              <a:rPr sz="2200" spc="-20" dirty="0">
                <a:latin typeface="Calibri"/>
                <a:cs typeface="Calibri"/>
              </a:rPr>
              <a:t>information,</a:t>
            </a:r>
            <a:r>
              <a:rPr sz="2200" spc="85" dirty="0">
                <a:latin typeface="Calibri"/>
                <a:cs typeface="Calibri"/>
              </a:rPr>
              <a:t> </a:t>
            </a:r>
            <a:r>
              <a:rPr sz="2200" spc="-25" dirty="0">
                <a:latin typeface="Calibri"/>
                <a:cs typeface="Calibri"/>
              </a:rPr>
              <a:t>and </a:t>
            </a:r>
            <a:r>
              <a:rPr sz="2150" spc="-10" dirty="0">
                <a:latin typeface="Calibri"/>
                <a:cs typeface="Calibri"/>
              </a:rPr>
              <a:t>tasks</a:t>
            </a:r>
            <a:endParaRPr sz="2150" dirty="0">
              <a:latin typeface="Calibri"/>
              <a:cs typeface="Calibri"/>
            </a:endParaRPr>
          </a:p>
          <a:p>
            <a:pPr marL="26034">
              <a:lnSpc>
                <a:spcPts val="2435"/>
              </a:lnSpc>
              <a:spcBef>
                <a:spcPts val="170"/>
              </a:spcBef>
            </a:pPr>
            <a:r>
              <a:rPr sz="2100" dirty="0">
                <a:latin typeface="Calibri"/>
                <a:cs typeface="Calibri"/>
              </a:rPr>
              <a:t>°</a:t>
            </a:r>
            <a:r>
              <a:rPr sz="2100" spc="-20" dirty="0">
                <a:latin typeface="Calibri"/>
                <a:cs typeface="Calibri"/>
              </a:rPr>
              <a:t> </a:t>
            </a:r>
            <a:r>
              <a:rPr sz="2100" dirty="0">
                <a:solidFill>
                  <a:srgbClr val="181818"/>
                </a:solidFill>
                <a:latin typeface="Calibri"/>
                <a:cs typeface="Calibri"/>
              </a:rPr>
              <a:t>It</a:t>
            </a:r>
            <a:r>
              <a:rPr sz="2100" spc="10" dirty="0">
                <a:solidFill>
                  <a:srgbClr val="181818"/>
                </a:solidFill>
                <a:latin typeface="Calibri"/>
                <a:cs typeface="Calibri"/>
              </a:rPr>
              <a:t> </a:t>
            </a:r>
            <a:r>
              <a:rPr sz="2100" dirty="0">
                <a:latin typeface="Calibri"/>
                <a:cs typeface="Calibri"/>
              </a:rPr>
              <a:t>identifies three</a:t>
            </a:r>
            <a:r>
              <a:rPr sz="2100" spc="20" dirty="0">
                <a:latin typeface="Calibri"/>
                <a:cs typeface="Calibri"/>
              </a:rPr>
              <a:t> </a:t>
            </a:r>
            <a:r>
              <a:rPr sz="2100" dirty="0">
                <a:latin typeface="Calibri"/>
                <a:cs typeface="Calibri"/>
              </a:rPr>
              <a:t>types</a:t>
            </a:r>
            <a:r>
              <a:rPr sz="2100" spc="105" dirty="0">
                <a:latin typeface="Calibri"/>
                <a:cs typeface="Calibri"/>
              </a:rPr>
              <a:t> </a:t>
            </a:r>
            <a:r>
              <a:rPr sz="2100" dirty="0">
                <a:latin typeface="Calibri"/>
                <a:cs typeface="Calibri"/>
              </a:rPr>
              <a:t>of</a:t>
            </a:r>
            <a:r>
              <a:rPr sz="2100" spc="-30" dirty="0">
                <a:latin typeface="Calibri"/>
                <a:cs typeface="Calibri"/>
              </a:rPr>
              <a:t> </a:t>
            </a:r>
            <a:r>
              <a:rPr sz="2100" spc="-10" dirty="0">
                <a:latin typeface="Calibri"/>
                <a:cs typeface="Calibri"/>
              </a:rPr>
              <a:t>requirements</a:t>
            </a:r>
            <a:endParaRPr sz="2100" dirty="0">
              <a:latin typeface="Calibri"/>
              <a:cs typeface="Calibri"/>
            </a:endParaRPr>
          </a:p>
          <a:p>
            <a:pPr marL="486409" marR="142240" indent="-154305">
              <a:lnSpc>
                <a:spcPct val="76600"/>
              </a:lnSpc>
              <a:spcBef>
                <a:spcPts val="430"/>
              </a:spcBef>
            </a:pPr>
            <a:r>
              <a:rPr sz="1850" dirty="0">
                <a:latin typeface="Calibri"/>
                <a:cs typeface="Calibri"/>
              </a:rPr>
              <a:t>°</a:t>
            </a:r>
            <a:r>
              <a:rPr sz="1850" spc="50" dirty="0">
                <a:latin typeface="Calibri"/>
                <a:cs typeface="Calibri"/>
              </a:rPr>
              <a:t> </a:t>
            </a:r>
            <a:r>
              <a:rPr sz="1850" u="heavy" spc="-20" dirty="0">
                <a:uFill>
                  <a:solidFill>
                    <a:srgbClr val="080808"/>
                  </a:solidFill>
                </a:uFill>
                <a:latin typeface="Calibri"/>
                <a:cs typeface="Calibri"/>
              </a:rPr>
              <a:t>Normal</a:t>
            </a:r>
            <a:r>
              <a:rPr sz="1850" u="heavy" spc="-60" dirty="0">
                <a:uFill>
                  <a:solidFill>
                    <a:srgbClr val="080808"/>
                  </a:solidFill>
                </a:uFill>
                <a:latin typeface="Calibri"/>
                <a:cs typeface="Calibri"/>
              </a:rPr>
              <a:t> </a:t>
            </a:r>
            <a:r>
              <a:rPr sz="1850" u="heavy" spc="-30" dirty="0">
                <a:uFill>
                  <a:solidFill>
                    <a:srgbClr val="080808"/>
                  </a:solidFill>
                </a:uFill>
                <a:latin typeface="Calibri"/>
                <a:cs typeface="Calibri"/>
              </a:rPr>
              <a:t>requirements:</a:t>
            </a:r>
            <a:r>
              <a:rPr sz="1850" spc="120" dirty="0">
                <a:latin typeface="Calibri"/>
                <a:cs typeface="Calibri"/>
              </a:rPr>
              <a:t> </a:t>
            </a:r>
            <a:r>
              <a:rPr sz="1850" spc="-65" dirty="0">
                <a:latin typeface="Calibri"/>
                <a:cs typeface="Calibri"/>
              </a:rPr>
              <a:t>These</a:t>
            </a:r>
            <a:r>
              <a:rPr sz="1850" spc="-40" dirty="0">
                <a:latin typeface="Calibri"/>
                <a:cs typeface="Calibri"/>
              </a:rPr>
              <a:t> </a:t>
            </a:r>
            <a:r>
              <a:rPr sz="1850" spc="-55" dirty="0">
                <a:latin typeface="Calibri"/>
                <a:cs typeface="Calibri"/>
              </a:rPr>
              <a:t>requirements</a:t>
            </a:r>
            <a:r>
              <a:rPr sz="1850" spc="50" dirty="0">
                <a:latin typeface="Calibri"/>
                <a:cs typeface="Calibri"/>
              </a:rPr>
              <a:t> </a:t>
            </a:r>
            <a:r>
              <a:rPr sz="1850" dirty="0">
                <a:latin typeface="Calibri"/>
                <a:cs typeface="Calibri"/>
              </a:rPr>
              <a:t>are</a:t>
            </a:r>
            <a:r>
              <a:rPr sz="1850" spc="10" dirty="0">
                <a:latin typeface="Calibri"/>
                <a:cs typeface="Calibri"/>
              </a:rPr>
              <a:t> </a:t>
            </a:r>
            <a:r>
              <a:rPr sz="1850" spc="-65" dirty="0">
                <a:solidFill>
                  <a:srgbClr val="1D1D1D"/>
                </a:solidFill>
                <a:latin typeface="Calibri"/>
                <a:cs typeface="Calibri"/>
              </a:rPr>
              <a:t>the</a:t>
            </a:r>
            <a:r>
              <a:rPr sz="1850" spc="-15" dirty="0">
                <a:solidFill>
                  <a:srgbClr val="1D1D1D"/>
                </a:solidFill>
                <a:latin typeface="Calibri"/>
                <a:cs typeface="Calibri"/>
              </a:rPr>
              <a:t> </a:t>
            </a:r>
            <a:r>
              <a:rPr sz="1850" spc="-40" dirty="0">
                <a:latin typeface="Calibri"/>
                <a:cs typeface="Calibri"/>
              </a:rPr>
              <a:t>objectives</a:t>
            </a:r>
            <a:r>
              <a:rPr sz="1850" spc="-30" dirty="0">
                <a:latin typeface="Calibri"/>
                <a:cs typeface="Calibri"/>
              </a:rPr>
              <a:t> </a:t>
            </a:r>
            <a:r>
              <a:rPr sz="1850" spc="-25" dirty="0">
                <a:latin typeface="Calibri"/>
                <a:cs typeface="Calibri"/>
              </a:rPr>
              <a:t>and </a:t>
            </a:r>
            <a:r>
              <a:rPr sz="1850" spc="-50" dirty="0">
                <a:latin typeface="Calibri"/>
                <a:cs typeface="Calibri"/>
              </a:rPr>
              <a:t>goals</a:t>
            </a:r>
            <a:r>
              <a:rPr sz="1850" spc="-55" dirty="0">
                <a:latin typeface="Calibri"/>
                <a:cs typeface="Calibri"/>
              </a:rPr>
              <a:t> </a:t>
            </a:r>
            <a:r>
              <a:rPr sz="1850" spc="-40" dirty="0">
                <a:latin typeface="Calibri"/>
                <a:cs typeface="Calibri"/>
              </a:rPr>
              <a:t>stated</a:t>
            </a:r>
            <a:r>
              <a:rPr sz="1850" spc="-65" dirty="0">
                <a:latin typeface="Calibri"/>
                <a:cs typeface="Calibri"/>
              </a:rPr>
              <a:t> </a:t>
            </a:r>
            <a:r>
              <a:rPr sz="1850" spc="-10" dirty="0">
                <a:latin typeface="Calibri"/>
                <a:cs typeface="Calibri"/>
              </a:rPr>
              <a:t>for</a:t>
            </a:r>
            <a:r>
              <a:rPr sz="1850" spc="-75" dirty="0">
                <a:latin typeface="Calibri"/>
                <a:cs typeface="Calibri"/>
              </a:rPr>
              <a:t> </a:t>
            </a:r>
            <a:r>
              <a:rPr sz="1850" spc="-125" dirty="0">
                <a:solidFill>
                  <a:srgbClr val="1C1C1C"/>
                </a:solidFill>
                <a:latin typeface="Calibri"/>
                <a:cs typeface="Calibri"/>
              </a:rPr>
              <a:t>a</a:t>
            </a:r>
            <a:r>
              <a:rPr sz="1850" spc="-55" dirty="0">
                <a:solidFill>
                  <a:srgbClr val="1C1C1C"/>
                </a:solidFill>
                <a:latin typeface="Calibri"/>
                <a:cs typeface="Calibri"/>
              </a:rPr>
              <a:t> </a:t>
            </a:r>
            <a:r>
              <a:rPr sz="1850" spc="-30" dirty="0">
                <a:latin typeface="Calibri"/>
                <a:cs typeface="Calibri"/>
              </a:rPr>
              <a:t>product</a:t>
            </a:r>
            <a:r>
              <a:rPr sz="1850" spc="-65" dirty="0">
                <a:latin typeface="Calibri"/>
                <a:cs typeface="Calibri"/>
              </a:rPr>
              <a:t> </a:t>
            </a:r>
            <a:r>
              <a:rPr sz="1850" dirty="0">
                <a:latin typeface="Calibri"/>
                <a:cs typeface="Calibri"/>
              </a:rPr>
              <a:t>or</a:t>
            </a:r>
            <a:r>
              <a:rPr sz="1850" spc="-75" dirty="0">
                <a:latin typeface="Calibri"/>
                <a:cs typeface="Calibri"/>
              </a:rPr>
              <a:t> </a:t>
            </a:r>
            <a:r>
              <a:rPr sz="1850" spc="-60" dirty="0">
                <a:latin typeface="Calibri"/>
                <a:cs typeface="Calibri"/>
              </a:rPr>
              <a:t>system</a:t>
            </a:r>
            <a:r>
              <a:rPr sz="1850" dirty="0">
                <a:latin typeface="Calibri"/>
                <a:cs typeface="Calibri"/>
              </a:rPr>
              <a:t> </a:t>
            </a:r>
            <a:r>
              <a:rPr sz="1850" spc="-40" dirty="0">
                <a:latin typeface="Calibri"/>
                <a:cs typeface="Calibri"/>
              </a:rPr>
              <a:t>during</a:t>
            </a:r>
            <a:r>
              <a:rPr sz="1850" spc="-60" dirty="0">
                <a:latin typeface="Calibri"/>
                <a:cs typeface="Calibri"/>
              </a:rPr>
              <a:t> </a:t>
            </a:r>
            <a:r>
              <a:rPr sz="1850" spc="-40" dirty="0">
                <a:latin typeface="Calibri"/>
                <a:cs typeface="Calibri"/>
              </a:rPr>
              <a:t>meetings</a:t>
            </a:r>
            <a:r>
              <a:rPr sz="1850" dirty="0">
                <a:latin typeface="Calibri"/>
                <a:cs typeface="Calibri"/>
              </a:rPr>
              <a:t> </a:t>
            </a:r>
            <a:r>
              <a:rPr sz="1850" spc="-35" dirty="0">
                <a:latin typeface="Calibri"/>
                <a:cs typeface="Calibri"/>
              </a:rPr>
              <a:t>with</a:t>
            </a:r>
            <a:r>
              <a:rPr sz="1850" dirty="0">
                <a:latin typeface="Calibri"/>
                <a:cs typeface="Calibri"/>
              </a:rPr>
              <a:t> </a:t>
            </a:r>
            <a:r>
              <a:rPr sz="1850" spc="-25" dirty="0">
                <a:solidFill>
                  <a:srgbClr val="0F0F0F"/>
                </a:solidFill>
                <a:latin typeface="Calibri"/>
                <a:cs typeface="Calibri"/>
              </a:rPr>
              <a:t>the </a:t>
            </a:r>
            <a:r>
              <a:rPr sz="1850" spc="-10" dirty="0">
                <a:solidFill>
                  <a:srgbClr val="111111"/>
                </a:solidFill>
                <a:latin typeface="Calibri"/>
                <a:cs typeface="Calibri"/>
              </a:rPr>
              <a:t>customer</a:t>
            </a:r>
            <a:endParaRPr sz="1850" dirty="0">
              <a:latin typeface="Calibri"/>
              <a:cs typeface="Calibri"/>
            </a:endParaRPr>
          </a:p>
          <a:p>
            <a:pPr marL="477520" marR="230504" lvl="1" indent="-154305">
              <a:lnSpc>
                <a:spcPts val="1700"/>
              </a:lnSpc>
              <a:spcBef>
                <a:spcPts val="270"/>
              </a:spcBef>
              <a:buChar char="•"/>
              <a:tabLst>
                <a:tab pos="480059" algn="l"/>
              </a:tabLst>
            </a:pPr>
            <a:r>
              <a:rPr sz="1750" u="heavy" dirty="0">
                <a:uFill>
                  <a:solidFill>
                    <a:srgbClr val="4F4F4F"/>
                  </a:solidFill>
                </a:uFill>
                <a:latin typeface="Calibri"/>
                <a:cs typeface="Calibri"/>
              </a:rPr>
              <a:t>Expected</a:t>
            </a:r>
            <a:r>
              <a:rPr sz="1750" u="heavy" spc="40" dirty="0">
                <a:uFill>
                  <a:solidFill>
                    <a:srgbClr val="4F4F4F"/>
                  </a:solidFill>
                </a:uFill>
                <a:latin typeface="Calibri"/>
                <a:cs typeface="Calibri"/>
              </a:rPr>
              <a:t> </a:t>
            </a:r>
            <a:r>
              <a:rPr sz="1750" u="heavy" dirty="0">
                <a:uFill>
                  <a:solidFill>
                    <a:srgbClr val="4F4F4F"/>
                  </a:solidFill>
                </a:uFill>
                <a:latin typeface="Calibri"/>
                <a:cs typeface="Calibri"/>
              </a:rPr>
              <a:t>requirements</a:t>
            </a:r>
            <a:r>
              <a:rPr sz="1750" dirty="0">
                <a:latin typeface="Calibri"/>
                <a:cs typeface="Calibri"/>
              </a:rPr>
              <a:t>:</a:t>
            </a:r>
            <a:r>
              <a:rPr sz="1750" spc="65" dirty="0">
                <a:latin typeface="Calibri"/>
                <a:cs typeface="Calibri"/>
              </a:rPr>
              <a:t>  </a:t>
            </a:r>
            <a:r>
              <a:rPr sz="1750" dirty="0">
                <a:latin typeface="Calibri"/>
                <a:cs typeface="Calibri"/>
              </a:rPr>
              <a:t>These</a:t>
            </a:r>
            <a:r>
              <a:rPr sz="1750" spc="45" dirty="0">
                <a:latin typeface="Calibri"/>
                <a:cs typeface="Calibri"/>
              </a:rPr>
              <a:t> </a:t>
            </a:r>
            <a:r>
              <a:rPr sz="1750" dirty="0">
                <a:latin typeface="Calibri"/>
                <a:cs typeface="Calibri"/>
              </a:rPr>
              <a:t>requirements</a:t>
            </a:r>
            <a:r>
              <a:rPr sz="1750" spc="150" dirty="0">
                <a:latin typeface="Calibri"/>
                <a:cs typeface="Calibri"/>
              </a:rPr>
              <a:t> </a:t>
            </a:r>
            <a:r>
              <a:rPr sz="1750" dirty="0">
                <a:latin typeface="Calibri"/>
                <a:cs typeface="Calibri"/>
              </a:rPr>
              <a:t>are</a:t>
            </a:r>
            <a:r>
              <a:rPr sz="1750" spc="20" dirty="0">
                <a:latin typeface="Calibri"/>
                <a:cs typeface="Calibri"/>
              </a:rPr>
              <a:t> </a:t>
            </a:r>
            <a:r>
              <a:rPr sz="1750" dirty="0">
                <a:latin typeface="Calibri"/>
                <a:cs typeface="Calibri"/>
              </a:rPr>
              <a:t>implicit</a:t>
            </a:r>
            <a:r>
              <a:rPr sz="1750" spc="60" dirty="0">
                <a:latin typeface="Calibri"/>
                <a:cs typeface="Calibri"/>
              </a:rPr>
              <a:t> </a:t>
            </a:r>
            <a:r>
              <a:rPr sz="1750" dirty="0">
                <a:solidFill>
                  <a:srgbClr val="111111"/>
                </a:solidFill>
                <a:latin typeface="Calibri"/>
                <a:cs typeface="Calibri"/>
              </a:rPr>
              <a:t>to</a:t>
            </a:r>
            <a:r>
              <a:rPr sz="1750" spc="-5" dirty="0">
                <a:solidFill>
                  <a:srgbClr val="111111"/>
                </a:solidFill>
                <a:latin typeface="Calibri"/>
                <a:cs typeface="Calibri"/>
              </a:rPr>
              <a:t> </a:t>
            </a:r>
            <a:r>
              <a:rPr sz="1750" spc="-25" dirty="0">
                <a:solidFill>
                  <a:srgbClr val="111111"/>
                </a:solidFill>
                <a:latin typeface="Calibri"/>
                <a:cs typeface="Calibri"/>
              </a:rPr>
              <a:t>the 	</a:t>
            </a:r>
            <a:r>
              <a:rPr sz="1750" dirty="0">
                <a:latin typeface="Calibri"/>
                <a:cs typeface="Calibri"/>
              </a:rPr>
              <a:t>product</a:t>
            </a:r>
            <a:r>
              <a:rPr sz="1750" spc="30" dirty="0">
                <a:latin typeface="Calibri"/>
                <a:cs typeface="Calibri"/>
              </a:rPr>
              <a:t> </a:t>
            </a:r>
            <a:r>
              <a:rPr sz="1750" dirty="0">
                <a:latin typeface="Calibri"/>
                <a:cs typeface="Calibri"/>
              </a:rPr>
              <a:t>or</a:t>
            </a:r>
            <a:r>
              <a:rPr sz="1750" spc="80" dirty="0">
                <a:latin typeface="Calibri"/>
                <a:cs typeface="Calibri"/>
              </a:rPr>
              <a:t> </a:t>
            </a:r>
            <a:r>
              <a:rPr sz="1750" spc="-10" dirty="0">
                <a:latin typeface="Calibri"/>
                <a:cs typeface="Calibri"/>
              </a:rPr>
              <a:t>system</a:t>
            </a:r>
            <a:r>
              <a:rPr sz="1750" spc="25" dirty="0">
                <a:latin typeface="Calibri"/>
                <a:cs typeface="Calibri"/>
              </a:rPr>
              <a:t> </a:t>
            </a:r>
            <a:r>
              <a:rPr sz="1750" dirty="0">
                <a:latin typeface="Calibri"/>
                <a:cs typeface="Calibri"/>
              </a:rPr>
              <a:t>and</a:t>
            </a:r>
            <a:r>
              <a:rPr sz="1750" spc="45" dirty="0">
                <a:latin typeface="Calibri"/>
                <a:cs typeface="Calibri"/>
              </a:rPr>
              <a:t> </a:t>
            </a:r>
            <a:r>
              <a:rPr sz="1750" dirty="0">
                <a:latin typeface="Calibri"/>
                <a:cs typeface="Calibri"/>
              </a:rPr>
              <a:t>may</a:t>
            </a:r>
            <a:r>
              <a:rPr sz="1750" spc="45" dirty="0">
                <a:latin typeface="Calibri"/>
                <a:cs typeface="Calibri"/>
              </a:rPr>
              <a:t> </a:t>
            </a:r>
            <a:r>
              <a:rPr sz="1750" dirty="0">
                <a:latin typeface="Calibri"/>
                <a:cs typeface="Calibri"/>
              </a:rPr>
              <a:t>be</a:t>
            </a:r>
            <a:r>
              <a:rPr sz="1750" spc="-70" dirty="0">
                <a:latin typeface="Calibri"/>
                <a:cs typeface="Calibri"/>
              </a:rPr>
              <a:t> </a:t>
            </a:r>
            <a:r>
              <a:rPr sz="1750" dirty="0">
                <a:solidFill>
                  <a:srgbClr val="1A1A1A"/>
                </a:solidFill>
                <a:latin typeface="Calibri"/>
                <a:cs typeface="Calibri"/>
              </a:rPr>
              <a:t>so</a:t>
            </a:r>
            <a:r>
              <a:rPr sz="1750" spc="-30" dirty="0">
                <a:solidFill>
                  <a:srgbClr val="1A1A1A"/>
                </a:solidFill>
                <a:latin typeface="Calibri"/>
                <a:cs typeface="Calibri"/>
              </a:rPr>
              <a:t> </a:t>
            </a:r>
            <a:r>
              <a:rPr sz="1750" spc="-10" dirty="0">
                <a:latin typeface="Calibri"/>
                <a:cs typeface="Calibri"/>
              </a:rPr>
              <a:t>fundamental</a:t>
            </a:r>
            <a:r>
              <a:rPr sz="1750" spc="185" dirty="0">
                <a:latin typeface="Calibri"/>
                <a:cs typeface="Calibri"/>
              </a:rPr>
              <a:t> </a:t>
            </a:r>
            <a:r>
              <a:rPr sz="1750" dirty="0">
                <a:latin typeface="Calibri"/>
                <a:cs typeface="Calibri"/>
              </a:rPr>
              <a:t>that</a:t>
            </a:r>
            <a:r>
              <a:rPr sz="1750" spc="20" dirty="0">
                <a:latin typeface="Calibri"/>
                <a:cs typeface="Calibri"/>
              </a:rPr>
              <a:t> </a:t>
            </a:r>
            <a:r>
              <a:rPr sz="1750" dirty="0">
                <a:latin typeface="Calibri"/>
                <a:cs typeface="Calibri"/>
              </a:rPr>
              <a:t>the</a:t>
            </a:r>
            <a:r>
              <a:rPr sz="1750" spc="-65" dirty="0">
                <a:latin typeface="Calibri"/>
                <a:cs typeface="Calibri"/>
              </a:rPr>
              <a:t> </a:t>
            </a:r>
            <a:r>
              <a:rPr sz="1750" spc="-10" dirty="0">
                <a:latin typeface="Calibri"/>
                <a:cs typeface="Calibri"/>
              </a:rPr>
              <a:t>customer 	</a:t>
            </a:r>
            <a:r>
              <a:rPr sz="1750" dirty="0">
                <a:latin typeface="Calibri"/>
                <a:cs typeface="Calibri"/>
              </a:rPr>
              <a:t>does</a:t>
            </a:r>
            <a:r>
              <a:rPr sz="1750" spc="-25" dirty="0">
                <a:latin typeface="Calibri"/>
                <a:cs typeface="Calibri"/>
              </a:rPr>
              <a:t> </a:t>
            </a:r>
            <a:r>
              <a:rPr sz="1750" spc="-40" dirty="0">
                <a:latin typeface="Calibri"/>
                <a:cs typeface="Calibri"/>
              </a:rPr>
              <a:t>nDt </a:t>
            </a:r>
            <a:r>
              <a:rPr sz="1750" dirty="0">
                <a:latin typeface="Calibri"/>
                <a:cs typeface="Calibri"/>
              </a:rPr>
              <a:t>explicitly</a:t>
            </a:r>
            <a:r>
              <a:rPr sz="1750" spc="20" dirty="0">
                <a:latin typeface="Calibri"/>
                <a:cs typeface="Calibri"/>
              </a:rPr>
              <a:t> </a:t>
            </a:r>
            <a:r>
              <a:rPr sz="1750" dirty="0">
                <a:latin typeface="Calibri"/>
                <a:cs typeface="Calibri"/>
              </a:rPr>
              <a:t>state</a:t>
            </a:r>
            <a:r>
              <a:rPr sz="1750" spc="-30" dirty="0">
                <a:latin typeface="Calibri"/>
                <a:cs typeface="Calibri"/>
              </a:rPr>
              <a:t> </a:t>
            </a:r>
            <a:r>
              <a:rPr sz="1750" spc="-20" dirty="0">
                <a:latin typeface="Calibri"/>
                <a:cs typeface="Calibri"/>
              </a:rPr>
              <a:t>them</a:t>
            </a:r>
            <a:endParaRPr sz="1750" dirty="0">
              <a:latin typeface="Calibri"/>
              <a:cs typeface="Calibri"/>
            </a:endParaRPr>
          </a:p>
          <a:p>
            <a:pPr marL="473709" marR="5080" lvl="1" indent="-149860" algn="just">
              <a:lnSpc>
                <a:spcPts val="1700"/>
              </a:lnSpc>
              <a:spcBef>
                <a:spcPts val="400"/>
              </a:spcBef>
              <a:buChar char="•"/>
              <a:tabLst>
                <a:tab pos="480695" algn="l"/>
                <a:tab pos="2125345" algn="l"/>
              </a:tabLst>
            </a:pPr>
            <a:r>
              <a:rPr lang="en-US" sz="1700" spc="100" dirty="0">
                <a:latin typeface="Calibri"/>
                <a:cs typeface="Calibri"/>
              </a:rPr>
              <a:t>Exciting Requirements</a:t>
            </a:r>
            <a:r>
              <a:rPr sz="1700" dirty="0">
                <a:latin typeface="Calibri"/>
                <a:cs typeface="Calibri"/>
              </a:rPr>
              <a:t>:</a:t>
            </a:r>
            <a:r>
              <a:rPr sz="1700" spc="110" dirty="0">
                <a:latin typeface="Calibri"/>
                <a:cs typeface="Calibri"/>
              </a:rPr>
              <a:t> </a:t>
            </a:r>
            <a:r>
              <a:rPr sz="1700" dirty="0">
                <a:latin typeface="Calibri"/>
                <a:cs typeface="Calibri"/>
              </a:rPr>
              <a:t>These</a:t>
            </a:r>
            <a:r>
              <a:rPr sz="1700" spc="110" dirty="0">
                <a:latin typeface="Calibri"/>
                <a:cs typeface="Calibri"/>
              </a:rPr>
              <a:t> </a:t>
            </a:r>
            <a:r>
              <a:rPr sz="1700" dirty="0">
                <a:latin typeface="Calibri"/>
                <a:cs typeface="Calibri"/>
              </a:rPr>
              <a:t>requirements</a:t>
            </a:r>
            <a:r>
              <a:rPr sz="1700" spc="120" dirty="0">
                <a:latin typeface="Calibri"/>
                <a:cs typeface="Calibri"/>
              </a:rPr>
              <a:t> </a:t>
            </a:r>
            <a:r>
              <a:rPr sz="1700" dirty="0">
                <a:solidFill>
                  <a:srgbClr val="0C0C0C"/>
                </a:solidFill>
                <a:latin typeface="Calibri"/>
                <a:cs typeface="Calibri"/>
              </a:rPr>
              <a:t>are</a:t>
            </a:r>
            <a:r>
              <a:rPr sz="1700" spc="170" dirty="0">
                <a:solidFill>
                  <a:srgbClr val="0C0C0C"/>
                </a:solidFill>
                <a:latin typeface="Calibri"/>
                <a:cs typeface="Calibri"/>
              </a:rPr>
              <a:t> </a:t>
            </a:r>
            <a:r>
              <a:rPr sz="1700" dirty="0">
                <a:latin typeface="Calibri"/>
                <a:cs typeface="Calibri"/>
              </a:rPr>
              <a:t>for</a:t>
            </a:r>
            <a:r>
              <a:rPr sz="1700" spc="114" dirty="0">
                <a:latin typeface="Calibri"/>
                <a:cs typeface="Calibri"/>
              </a:rPr>
              <a:t> </a:t>
            </a:r>
            <a:r>
              <a:rPr sz="1700" dirty="0">
                <a:latin typeface="Calibri"/>
                <a:cs typeface="Calibri"/>
              </a:rPr>
              <a:t>features</a:t>
            </a:r>
            <a:r>
              <a:rPr sz="1700" spc="245" dirty="0">
                <a:latin typeface="Calibri"/>
                <a:cs typeface="Calibri"/>
              </a:rPr>
              <a:t> </a:t>
            </a:r>
            <a:r>
              <a:rPr sz="1700" dirty="0">
                <a:latin typeface="Calibri"/>
                <a:cs typeface="Calibri"/>
              </a:rPr>
              <a:t>that</a:t>
            </a:r>
            <a:r>
              <a:rPr sz="1700" spc="110" dirty="0">
                <a:latin typeface="Calibri"/>
                <a:cs typeface="Calibri"/>
              </a:rPr>
              <a:t> </a:t>
            </a:r>
            <a:r>
              <a:rPr sz="1700" spc="-25" dirty="0">
                <a:solidFill>
                  <a:srgbClr val="0F0F0F"/>
                </a:solidFill>
                <a:latin typeface="Calibri"/>
                <a:cs typeface="Calibri"/>
              </a:rPr>
              <a:t>go </a:t>
            </a:r>
            <a:r>
              <a:rPr sz="1700" dirty="0">
                <a:latin typeface="Calibri"/>
                <a:cs typeface="Calibri"/>
              </a:rPr>
              <a:t>beyond</a:t>
            </a:r>
            <a:r>
              <a:rPr sz="1700" spc="245" dirty="0">
                <a:latin typeface="Calibri"/>
                <a:cs typeface="Calibri"/>
              </a:rPr>
              <a:t> </a:t>
            </a:r>
            <a:r>
              <a:rPr sz="1700" dirty="0">
                <a:latin typeface="Calibri"/>
                <a:cs typeface="Calibri"/>
              </a:rPr>
              <a:t>the</a:t>
            </a:r>
            <a:r>
              <a:rPr sz="1700" spc="40" dirty="0">
                <a:latin typeface="Calibri"/>
                <a:cs typeface="Calibri"/>
              </a:rPr>
              <a:t> </a:t>
            </a:r>
            <a:r>
              <a:rPr sz="1700" dirty="0">
                <a:latin typeface="Calibri"/>
                <a:cs typeface="Calibri"/>
              </a:rPr>
              <a:t>customer's</a:t>
            </a:r>
            <a:r>
              <a:rPr sz="1700" spc="175" dirty="0">
                <a:latin typeface="Calibri"/>
                <a:cs typeface="Calibri"/>
              </a:rPr>
              <a:t> </a:t>
            </a:r>
            <a:r>
              <a:rPr sz="1700" dirty="0">
                <a:latin typeface="Calibri"/>
                <a:cs typeface="Calibri"/>
              </a:rPr>
              <a:t>expectations</a:t>
            </a:r>
            <a:r>
              <a:rPr sz="1700" spc="290" dirty="0">
                <a:latin typeface="Calibri"/>
                <a:cs typeface="Calibri"/>
              </a:rPr>
              <a:t> </a:t>
            </a:r>
            <a:r>
              <a:rPr sz="1700" dirty="0">
                <a:latin typeface="Calibri"/>
                <a:cs typeface="Calibri"/>
              </a:rPr>
              <a:t>and</a:t>
            </a:r>
            <a:r>
              <a:rPr sz="1700" spc="65" dirty="0">
                <a:latin typeface="Calibri"/>
                <a:cs typeface="Calibri"/>
              </a:rPr>
              <a:t> </a:t>
            </a:r>
            <a:r>
              <a:rPr sz="1700" dirty="0">
                <a:latin typeface="Calibri"/>
                <a:cs typeface="Calibri"/>
              </a:rPr>
              <a:t>prove</a:t>
            </a:r>
            <a:r>
              <a:rPr sz="1700" spc="125" dirty="0">
                <a:latin typeface="Calibri"/>
                <a:cs typeface="Calibri"/>
              </a:rPr>
              <a:t> </a:t>
            </a:r>
            <a:r>
              <a:rPr sz="1700" dirty="0">
                <a:solidFill>
                  <a:srgbClr val="1C1C1C"/>
                </a:solidFill>
                <a:latin typeface="Calibri"/>
                <a:cs typeface="Calibri"/>
              </a:rPr>
              <a:t>to</a:t>
            </a:r>
            <a:r>
              <a:rPr sz="1700" spc="90" dirty="0">
                <a:solidFill>
                  <a:srgbClr val="1C1C1C"/>
                </a:solidFill>
                <a:latin typeface="Calibri"/>
                <a:cs typeface="Calibri"/>
              </a:rPr>
              <a:t> </a:t>
            </a:r>
            <a:r>
              <a:rPr sz="1700" dirty="0">
                <a:solidFill>
                  <a:srgbClr val="111111"/>
                </a:solidFill>
                <a:latin typeface="Calibri"/>
                <a:cs typeface="Calibri"/>
              </a:rPr>
              <a:t>be</a:t>
            </a:r>
            <a:r>
              <a:rPr sz="1700" spc="220" dirty="0">
                <a:solidFill>
                  <a:srgbClr val="111111"/>
                </a:solidFill>
                <a:latin typeface="Calibri"/>
                <a:cs typeface="Calibri"/>
              </a:rPr>
              <a:t> </a:t>
            </a:r>
            <a:r>
              <a:rPr sz="1700" dirty="0">
                <a:solidFill>
                  <a:srgbClr val="111111"/>
                </a:solidFill>
                <a:latin typeface="Calibri"/>
                <a:cs typeface="Calibri"/>
              </a:rPr>
              <a:t>very</a:t>
            </a:r>
            <a:r>
              <a:rPr sz="1700" spc="135" dirty="0">
                <a:solidFill>
                  <a:srgbClr val="111111"/>
                </a:solidFill>
                <a:latin typeface="Calibri"/>
                <a:cs typeface="Calibri"/>
              </a:rPr>
              <a:t> </a:t>
            </a:r>
            <a:r>
              <a:rPr sz="1700" spc="-10" dirty="0">
                <a:latin typeface="Calibri"/>
                <a:cs typeface="Calibri"/>
              </a:rPr>
              <a:t>satisfying </a:t>
            </a:r>
            <a:r>
              <a:rPr sz="1700" dirty="0">
                <a:latin typeface="Calibri"/>
                <a:cs typeface="Calibri"/>
              </a:rPr>
              <a:t>when</a:t>
            </a:r>
            <a:r>
              <a:rPr sz="1700" spc="65" dirty="0">
                <a:latin typeface="Calibri"/>
                <a:cs typeface="Calibri"/>
              </a:rPr>
              <a:t> </a:t>
            </a:r>
            <a:r>
              <a:rPr sz="1700" spc="-10" dirty="0">
                <a:latin typeface="Calibri"/>
                <a:cs typeface="Calibri"/>
              </a:rPr>
              <a:t>present</a:t>
            </a:r>
            <a:endParaRPr sz="1700" dirty="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C7BF689B-2351-CE33-807F-1AECB17420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837" rIns="0" bIns="0" rtlCol="0">
            <a:spAutoFit/>
          </a:bodyPr>
          <a:lstStyle/>
          <a:p>
            <a:pPr marL="615950">
              <a:lnSpc>
                <a:spcPct val="100000"/>
              </a:lnSpc>
              <a:spcBef>
                <a:spcPts val="105"/>
              </a:spcBef>
            </a:pPr>
            <a:r>
              <a:rPr sz="5050" spc="210" dirty="0">
                <a:latin typeface="Calibri"/>
                <a:cs typeface="Calibri"/>
              </a:rPr>
              <a:t>Elaboration</a:t>
            </a:r>
            <a:r>
              <a:rPr sz="5050" spc="570" dirty="0">
                <a:latin typeface="Calibri"/>
                <a:cs typeface="Calibri"/>
              </a:rPr>
              <a:t> </a:t>
            </a:r>
            <a:r>
              <a:rPr sz="5050" spc="360" dirty="0">
                <a:latin typeface="Calibri"/>
                <a:cs typeface="Calibri"/>
              </a:rPr>
              <a:t>Task</a:t>
            </a:r>
            <a:endParaRPr sz="5050">
              <a:latin typeface="Calibri"/>
              <a:cs typeface="Calibri"/>
            </a:endParaRPr>
          </a:p>
        </p:txBody>
      </p:sp>
      <p:sp>
        <p:nvSpPr>
          <p:cNvPr id="3" name="object 3"/>
          <p:cNvSpPr txBox="1"/>
          <p:nvPr/>
        </p:nvSpPr>
        <p:spPr>
          <a:xfrm>
            <a:off x="596702" y="1201561"/>
            <a:ext cx="6563359" cy="4046220"/>
          </a:xfrm>
          <a:prstGeom prst="rect">
            <a:avLst/>
          </a:prstGeom>
        </p:spPr>
        <p:txBody>
          <a:bodyPr vert="horz" wrap="square" lIns="0" tIns="48260" rIns="0" bIns="0" rtlCol="0">
            <a:spAutoFit/>
          </a:bodyPr>
          <a:lstStyle/>
          <a:p>
            <a:pPr marL="170815" marR="5080" indent="-158750">
              <a:lnSpc>
                <a:spcPct val="90300"/>
              </a:lnSpc>
              <a:spcBef>
                <a:spcPts val="380"/>
              </a:spcBef>
              <a:buChar char="•"/>
              <a:tabLst>
                <a:tab pos="170815" algn="l"/>
                <a:tab pos="179070" algn="l"/>
              </a:tabLst>
            </a:pPr>
            <a:r>
              <a:rPr sz="2100" dirty="0">
                <a:latin typeface="Calibri"/>
                <a:cs typeface="Calibri"/>
              </a:rPr>
              <a:t>	During</a:t>
            </a:r>
            <a:r>
              <a:rPr sz="2100" spc="-50" dirty="0">
                <a:latin typeface="Calibri"/>
                <a:cs typeface="Calibri"/>
              </a:rPr>
              <a:t> </a:t>
            </a:r>
            <a:r>
              <a:rPr sz="2100" dirty="0">
                <a:latin typeface="Calibri"/>
                <a:cs typeface="Calibri"/>
              </a:rPr>
              <a:t>elaboration,</a:t>
            </a:r>
            <a:r>
              <a:rPr sz="2100" spc="55" dirty="0">
                <a:latin typeface="Calibri"/>
                <a:cs typeface="Calibri"/>
              </a:rPr>
              <a:t> </a:t>
            </a:r>
            <a:r>
              <a:rPr sz="2100" dirty="0">
                <a:latin typeface="Calibri"/>
                <a:cs typeface="Calibri"/>
              </a:rPr>
              <a:t>the</a:t>
            </a:r>
            <a:r>
              <a:rPr sz="2100" spc="-40" dirty="0">
                <a:latin typeface="Calibri"/>
                <a:cs typeface="Calibri"/>
              </a:rPr>
              <a:t> </a:t>
            </a:r>
            <a:r>
              <a:rPr sz="2100" dirty="0">
                <a:latin typeface="Calibri"/>
                <a:cs typeface="Calibri"/>
              </a:rPr>
              <a:t>software</a:t>
            </a:r>
            <a:r>
              <a:rPr sz="2100" spc="5" dirty="0">
                <a:latin typeface="Calibri"/>
                <a:cs typeface="Calibri"/>
              </a:rPr>
              <a:t> </a:t>
            </a:r>
            <a:r>
              <a:rPr sz="2100" dirty="0">
                <a:latin typeface="Calibri"/>
                <a:cs typeface="Calibri"/>
              </a:rPr>
              <a:t>engineer</a:t>
            </a:r>
            <a:r>
              <a:rPr sz="2100" spc="75" dirty="0">
                <a:latin typeface="Calibri"/>
                <a:cs typeface="Calibri"/>
              </a:rPr>
              <a:t> </a:t>
            </a:r>
            <a:r>
              <a:rPr sz="2100" dirty="0">
                <a:latin typeface="Calibri"/>
                <a:cs typeface="Calibri"/>
              </a:rPr>
              <a:t>takes</a:t>
            </a:r>
            <a:r>
              <a:rPr sz="2100" spc="-110" dirty="0">
                <a:latin typeface="Calibri"/>
                <a:cs typeface="Calibri"/>
              </a:rPr>
              <a:t> </a:t>
            </a:r>
            <a:r>
              <a:rPr sz="2100" spc="-25" dirty="0">
                <a:latin typeface="Calibri"/>
                <a:cs typeface="Calibri"/>
              </a:rPr>
              <a:t>the </a:t>
            </a:r>
            <a:r>
              <a:rPr sz="2100" dirty="0">
                <a:latin typeface="Calibri"/>
                <a:cs typeface="Calibri"/>
              </a:rPr>
              <a:t>information</a:t>
            </a:r>
            <a:r>
              <a:rPr sz="2100" spc="135" dirty="0">
                <a:latin typeface="Calibri"/>
                <a:cs typeface="Calibri"/>
              </a:rPr>
              <a:t> </a:t>
            </a:r>
            <a:r>
              <a:rPr sz="2100" dirty="0">
                <a:latin typeface="Calibri"/>
                <a:cs typeface="Calibri"/>
              </a:rPr>
              <a:t>obtained</a:t>
            </a:r>
            <a:r>
              <a:rPr sz="2100" spc="170" dirty="0">
                <a:latin typeface="Calibri"/>
                <a:cs typeface="Calibri"/>
              </a:rPr>
              <a:t> </a:t>
            </a:r>
            <a:r>
              <a:rPr sz="2100" dirty="0">
                <a:latin typeface="Calibri"/>
                <a:cs typeface="Calibri"/>
              </a:rPr>
              <a:t>during</a:t>
            </a:r>
            <a:r>
              <a:rPr sz="2100" spc="35" dirty="0">
                <a:latin typeface="Calibri"/>
                <a:cs typeface="Calibri"/>
              </a:rPr>
              <a:t> </a:t>
            </a:r>
            <a:r>
              <a:rPr sz="2100" dirty="0">
                <a:latin typeface="Calibri"/>
                <a:cs typeface="Calibri"/>
              </a:rPr>
              <a:t>inception</a:t>
            </a:r>
            <a:r>
              <a:rPr sz="2100" spc="114" dirty="0">
                <a:latin typeface="Calibri"/>
                <a:cs typeface="Calibri"/>
              </a:rPr>
              <a:t> </a:t>
            </a:r>
            <a:r>
              <a:rPr sz="2100" dirty="0">
                <a:latin typeface="Calibri"/>
                <a:cs typeface="Calibri"/>
              </a:rPr>
              <a:t>and</a:t>
            </a:r>
            <a:r>
              <a:rPr sz="2100" spc="10" dirty="0">
                <a:latin typeface="Calibri"/>
                <a:cs typeface="Calibri"/>
              </a:rPr>
              <a:t> </a:t>
            </a:r>
            <a:r>
              <a:rPr sz="2100" dirty="0">
                <a:latin typeface="Calibri"/>
                <a:cs typeface="Calibri"/>
              </a:rPr>
              <a:t>elicitation</a:t>
            </a:r>
            <a:r>
              <a:rPr sz="2100" spc="190" dirty="0">
                <a:latin typeface="Calibri"/>
                <a:cs typeface="Calibri"/>
              </a:rPr>
              <a:t> </a:t>
            </a:r>
            <a:r>
              <a:rPr sz="2100" spc="-25" dirty="0">
                <a:latin typeface="Calibri"/>
                <a:cs typeface="Calibri"/>
              </a:rPr>
              <a:t>and </a:t>
            </a:r>
            <a:r>
              <a:rPr sz="2100" dirty="0">
                <a:latin typeface="Calibri"/>
                <a:cs typeface="Calibri"/>
              </a:rPr>
              <a:t>begins</a:t>
            </a:r>
            <a:r>
              <a:rPr sz="2100" spc="140" dirty="0">
                <a:latin typeface="Calibri"/>
                <a:cs typeface="Calibri"/>
              </a:rPr>
              <a:t> </a:t>
            </a:r>
            <a:r>
              <a:rPr sz="2100" dirty="0">
                <a:latin typeface="Calibri"/>
                <a:cs typeface="Calibri"/>
              </a:rPr>
              <a:t>to</a:t>
            </a:r>
            <a:r>
              <a:rPr sz="2100" spc="95" dirty="0">
                <a:latin typeface="Calibri"/>
                <a:cs typeface="Calibri"/>
              </a:rPr>
              <a:t> </a:t>
            </a:r>
            <a:r>
              <a:rPr sz="2100" dirty="0">
                <a:latin typeface="Calibri"/>
                <a:cs typeface="Calibri"/>
              </a:rPr>
              <a:t>expand</a:t>
            </a:r>
            <a:r>
              <a:rPr sz="2100" spc="10" dirty="0">
                <a:latin typeface="Calibri"/>
                <a:cs typeface="Calibri"/>
              </a:rPr>
              <a:t> </a:t>
            </a:r>
            <a:r>
              <a:rPr sz="2100" spc="60" dirty="0">
                <a:latin typeface="Calibri"/>
                <a:cs typeface="Calibri"/>
              </a:rPr>
              <a:t>and</a:t>
            </a:r>
            <a:r>
              <a:rPr sz="2100" spc="-55" dirty="0">
                <a:latin typeface="Calibri"/>
                <a:cs typeface="Calibri"/>
              </a:rPr>
              <a:t> </a:t>
            </a:r>
            <a:r>
              <a:rPr sz="2100" dirty="0">
                <a:latin typeface="Calibri"/>
                <a:cs typeface="Calibri"/>
              </a:rPr>
              <a:t>refine</a:t>
            </a:r>
            <a:r>
              <a:rPr sz="2100" spc="90" dirty="0">
                <a:latin typeface="Calibri"/>
                <a:cs typeface="Calibri"/>
              </a:rPr>
              <a:t> </a:t>
            </a:r>
            <a:r>
              <a:rPr sz="2100" spc="-25" dirty="0">
                <a:latin typeface="Calibri"/>
                <a:cs typeface="Calibri"/>
              </a:rPr>
              <a:t>it</a:t>
            </a:r>
            <a:endParaRPr sz="2100">
              <a:latin typeface="Calibri"/>
              <a:cs typeface="Calibri"/>
            </a:endParaRPr>
          </a:p>
          <a:p>
            <a:pPr marL="170180" marR="401955" indent="-158115">
              <a:lnSpc>
                <a:spcPts val="2300"/>
              </a:lnSpc>
              <a:spcBef>
                <a:spcPts val="740"/>
              </a:spcBef>
              <a:buChar char="•"/>
              <a:tabLst>
                <a:tab pos="170180" algn="l"/>
                <a:tab pos="179070" algn="l"/>
              </a:tabLst>
            </a:pPr>
            <a:r>
              <a:rPr sz="2100" dirty="0">
                <a:latin typeface="Calibri"/>
                <a:cs typeface="Calibri"/>
              </a:rPr>
              <a:t>	</a:t>
            </a:r>
            <a:r>
              <a:rPr sz="2100" spc="-10" dirty="0">
                <a:latin typeface="Calibri"/>
                <a:cs typeface="Calibri"/>
              </a:rPr>
              <a:t>Elaboration</a:t>
            </a:r>
            <a:r>
              <a:rPr sz="2100" spc="170" dirty="0">
                <a:latin typeface="Calibri"/>
                <a:cs typeface="Calibri"/>
              </a:rPr>
              <a:t> </a:t>
            </a:r>
            <a:r>
              <a:rPr sz="2100" dirty="0">
                <a:latin typeface="Calibri"/>
                <a:cs typeface="Calibri"/>
              </a:rPr>
              <a:t>focuses</a:t>
            </a:r>
            <a:r>
              <a:rPr sz="2100" spc="15" dirty="0">
                <a:latin typeface="Calibri"/>
                <a:cs typeface="Calibri"/>
              </a:rPr>
              <a:t> </a:t>
            </a:r>
            <a:r>
              <a:rPr sz="2100" dirty="0">
                <a:latin typeface="Calibri"/>
                <a:cs typeface="Calibri"/>
              </a:rPr>
              <a:t>on</a:t>
            </a:r>
            <a:r>
              <a:rPr sz="2100" spc="-30" dirty="0">
                <a:latin typeface="Calibri"/>
                <a:cs typeface="Calibri"/>
              </a:rPr>
              <a:t> </a:t>
            </a:r>
            <a:r>
              <a:rPr sz="2100" dirty="0">
                <a:latin typeface="Calibri"/>
                <a:cs typeface="Calibri"/>
              </a:rPr>
              <a:t>developing</a:t>
            </a:r>
            <a:r>
              <a:rPr sz="2100" spc="100" dirty="0">
                <a:latin typeface="Calibri"/>
                <a:cs typeface="Calibri"/>
              </a:rPr>
              <a:t> </a:t>
            </a:r>
            <a:r>
              <a:rPr sz="2100" dirty="0">
                <a:latin typeface="Calibri"/>
                <a:cs typeface="Calibri"/>
              </a:rPr>
              <a:t>a</a:t>
            </a:r>
            <a:r>
              <a:rPr sz="2100" spc="-25" dirty="0">
                <a:latin typeface="Calibri"/>
                <a:cs typeface="Calibri"/>
              </a:rPr>
              <a:t> </a:t>
            </a:r>
            <a:r>
              <a:rPr sz="2100" dirty="0">
                <a:latin typeface="Calibri"/>
                <a:cs typeface="Calibri"/>
              </a:rPr>
              <a:t>refined</a:t>
            </a:r>
            <a:r>
              <a:rPr sz="2100" spc="-10" dirty="0">
                <a:latin typeface="Calibri"/>
                <a:cs typeface="Calibri"/>
              </a:rPr>
              <a:t> technical </a:t>
            </a:r>
            <a:r>
              <a:rPr sz="2100" dirty="0">
                <a:latin typeface="Calibri"/>
                <a:cs typeface="Calibri"/>
              </a:rPr>
              <a:t>model</a:t>
            </a:r>
            <a:r>
              <a:rPr sz="2100" spc="-15" dirty="0">
                <a:latin typeface="Calibri"/>
                <a:cs typeface="Calibri"/>
              </a:rPr>
              <a:t> </a:t>
            </a:r>
            <a:r>
              <a:rPr sz="2100" dirty="0">
                <a:latin typeface="Calibri"/>
                <a:cs typeface="Calibri"/>
              </a:rPr>
              <a:t>of</a:t>
            </a:r>
            <a:r>
              <a:rPr sz="2100" spc="-10" dirty="0">
                <a:latin typeface="Calibri"/>
                <a:cs typeface="Calibri"/>
              </a:rPr>
              <a:t> </a:t>
            </a:r>
            <a:r>
              <a:rPr sz="2100" dirty="0">
                <a:latin typeface="Calibri"/>
                <a:cs typeface="Calibri"/>
              </a:rPr>
              <a:t>software</a:t>
            </a:r>
            <a:r>
              <a:rPr sz="2100" spc="5" dirty="0">
                <a:latin typeface="Calibri"/>
                <a:cs typeface="Calibri"/>
              </a:rPr>
              <a:t> </a:t>
            </a:r>
            <a:r>
              <a:rPr sz="2100" dirty="0">
                <a:latin typeface="Calibri"/>
                <a:cs typeface="Calibri"/>
              </a:rPr>
              <a:t>functions,</a:t>
            </a:r>
            <a:r>
              <a:rPr sz="2100" spc="55" dirty="0">
                <a:latin typeface="Calibri"/>
                <a:cs typeface="Calibri"/>
              </a:rPr>
              <a:t> </a:t>
            </a:r>
            <a:r>
              <a:rPr sz="2100" dirty="0">
                <a:latin typeface="Calibri"/>
                <a:cs typeface="Calibri"/>
              </a:rPr>
              <a:t>features,</a:t>
            </a:r>
            <a:r>
              <a:rPr sz="2100" spc="114" dirty="0">
                <a:latin typeface="Calibri"/>
                <a:cs typeface="Calibri"/>
              </a:rPr>
              <a:t> </a:t>
            </a:r>
            <a:r>
              <a:rPr sz="2100" dirty="0">
                <a:latin typeface="Calibri"/>
                <a:cs typeface="Calibri"/>
              </a:rPr>
              <a:t>and</a:t>
            </a:r>
            <a:r>
              <a:rPr sz="2100" spc="-40" dirty="0">
                <a:latin typeface="Calibri"/>
                <a:cs typeface="Calibri"/>
              </a:rPr>
              <a:t> </a:t>
            </a:r>
            <a:r>
              <a:rPr sz="2100" spc="-10" dirty="0">
                <a:latin typeface="Calibri"/>
                <a:cs typeface="Calibri"/>
              </a:rPr>
              <a:t>constraints</a:t>
            </a:r>
            <a:endParaRPr sz="2100">
              <a:latin typeface="Calibri"/>
              <a:cs typeface="Calibri"/>
            </a:endParaRPr>
          </a:p>
          <a:p>
            <a:pPr marL="23495">
              <a:lnSpc>
                <a:spcPct val="100000"/>
              </a:lnSpc>
              <a:spcBef>
                <a:spcPts val="290"/>
              </a:spcBef>
            </a:pPr>
            <a:r>
              <a:rPr sz="2250" dirty="0">
                <a:latin typeface="Calibri"/>
                <a:cs typeface="Calibri"/>
              </a:rPr>
              <a:t>°</a:t>
            </a:r>
            <a:r>
              <a:rPr sz="2250" spc="-114" dirty="0">
                <a:latin typeface="Calibri"/>
                <a:cs typeface="Calibri"/>
              </a:rPr>
              <a:t> </a:t>
            </a:r>
            <a:r>
              <a:rPr sz="2250" dirty="0">
                <a:latin typeface="Calibri"/>
                <a:cs typeface="Calibri"/>
              </a:rPr>
              <a:t>It</a:t>
            </a:r>
            <a:r>
              <a:rPr sz="2250" spc="-75" dirty="0">
                <a:latin typeface="Calibri"/>
                <a:cs typeface="Calibri"/>
              </a:rPr>
              <a:t> </a:t>
            </a:r>
            <a:r>
              <a:rPr sz="2250" spc="-45" dirty="0">
                <a:solidFill>
                  <a:srgbClr val="1A1A1A"/>
                </a:solidFill>
                <a:latin typeface="Calibri"/>
                <a:cs typeface="Calibri"/>
              </a:rPr>
              <a:t>is</a:t>
            </a:r>
            <a:r>
              <a:rPr sz="2250" spc="-35" dirty="0">
                <a:solidFill>
                  <a:srgbClr val="1A1A1A"/>
                </a:solidFill>
                <a:latin typeface="Calibri"/>
                <a:cs typeface="Calibri"/>
              </a:rPr>
              <a:t> </a:t>
            </a:r>
            <a:r>
              <a:rPr sz="2250" spc="-60" dirty="0">
                <a:latin typeface="Calibri"/>
                <a:cs typeface="Calibri"/>
              </a:rPr>
              <a:t>an</a:t>
            </a:r>
            <a:r>
              <a:rPr sz="2250" spc="-70" dirty="0">
                <a:latin typeface="Calibri"/>
                <a:cs typeface="Calibri"/>
              </a:rPr>
              <a:t> </a:t>
            </a:r>
            <a:r>
              <a:rPr sz="2250" spc="-55" dirty="0">
                <a:latin typeface="Calibri"/>
                <a:cs typeface="Calibri"/>
              </a:rPr>
              <a:t>analysis</a:t>
            </a:r>
            <a:r>
              <a:rPr sz="2250" spc="10" dirty="0">
                <a:latin typeface="Calibri"/>
                <a:cs typeface="Calibri"/>
              </a:rPr>
              <a:t> </a:t>
            </a:r>
            <a:r>
              <a:rPr sz="2250" spc="-75" dirty="0">
                <a:latin typeface="Calibri"/>
                <a:cs typeface="Calibri"/>
              </a:rPr>
              <a:t>modeling</a:t>
            </a:r>
            <a:r>
              <a:rPr sz="2250" spc="-55" dirty="0">
                <a:latin typeface="Calibri"/>
                <a:cs typeface="Calibri"/>
              </a:rPr>
              <a:t> </a:t>
            </a:r>
            <a:r>
              <a:rPr sz="2250" spc="-20" dirty="0">
                <a:latin typeface="Calibri"/>
                <a:cs typeface="Calibri"/>
              </a:rPr>
              <a:t>task</a:t>
            </a:r>
            <a:endParaRPr sz="2250">
              <a:latin typeface="Calibri"/>
              <a:cs typeface="Calibri"/>
            </a:endParaRPr>
          </a:p>
          <a:p>
            <a:pPr marL="330835">
              <a:lnSpc>
                <a:spcPct val="100000"/>
              </a:lnSpc>
            </a:pPr>
            <a:r>
              <a:rPr sz="1850" dirty="0">
                <a:latin typeface="Calibri"/>
                <a:cs typeface="Calibri"/>
              </a:rPr>
              <a:t>°</a:t>
            </a:r>
            <a:r>
              <a:rPr sz="1850" spc="25" dirty="0">
                <a:latin typeface="Calibri"/>
                <a:cs typeface="Calibri"/>
              </a:rPr>
              <a:t> </a:t>
            </a:r>
            <a:r>
              <a:rPr sz="1850" spc="-10" dirty="0">
                <a:latin typeface="Calibri"/>
                <a:cs typeface="Calibri"/>
              </a:rPr>
              <a:t>Use</a:t>
            </a:r>
            <a:r>
              <a:rPr sz="1850" spc="-95" dirty="0">
                <a:latin typeface="Calibri"/>
                <a:cs typeface="Calibri"/>
              </a:rPr>
              <a:t> </a:t>
            </a:r>
            <a:r>
              <a:rPr sz="1850" spc="-10" dirty="0">
                <a:latin typeface="Calibri"/>
                <a:cs typeface="Calibri"/>
              </a:rPr>
              <a:t>cases</a:t>
            </a:r>
            <a:r>
              <a:rPr sz="1850" spc="35" dirty="0">
                <a:latin typeface="Calibri"/>
                <a:cs typeface="Calibri"/>
              </a:rPr>
              <a:t> </a:t>
            </a:r>
            <a:r>
              <a:rPr sz="1850" spc="-60" dirty="0">
                <a:latin typeface="Calibri"/>
                <a:cs typeface="Calibri"/>
              </a:rPr>
              <a:t>are</a:t>
            </a:r>
            <a:r>
              <a:rPr sz="1850" spc="-50" dirty="0">
                <a:latin typeface="Calibri"/>
                <a:cs typeface="Calibri"/>
              </a:rPr>
              <a:t> </a:t>
            </a:r>
            <a:r>
              <a:rPr sz="1850" spc="-10" dirty="0">
                <a:latin typeface="Calibri"/>
                <a:cs typeface="Calibri"/>
              </a:rPr>
              <a:t>developed</a:t>
            </a:r>
            <a:endParaRPr sz="1850">
              <a:latin typeface="Calibri"/>
              <a:cs typeface="Calibri"/>
            </a:endParaRPr>
          </a:p>
          <a:p>
            <a:pPr marL="477520" lvl="1" indent="-154940">
              <a:lnSpc>
                <a:spcPts val="1995"/>
              </a:lnSpc>
              <a:spcBef>
                <a:spcPts val="130"/>
              </a:spcBef>
              <a:buChar char="•"/>
              <a:tabLst>
                <a:tab pos="477520" algn="l"/>
              </a:tabLst>
            </a:pPr>
            <a:r>
              <a:rPr sz="1700" spc="55" dirty="0">
                <a:latin typeface="Calibri"/>
                <a:cs typeface="Calibri"/>
              </a:rPr>
              <a:t>Domain</a:t>
            </a:r>
            <a:r>
              <a:rPr sz="1700" spc="125" dirty="0">
                <a:latin typeface="Calibri"/>
                <a:cs typeface="Calibri"/>
              </a:rPr>
              <a:t> </a:t>
            </a:r>
            <a:r>
              <a:rPr sz="1700" dirty="0">
                <a:latin typeface="Calibri"/>
                <a:cs typeface="Calibri"/>
              </a:rPr>
              <a:t>classes</a:t>
            </a:r>
            <a:r>
              <a:rPr sz="1700" spc="195" dirty="0">
                <a:latin typeface="Calibri"/>
                <a:cs typeface="Calibri"/>
              </a:rPr>
              <a:t> </a:t>
            </a:r>
            <a:r>
              <a:rPr sz="1700" dirty="0">
                <a:latin typeface="Calibri"/>
                <a:cs typeface="Calibri"/>
              </a:rPr>
              <a:t>are</a:t>
            </a:r>
            <a:r>
              <a:rPr sz="1700" spc="200" dirty="0">
                <a:latin typeface="Calibri"/>
                <a:cs typeface="Calibri"/>
              </a:rPr>
              <a:t> </a:t>
            </a:r>
            <a:r>
              <a:rPr sz="1700" dirty="0">
                <a:latin typeface="Calibri"/>
                <a:cs typeface="Calibri"/>
              </a:rPr>
              <a:t>identified</a:t>
            </a:r>
            <a:r>
              <a:rPr sz="1700" spc="275" dirty="0">
                <a:latin typeface="Calibri"/>
                <a:cs typeface="Calibri"/>
              </a:rPr>
              <a:t> </a:t>
            </a:r>
            <a:r>
              <a:rPr sz="1700" dirty="0">
                <a:latin typeface="Calibri"/>
                <a:cs typeface="Calibri"/>
              </a:rPr>
              <a:t>along</a:t>
            </a:r>
            <a:r>
              <a:rPr sz="1700" spc="240" dirty="0">
                <a:latin typeface="Calibri"/>
                <a:cs typeface="Calibri"/>
              </a:rPr>
              <a:t> </a:t>
            </a:r>
            <a:r>
              <a:rPr sz="1700" dirty="0">
                <a:latin typeface="Calibri"/>
                <a:cs typeface="Calibri"/>
              </a:rPr>
              <a:t>with</a:t>
            </a:r>
            <a:r>
              <a:rPr sz="1700" spc="130" dirty="0">
                <a:latin typeface="Calibri"/>
                <a:cs typeface="Calibri"/>
              </a:rPr>
              <a:t> </a:t>
            </a:r>
            <a:r>
              <a:rPr sz="1700" dirty="0">
                <a:latin typeface="Calibri"/>
                <a:cs typeface="Calibri"/>
              </a:rPr>
              <a:t>their</a:t>
            </a:r>
            <a:r>
              <a:rPr sz="1700" spc="220" dirty="0">
                <a:latin typeface="Calibri"/>
                <a:cs typeface="Calibri"/>
              </a:rPr>
              <a:t> </a:t>
            </a:r>
            <a:r>
              <a:rPr sz="1700" dirty="0">
                <a:latin typeface="Calibri"/>
                <a:cs typeface="Calibri"/>
              </a:rPr>
              <a:t>attributes</a:t>
            </a:r>
            <a:r>
              <a:rPr sz="1700" spc="250" dirty="0">
                <a:latin typeface="Calibri"/>
                <a:cs typeface="Calibri"/>
              </a:rPr>
              <a:t> </a:t>
            </a:r>
            <a:r>
              <a:rPr sz="1700" spc="-25" dirty="0">
                <a:latin typeface="Calibri"/>
                <a:cs typeface="Calibri"/>
              </a:rPr>
              <a:t>and</a:t>
            </a:r>
            <a:endParaRPr sz="1700">
              <a:latin typeface="Calibri"/>
              <a:cs typeface="Calibri"/>
            </a:endParaRPr>
          </a:p>
          <a:p>
            <a:pPr marL="479425">
              <a:lnSpc>
                <a:spcPts val="1935"/>
              </a:lnSpc>
            </a:pPr>
            <a:r>
              <a:rPr sz="1650" spc="40" dirty="0">
                <a:latin typeface="Calibri"/>
                <a:cs typeface="Calibri"/>
              </a:rPr>
              <a:t>relationships</a:t>
            </a:r>
            <a:endParaRPr sz="1650">
              <a:latin typeface="Calibri"/>
              <a:cs typeface="Calibri"/>
            </a:endParaRPr>
          </a:p>
          <a:p>
            <a:pPr marL="330835">
              <a:lnSpc>
                <a:spcPct val="100000"/>
              </a:lnSpc>
              <a:spcBef>
                <a:spcPts val="120"/>
              </a:spcBef>
            </a:pPr>
            <a:r>
              <a:rPr sz="1850" dirty="0">
                <a:latin typeface="Calibri"/>
                <a:cs typeface="Calibri"/>
              </a:rPr>
              <a:t>°</a:t>
            </a:r>
            <a:r>
              <a:rPr sz="1850" spc="-10" dirty="0">
                <a:latin typeface="Calibri"/>
                <a:cs typeface="Calibri"/>
              </a:rPr>
              <a:t> </a:t>
            </a:r>
            <a:r>
              <a:rPr sz="1850" spc="-45" dirty="0">
                <a:solidFill>
                  <a:srgbClr val="282828"/>
                </a:solidFill>
                <a:latin typeface="Calibri"/>
                <a:cs typeface="Calibri"/>
              </a:rPr>
              <a:t>State</a:t>
            </a:r>
            <a:r>
              <a:rPr sz="1850" spc="-40" dirty="0">
                <a:solidFill>
                  <a:srgbClr val="282828"/>
                </a:solidFill>
                <a:latin typeface="Calibri"/>
                <a:cs typeface="Calibri"/>
              </a:rPr>
              <a:t> </a:t>
            </a:r>
            <a:r>
              <a:rPr sz="1850" spc="-20" dirty="0">
                <a:latin typeface="Calibri"/>
                <a:cs typeface="Calibri"/>
              </a:rPr>
              <a:t>machine</a:t>
            </a:r>
            <a:r>
              <a:rPr sz="1850" spc="-50" dirty="0">
                <a:latin typeface="Calibri"/>
                <a:cs typeface="Calibri"/>
              </a:rPr>
              <a:t> </a:t>
            </a:r>
            <a:r>
              <a:rPr sz="1850" spc="-30" dirty="0">
                <a:latin typeface="Calibri"/>
                <a:cs typeface="Calibri"/>
              </a:rPr>
              <a:t>diagrams</a:t>
            </a:r>
            <a:r>
              <a:rPr sz="1850" spc="70" dirty="0">
                <a:latin typeface="Calibri"/>
                <a:cs typeface="Calibri"/>
              </a:rPr>
              <a:t> </a:t>
            </a:r>
            <a:r>
              <a:rPr sz="1850" spc="-25" dirty="0">
                <a:latin typeface="Calibri"/>
                <a:cs typeface="Calibri"/>
              </a:rPr>
              <a:t>are</a:t>
            </a:r>
            <a:r>
              <a:rPr sz="1850" spc="-80" dirty="0">
                <a:latin typeface="Calibri"/>
                <a:cs typeface="Calibri"/>
              </a:rPr>
              <a:t> </a:t>
            </a:r>
            <a:r>
              <a:rPr sz="1850" spc="-20" dirty="0">
                <a:solidFill>
                  <a:srgbClr val="0F0F0F"/>
                </a:solidFill>
                <a:latin typeface="Calibri"/>
                <a:cs typeface="Calibri"/>
              </a:rPr>
              <a:t>used</a:t>
            </a:r>
            <a:r>
              <a:rPr sz="1850" spc="-15" dirty="0">
                <a:solidFill>
                  <a:srgbClr val="0F0F0F"/>
                </a:solidFill>
                <a:latin typeface="Calibri"/>
                <a:cs typeface="Calibri"/>
              </a:rPr>
              <a:t> </a:t>
            </a:r>
            <a:r>
              <a:rPr sz="1850" spc="-90" dirty="0">
                <a:solidFill>
                  <a:srgbClr val="161616"/>
                </a:solidFill>
                <a:latin typeface="Calibri"/>
                <a:cs typeface="Calibri"/>
              </a:rPr>
              <a:t>to</a:t>
            </a:r>
            <a:r>
              <a:rPr sz="1850" spc="-15" dirty="0">
                <a:solidFill>
                  <a:srgbClr val="161616"/>
                </a:solidFill>
                <a:latin typeface="Calibri"/>
                <a:cs typeface="Calibri"/>
              </a:rPr>
              <a:t> </a:t>
            </a:r>
            <a:r>
              <a:rPr sz="1850" spc="-45" dirty="0">
                <a:solidFill>
                  <a:srgbClr val="0F0F0F"/>
                </a:solidFill>
                <a:latin typeface="Calibri"/>
                <a:cs typeface="Calibri"/>
              </a:rPr>
              <a:t>capture</a:t>
            </a:r>
            <a:r>
              <a:rPr sz="1850" spc="-5" dirty="0">
                <a:solidFill>
                  <a:srgbClr val="0F0F0F"/>
                </a:solidFill>
                <a:latin typeface="Calibri"/>
                <a:cs typeface="Calibri"/>
              </a:rPr>
              <a:t> </a:t>
            </a:r>
            <a:r>
              <a:rPr sz="1850" spc="-40" dirty="0">
                <a:solidFill>
                  <a:srgbClr val="161616"/>
                </a:solidFill>
                <a:latin typeface="Calibri"/>
                <a:cs typeface="Calibri"/>
              </a:rPr>
              <a:t>the</a:t>
            </a:r>
            <a:r>
              <a:rPr sz="1850" spc="-60" dirty="0">
                <a:solidFill>
                  <a:srgbClr val="161616"/>
                </a:solidFill>
                <a:latin typeface="Calibri"/>
                <a:cs typeface="Calibri"/>
              </a:rPr>
              <a:t> </a:t>
            </a:r>
            <a:r>
              <a:rPr sz="1850" spc="-10" dirty="0">
                <a:latin typeface="Calibri"/>
                <a:cs typeface="Calibri"/>
              </a:rPr>
              <a:t>life</a:t>
            </a:r>
            <a:r>
              <a:rPr sz="1850" spc="-95" dirty="0">
                <a:latin typeface="Calibri"/>
                <a:cs typeface="Calibri"/>
              </a:rPr>
              <a:t> </a:t>
            </a:r>
            <a:r>
              <a:rPr sz="1850" dirty="0">
                <a:solidFill>
                  <a:srgbClr val="131313"/>
                </a:solidFill>
                <a:latin typeface="Calibri"/>
                <a:cs typeface="Calibri"/>
              </a:rPr>
              <a:t>on</a:t>
            </a:r>
            <a:r>
              <a:rPr sz="1850" spc="-70" dirty="0">
                <a:solidFill>
                  <a:srgbClr val="131313"/>
                </a:solidFill>
                <a:latin typeface="Calibri"/>
                <a:cs typeface="Calibri"/>
              </a:rPr>
              <a:t> </a:t>
            </a:r>
            <a:r>
              <a:rPr sz="1850" dirty="0">
                <a:solidFill>
                  <a:srgbClr val="313131"/>
                </a:solidFill>
                <a:latin typeface="Calibri"/>
                <a:cs typeface="Calibri"/>
              </a:rPr>
              <a:t>an</a:t>
            </a:r>
            <a:r>
              <a:rPr sz="1850" spc="-85" dirty="0">
                <a:solidFill>
                  <a:srgbClr val="313131"/>
                </a:solidFill>
                <a:latin typeface="Calibri"/>
                <a:cs typeface="Calibri"/>
              </a:rPr>
              <a:t> </a:t>
            </a:r>
            <a:r>
              <a:rPr sz="1850" spc="-10" dirty="0">
                <a:latin typeface="Calibri"/>
                <a:cs typeface="Calibri"/>
              </a:rPr>
              <a:t>object</a:t>
            </a:r>
            <a:endParaRPr sz="1850">
              <a:latin typeface="Calibri"/>
              <a:cs typeface="Calibri"/>
            </a:endParaRPr>
          </a:p>
          <a:p>
            <a:pPr marL="168275" marR="427355" indent="6985">
              <a:lnSpc>
                <a:spcPts val="2300"/>
              </a:lnSpc>
              <a:spcBef>
                <a:spcPts val="690"/>
              </a:spcBef>
            </a:pPr>
            <a:r>
              <a:rPr sz="2300" spc="-110" dirty="0">
                <a:latin typeface="Calibri"/>
                <a:cs typeface="Calibri"/>
              </a:rPr>
              <a:t>The</a:t>
            </a:r>
            <a:r>
              <a:rPr sz="2300" spc="-25" dirty="0">
                <a:latin typeface="Calibri"/>
                <a:cs typeface="Calibri"/>
              </a:rPr>
              <a:t> </a:t>
            </a:r>
            <a:r>
              <a:rPr sz="2300" spc="-140" dirty="0">
                <a:latin typeface="Calibri"/>
                <a:cs typeface="Calibri"/>
              </a:rPr>
              <a:t>end</a:t>
            </a:r>
            <a:r>
              <a:rPr sz="2300" spc="10" dirty="0">
                <a:latin typeface="Calibri"/>
                <a:cs typeface="Calibri"/>
              </a:rPr>
              <a:t> </a:t>
            </a:r>
            <a:r>
              <a:rPr sz="2300" spc="-75" dirty="0">
                <a:latin typeface="Calibri"/>
                <a:cs typeface="Calibri"/>
              </a:rPr>
              <a:t>result</a:t>
            </a:r>
            <a:r>
              <a:rPr sz="2300" spc="-55" dirty="0">
                <a:latin typeface="Calibri"/>
                <a:cs typeface="Calibri"/>
              </a:rPr>
              <a:t> </a:t>
            </a:r>
            <a:r>
              <a:rPr sz="2300" dirty="0">
                <a:latin typeface="Calibri"/>
                <a:cs typeface="Calibri"/>
              </a:rPr>
              <a:t>is</a:t>
            </a:r>
            <a:r>
              <a:rPr sz="2300" spc="-130" dirty="0">
                <a:latin typeface="Calibri"/>
                <a:cs typeface="Calibri"/>
              </a:rPr>
              <a:t> </a:t>
            </a:r>
            <a:r>
              <a:rPr sz="2300" spc="-114" dirty="0">
                <a:latin typeface="Calibri"/>
                <a:cs typeface="Calibri"/>
              </a:rPr>
              <a:t>an</a:t>
            </a:r>
            <a:r>
              <a:rPr sz="2300" spc="-30" dirty="0">
                <a:latin typeface="Calibri"/>
                <a:cs typeface="Calibri"/>
              </a:rPr>
              <a:t> </a:t>
            </a:r>
            <a:r>
              <a:rPr sz="2300" spc="-50" dirty="0">
                <a:latin typeface="Calibri"/>
                <a:cs typeface="Calibri"/>
              </a:rPr>
              <a:t>analysis</a:t>
            </a:r>
            <a:r>
              <a:rPr sz="2300" spc="-30" dirty="0">
                <a:latin typeface="Calibri"/>
                <a:cs typeface="Calibri"/>
              </a:rPr>
              <a:t> </a:t>
            </a:r>
            <a:r>
              <a:rPr sz="2300" spc="-60" dirty="0">
                <a:latin typeface="Calibri"/>
                <a:cs typeface="Calibri"/>
              </a:rPr>
              <a:t>model</a:t>
            </a:r>
            <a:r>
              <a:rPr sz="2300" dirty="0">
                <a:latin typeface="Calibri"/>
                <a:cs typeface="Calibri"/>
              </a:rPr>
              <a:t> </a:t>
            </a:r>
            <a:r>
              <a:rPr sz="2300" spc="-80" dirty="0">
                <a:latin typeface="Calibri"/>
                <a:cs typeface="Calibri"/>
              </a:rPr>
              <a:t>that</a:t>
            </a:r>
            <a:r>
              <a:rPr sz="2300" spc="-50" dirty="0">
                <a:latin typeface="Calibri"/>
                <a:cs typeface="Calibri"/>
              </a:rPr>
              <a:t> </a:t>
            </a:r>
            <a:r>
              <a:rPr sz="2300" spc="-90" dirty="0">
                <a:latin typeface="Calibri"/>
                <a:cs typeface="Calibri"/>
              </a:rPr>
              <a:t>defines</a:t>
            </a:r>
            <a:r>
              <a:rPr sz="2300" spc="-5" dirty="0">
                <a:latin typeface="Calibri"/>
                <a:cs typeface="Calibri"/>
              </a:rPr>
              <a:t> </a:t>
            </a:r>
            <a:r>
              <a:rPr sz="2300" spc="-25" dirty="0">
                <a:latin typeface="Calibri"/>
                <a:cs typeface="Calibri"/>
              </a:rPr>
              <a:t>the </a:t>
            </a:r>
            <a:r>
              <a:rPr sz="2300" spc="-80" dirty="0">
                <a:latin typeface="Calibri"/>
                <a:cs typeface="Calibri"/>
              </a:rPr>
              <a:t>functional,</a:t>
            </a:r>
            <a:r>
              <a:rPr sz="2300" spc="50" dirty="0">
                <a:latin typeface="Calibri"/>
                <a:cs typeface="Calibri"/>
              </a:rPr>
              <a:t> </a:t>
            </a:r>
            <a:r>
              <a:rPr sz="2300" spc="-85" dirty="0">
                <a:latin typeface="Calibri"/>
                <a:cs typeface="Calibri"/>
              </a:rPr>
              <a:t>informational,</a:t>
            </a:r>
            <a:r>
              <a:rPr sz="2300" spc="-55" dirty="0">
                <a:latin typeface="Calibri"/>
                <a:cs typeface="Calibri"/>
              </a:rPr>
              <a:t> </a:t>
            </a:r>
            <a:r>
              <a:rPr sz="2300" spc="-105" dirty="0">
                <a:latin typeface="Calibri"/>
                <a:cs typeface="Calibri"/>
              </a:rPr>
              <a:t>and</a:t>
            </a:r>
            <a:r>
              <a:rPr sz="2300" spc="-30" dirty="0">
                <a:latin typeface="Calibri"/>
                <a:cs typeface="Calibri"/>
              </a:rPr>
              <a:t> </a:t>
            </a:r>
            <a:r>
              <a:rPr sz="2300" spc="-85" dirty="0">
                <a:latin typeface="Calibri"/>
                <a:cs typeface="Calibri"/>
              </a:rPr>
              <a:t>behavioral</a:t>
            </a:r>
            <a:r>
              <a:rPr sz="2300" spc="80" dirty="0">
                <a:latin typeface="Calibri"/>
                <a:cs typeface="Calibri"/>
              </a:rPr>
              <a:t> </a:t>
            </a:r>
            <a:r>
              <a:rPr sz="2300" spc="-100" dirty="0">
                <a:latin typeface="Calibri"/>
                <a:cs typeface="Calibri"/>
              </a:rPr>
              <a:t>model</a:t>
            </a:r>
            <a:r>
              <a:rPr sz="2300" spc="-35" dirty="0">
                <a:latin typeface="Calibri"/>
                <a:cs typeface="Calibri"/>
              </a:rPr>
              <a:t> </a:t>
            </a:r>
            <a:r>
              <a:rPr sz="2300" spc="-55" dirty="0">
                <a:solidFill>
                  <a:srgbClr val="111111"/>
                </a:solidFill>
                <a:latin typeface="Calibri"/>
                <a:cs typeface="Calibri"/>
              </a:rPr>
              <a:t>of </a:t>
            </a:r>
            <a:r>
              <a:rPr sz="2300" spc="-40" dirty="0">
                <a:latin typeface="Calibri"/>
                <a:cs typeface="Calibri"/>
              </a:rPr>
              <a:t>the </a:t>
            </a:r>
            <a:r>
              <a:rPr sz="2300" spc="-10" dirty="0">
                <a:latin typeface="Calibri"/>
                <a:cs typeface="Calibri"/>
              </a:rPr>
              <a:t>problem</a:t>
            </a:r>
            <a:endParaRPr sz="230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E507D82F-1A0A-EB7D-3222-B9E5F018E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67100" y="5575300"/>
            <a:ext cx="1638300" cy="165100"/>
          </a:xfrm>
          <a:prstGeom prst="rect">
            <a:avLst/>
          </a:prstGeom>
        </p:spPr>
      </p:pic>
      <p:sp>
        <p:nvSpPr>
          <p:cNvPr id="3" name="object 3"/>
          <p:cNvSpPr txBox="1">
            <a:spLocks noGrp="1"/>
          </p:cNvSpPr>
          <p:nvPr>
            <p:ph type="title"/>
          </p:nvPr>
        </p:nvSpPr>
        <p:spPr>
          <a:prstGeom prst="rect">
            <a:avLst/>
          </a:prstGeom>
        </p:spPr>
        <p:txBody>
          <a:bodyPr vert="horz" wrap="square" lIns="0" tIns="458046" rIns="0" bIns="0" rtlCol="0">
            <a:spAutoFit/>
          </a:bodyPr>
          <a:lstStyle/>
          <a:p>
            <a:pPr marL="628650">
              <a:lnSpc>
                <a:spcPct val="100000"/>
              </a:lnSpc>
              <a:spcBef>
                <a:spcPts val="114"/>
              </a:spcBef>
            </a:pPr>
            <a:r>
              <a:rPr sz="2900" spc="95" dirty="0">
                <a:latin typeface="Arial MT"/>
                <a:cs typeface="Arial MT"/>
              </a:rPr>
              <a:t>Developing</a:t>
            </a:r>
            <a:r>
              <a:rPr sz="2900" spc="155" dirty="0">
                <a:latin typeface="Arial MT"/>
                <a:cs typeface="Arial MT"/>
              </a:rPr>
              <a:t> </a:t>
            </a:r>
            <a:r>
              <a:rPr sz="2900" dirty="0">
                <a:latin typeface="Arial MT"/>
                <a:cs typeface="Arial MT"/>
              </a:rPr>
              <a:t>Use</a:t>
            </a:r>
            <a:r>
              <a:rPr sz="2900" spc="220" dirty="0">
                <a:latin typeface="Arial MT"/>
                <a:cs typeface="Arial MT"/>
              </a:rPr>
              <a:t> </a:t>
            </a:r>
            <a:r>
              <a:rPr sz="2900" spc="-10" dirty="0">
                <a:latin typeface="Arial MT"/>
                <a:cs typeface="Arial MT"/>
              </a:rPr>
              <a:t>Cases</a:t>
            </a:r>
            <a:endParaRPr sz="2900">
              <a:latin typeface="Arial MT"/>
              <a:cs typeface="Arial MT"/>
            </a:endParaRPr>
          </a:p>
        </p:txBody>
      </p:sp>
      <p:sp>
        <p:nvSpPr>
          <p:cNvPr id="4" name="object 4"/>
          <p:cNvSpPr txBox="1"/>
          <p:nvPr/>
        </p:nvSpPr>
        <p:spPr>
          <a:xfrm>
            <a:off x="609402" y="1607784"/>
            <a:ext cx="6764655" cy="2898140"/>
          </a:xfrm>
          <a:prstGeom prst="rect">
            <a:avLst/>
          </a:prstGeom>
        </p:spPr>
        <p:txBody>
          <a:bodyPr vert="horz" wrap="square" lIns="0" tIns="44450" rIns="0" bIns="0" rtlCol="0">
            <a:spAutoFit/>
          </a:bodyPr>
          <a:lstStyle/>
          <a:p>
            <a:pPr marL="173355" marR="212090" indent="-160655">
              <a:lnSpc>
                <a:spcPts val="2300"/>
              </a:lnSpc>
              <a:spcBef>
                <a:spcPts val="350"/>
              </a:spcBef>
              <a:buChar char="•"/>
              <a:tabLst>
                <a:tab pos="173355" algn="l"/>
                <a:tab pos="180340" algn="l"/>
              </a:tabLst>
            </a:pPr>
            <a:r>
              <a:rPr sz="2100" dirty="0">
                <a:latin typeface="Calibri"/>
                <a:cs typeface="Calibri"/>
              </a:rPr>
              <a:t>	Step</a:t>
            </a:r>
            <a:r>
              <a:rPr sz="2100" spc="-20" dirty="0">
                <a:latin typeface="Calibri"/>
                <a:cs typeface="Calibri"/>
              </a:rPr>
              <a:t> </a:t>
            </a:r>
            <a:r>
              <a:rPr sz="2100" spc="-45" dirty="0">
                <a:latin typeface="Calibri"/>
                <a:cs typeface="Calibri"/>
              </a:rPr>
              <a:t>One</a:t>
            </a:r>
            <a:r>
              <a:rPr sz="2100" spc="-75" dirty="0">
                <a:latin typeface="Calibri"/>
                <a:cs typeface="Calibri"/>
              </a:rPr>
              <a:t> </a:t>
            </a:r>
            <a:r>
              <a:rPr sz="2100" spc="-650" dirty="0">
                <a:solidFill>
                  <a:srgbClr val="111111"/>
                </a:solidFill>
                <a:latin typeface="Calibri"/>
                <a:cs typeface="Calibri"/>
              </a:rPr>
              <a:t>—</a:t>
            </a:r>
            <a:r>
              <a:rPr sz="2100" spc="-70" dirty="0">
                <a:solidFill>
                  <a:srgbClr val="111111"/>
                </a:solidFill>
                <a:latin typeface="Calibri"/>
                <a:cs typeface="Calibri"/>
              </a:rPr>
              <a:t> </a:t>
            </a:r>
            <a:r>
              <a:rPr sz="2100" dirty="0">
                <a:latin typeface="Calibri"/>
                <a:cs typeface="Calibri"/>
              </a:rPr>
              <a:t>Define</a:t>
            </a:r>
            <a:r>
              <a:rPr sz="2100" spc="125" dirty="0">
                <a:latin typeface="Calibri"/>
                <a:cs typeface="Calibri"/>
              </a:rPr>
              <a:t> </a:t>
            </a:r>
            <a:r>
              <a:rPr sz="2100" dirty="0">
                <a:latin typeface="Calibri"/>
                <a:cs typeface="Calibri"/>
              </a:rPr>
              <a:t>the</a:t>
            </a:r>
            <a:r>
              <a:rPr sz="2100" spc="35" dirty="0">
                <a:latin typeface="Calibri"/>
                <a:cs typeface="Calibri"/>
              </a:rPr>
              <a:t> </a:t>
            </a:r>
            <a:r>
              <a:rPr sz="2100" dirty="0">
                <a:latin typeface="Calibri"/>
                <a:cs typeface="Calibri"/>
              </a:rPr>
              <a:t>set</a:t>
            </a:r>
            <a:r>
              <a:rPr sz="2100" spc="50" dirty="0">
                <a:latin typeface="Calibri"/>
                <a:cs typeface="Calibri"/>
              </a:rPr>
              <a:t> </a:t>
            </a:r>
            <a:r>
              <a:rPr sz="2100" dirty="0">
                <a:latin typeface="Calibri"/>
                <a:cs typeface="Calibri"/>
              </a:rPr>
              <a:t>of</a:t>
            </a:r>
            <a:r>
              <a:rPr sz="2100" spc="-70" dirty="0">
                <a:latin typeface="Calibri"/>
                <a:cs typeface="Calibri"/>
              </a:rPr>
              <a:t> </a:t>
            </a:r>
            <a:r>
              <a:rPr sz="2100" dirty="0">
                <a:latin typeface="Calibri"/>
                <a:cs typeface="Calibri"/>
              </a:rPr>
              <a:t>actors</a:t>
            </a:r>
            <a:r>
              <a:rPr sz="2100" spc="45" dirty="0">
                <a:latin typeface="Calibri"/>
                <a:cs typeface="Calibri"/>
              </a:rPr>
              <a:t> </a:t>
            </a:r>
            <a:r>
              <a:rPr sz="2100" dirty="0">
                <a:latin typeface="Calibri"/>
                <a:cs typeface="Calibri"/>
              </a:rPr>
              <a:t>that</a:t>
            </a:r>
            <a:r>
              <a:rPr sz="2100" spc="20" dirty="0">
                <a:latin typeface="Calibri"/>
                <a:cs typeface="Calibri"/>
              </a:rPr>
              <a:t> </a:t>
            </a:r>
            <a:r>
              <a:rPr sz="2100" dirty="0">
                <a:latin typeface="Calibri"/>
                <a:cs typeface="Calibri"/>
              </a:rPr>
              <a:t>will</a:t>
            </a:r>
            <a:r>
              <a:rPr sz="2100" spc="5" dirty="0">
                <a:latin typeface="Calibri"/>
                <a:cs typeface="Calibri"/>
              </a:rPr>
              <a:t> </a:t>
            </a:r>
            <a:r>
              <a:rPr sz="2100" dirty="0">
                <a:latin typeface="Calibri"/>
                <a:cs typeface="Calibri"/>
              </a:rPr>
              <a:t>be</a:t>
            </a:r>
            <a:r>
              <a:rPr sz="2100" spc="-25" dirty="0">
                <a:latin typeface="Calibri"/>
                <a:cs typeface="Calibri"/>
              </a:rPr>
              <a:t> </a:t>
            </a:r>
            <a:r>
              <a:rPr sz="2100" dirty="0">
                <a:latin typeface="Calibri"/>
                <a:cs typeface="Calibri"/>
              </a:rPr>
              <a:t>involved</a:t>
            </a:r>
            <a:r>
              <a:rPr sz="2100" spc="75" dirty="0">
                <a:latin typeface="Calibri"/>
                <a:cs typeface="Calibri"/>
              </a:rPr>
              <a:t> </a:t>
            </a:r>
            <a:r>
              <a:rPr sz="2100" spc="-25" dirty="0">
                <a:latin typeface="Calibri"/>
                <a:cs typeface="Calibri"/>
              </a:rPr>
              <a:t>in </a:t>
            </a:r>
            <a:r>
              <a:rPr sz="2100" dirty="0">
                <a:latin typeface="Calibri"/>
                <a:cs typeface="Calibri"/>
              </a:rPr>
              <a:t>the</a:t>
            </a:r>
            <a:r>
              <a:rPr sz="2100" spc="95" dirty="0">
                <a:latin typeface="Calibri"/>
                <a:cs typeface="Calibri"/>
              </a:rPr>
              <a:t> </a:t>
            </a:r>
            <a:r>
              <a:rPr sz="2100" spc="-20" dirty="0">
                <a:latin typeface="Calibri"/>
                <a:cs typeface="Calibri"/>
              </a:rPr>
              <a:t>story</a:t>
            </a:r>
            <a:endParaRPr sz="2100">
              <a:latin typeface="Calibri"/>
              <a:cs typeface="Calibri"/>
            </a:endParaRPr>
          </a:p>
          <a:p>
            <a:pPr marL="478155" marR="5080" lvl="1" indent="-156845">
              <a:lnSpc>
                <a:spcPts val="1950"/>
              </a:lnSpc>
              <a:spcBef>
                <a:spcPts val="280"/>
              </a:spcBef>
              <a:buChar char="•"/>
              <a:tabLst>
                <a:tab pos="478155" algn="l"/>
                <a:tab pos="490220" algn="l"/>
              </a:tabLst>
            </a:pPr>
            <a:r>
              <a:rPr sz="1750" dirty="0">
                <a:latin typeface="Calibri"/>
                <a:cs typeface="Calibri"/>
              </a:rPr>
              <a:t>	Actors</a:t>
            </a:r>
            <a:r>
              <a:rPr sz="1750" spc="-35" dirty="0">
                <a:latin typeface="Calibri"/>
                <a:cs typeface="Calibri"/>
              </a:rPr>
              <a:t> </a:t>
            </a:r>
            <a:r>
              <a:rPr sz="1750" dirty="0">
                <a:latin typeface="Calibri"/>
                <a:cs typeface="Calibri"/>
              </a:rPr>
              <a:t>are</a:t>
            </a:r>
            <a:r>
              <a:rPr sz="1750" spc="-40" dirty="0">
                <a:latin typeface="Calibri"/>
                <a:cs typeface="Calibri"/>
              </a:rPr>
              <a:t> </a:t>
            </a:r>
            <a:r>
              <a:rPr sz="1750" spc="-10" dirty="0">
                <a:latin typeface="Calibri"/>
                <a:cs typeface="Calibri"/>
              </a:rPr>
              <a:t>peDple,</a:t>
            </a:r>
            <a:r>
              <a:rPr sz="1750" spc="30" dirty="0">
                <a:latin typeface="Calibri"/>
                <a:cs typeface="Calibri"/>
              </a:rPr>
              <a:t> </a:t>
            </a:r>
            <a:r>
              <a:rPr sz="1750" dirty="0">
                <a:latin typeface="Calibri"/>
                <a:cs typeface="Calibri"/>
              </a:rPr>
              <a:t>devices,</a:t>
            </a:r>
            <a:r>
              <a:rPr sz="1750" spc="-45" dirty="0">
                <a:latin typeface="Calibri"/>
                <a:cs typeface="Calibri"/>
              </a:rPr>
              <a:t> </a:t>
            </a:r>
            <a:r>
              <a:rPr sz="1750" spc="-35" dirty="0">
                <a:latin typeface="Calibri"/>
                <a:cs typeface="Calibri"/>
              </a:rPr>
              <a:t>Dr </a:t>
            </a:r>
            <a:r>
              <a:rPr sz="1750" dirty="0">
                <a:latin typeface="Calibri"/>
                <a:cs typeface="Calibri"/>
              </a:rPr>
              <a:t>other</a:t>
            </a:r>
            <a:r>
              <a:rPr sz="1750" spc="-15" dirty="0">
                <a:latin typeface="Calibri"/>
                <a:cs typeface="Calibri"/>
              </a:rPr>
              <a:t> </a:t>
            </a:r>
            <a:r>
              <a:rPr sz="1750" dirty="0">
                <a:latin typeface="Calibri"/>
                <a:cs typeface="Calibri"/>
              </a:rPr>
              <a:t>systems</a:t>
            </a:r>
            <a:r>
              <a:rPr sz="1750" spc="10" dirty="0">
                <a:latin typeface="Calibri"/>
                <a:cs typeface="Calibri"/>
              </a:rPr>
              <a:t> </a:t>
            </a:r>
            <a:r>
              <a:rPr sz="1750" dirty="0">
                <a:latin typeface="Calibri"/>
                <a:cs typeface="Calibri"/>
              </a:rPr>
              <a:t>that</a:t>
            </a:r>
            <a:r>
              <a:rPr sz="1750" spc="-5" dirty="0">
                <a:latin typeface="Calibri"/>
                <a:cs typeface="Calibri"/>
              </a:rPr>
              <a:t> </a:t>
            </a:r>
            <a:r>
              <a:rPr sz="1750" dirty="0">
                <a:latin typeface="Calibri"/>
                <a:cs typeface="Calibri"/>
              </a:rPr>
              <a:t>use</a:t>
            </a:r>
            <a:r>
              <a:rPr sz="1750" spc="-45" dirty="0">
                <a:latin typeface="Calibri"/>
                <a:cs typeface="Calibri"/>
              </a:rPr>
              <a:t> </a:t>
            </a:r>
            <a:r>
              <a:rPr sz="1750" dirty="0">
                <a:latin typeface="Calibri"/>
                <a:cs typeface="Calibri"/>
              </a:rPr>
              <a:t>the</a:t>
            </a:r>
            <a:r>
              <a:rPr sz="1750" spc="-80" dirty="0">
                <a:latin typeface="Calibri"/>
                <a:cs typeface="Calibri"/>
              </a:rPr>
              <a:t> </a:t>
            </a:r>
            <a:r>
              <a:rPr sz="1750" dirty="0">
                <a:latin typeface="Calibri"/>
                <a:cs typeface="Calibri"/>
              </a:rPr>
              <a:t>system </a:t>
            </a:r>
            <a:r>
              <a:rPr sz="1750" spc="-25" dirty="0">
                <a:solidFill>
                  <a:srgbClr val="1A1A1A"/>
                </a:solidFill>
                <a:latin typeface="Calibri"/>
                <a:cs typeface="Calibri"/>
              </a:rPr>
              <a:t>or </a:t>
            </a:r>
            <a:r>
              <a:rPr sz="1800" spc="-10" dirty="0">
                <a:latin typeface="Calibri"/>
                <a:cs typeface="Calibri"/>
              </a:rPr>
              <a:t>product</a:t>
            </a:r>
            <a:r>
              <a:rPr sz="1800" spc="-60" dirty="0">
                <a:latin typeface="Calibri"/>
                <a:cs typeface="Calibri"/>
              </a:rPr>
              <a:t> </a:t>
            </a:r>
            <a:r>
              <a:rPr sz="1800" spc="-25" dirty="0">
                <a:latin typeface="Calibri"/>
                <a:cs typeface="Calibri"/>
              </a:rPr>
              <a:t>within</a:t>
            </a:r>
            <a:r>
              <a:rPr sz="1800" spc="15" dirty="0">
                <a:latin typeface="Calibri"/>
                <a:cs typeface="Calibri"/>
              </a:rPr>
              <a:t> </a:t>
            </a:r>
            <a:r>
              <a:rPr sz="1800" spc="-20" dirty="0">
                <a:latin typeface="Calibri"/>
                <a:cs typeface="Calibri"/>
              </a:rPr>
              <a:t>the</a:t>
            </a:r>
            <a:r>
              <a:rPr sz="1800" spc="-80" dirty="0">
                <a:latin typeface="Calibri"/>
                <a:cs typeface="Calibri"/>
              </a:rPr>
              <a:t> </a:t>
            </a:r>
            <a:r>
              <a:rPr sz="1800" spc="-10" dirty="0">
                <a:latin typeface="Calibri"/>
                <a:cs typeface="Calibri"/>
              </a:rPr>
              <a:t>context</a:t>
            </a:r>
            <a:r>
              <a:rPr sz="1800" spc="-25" dirty="0">
                <a:latin typeface="Calibri"/>
                <a:cs typeface="Calibri"/>
              </a:rPr>
              <a:t> </a:t>
            </a:r>
            <a:r>
              <a:rPr sz="1800" dirty="0">
                <a:solidFill>
                  <a:srgbClr val="111111"/>
                </a:solidFill>
                <a:latin typeface="Calibri"/>
                <a:cs typeface="Calibri"/>
              </a:rPr>
              <a:t>of</a:t>
            </a:r>
            <a:r>
              <a:rPr sz="1800" spc="-70" dirty="0">
                <a:solidFill>
                  <a:srgbClr val="111111"/>
                </a:solidFill>
                <a:latin typeface="Calibri"/>
                <a:cs typeface="Calibri"/>
              </a:rPr>
              <a:t> </a:t>
            </a:r>
            <a:r>
              <a:rPr sz="1800" dirty="0">
                <a:latin typeface="Calibri"/>
                <a:cs typeface="Calibri"/>
              </a:rPr>
              <a:t>the</a:t>
            </a:r>
            <a:r>
              <a:rPr sz="1800" spc="10" dirty="0">
                <a:latin typeface="Calibri"/>
                <a:cs typeface="Calibri"/>
              </a:rPr>
              <a:t> </a:t>
            </a:r>
            <a:r>
              <a:rPr sz="1800" spc="-30" dirty="0">
                <a:latin typeface="Calibri"/>
                <a:cs typeface="Calibri"/>
              </a:rPr>
              <a:t>function</a:t>
            </a:r>
            <a:r>
              <a:rPr sz="1800" spc="-20" dirty="0">
                <a:latin typeface="Calibri"/>
                <a:cs typeface="Calibri"/>
              </a:rPr>
              <a:t> </a:t>
            </a:r>
            <a:r>
              <a:rPr sz="1800" dirty="0">
                <a:latin typeface="Calibri"/>
                <a:cs typeface="Calibri"/>
              </a:rPr>
              <a:t>and</a:t>
            </a:r>
            <a:r>
              <a:rPr sz="1800" spc="-30" dirty="0">
                <a:latin typeface="Calibri"/>
                <a:cs typeface="Calibri"/>
              </a:rPr>
              <a:t> </a:t>
            </a:r>
            <a:r>
              <a:rPr sz="1800" spc="-20" dirty="0">
                <a:latin typeface="Calibri"/>
                <a:cs typeface="Calibri"/>
              </a:rPr>
              <a:t>behavior</a:t>
            </a:r>
            <a:r>
              <a:rPr sz="1800" spc="30" dirty="0">
                <a:latin typeface="Calibri"/>
                <a:cs typeface="Calibri"/>
              </a:rPr>
              <a:t> </a:t>
            </a:r>
            <a:r>
              <a:rPr sz="1800" spc="-20" dirty="0">
                <a:latin typeface="Calibri"/>
                <a:cs typeface="Calibri"/>
              </a:rPr>
              <a:t>that</a:t>
            </a:r>
            <a:r>
              <a:rPr sz="1800" spc="-25" dirty="0">
                <a:latin typeface="Calibri"/>
                <a:cs typeface="Calibri"/>
              </a:rPr>
              <a:t> </a:t>
            </a:r>
            <a:r>
              <a:rPr sz="1800" dirty="0">
                <a:solidFill>
                  <a:srgbClr val="1A1A1A"/>
                </a:solidFill>
                <a:latin typeface="Calibri"/>
                <a:cs typeface="Calibri"/>
              </a:rPr>
              <a:t>is</a:t>
            </a:r>
            <a:r>
              <a:rPr sz="1800" spc="-75" dirty="0">
                <a:solidFill>
                  <a:srgbClr val="1A1A1A"/>
                </a:solidFill>
                <a:latin typeface="Calibri"/>
                <a:cs typeface="Calibri"/>
              </a:rPr>
              <a:t> </a:t>
            </a:r>
            <a:r>
              <a:rPr sz="1800" dirty="0">
                <a:solidFill>
                  <a:srgbClr val="181818"/>
                </a:solidFill>
                <a:latin typeface="Calibri"/>
                <a:cs typeface="Calibri"/>
              </a:rPr>
              <a:t>to</a:t>
            </a:r>
            <a:r>
              <a:rPr sz="1800" spc="-100" dirty="0">
                <a:solidFill>
                  <a:srgbClr val="181818"/>
                </a:solidFill>
                <a:latin typeface="Calibri"/>
                <a:cs typeface="Calibri"/>
              </a:rPr>
              <a:t> </a:t>
            </a:r>
            <a:r>
              <a:rPr sz="1800" spc="-25" dirty="0">
                <a:latin typeface="Calibri"/>
                <a:cs typeface="Calibri"/>
              </a:rPr>
              <a:t>be </a:t>
            </a:r>
            <a:r>
              <a:rPr sz="1750" spc="-10" dirty="0">
                <a:latin typeface="Calibri"/>
                <a:cs typeface="Calibri"/>
              </a:rPr>
              <a:t>described</a:t>
            </a:r>
            <a:endParaRPr sz="1750">
              <a:latin typeface="Calibri"/>
              <a:cs typeface="Calibri"/>
            </a:endParaRPr>
          </a:p>
          <a:p>
            <a:pPr marL="490855" lvl="1" indent="-168910">
              <a:lnSpc>
                <a:spcPts val="1975"/>
              </a:lnSpc>
              <a:spcBef>
                <a:spcPts val="60"/>
              </a:spcBef>
              <a:buChar char="•"/>
              <a:tabLst>
                <a:tab pos="490855" algn="l"/>
              </a:tabLst>
            </a:pPr>
            <a:r>
              <a:rPr sz="1750" dirty="0">
                <a:latin typeface="Calibri"/>
                <a:cs typeface="Calibri"/>
              </a:rPr>
              <a:t>Actors</a:t>
            </a:r>
            <a:r>
              <a:rPr sz="1750" spc="-15" dirty="0">
                <a:latin typeface="Calibri"/>
                <a:cs typeface="Calibri"/>
              </a:rPr>
              <a:t> </a:t>
            </a:r>
            <a:r>
              <a:rPr sz="1750" dirty="0">
                <a:latin typeface="Calibri"/>
                <a:cs typeface="Calibri"/>
              </a:rPr>
              <a:t>are</a:t>
            </a:r>
            <a:r>
              <a:rPr sz="1750" spc="25" dirty="0">
                <a:latin typeface="Calibri"/>
                <a:cs typeface="Calibri"/>
              </a:rPr>
              <a:t> </a:t>
            </a:r>
            <a:r>
              <a:rPr sz="1750" dirty="0">
                <a:latin typeface="Calibri"/>
                <a:cs typeface="Calibri"/>
              </a:rPr>
              <a:t>anything</a:t>
            </a:r>
            <a:r>
              <a:rPr sz="1750" spc="55" dirty="0">
                <a:latin typeface="Calibri"/>
                <a:cs typeface="Calibri"/>
              </a:rPr>
              <a:t> </a:t>
            </a:r>
            <a:r>
              <a:rPr sz="1750" dirty="0">
                <a:latin typeface="Calibri"/>
                <a:cs typeface="Calibri"/>
              </a:rPr>
              <a:t>that</a:t>
            </a:r>
            <a:r>
              <a:rPr sz="1750" spc="-25" dirty="0">
                <a:latin typeface="Calibri"/>
                <a:cs typeface="Calibri"/>
              </a:rPr>
              <a:t> </a:t>
            </a:r>
            <a:r>
              <a:rPr sz="1750" dirty="0">
                <a:latin typeface="Calibri"/>
                <a:cs typeface="Calibri"/>
              </a:rPr>
              <a:t>communicate</a:t>
            </a:r>
            <a:r>
              <a:rPr sz="1750" spc="220" dirty="0">
                <a:latin typeface="Calibri"/>
                <a:cs typeface="Calibri"/>
              </a:rPr>
              <a:t> </a:t>
            </a:r>
            <a:r>
              <a:rPr sz="1750" dirty="0">
                <a:latin typeface="Calibri"/>
                <a:cs typeface="Calibri"/>
              </a:rPr>
              <a:t>with</a:t>
            </a:r>
            <a:r>
              <a:rPr sz="1750" spc="-60" dirty="0">
                <a:latin typeface="Calibri"/>
                <a:cs typeface="Calibri"/>
              </a:rPr>
              <a:t> </a:t>
            </a:r>
            <a:r>
              <a:rPr sz="1750" dirty="0">
                <a:solidFill>
                  <a:srgbClr val="232323"/>
                </a:solidFill>
                <a:latin typeface="Calibri"/>
                <a:cs typeface="Calibri"/>
              </a:rPr>
              <a:t>the</a:t>
            </a:r>
            <a:r>
              <a:rPr sz="1750" spc="25" dirty="0">
                <a:solidFill>
                  <a:srgbClr val="232323"/>
                </a:solidFill>
                <a:latin typeface="Calibri"/>
                <a:cs typeface="Calibri"/>
              </a:rPr>
              <a:t> </a:t>
            </a:r>
            <a:r>
              <a:rPr sz="1750" dirty="0">
                <a:latin typeface="Calibri"/>
                <a:cs typeface="Calibri"/>
              </a:rPr>
              <a:t>system</a:t>
            </a:r>
            <a:r>
              <a:rPr sz="1750" spc="20" dirty="0">
                <a:latin typeface="Calibri"/>
                <a:cs typeface="Calibri"/>
              </a:rPr>
              <a:t> </a:t>
            </a:r>
            <a:r>
              <a:rPr sz="1750" dirty="0">
                <a:latin typeface="Calibri"/>
                <a:cs typeface="Calibri"/>
              </a:rPr>
              <a:t>or</a:t>
            </a:r>
            <a:r>
              <a:rPr sz="1750" spc="-75" dirty="0">
                <a:latin typeface="Calibri"/>
                <a:cs typeface="Calibri"/>
              </a:rPr>
              <a:t> </a:t>
            </a:r>
            <a:r>
              <a:rPr sz="1750" spc="-10" dirty="0">
                <a:latin typeface="Calibri"/>
                <a:cs typeface="Calibri"/>
              </a:rPr>
              <a:t>product</a:t>
            </a:r>
            <a:endParaRPr sz="1750">
              <a:latin typeface="Calibri"/>
              <a:cs typeface="Calibri"/>
            </a:endParaRPr>
          </a:p>
          <a:p>
            <a:pPr marL="485140">
              <a:lnSpc>
                <a:spcPts val="2035"/>
              </a:lnSpc>
            </a:pPr>
            <a:r>
              <a:rPr sz="1800" dirty="0">
                <a:latin typeface="Calibri"/>
                <a:cs typeface="Calibri"/>
              </a:rPr>
              <a:t>and</a:t>
            </a:r>
            <a:r>
              <a:rPr sz="1800" spc="-15" dirty="0">
                <a:latin typeface="Calibri"/>
                <a:cs typeface="Calibri"/>
              </a:rPr>
              <a:t> </a:t>
            </a:r>
            <a:r>
              <a:rPr sz="1800" spc="-20" dirty="0">
                <a:latin typeface="Calibri"/>
                <a:cs typeface="Calibri"/>
              </a:rPr>
              <a:t>that</a:t>
            </a:r>
            <a:r>
              <a:rPr sz="1800" spc="30" dirty="0">
                <a:latin typeface="Calibri"/>
                <a:cs typeface="Calibri"/>
              </a:rPr>
              <a:t> </a:t>
            </a:r>
            <a:r>
              <a:rPr sz="1800" spc="-20" dirty="0">
                <a:latin typeface="Calibri"/>
                <a:cs typeface="Calibri"/>
              </a:rPr>
              <a:t>are</a:t>
            </a:r>
            <a:r>
              <a:rPr sz="1800" spc="-85" dirty="0">
                <a:latin typeface="Calibri"/>
                <a:cs typeface="Calibri"/>
              </a:rPr>
              <a:t> </a:t>
            </a:r>
            <a:r>
              <a:rPr sz="1800" dirty="0">
                <a:latin typeface="Calibri"/>
                <a:cs typeface="Calibri"/>
              </a:rPr>
              <a:t>external</a:t>
            </a:r>
            <a:r>
              <a:rPr sz="1800" spc="-60" dirty="0">
                <a:latin typeface="Calibri"/>
                <a:cs typeface="Calibri"/>
              </a:rPr>
              <a:t> </a:t>
            </a:r>
            <a:r>
              <a:rPr sz="1800" dirty="0">
                <a:latin typeface="Calibri"/>
                <a:cs typeface="Calibri"/>
              </a:rPr>
              <a:t>to</a:t>
            </a:r>
            <a:r>
              <a:rPr sz="1800" spc="30" dirty="0">
                <a:latin typeface="Calibri"/>
                <a:cs typeface="Calibri"/>
              </a:rPr>
              <a:t> </a:t>
            </a:r>
            <a:r>
              <a:rPr sz="1800" spc="-20" dirty="0">
                <a:latin typeface="Calibri"/>
                <a:cs typeface="Calibri"/>
              </a:rPr>
              <a:t>the</a:t>
            </a:r>
            <a:r>
              <a:rPr sz="1800" spc="-80" dirty="0">
                <a:latin typeface="Calibri"/>
                <a:cs typeface="Calibri"/>
              </a:rPr>
              <a:t> </a:t>
            </a:r>
            <a:r>
              <a:rPr sz="1800" spc="-10" dirty="0">
                <a:latin typeface="Calibri"/>
                <a:cs typeface="Calibri"/>
              </a:rPr>
              <a:t>system</a:t>
            </a:r>
            <a:r>
              <a:rPr sz="1800" spc="-30" dirty="0">
                <a:latin typeface="Calibri"/>
                <a:cs typeface="Calibri"/>
              </a:rPr>
              <a:t> </a:t>
            </a:r>
            <a:r>
              <a:rPr sz="1800" spc="-10" dirty="0">
                <a:latin typeface="Calibri"/>
                <a:cs typeface="Calibri"/>
              </a:rPr>
              <a:t>itself</a:t>
            </a:r>
            <a:endParaRPr sz="1800">
              <a:latin typeface="Calibri"/>
              <a:cs typeface="Calibri"/>
            </a:endParaRPr>
          </a:p>
          <a:p>
            <a:pPr>
              <a:lnSpc>
                <a:spcPct val="100000"/>
              </a:lnSpc>
              <a:spcBef>
                <a:spcPts val="800"/>
              </a:spcBef>
            </a:pPr>
            <a:endParaRPr sz="1800">
              <a:latin typeface="Calibri"/>
              <a:cs typeface="Calibri"/>
            </a:endParaRPr>
          </a:p>
          <a:p>
            <a:pPr marL="179705" marR="259715" indent="-167640">
              <a:lnSpc>
                <a:spcPts val="2300"/>
              </a:lnSpc>
              <a:buChar char="•"/>
              <a:tabLst>
                <a:tab pos="179705" algn="l"/>
              </a:tabLst>
            </a:pPr>
            <a:r>
              <a:rPr sz="2100" dirty="0">
                <a:latin typeface="Calibri"/>
                <a:cs typeface="Calibri"/>
              </a:rPr>
              <a:t>Step</a:t>
            </a:r>
            <a:r>
              <a:rPr sz="2100" spc="-80" dirty="0">
                <a:latin typeface="Calibri"/>
                <a:cs typeface="Calibri"/>
              </a:rPr>
              <a:t> </a:t>
            </a:r>
            <a:r>
              <a:rPr sz="2100" spc="-40" dirty="0">
                <a:latin typeface="Calibri"/>
                <a:cs typeface="Calibri"/>
              </a:rPr>
              <a:t>Two</a:t>
            </a:r>
            <a:r>
              <a:rPr sz="2100" spc="-80" dirty="0">
                <a:latin typeface="Calibri"/>
                <a:cs typeface="Calibri"/>
              </a:rPr>
              <a:t> </a:t>
            </a:r>
            <a:r>
              <a:rPr sz="2100" spc="-630" dirty="0">
                <a:latin typeface="Calibri"/>
                <a:cs typeface="Calibri"/>
              </a:rPr>
              <a:t>—</a:t>
            </a:r>
            <a:r>
              <a:rPr sz="2100" spc="-80" dirty="0">
                <a:latin typeface="Calibri"/>
                <a:cs typeface="Calibri"/>
              </a:rPr>
              <a:t> </a:t>
            </a:r>
            <a:r>
              <a:rPr sz="2100" dirty="0">
                <a:latin typeface="Calibri"/>
                <a:cs typeface="Calibri"/>
              </a:rPr>
              <a:t>Develop</a:t>
            </a:r>
            <a:r>
              <a:rPr sz="2100" spc="70" dirty="0">
                <a:latin typeface="Calibri"/>
                <a:cs typeface="Calibri"/>
              </a:rPr>
              <a:t> </a:t>
            </a:r>
            <a:r>
              <a:rPr sz="2100" dirty="0">
                <a:latin typeface="Calibri"/>
                <a:cs typeface="Calibri"/>
              </a:rPr>
              <a:t>use</a:t>
            </a:r>
            <a:r>
              <a:rPr sz="2100" spc="15" dirty="0">
                <a:latin typeface="Calibri"/>
                <a:cs typeface="Calibri"/>
              </a:rPr>
              <a:t> </a:t>
            </a:r>
            <a:r>
              <a:rPr sz="2100" dirty="0">
                <a:latin typeface="Calibri"/>
                <a:cs typeface="Calibri"/>
              </a:rPr>
              <a:t>cases,</a:t>
            </a:r>
            <a:r>
              <a:rPr sz="2100" spc="50" dirty="0">
                <a:latin typeface="Calibri"/>
                <a:cs typeface="Calibri"/>
              </a:rPr>
              <a:t> </a:t>
            </a:r>
            <a:r>
              <a:rPr sz="2100" dirty="0">
                <a:latin typeface="Calibri"/>
                <a:cs typeface="Calibri"/>
              </a:rPr>
              <a:t>where</a:t>
            </a:r>
            <a:r>
              <a:rPr sz="2100" spc="-45" dirty="0">
                <a:latin typeface="Calibri"/>
                <a:cs typeface="Calibri"/>
              </a:rPr>
              <a:t> </a:t>
            </a:r>
            <a:r>
              <a:rPr sz="2100" dirty="0">
                <a:latin typeface="Calibri"/>
                <a:cs typeface="Calibri"/>
              </a:rPr>
              <a:t>each</a:t>
            </a:r>
            <a:r>
              <a:rPr sz="2100" spc="-10" dirty="0">
                <a:latin typeface="Calibri"/>
                <a:cs typeface="Calibri"/>
              </a:rPr>
              <a:t> </a:t>
            </a:r>
            <a:r>
              <a:rPr sz="2100" dirty="0">
                <a:latin typeface="Calibri"/>
                <a:cs typeface="Calibri"/>
              </a:rPr>
              <a:t>one</a:t>
            </a:r>
            <a:r>
              <a:rPr sz="2100" spc="35" dirty="0">
                <a:latin typeface="Calibri"/>
                <a:cs typeface="Calibri"/>
              </a:rPr>
              <a:t> </a:t>
            </a:r>
            <a:r>
              <a:rPr sz="2100" dirty="0">
                <a:latin typeface="Calibri"/>
                <a:cs typeface="Calibri"/>
              </a:rPr>
              <a:t>answers</a:t>
            </a:r>
            <a:r>
              <a:rPr sz="2100" spc="100" dirty="0">
                <a:latin typeface="Calibri"/>
                <a:cs typeface="Calibri"/>
              </a:rPr>
              <a:t> </a:t>
            </a:r>
            <a:r>
              <a:rPr sz="2100" spc="-50" dirty="0">
                <a:latin typeface="Calibri"/>
                <a:cs typeface="Calibri"/>
              </a:rPr>
              <a:t>a </a:t>
            </a:r>
            <a:r>
              <a:rPr sz="2100" dirty="0">
                <a:latin typeface="Calibri"/>
                <a:cs typeface="Calibri"/>
              </a:rPr>
              <a:t>set</a:t>
            </a:r>
            <a:r>
              <a:rPr sz="2100" spc="5" dirty="0">
                <a:latin typeface="Calibri"/>
                <a:cs typeface="Calibri"/>
              </a:rPr>
              <a:t> </a:t>
            </a:r>
            <a:r>
              <a:rPr sz="2100" dirty="0">
                <a:latin typeface="Calibri"/>
                <a:cs typeface="Calibri"/>
              </a:rPr>
              <a:t>of</a:t>
            </a:r>
            <a:r>
              <a:rPr sz="2100" spc="-45" dirty="0">
                <a:latin typeface="Calibri"/>
                <a:cs typeface="Calibri"/>
              </a:rPr>
              <a:t> </a:t>
            </a:r>
            <a:r>
              <a:rPr sz="2100" spc="-10" dirty="0">
                <a:latin typeface="Calibri"/>
                <a:cs typeface="Calibri"/>
              </a:rPr>
              <a:t>questions</a:t>
            </a:r>
            <a:endParaRPr sz="2100">
              <a:latin typeface="Calibri"/>
              <a:cs typeface="Calibri"/>
            </a:endParaRPr>
          </a:p>
        </p:txBody>
      </p:sp>
      <p:pic>
        <p:nvPicPr>
          <p:cNvPr id="5" name="Picture 2" descr="Profile for SRM Institute of Science and Technology">
            <a:extLst>
              <a:ext uri="{FF2B5EF4-FFF2-40B4-BE49-F238E27FC236}">
                <a16:creationId xmlns:a16="http://schemas.microsoft.com/office/drawing/2014/main" id="{D7D49D9F-474F-405C-DA67-1E3B0795CE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3741" y="495726"/>
            <a:ext cx="6699250" cy="487954"/>
          </a:xfrm>
          <a:prstGeom prst="rect">
            <a:avLst/>
          </a:prstGeom>
        </p:spPr>
        <p:txBody>
          <a:bodyPr vert="horz" wrap="square" lIns="0" tIns="13335" rIns="0" bIns="0" rtlCol="0">
            <a:spAutoFit/>
          </a:bodyPr>
          <a:lstStyle/>
          <a:p>
            <a:pPr marL="12700">
              <a:lnSpc>
                <a:spcPts val="3704"/>
              </a:lnSpc>
              <a:spcBef>
                <a:spcPts val="105"/>
              </a:spcBef>
            </a:pPr>
            <a:r>
              <a:rPr sz="3300" dirty="0">
                <a:latin typeface="Arial MT"/>
                <a:cs typeface="Arial MT"/>
              </a:rPr>
              <a:t>questions</a:t>
            </a:r>
            <a:r>
              <a:rPr sz="3300" spc="-50" dirty="0">
                <a:latin typeface="Arial MT"/>
                <a:cs typeface="Arial MT"/>
              </a:rPr>
              <a:t> </a:t>
            </a:r>
            <a:r>
              <a:rPr sz="3300" spc="-55" dirty="0">
                <a:latin typeface="Arial MT"/>
                <a:cs typeface="Arial MT"/>
              </a:rPr>
              <a:t>Commonly</a:t>
            </a:r>
            <a:r>
              <a:rPr sz="3300" spc="-30" dirty="0">
                <a:latin typeface="Arial MT"/>
                <a:cs typeface="Arial MT"/>
              </a:rPr>
              <a:t> </a:t>
            </a:r>
            <a:r>
              <a:rPr sz="3300" spc="-55" dirty="0">
                <a:latin typeface="Arial MT"/>
                <a:cs typeface="Arial MT"/>
              </a:rPr>
              <a:t>Answered</a:t>
            </a:r>
            <a:r>
              <a:rPr sz="3300" spc="-65" dirty="0">
                <a:latin typeface="Arial MT"/>
                <a:cs typeface="Arial MT"/>
              </a:rPr>
              <a:t> </a:t>
            </a:r>
            <a:endParaRPr sz="3250" dirty="0">
              <a:latin typeface="Arial MT"/>
              <a:cs typeface="Arial MT"/>
            </a:endParaRPr>
          </a:p>
        </p:txBody>
      </p:sp>
      <p:sp>
        <p:nvSpPr>
          <p:cNvPr id="3" name="object 3"/>
          <p:cNvSpPr txBox="1"/>
          <p:nvPr/>
        </p:nvSpPr>
        <p:spPr>
          <a:xfrm>
            <a:off x="635965" y="1605046"/>
            <a:ext cx="6932930" cy="3731895"/>
          </a:xfrm>
          <a:prstGeom prst="rect">
            <a:avLst/>
          </a:prstGeom>
        </p:spPr>
        <p:txBody>
          <a:bodyPr vert="horz" wrap="square" lIns="0" tIns="45720" rIns="0" bIns="0" rtlCol="0">
            <a:spAutoFit/>
          </a:bodyPr>
          <a:lstStyle/>
          <a:p>
            <a:pPr marL="207010" indent="-168910">
              <a:lnSpc>
                <a:spcPct val="100000"/>
              </a:lnSpc>
              <a:spcBef>
                <a:spcPts val="360"/>
              </a:spcBef>
              <a:buChar char="•"/>
              <a:tabLst>
                <a:tab pos="207010" algn="l"/>
              </a:tabLst>
            </a:pPr>
            <a:r>
              <a:rPr sz="2050" spc="-75" dirty="0">
                <a:latin typeface="Calibri"/>
                <a:cs typeface="Calibri"/>
              </a:rPr>
              <a:t>Who</a:t>
            </a:r>
            <a:r>
              <a:rPr sz="2050" spc="-50" dirty="0">
                <a:latin typeface="Calibri"/>
                <a:cs typeface="Calibri"/>
              </a:rPr>
              <a:t> </a:t>
            </a:r>
            <a:r>
              <a:rPr sz="2050" spc="-45" dirty="0">
                <a:solidFill>
                  <a:srgbClr val="161616"/>
                </a:solidFill>
                <a:latin typeface="Calibri"/>
                <a:cs typeface="Calibri"/>
              </a:rPr>
              <a:t>is</a:t>
            </a:r>
            <a:r>
              <a:rPr sz="2050" spc="-75" dirty="0">
                <a:solidFill>
                  <a:srgbClr val="161616"/>
                </a:solidFill>
                <a:latin typeface="Calibri"/>
                <a:cs typeface="Calibri"/>
              </a:rPr>
              <a:t> </a:t>
            </a:r>
            <a:r>
              <a:rPr sz="2050" spc="-45" dirty="0">
                <a:latin typeface="Calibri"/>
                <a:cs typeface="Calibri"/>
              </a:rPr>
              <a:t>the</a:t>
            </a:r>
            <a:r>
              <a:rPr sz="2050" spc="-70" dirty="0">
                <a:latin typeface="Calibri"/>
                <a:cs typeface="Calibri"/>
              </a:rPr>
              <a:t> </a:t>
            </a:r>
            <a:r>
              <a:rPr sz="2050" spc="-55" dirty="0">
                <a:latin typeface="Calibri"/>
                <a:cs typeface="Calibri"/>
              </a:rPr>
              <a:t>primary</a:t>
            </a:r>
            <a:r>
              <a:rPr sz="2050" spc="-25" dirty="0">
                <a:latin typeface="Calibri"/>
                <a:cs typeface="Calibri"/>
              </a:rPr>
              <a:t> </a:t>
            </a:r>
            <a:r>
              <a:rPr sz="2050" spc="-50" dirty="0">
                <a:latin typeface="Calibri"/>
                <a:cs typeface="Calibri"/>
              </a:rPr>
              <a:t>actor(s),</a:t>
            </a:r>
            <a:r>
              <a:rPr sz="2050" dirty="0">
                <a:latin typeface="Calibri"/>
                <a:cs typeface="Calibri"/>
              </a:rPr>
              <a:t> </a:t>
            </a:r>
            <a:r>
              <a:rPr sz="2050" spc="-55" dirty="0">
                <a:solidFill>
                  <a:srgbClr val="1C1C1C"/>
                </a:solidFill>
                <a:latin typeface="Calibri"/>
                <a:cs typeface="Calibri"/>
              </a:rPr>
              <a:t>the</a:t>
            </a:r>
            <a:r>
              <a:rPr sz="2050" spc="-65" dirty="0">
                <a:solidFill>
                  <a:srgbClr val="1C1C1C"/>
                </a:solidFill>
                <a:latin typeface="Calibri"/>
                <a:cs typeface="Calibri"/>
              </a:rPr>
              <a:t> </a:t>
            </a:r>
            <a:r>
              <a:rPr sz="2050" spc="-60" dirty="0">
                <a:latin typeface="Calibri"/>
                <a:cs typeface="Calibri"/>
              </a:rPr>
              <a:t>secondary</a:t>
            </a:r>
            <a:r>
              <a:rPr sz="2050" spc="75" dirty="0">
                <a:latin typeface="Calibri"/>
                <a:cs typeface="Calibri"/>
              </a:rPr>
              <a:t> </a:t>
            </a:r>
            <a:r>
              <a:rPr sz="2050" spc="-10" dirty="0">
                <a:latin typeface="Calibri"/>
                <a:cs typeface="Calibri"/>
              </a:rPr>
              <a:t>actor(s)?</a:t>
            </a:r>
            <a:endParaRPr sz="2050">
              <a:latin typeface="Calibri"/>
              <a:cs typeface="Calibri"/>
            </a:endParaRPr>
          </a:p>
          <a:p>
            <a:pPr marL="205740" indent="-165735">
              <a:lnSpc>
                <a:spcPct val="100000"/>
              </a:lnSpc>
              <a:spcBef>
                <a:spcPts val="240"/>
              </a:spcBef>
              <a:buChar char="•"/>
              <a:tabLst>
                <a:tab pos="205740" algn="l"/>
              </a:tabLst>
            </a:pPr>
            <a:r>
              <a:rPr sz="1850" dirty="0">
                <a:latin typeface="Calibri"/>
                <a:cs typeface="Calibri"/>
              </a:rPr>
              <a:t>What</a:t>
            </a:r>
            <a:r>
              <a:rPr sz="1850" spc="125" dirty="0">
                <a:latin typeface="Calibri"/>
                <a:cs typeface="Calibri"/>
              </a:rPr>
              <a:t> </a:t>
            </a:r>
            <a:r>
              <a:rPr sz="1850" dirty="0">
                <a:latin typeface="Calibri"/>
                <a:cs typeface="Calibri"/>
              </a:rPr>
              <a:t>are</a:t>
            </a:r>
            <a:r>
              <a:rPr sz="1850" spc="20" dirty="0">
                <a:latin typeface="Calibri"/>
                <a:cs typeface="Calibri"/>
              </a:rPr>
              <a:t> </a:t>
            </a:r>
            <a:r>
              <a:rPr sz="1850" spc="-65" dirty="0">
                <a:solidFill>
                  <a:srgbClr val="0F0F0F"/>
                </a:solidFill>
                <a:latin typeface="Calibri"/>
                <a:cs typeface="Calibri"/>
              </a:rPr>
              <a:t>thE'</a:t>
            </a:r>
            <a:r>
              <a:rPr sz="1850" spc="-30" dirty="0">
                <a:solidFill>
                  <a:srgbClr val="0F0F0F"/>
                </a:solidFill>
                <a:latin typeface="Calibri"/>
                <a:cs typeface="Calibri"/>
              </a:rPr>
              <a:t> </a:t>
            </a:r>
            <a:r>
              <a:rPr sz="1850" dirty="0">
                <a:latin typeface="Calibri"/>
                <a:cs typeface="Calibri"/>
              </a:rPr>
              <a:t>BCtor's</a:t>
            </a:r>
            <a:r>
              <a:rPr sz="1850" spc="40" dirty="0">
                <a:latin typeface="Calibri"/>
                <a:cs typeface="Calibri"/>
              </a:rPr>
              <a:t> </a:t>
            </a:r>
            <a:r>
              <a:rPr sz="1850" spc="-10" dirty="0">
                <a:latin typeface="Calibri"/>
                <a:cs typeface="Calibri"/>
              </a:rPr>
              <a:t>goals?</a:t>
            </a:r>
            <a:endParaRPr sz="1850">
              <a:latin typeface="Calibri"/>
              <a:cs typeface="Calibri"/>
            </a:endParaRPr>
          </a:p>
          <a:p>
            <a:pPr marL="205740" indent="-167640">
              <a:lnSpc>
                <a:spcPct val="100000"/>
              </a:lnSpc>
              <a:spcBef>
                <a:spcPts val="180"/>
              </a:spcBef>
              <a:buChar char="•"/>
              <a:tabLst>
                <a:tab pos="205740" algn="l"/>
              </a:tabLst>
            </a:pPr>
            <a:r>
              <a:rPr sz="2000" spc="-50" dirty="0">
                <a:latin typeface="Calibri"/>
                <a:cs typeface="Calibri"/>
              </a:rPr>
              <a:t>What</a:t>
            </a:r>
            <a:r>
              <a:rPr sz="2000" spc="-65" dirty="0">
                <a:latin typeface="Calibri"/>
                <a:cs typeface="Calibri"/>
              </a:rPr>
              <a:t> </a:t>
            </a:r>
            <a:r>
              <a:rPr sz="2000" spc="-40" dirty="0">
                <a:latin typeface="Calibri"/>
                <a:cs typeface="Calibri"/>
              </a:rPr>
              <a:t>preconditions</a:t>
            </a:r>
            <a:r>
              <a:rPr sz="2000" spc="45" dirty="0">
                <a:latin typeface="Calibri"/>
                <a:cs typeface="Calibri"/>
              </a:rPr>
              <a:t> </a:t>
            </a:r>
            <a:r>
              <a:rPr sz="2000" spc="-25" dirty="0">
                <a:latin typeface="Calibri"/>
                <a:cs typeface="Calibri"/>
              </a:rPr>
              <a:t>should</a:t>
            </a:r>
            <a:r>
              <a:rPr sz="2000" dirty="0">
                <a:latin typeface="Calibri"/>
                <a:cs typeface="Calibri"/>
              </a:rPr>
              <a:t> </a:t>
            </a:r>
            <a:r>
              <a:rPr sz="2000" spc="-30" dirty="0">
                <a:latin typeface="Calibri"/>
                <a:cs typeface="Calibri"/>
              </a:rPr>
              <a:t>exist</a:t>
            </a:r>
            <a:r>
              <a:rPr sz="2000" spc="-75" dirty="0">
                <a:latin typeface="Calibri"/>
                <a:cs typeface="Calibri"/>
              </a:rPr>
              <a:t> </a:t>
            </a:r>
            <a:r>
              <a:rPr sz="2000" spc="-20" dirty="0">
                <a:latin typeface="Calibri"/>
                <a:cs typeface="Calibri"/>
              </a:rPr>
              <a:t>before</a:t>
            </a:r>
            <a:r>
              <a:rPr sz="2000" spc="-60" dirty="0">
                <a:latin typeface="Calibri"/>
                <a:cs typeface="Calibri"/>
              </a:rPr>
              <a:t> </a:t>
            </a:r>
            <a:r>
              <a:rPr sz="2000" spc="-20" dirty="0">
                <a:latin typeface="Calibri"/>
                <a:cs typeface="Calibri"/>
              </a:rPr>
              <a:t>the</a:t>
            </a:r>
            <a:r>
              <a:rPr sz="2000" spc="-75" dirty="0">
                <a:latin typeface="Calibri"/>
                <a:cs typeface="Calibri"/>
              </a:rPr>
              <a:t> </a:t>
            </a:r>
            <a:r>
              <a:rPr sz="2000" spc="-30" dirty="0">
                <a:latin typeface="Calibri"/>
                <a:cs typeface="Calibri"/>
              </a:rPr>
              <a:t>scenario</a:t>
            </a:r>
            <a:r>
              <a:rPr sz="2000" spc="10" dirty="0">
                <a:latin typeface="Calibri"/>
                <a:cs typeface="Calibri"/>
              </a:rPr>
              <a:t> </a:t>
            </a:r>
            <a:r>
              <a:rPr sz="2000" spc="-10" dirty="0">
                <a:latin typeface="Calibri"/>
                <a:cs typeface="Calibri"/>
              </a:rPr>
              <a:t>begins?</a:t>
            </a:r>
            <a:endParaRPr sz="2000">
              <a:latin typeface="Calibri"/>
              <a:cs typeface="Calibri"/>
            </a:endParaRPr>
          </a:p>
          <a:p>
            <a:pPr marL="207010" indent="-168910">
              <a:lnSpc>
                <a:spcPct val="100000"/>
              </a:lnSpc>
              <a:spcBef>
                <a:spcPts val="150"/>
              </a:spcBef>
              <a:buChar char="•"/>
              <a:tabLst>
                <a:tab pos="207010" algn="l"/>
              </a:tabLst>
            </a:pPr>
            <a:r>
              <a:rPr sz="3075" spc="-127" baseline="1355" dirty="0">
                <a:latin typeface="Calibri"/>
                <a:cs typeface="Calibri"/>
              </a:rPr>
              <a:t>What</a:t>
            </a:r>
            <a:r>
              <a:rPr sz="3075" spc="-44" baseline="1355" dirty="0">
                <a:latin typeface="Calibri"/>
                <a:cs typeface="Calibri"/>
              </a:rPr>
              <a:t> </a:t>
            </a:r>
            <a:r>
              <a:rPr sz="3075" spc="-75" baseline="1355" dirty="0">
                <a:latin typeface="Calibri"/>
                <a:cs typeface="Calibri"/>
              </a:rPr>
              <a:t>main</a:t>
            </a:r>
            <a:r>
              <a:rPr sz="3075" spc="-104" baseline="1355" dirty="0">
                <a:latin typeface="Calibri"/>
                <a:cs typeface="Calibri"/>
              </a:rPr>
              <a:t> </a:t>
            </a:r>
            <a:r>
              <a:rPr sz="3075" spc="-60" baseline="1355" dirty="0">
                <a:latin typeface="Calibri"/>
                <a:cs typeface="Calibri"/>
              </a:rPr>
              <a:t>tasks</a:t>
            </a:r>
            <a:r>
              <a:rPr sz="3075" spc="-112" baseline="1355" dirty="0">
                <a:latin typeface="Calibri"/>
                <a:cs typeface="Calibri"/>
              </a:rPr>
              <a:t> </a:t>
            </a:r>
            <a:r>
              <a:rPr sz="3075" baseline="1355" dirty="0">
                <a:latin typeface="Calibri"/>
                <a:cs typeface="Calibri"/>
              </a:rPr>
              <a:t>or</a:t>
            </a:r>
            <a:r>
              <a:rPr sz="3075" spc="-150" baseline="1355" dirty="0">
                <a:latin typeface="Calibri"/>
                <a:cs typeface="Calibri"/>
              </a:rPr>
              <a:t> </a:t>
            </a:r>
            <a:r>
              <a:rPr sz="3075" spc="-89" baseline="1355" dirty="0">
                <a:latin typeface="Calibri"/>
                <a:cs typeface="Calibri"/>
              </a:rPr>
              <a:t>functions</a:t>
            </a:r>
            <a:r>
              <a:rPr sz="3075" spc="-15" baseline="1355" dirty="0">
                <a:latin typeface="Calibri"/>
                <a:cs typeface="Calibri"/>
              </a:rPr>
              <a:t> </a:t>
            </a:r>
            <a:r>
              <a:rPr sz="3075" spc="-52" baseline="1355" dirty="0">
                <a:solidFill>
                  <a:srgbClr val="242424"/>
                </a:solidFill>
                <a:latin typeface="Calibri"/>
                <a:cs typeface="Calibri"/>
              </a:rPr>
              <a:t>are</a:t>
            </a:r>
            <a:r>
              <a:rPr sz="3075" spc="-60" baseline="1355" dirty="0">
                <a:solidFill>
                  <a:srgbClr val="242424"/>
                </a:solidFill>
                <a:latin typeface="Calibri"/>
                <a:cs typeface="Calibri"/>
              </a:rPr>
              <a:t> </a:t>
            </a:r>
            <a:r>
              <a:rPr sz="3075" spc="-97" baseline="1355" dirty="0">
                <a:latin typeface="Calibri"/>
                <a:cs typeface="Calibri"/>
              </a:rPr>
              <a:t>performed</a:t>
            </a:r>
            <a:r>
              <a:rPr sz="3075" spc="-67" baseline="1355" dirty="0">
                <a:latin typeface="Calibri"/>
                <a:cs typeface="Calibri"/>
              </a:rPr>
              <a:t> </a:t>
            </a:r>
            <a:r>
              <a:rPr sz="3075" baseline="1355" dirty="0">
                <a:latin typeface="Calibri"/>
                <a:cs typeface="Calibri"/>
              </a:rPr>
              <a:t>by</a:t>
            </a:r>
            <a:r>
              <a:rPr sz="3075" spc="-127" baseline="1355" dirty="0">
                <a:latin typeface="Calibri"/>
                <a:cs typeface="Calibri"/>
              </a:rPr>
              <a:t> </a:t>
            </a:r>
            <a:r>
              <a:rPr sz="3075" spc="-89" baseline="1355" dirty="0">
                <a:latin typeface="Calibri"/>
                <a:cs typeface="Calibri"/>
              </a:rPr>
              <a:t>the</a:t>
            </a:r>
            <a:r>
              <a:rPr sz="3075" spc="-82" baseline="1355" dirty="0">
                <a:latin typeface="Calibri"/>
                <a:cs typeface="Calibri"/>
              </a:rPr>
              <a:t> </a:t>
            </a:r>
            <a:r>
              <a:rPr sz="2050" spc="-10" dirty="0">
                <a:latin typeface="Calibri"/>
                <a:cs typeface="Calibri"/>
              </a:rPr>
              <a:t>actor</a:t>
            </a:r>
            <a:r>
              <a:rPr sz="3075" spc="-15" baseline="9485" dirty="0">
                <a:latin typeface="Calibri"/>
                <a:cs typeface="Calibri"/>
              </a:rPr>
              <a:t>3</a:t>
            </a:r>
            <a:endParaRPr sz="3075" baseline="9485">
              <a:latin typeface="Calibri"/>
              <a:cs typeface="Calibri"/>
            </a:endParaRPr>
          </a:p>
          <a:p>
            <a:pPr marL="205740" indent="-166370">
              <a:lnSpc>
                <a:spcPct val="100000"/>
              </a:lnSpc>
              <a:spcBef>
                <a:spcPts val="140"/>
              </a:spcBef>
              <a:buChar char="•"/>
              <a:tabLst>
                <a:tab pos="205740" algn="l"/>
              </a:tabLst>
            </a:pPr>
            <a:r>
              <a:rPr sz="1900" dirty="0">
                <a:latin typeface="Calibri"/>
                <a:cs typeface="Calibri"/>
              </a:rPr>
              <a:t>What</a:t>
            </a:r>
            <a:r>
              <a:rPr sz="1900" spc="45" dirty="0">
                <a:latin typeface="Calibri"/>
                <a:cs typeface="Calibri"/>
              </a:rPr>
              <a:t> </a:t>
            </a:r>
            <a:r>
              <a:rPr sz="1900" dirty="0">
                <a:latin typeface="Calibri"/>
                <a:cs typeface="Calibri"/>
              </a:rPr>
              <a:t>exceptions</a:t>
            </a:r>
            <a:r>
              <a:rPr sz="1900" spc="135" dirty="0">
                <a:latin typeface="Calibri"/>
                <a:cs typeface="Calibri"/>
              </a:rPr>
              <a:t> </a:t>
            </a:r>
            <a:r>
              <a:rPr sz="1900" dirty="0">
                <a:latin typeface="Calibri"/>
                <a:cs typeface="Calibri"/>
              </a:rPr>
              <a:t>might</a:t>
            </a:r>
            <a:r>
              <a:rPr sz="1900" spc="10" dirty="0">
                <a:latin typeface="Calibri"/>
                <a:cs typeface="Calibri"/>
              </a:rPr>
              <a:t> </a:t>
            </a:r>
            <a:r>
              <a:rPr sz="1900" spc="-120" dirty="0">
                <a:latin typeface="Calibri"/>
                <a:cs typeface="Calibri"/>
              </a:rPr>
              <a:t>bE'</a:t>
            </a:r>
            <a:r>
              <a:rPr sz="1900" spc="15" dirty="0">
                <a:latin typeface="Calibri"/>
                <a:cs typeface="Calibri"/>
              </a:rPr>
              <a:t> </a:t>
            </a:r>
            <a:r>
              <a:rPr sz="1900" spc="-35" dirty="0">
                <a:latin typeface="Calibri"/>
                <a:cs typeface="Calibri"/>
              </a:rPr>
              <a:t>considE'red</a:t>
            </a:r>
            <a:r>
              <a:rPr sz="1900" spc="60" dirty="0">
                <a:latin typeface="Calibri"/>
                <a:cs typeface="Calibri"/>
              </a:rPr>
              <a:t> </a:t>
            </a:r>
            <a:r>
              <a:rPr sz="1900" dirty="0">
                <a:solidFill>
                  <a:srgbClr val="0E0E0E"/>
                </a:solidFill>
                <a:latin typeface="Calibri"/>
                <a:cs typeface="Calibri"/>
              </a:rPr>
              <a:t>as</a:t>
            </a:r>
            <a:r>
              <a:rPr sz="1900" spc="-65" dirty="0">
                <a:solidFill>
                  <a:srgbClr val="0E0E0E"/>
                </a:solidFill>
                <a:latin typeface="Calibri"/>
                <a:cs typeface="Calibri"/>
              </a:rPr>
              <a:t> </a:t>
            </a:r>
            <a:r>
              <a:rPr sz="1900" dirty="0">
                <a:latin typeface="Calibri"/>
                <a:cs typeface="Calibri"/>
              </a:rPr>
              <a:t>the</a:t>
            </a:r>
            <a:r>
              <a:rPr sz="1900" spc="95" dirty="0">
                <a:latin typeface="Calibri"/>
                <a:cs typeface="Calibri"/>
              </a:rPr>
              <a:t> </a:t>
            </a:r>
            <a:r>
              <a:rPr sz="1900" dirty="0">
                <a:latin typeface="Calibri"/>
                <a:cs typeface="Calibri"/>
              </a:rPr>
              <a:t>scenario</a:t>
            </a:r>
            <a:r>
              <a:rPr sz="1900" spc="140" dirty="0">
                <a:latin typeface="Calibri"/>
                <a:cs typeface="Calibri"/>
              </a:rPr>
              <a:t> </a:t>
            </a:r>
            <a:r>
              <a:rPr sz="1900" dirty="0">
                <a:solidFill>
                  <a:srgbClr val="0F0F0F"/>
                </a:solidFill>
                <a:latin typeface="Calibri"/>
                <a:cs typeface="Calibri"/>
              </a:rPr>
              <a:t>is</a:t>
            </a:r>
            <a:r>
              <a:rPr sz="1900" spc="-20" dirty="0">
                <a:solidFill>
                  <a:srgbClr val="0F0F0F"/>
                </a:solidFill>
                <a:latin typeface="Calibri"/>
                <a:cs typeface="Calibri"/>
              </a:rPr>
              <a:t> </a:t>
            </a:r>
            <a:r>
              <a:rPr sz="1900" spc="-10" dirty="0">
                <a:latin typeface="Calibri"/>
                <a:cs typeface="Calibri"/>
              </a:rPr>
              <a:t>described?</a:t>
            </a:r>
            <a:endParaRPr sz="1900">
              <a:latin typeface="Calibri"/>
              <a:cs typeface="Calibri"/>
            </a:endParaRPr>
          </a:p>
          <a:p>
            <a:pPr marL="205740" indent="-167640">
              <a:lnSpc>
                <a:spcPct val="100000"/>
              </a:lnSpc>
              <a:spcBef>
                <a:spcPts val="170"/>
              </a:spcBef>
              <a:buChar char="•"/>
              <a:tabLst>
                <a:tab pos="205740" algn="l"/>
              </a:tabLst>
            </a:pPr>
            <a:r>
              <a:rPr sz="2000" spc="-45" dirty="0">
                <a:latin typeface="Calibri"/>
                <a:cs typeface="Calibri"/>
              </a:rPr>
              <a:t>What </a:t>
            </a:r>
            <a:r>
              <a:rPr sz="2000" spc="-35" dirty="0">
                <a:latin typeface="Calibri"/>
                <a:cs typeface="Calibri"/>
              </a:rPr>
              <a:t>variations</a:t>
            </a:r>
            <a:r>
              <a:rPr sz="2000" spc="30" dirty="0">
                <a:latin typeface="Calibri"/>
                <a:cs typeface="Calibri"/>
              </a:rPr>
              <a:t> </a:t>
            </a:r>
            <a:r>
              <a:rPr sz="2000" dirty="0">
                <a:latin typeface="Calibri"/>
                <a:cs typeface="Calibri"/>
              </a:rPr>
              <a:t>in</a:t>
            </a:r>
            <a:r>
              <a:rPr sz="2000" spc="-75" dirty="0">
                <a:latin typeface="Calibri"/>
                <a:cs typeface="Calibri"/>
              </a:rPr>
              <a:t> </a:t>
            </a:r>
            <a:r>
              <a:rPr sz="2000" spc="-30" dirty="0">
                <a:latin typeface="Calibri"/>
                <a:cs typeface="Calibri"/>
              </a:rPr>
              <a:t>the</a:t>
            </a:r>
            <a:r>
              <a:rPr sz="2000" spc="-40" dirty="0">
                <a:latin typeface="Calibri"/>
                <a:cs typeface="Calibri"/>
              </a:rPr>
              <a:t> </a:t>
            </a:r>
            <a:r>
              <a:rPr sz="2000" spc="-30" dirty="0">
                <a:latin typeface="Calibri"/>
                <a:cs typeface="Calibri"/>
              </a:rPr>
              <a:t>actor‘s</a:t>
            </a:r>
            <a:r>
              <a:rPr sz="2000" spc="-25" dirty="0">
                <a:latin typeface="Calibri"/>
                <a:cs typeface="Calibri"/>
              </a:rPr>
              <a:t> </a:t>
            </a:r>
            <a:r>
              <a:rPr sz="2000" spc="-35" dirty="0">
                <a:latin typeface="Calibri"/>
                <a:cs typeface="Calibri"/>
              </a:rPr>
              <a:t>interaction</a:t>
            </a:r>
            <a:r>
              <a:rPr sz="2000" spc="85" dirty="0">
                <a:latin typeface="Calibri"/>
                <a:cs typeface="Calibri"/>
              </a:rPr>
              <a:t> </a:t>
            </a:r>
            <a:r>
              <a:rPr sz="2000" spc="-45" dirty="0">
                <a:latin typeface="Calibri"/>
                <a:cs typeface="Calibri"/>
              </a:rPr>
              <a:t>are</a:t>
            </a:r>
            <a:r>
              <a:rPr sz="2000" spc="-65" dirty="0">
                <a:latin typeface="Calibri"/>
                <a:cs typeface="Calibri"/>
              </a:rPr>
              <a:t> </a:t>
            </a:r>
            <a:r>
              <a:rPr sz="2000" spc="-10" dirty="0">
                <a:latin typeface="Calibri"/>
                <a:cs typeface="Calibri"/>
              </a:rPr>
              <a:t>possible?</a:t>
            </a:r>
            <a:endParaRPr sz="2000">
              <a:latin typeface="Calibri"/>
              <a:cs typeface="Calibri"/>
            </a:endParaRPr>
          </a:p>
          <a:p>
            <a:pPr marL="207010" indent="-168910">
              <a:lnSpc>
                <a:spcPts val="2205"/>
              </a:lnSpc>
              <a:spcBef>
                <a:spcPts val="100"/>
              </a:spcBef>
              <a:buChar char="•"/>
              <a:tabLst>
                <a:tab pos="207010" algn="l"/>
              </a:tabLst>
            </a:pPr>
            <a:r>
              <a:rPr sz="2050" spc="-65" dirty="0">
                <a:latin typeface="Calibri"/>
                <a:cs typeface="Calibri"/>
              </a:rPr>
              <a:t>What</a:t>
            </a:r>
            <a:r>
              <a:rPr sz="2050" spc="-50" dirty="0">
                <a:latin typeface="Calibri"/>
                <a:cs typeface="Calibri"/>
              </a:rPr>
              <a:t> </a:t>
            </a:r>
            <a:r>
              <a:rPr sz="2050" spc="-75" dirty="0">
                <a:latin typeface="Calibri"/>
                <a:cs typeface="Calibri"/>
              </a:rPr>
              <a:t>system</a:t>
            </a:r>
            <a:r>
              <a:rPr sz="2050" spc="-40" dirty="0">
                <a:latin typeface="Calibri"/>
                <a:cs typeface="Calibri"/>
              </a:rPr>
              <a:t> </a:t>
            </a:r>
            <a:r>
              <a:rPr sz="2050" spc="-55" dirty="0">
                <a:latin typeface="Calibri"/>
                <a:cs typeface="Calibri"/>
              </a:rPr>
              <a:t>information</a:t>
            </a:r>
            <a:r>
              <a:rPr sz="2050" spc="15" dirty="0">
                <a:latin typeface="Calibri"/>
                <a:cs typeface="Calibri"/>
              </a:rPr>
              <a:t> </a:t>
            </a:r>
            <a:r>
              <a:rPr sz="2050" spc="-50" dirty="0">
                <a:latin typeface="Calibri"/>
                <a:cs typeface="Calibri"/>
              </a:rPr>
              <a:t>will</a:t>
            </a:r>
            <a:r>
              <a:rPr sz="2050" spc="-65" dirty="0">
                <a:latin typeface="Calibri"/>
                <a:cs typeface="Calibri"/>
              </a:rPr>
              <a:t> </a:t>
            </a:r>
            <a:r>
              <a:rPr sz="2050" spc="-10" dirty="0">
                <a:latin typeface="Calibri"/>
                <a:cs typeface="Calibri"/>
              </a:rPr>
              <a:t>the</a:t>
            </a:r>
            <a:r>
              <a:rPr sz="2050" spc="-105" dirty="0">
                <a:latin typeface="Calibri"/>
                <a:cs typeface="Calibri"/>
              </a:rPr>
              <a:t> </a:t>
            </a:r>
            <a:r>
              <a:rPr sz="2050" spc="-60" dirty="0">
                <a:latin typeface="Calibri"/>
                <a:cs typeface="Calibri"/>
              </a:rPr>
              <a:t>actor</a:t>
            </a:r>
            <a:r>
              <a:rPr sz="2050" spc="-55" dirty="0">
                <a:latin typeface="Calibri"/>
                <a:cs typeface="Calibri"/>
              </a:rPr>
              <a:t> </a:t>
            </a:r>
            <a:r>
              <a:rPr sz="2050" spc="-45" dirty="0">
                <a:latin typeface="Calibri"/>
                <a:cs typeface="Calibri"/>
              </a:rPr>
              <a:t>acquire,</a:t>
            </a:r>
            <a:r>
              <a:rPr sz="2050" spc="-20" dirty="0">
                <a:latin typeface="Calibri"/>
                <a:cs typeface="Calibri"/>
              </a:rPr>
              <a:t> </a:t>
            </a:r>
            <a:r>
              <a:rPr sz="2050" spc="-65" dirty="0">
                <a:latin typeface="Calibri"/>
                <a:cs typeface="Calibri"/>
              </a:rPr>
              <a:t>produce,</a:t>
            </a:r>
            <a:r>
              <a:rPr sz="2050" spc="65" dirty="0">
                <a:latin typeface="Calibri"/>
                <a:cs typeface="Calibri"/>
              </a:rPr>
              <a:t> </a:t>
            </a:r>
            <a:r>
              <a:rPr sz="2050" spc="-25" dirty="0">
                <a:latin typeface="Calibri"/>
                <a:cs typeface="Calibri"/>
              </a:rPr>
              <a:t>or</a:t>
            </a:r>
            <a:endParaRPr sz="2050">
              <a:latin typeface="Calibri"/>
              <a:cs typeface="Calibri"/>
            </a:endParaRPr>
          </a:p>
          <a:p>
            <a:pPr marL="203835">
              <a:lnSpc>
                <a:spcPts val="2025"/>
              </a:lnSpc>
            </a:pPr>
            <a:r>
              <a:rPr sz="1900" spc="-10" dirty="0">
                <a:latin typeface="Calibri"/>
                <a:cs typeface="Calibri"/>
              </a:rPr>
              <a:t>change?</a:t>
            </a:r>
            <a:endParaRPr sz="1900">
              <a:latin typeface="Calibri"/>
              <a:cs typeface="Calibri"/>
            </a:endParaRPr>
          </a:p>
          <a:p>
            <a:pPr marL="207010" indent="-168910">
              <a:lnSpc>
                <a:spcPts val="2205"/>
              </a:lnSpc>
              <a:spcBef>
                <a:spcPts val="170"/>
              </a:spcBef>
              <a:buChar char="•"/>
              <a:tabLst>
                <a:tab pos="207010" algn="l"/>
              </a:tabLst>
            </a:pPr>
            <a:r>
              <a:rPr sz="2050" spc="-85" dirty="0">
                <a:latin typeface="Calibri"/>
                <a:cs typeface="Calibri"/>
              </a:rPr>
              <a:t>Wi</a:t>
            </a:r>
            <a:r>
              <a:rPr sz="2050" spc="-35" dirty="0">
                <a:latin typeface="Calibri"/>
                <a:cs typeface="Calibri"/>
              </a:rPr>
              <a:t> </a:t>
            </a:r>
            <a:r>
              <a:rPr sz="2050" dirty="0">
                <a:latin typeface="Calibri"/>
                <a:cs typeface="Calibri"/>
              </a:rPr>
              <a:t>I</a:t>
            </a:r>
            <a:r>
              <a:rPr sz="2050" spc="-114" dirty="0">
                <a:latin typeface="Calibri"/>
                <a:cs typeface="Calibri"/>
              </a:rPr>
              <a:t> </a:t>
            </a:r>
            <a:r>
              <a:rPr sz="2050" spc="-60" dirty="0">
                <a:latin typeface="Calibri"/>
                <a:cs typeface="Calibri"/>
              </a:rPr>
              <a:t>the</a:t>
            </a:r>
            <a:r>
              <a:rPr sz="2050" spc="-50" dirty="0">
                <a:latin typeface="Calibri"/>
                <a:cs typeface="Calibri"/>
              </a:rPr>
              <a:t> </a:t>
            </a:r>
            <a:r>
              <a:rPr sz="2050" spc="-55" dirty="0">
                <a:latin typeface="Calibri"/>
                <a:cs typeface="Calibri"/>
              </a:rPr>
              <a:t>actor</a:t>
            </a:r>
            <a:r>
              <a:rPr sz="2050" spc="-65" dirty="0">
                <a:latin typeface="Calibri"/>
                <a:cs typeface="Calibri"/>
              </a:rPr>
              <a:t> </a:t>
            </a:r>
            <a:r>
              <a:rPr sz="2050" spc="-60" dirty="0">
                <a:latin typeface="Calibri"/>
                <a:cs typeface="Calibri"/>
              </a:rPr>
              <a:t>have</a:t>
            </a:r>
            <a:r>
              <a:rPr sz="2050" spc="-55" dirty="0">
                <a:latin typeface="Calibri"/>
                <a:cs typeface="Calibri"/>
              </a:rPr>
              <a:t> </a:t>
            </a:r>
            <a:r>
              <a:rPr sz="2050" spc="-35" dirty="0">
                <a:solidFill>
                  <a:srgbClr val="0C0C0C"/>
                </a:solidFill>
                <a:latin typeface="Calibri"/>
                <a:cs typeface="Calibri"/>
              </a:rPr>
              <a:t>to</a:t>
            </a:r>
            <a:r>
              <a:rPr sz="2050" spc="-80" dirty="0">
                <a:solidFill>
                  <a:srgbClr val="0C0C0C"/>
                </a:solidFill>
                <a:latin typeface="Calibri"/>
                <a:cs typeface="Calibri"/>
              </a:rPr>
              <a:t> </a:t>
            </a:r>
            <a:r>
              <a:rPr sz="2050" spc="-45" dirty="0">
                <a:latin typeface="Calibri"/>
                <a:cs typeface="Calibri"/>
              </a:rPr>
              <a:t>inform</a:t>
            </a:r>
            <a:r>
              <a:rPr sz="2050" spc="-15" dirty="0">
                <a:latin typeface="Calibri"/>
                <a:cs typeface="Calibri"/>
              </a:rPr>
              <a:t> </a:t>
            </a:r>
            <a:r>
              <a:rPr sz="2050" spc="-55" dirty="0">
                <a:latin typeface="Calibri"/>
                <a:cs typeface="Calibri"/>
              </a:rPr>
              <a:t>the</a:t>
            </a:r>
            <a:r>
              <a:rPr sz="2050" spc="-60" dirty="0">
                <a:latin typeface="Calibri"/>
                <a:cs typeface="Calibri"/>
              </a:rPr>
              <a:t> </a:t>
            </a:r>
            <a:r>
              <a:rPr sz="2050" spc="-65" dirty="0">
                <a:latin typeface="Calibri"/>
                <a:cs typeface="Calibri"/>
              </a:rPr>
              <a:t>system</a:t>
            </a:r>
            <a:r>
              <a:rPr sz="2050" spc="-35" dirty="0">
                <a:latin typeface="Calibri"/>
                <a:cs typeface="Calibri"/>
              </a:rPr>
              <a:t> </a:t>
            </a:r>
            <a:r>
              <a:rPr sz="2050" spc="-50" dirty="0">
                <a:latin typeface="Calibri"/>
                <a:cs typeface="Calibri"/>
              </a:rPr>
              <a:t>about</a:t>
            </a:r>
            <a:r>
              <a:rPr sz="2050" spc="20" dirty="0">
                <a:latin typeface="Calibri"/>
                <a:cs typeface="Calibri"/>
              </a:rPr>
              <a:t> </a:t>
            </a:r>
            <a:r>
              <a:rPr sz="2050" spc="-60" dirty="0">
                <a:latin typeface="Calibri"/>
                <a:cs typeface="Calibri"/>
              </a:rPr>
              <a:t>changes</a:t>
            </a:r>
            <a:r>
              <a:rPr sz="2050" spc="-35" dirty="0">
                <a:latin typeface="Calibri"/>
                <a:cs typeface="Calibri"/>
              </a:rPr>
              <a:t> </a:t>
            </a:r>
            <a:r>
              <a:rPr sz="2050" spc="-20" dirty="0">
                <a:latin typeface="Calibri"/>
                <a:cs typeface="Calibri"/>
              </a:rPr>
              <a:t>in</a:t>
            </a:r>
            <a:r>
              <a:rPr sz="2050" spc="-65" dirty="0">
                <a:latin typeface="Calibri"/>
                <a:cs typeface="Calibri"/>
              </a:rPr>
              <a:t> </a:t>
            </a:r>
            <a:r>
              <a:rPr sz="2050" spc="-25" dirty="0">
                <a:latin typeface="Calibri"/>
                <a:cs typeface="Calibri"/>
              </a:rPr>
              <a:t>the</a:t>
            </a:r>
            <a:endParaRPr sz="2050">
              <a:latin typeface="Calibri"/>
              <a:cs typeface="Calibri"/>
            </a:endParaRPr>
          </a:p>
          <a:p>
            <a:pPr marL="203200">
              <a:lnSpc>
                <a:spcPts val="2085"/>
              </a:lnSpc>
            </a:pPr>
            <a:r>
              <a:rPr sz="1950" spc="-10" dirty="0">
                <a:latin typeface="Calibri"/>
                <a:cs typeface="Calibri"/>
              </a:rPr>
              <a:t>external</a:t>
            </a:r>
            <a:r>
              <a:rPr sz="1950" spc="-65" dirty="0">
                <a:latin typeface="Calibri"/>
                <a:cs typeface="Calibri"/>
              </a:rPr>
              <a:t> </a:t>
            </a:r>
            <a:r>
              <a:rPr sz="1950" spc="-10" dirty="0">
                <a:latin typeface="Calibri"/>
                <a:cs typeface="Calibri"/>
              </a:rPr>
              <a:t>environment?</a:t>
            </a:r>
            <a:endParaRPr sz="1950">
              <a:latin typeface="Calibri"/>
              <a:cs typeface="Calibri"/>
            </a:endParaRPr>
          </a:p>
          <a:p>
            <a:pPr marL="207010" indent="-168910">
              <a:lnSpc>
                <a:spcPct val="100000"/>
              </a:lnSpc>
              <a:spcBef>
                <a:spcPts val="110"/>
              </a:spcBef>
              <a:buChar char="•"/>
              <a:tabLst>
                <a:tab pos="207010" algn="l"/>
              </a:tabLst>
            </a:pPr>
            <a:r>
              <a:rPr sz="2050" spc="-80" dirty="0">
                <a:latin typeface="Calibri"/>
                <a:cs typeface="Calibri"/>
              </a:rPr>
              <a:t>What</a:t>
            </a:r>
            <a:r>
              <a:rPr sz="2050" spc="-35" dirty="0">
                <a:latin typeface="Calibri"/>
                <a:cs typeface="Calibri"/>
              </a:rPr>
              <a:t> </a:t>
            </a:r>
            <a:r>
              <a:rPr sz="2050" spc="-55" dirty="0">
                <a:latin typeface="Calibri"/>
                <a:cs typeface="Calibri"/>
              </a:rPr>
              <a:t>information</a:t>
            </a:r>
            <a:r>
              <a:rPr sz="2050" spc="-65" dirty="0">
                <a:latin typeface="Calibri"/>
                <a:cs typeface="Calibri"/>
              </a:rPr>
              <a:t> </a:t>
            </a:r>
            <a:r>
              <a:rPr sz="2050" spc="-40" dirty="0">
                <a:solidFill>
                  <a:srgbClr val="0E0E0E"/>
                </a:solidFill>
                <a:latin typeface="Calibri"/>
                <a:cs typeface="Calibri"/>
              </a:rPr>
              <a:t>does</a:t>
            </a:r>
            <a:r>
              <a:rPr sz="2050" spc="-55" dirty="0">
                <a:solidFill>
                  <a:srgbClr val="0E0E0E"/>
                </a:solidFill>
                <a:latin typeface="Calibri"/>
                <a:cs typeface="Calibri"/>
              </a:rPr>
              <a:t> </a:t>
            </a:r>
            <a:r>
              <a:rPr sz="2050" spc="-60" dirty="0">
                <a:latin typeface="Calibri"/>
                <a:cs typeface="Calibri"/>
              </a:rPr>
              <a:t>the</a:t>
            </a:r>
            <a:r>
              <a:rPr sz="2050" spc="-55" dirty="0">
                <a:latin typeface="Calibri"/>
                <a:cs typeface="Calibri"/>
              </a:rPr>
              <a:t> </a:t>
            </a:r>
            <a:r>
              <a:rPr sz="2050" spc="-65" dirty="0">
                <a:latin typeface="Calibri"/>
                <a:cs typeface="Calibri"/>
              </a:rPr>
              <a:t>actor</a:t>
            </a:r>
            <a:r>
              <a:rPr sz="2050" spc="-50" dirty="0">
                <a:latin typeface="Calibri"/>
                <a:cs typeface="Calibri"/>
              </a:rPr>
              <a:t> </a:t>
            </a:r>
            <a:r>
              <a:rPr sz="2050" spc="-35" dirty="0">
                <a:latin typeface="Calibri"/>
                <a:cs typeface="Calibri"/>
              </a:rPr>
              <a:t>desire</a:t>
            </a:r>
            <a:r>
              <a:rPr sz="2050" spc="15" dirty="0">
                <a:latin typeface="Calibri"/>
                <a:cs typeface="Calibri"/>
              </a:rPr>
              <a:t> </a:t>
            </a:r>
            <a:r>
              <a:rPr sz="2050" spc="-50" dirty="0">
                <a:latin typeface="Calibri"/>
                <a:cs typeface="Calibri"/>
              </a:rPr>
              <a:t>from</a:t>
            </a:r>
            <a:r>
              <a:rPr sz="2050" spc="-55" dirty="0">
                <a:latin typeface="Calibri"/>
                <a:cs typeface="Calibri"/>
              </a:rPr>
              <a:t> </a:t>
            </a:r>
            <a:r>
              <a:rPr sz="2050" spc="-55" dirty="0">
                <a:solidFill>
                  <a:srgbClr val="0C0C0C"/>
                </a:solidFill>
                <a:latin typeface="Calibri"/>
                <a:cs typeface="Calibri"/>
              </a:rPr>
              <a:t>the</a:t>
            </a:r>
            <a:r>
              <a:rPr sz="2050" spc="-60" dirty="0">
                <a:solidFill>
                  <a:srgbClr val="0C0C0C"/>
                </a:solidFill>
                <a:latin typeface="Calibri"/>
                <a:cs typeface="Calibri"/>
              </a:rPr>
              <a:t> </a:t>
            </a:r>
            <a:r>
              <a:rPr sz="2050" spc="-10" dirty="0">
                <a:latin typeface="Calibri"/>
                <a:cs typeface="Calibri"/>
              </a:rPr>
              <a:t>system?</a:t>
            </a:r>
            <a:endParaRPr sz="2050">
              <a:latin typeface="Calibri"/>
              <a:cs typeface="Calibri"/>
            </a:endParaRPr>
          </a:p>
          <a:p>
            <a:pPr marL="205740" indent="-165735">
              <a:lnSpc>
                <a:spcPct val="100000"/>
              </a:lnSpc>
              <a:spcBef>
                <a:spcPts val="240"/>
              </a:spcBef>
              <a:buClr>
                <a:srgbClr val="000000"/>
              </a:buClr>
              <a:buChar char="•"/>
              <a:tabLst>
                <a:tab pos="205740" algn="l"/>
              </a:tabLst>
            </a:pPr>
            <a:r>
              <a:rPr sz="1850" dirty="0">
                <a:solidFill>
                  <a:srgbClr val="0E0E0E"/>
                </a:solidFill>
                <a:latin typeface="Calibri"/>
                <a:cs typeface="Calibri"/>
              </a:rPr>
              <a:t>Does</a:t>
            </a:r>
            <a:r>
              <a:rPr sz="1850" spc="70" dirty="0">
                <a:solidFill>
                  <a:srgbClr val="0E0E0E"/>
                </a:solidFill>
                <a:latin typeface="Calibri"/>
                <a:cs typeface="Calibri"/>
              </a:rPr>
              <a:t> </a:t>
            </a:r>
            <a:r>
              <a:rPr sz="1850" dirty="0">
                <a:solidFill>
                  <a:srgbClr val="0F0F0F"/>
                </a:solidFill>
                <a:latin typeface="Calibri"/>
                <a:cs typeface="Calibri"/>
              </a:rPr>
              <a:t>thR</a:t>
            </a:r>
            <a:r>
              <a:rPr sz="1850" spc="130" dirty="0">
                <a:solidFill>
                  <a:srgbClr val="0F0F0F"/>
                </a:solidFill>
                <a:latin typeface="Calibri"/>
                <a:cs typeface="Calibri"/>
              </a:rPr>
              <a:t> </a:t>
            </a:r>
            <a:r>
              <a:rPr sz="1850" spc="-10" dirty="0">
                <a:latin typeface="Calibri"/>
                <a:cs typeface="Calibri"/>
              </a:rPr>
              <a:t>8Ctor</a:t>
            </a:r>
            <a:r>
              <a:rPr sz="1850" spc="100" dirty="0">
                <a:latin typeface="Calibri"/>
                <a:cs typeface="Calibri"/>
              </a:rPr>
              <a:t> </a:t>
            </a:r>
            <a:r>
              <a:rPr sz="1850" spc="-145" dirty="0">
                <a:latin typeface="Calibri"/>
                <a:cs typeface="Calibri"/>
              </a:rPr>
              <a:t>WtSh</a:t>
            </a:r>
            <a:r>
              <a:rPr sz="1850" spc="175" dirty="0">
                <a:latin typeface="Calibri"/>
                <a:cs typeface="Calibri"/>
              </a:rPr>
              <a:t> </a:t>
            </a:r>
            <a:r>
              <a:rPr sz="1850" dirty="0">
                <a:solidFill>
                  <a:srgbClr val="0F0F0F"/>
                </a:solidFill>
                <a:latin typeface="Calibri"/>
                <a:cs typeface="Calibri"/>
              </a:rPr>
              <a:t>to</a:t>
            </a:r>
            <a:r>
              <a:rPr sz="1850" spc="15" dirty="0">
                <a:solidFill>
                  <a:srgbClr val="0F0F0F"/>
                </a:solidFill>
                <a:latin typeface="Calibri"/>
                <a:cs typeface="Calibri"/>
              </a:rPr>
              <a:t> </a:t>
            </a:r>
            <a:r>
              <a:rPr sz="1850" dirty="0">
                <a:latin typeface="Calibri"/>
                <a:cs typeface="Calibri"/>
              </a:rPr>
              <a:t>be</a:t>
            </a:r>
            <a:r>
              <a:rPr sz="1850" spc="130" dirty="0">
                <a:latin typeface="Calibri"/>
                <a:cs typeface="Calibri"/>
              </a:rPr>
              <a:t> </a:t>
            </a:r>
            <a:r>
              <a:rPr sz="1850" dirty="0">
                <a:latin typeface="Calibri"/>
                <a:cs typeface="Calibri"/>
              </a:rPr>
              <a:t>informed</a:t>
            </a:r>
            <a:r>
              <a:rPr sz="1850" spc="210" dirty="0">
                <a:latin typeface="Calibri"/>
                <a:cs typeface="Calibri"/>
              </a:rPr>
              <a:t> </a:t>
            </a:r>
            <a:r>
              <a:rPr sz="1850" dirty="0">
                <a:latin typeface="Calibri"/>
                <a:cs typeface="Calibri"/>
              </a:rPr>
              <a:t>about</a:t>
            </a:r>
            <a:r>
              <a:rPr sz="1850" spc="114" dirty="0">
                <a:latin typeface="Calibri"/>
                <a:cs typeface="Calibri"/>
              </a:rPr>
              <a:t> </a:t>
            </a:r>
            <a:r>
              <a:rPr sz="1850" dirty="0">
                <a:latin typeface="Calibri"/>
                <a:cs typeface="Calibri"/>
              </a:rPr>
              <a:t>unexpected</a:t>
            </a:r>
            <a:r>
              <a:rPr sz="1850" spc="270" dirty="0">
                <a:latin typeface="Calibri"/>
                <a:cs typeface="Calibri"/>
              </a:rPr>
              <a:t> </a:t>
            </a:r>
            <a:r>
              <a:rPr sz="1850" spc="-10" dirty="0">
                <a:latin typeface="Calibri"/>
                <a:cs typeface="Calibri"/>
              </a:rPr>
              <a:t>changes?</a:t>
            </a:r>
            <a:endParaRPr sz="185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0455DA6B-5311-8304-C66D-CCA948165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grpSp>
        <p:nvGrpSpPr>
          <p:cNvPr id="3" name="object 3"/>
          <p:cNvGrpSpPr/>
          <p:nvPr/>
        </p:nvGrpSpPr>
        <p:grpSpPr>
          <a:xfrm>
            <a:off x="2186939" y="2259752"/>
            <a:ext cx="1229995" cy="417830"/>
            <a:chOff x="2186939" y="2259752"/>
            <a:chExt cx="1229995" cy="417830"/>
          </a:xfrm>
        </p:grpSpPr>
        <p:sp>
          <p:nvSpPr>
            <p:cNvPr id="4" name="object 4"/>
            <p:cNvSpPr/>
            <p:nvPr/>
          </p:nvSpPr>
          <p:spPr>
            <a:xfrm>
              <a:off x="3412277"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sp>
          <p:nvSpPr>
            <p:cNvPr id="5" name="object 5"/>
            <p:cNvSpPr/>
            <p:nvPr/>
          </p:nvSpPr>
          <p:spPr>
            <a:xfrm>
              <a:off x="2186939" y="2264197"/>
              <a:ext cx="1229995" cy="0"/>
            </a:xfrm>
            <a:custGeom>
              <a:avLst/>
              <a:gdLst/>
              <a:ahLst/>
              <a:cxnLst/>
              <a:rect l="l" t="t" r="r" b="b"/>
              <a:pathLst>
                <a:path w="1229995">
                  <a:moveTo>
                    <a:pt x="0" y="0"/>
                  </a:moveTo>
                  <a:lnTo>
                    <a:pt x="1229783" y="0"/>
                  </a:lnTo>
                </a:path>
              </a:pathLst>
            </a:custGeom>
            <a:ln w="8889">
              <a:solidFill>
                <a:srgbClr val="747454"/>
              </a:solidFill>
            </a:ln>
          </p:spPr>
          <p:txBody>
            <a:bodyPr wrap="square" lIns="0" tIns="0" rIns="0" bIns="0" rtlCol="0"/>
            <a:lstStyle/>
            <a:p>
              <a:endParaRPr/>
            </a:p>
          </p:txBody>
        </p:sp>
        <p:sp>
          <p:nvSpPr>
            <p:cNvPr id="6" name="object 6"/>
            <p:cNvSpPr/>
            <p:nvPr/>
          </p:nvSpPr>
          <p:spPr>
            <a:xfrm>
              <a:off x="2252132" y="2673137"/>
              <a:ext cx="1099820" cy="0"/>
            </a:xfrm>
            <a:custGeom>
              <a:avLst/>
              <a:gdLst/>
              <a:ahLst/>
              <a:cxnLst/>
              <a:rect l="l" t="t" r="r" b="b"/>
              <a:pathLst>
                <a:path w="1099820">
                  <a:moveTo>
                    <a:pt x="0" y="0"/>
                  </a:moveTo>
                  <a:lnTo>
                    <a:pt x="1099396" y="0"/>
                  </a:lnTo>
                </a:path>
              </a:pathLst>
            </a:custGeom>
            <a:ln w="8889">
              <a:solidFill>
                <a:srgbClr val="747454"/>
              </a:solidFill>
            </a:ln>
          </p:spPr>
          <p:txBody>
            <a:bodyPr wrap="square" lIns="0" tIns="0" rIns="0" bIns="0" rtlCol="0"/>
            <a:lstStyle/>
            <a:p>
              <a:endParaRPr/>
            </a:p>
          </p:txBody>
        </p:sp>
      </p:grpSp>
      <p:pic>
        <p:nvPicPr>
          <p:cNvPr id="7" name="object 7"/>
          <p:cNvPicPr/>
          <p:nvPr/>
        </p:nvPicPr>
        <p:blipFill>
          <a:blip r:embed="rId2" cstate="print"/>
          <a:stretch>
            <a:fillRect/>
          </a:stretch>
        </p:blipFill>
        <p:spPr>
          <a:xfrm>
            <a:off x="4064000" y="3581400"/>
            <a:ext cx="1054100" cy="190500"/>
          </a:xfrm>
          <a:prstGeom prst="rect">
            <a:avLst/>
          </a:prstGeom>
        </p:spPr>
      </p:pic>
      <p:pic>
        <p:nvPicPr>
          <p:cNvPr id="8" name="object 8"/>
          <p:cNvPicPr/>
          <p:nvPr/>
        </p:nvPicPr>
        <p:blipFill>
          <a:blip r:embed="rId3" cstate="print"/>
          <a:stretch>
            <a:fillRect/>
          </a:stretch>
        </p:blipFill>
        <p:spPr>
          <a:xfrm>
            <a:off x="2374900" y="2362200"/>
            <a:ext cx="927100" cy="152400"/>
          </a:xfrm>
          <a:prstGeom prst="rect">
            <a:avLst/>
          </a:prstGeom>
        </p:spPr>
      </p:pic>
      <p:pic>
        <p:nvPicPr>
          <p:cNvPr id="9" name="object 9"/>
          <p:cNvPicPr/>
          <p:nvPr/>
        </p:nvPicPr>
        <p:blipFill>
          <a:blip r:embed="rId4" cstate="print"/>
          <a:stretch>
            <a:fillRect/>
          </a:stretch>
        </p:blipFill>
        <p:spPr>
          <a:xfrm>
            <a:off x="5816600" y="4953000"/>
            <a:ext cx="1130300" cy="177800"/>
          </a:xfrm>
          <a:prstGeom prst="rect">
            <a:avLst/>
          </a:prstGeom>
        </p:spPr>
      </p:pic>
      <p:sp>
        <p:nvSpPr>
          <p:cNvPr id="10" name="object 10"/>
          <p:cNvSpPr txBox="1"/>
          <p:nvPr/>
        </p:nvSpPr>
        <p:spPr>
          <a:xfrm>
            <a:off x="564515" y="1046267"/>
            <a:ext cx="1221105" cy="408940"/>
          </a:xfrm>
          <a:prstGeom prst="rect">
            <a:avLst/>
          </a:prstGeom>
          <a:ln w="8889">
            <a:solidFill>
              <a:srgbClr val="744B60"/>
            </a:solidFill>
          </a:ln>
        </p:spPr>
        <p:txBody>
          <a:bodyPr vert="horz" wrap="square" lIns="0" tIns="33020" rIns="0" bIns="0" rtlCol="0">
            <a:spAutoFit/>
          </a:bodyPr>
          <a:lstStyle/>
          <a:p>
            <a:pPr marL="260985">
              <a:lnSpc>
                <a:spcPct val="100000"/>
              </a:lnSpc>
              <a:spcBef>
                <a:spcPts val="260"/>
              </a:spcBef>
            </a:pPr>
            <a:r>
              <a:rPr sz="1650" spc="-10" dirty="0">
                <a:solidFill>
                  <a:srgbClr val="3F001D"/>
                </a:solidFill>
                <a:latin typeface="Cambria"/>
                <a:cs typeface="Cambria"/>
              </a:rPr>
              <a:t>Inception</a:t>
            </a:r>
            <a:endParaRPr sz="1650">
              <a:latin typeface="Cambria"/>
              <a:cs typeface="Cambria"/>
            </a:endParaRPr>
          </a:p>
        </p:txBody>
      </p:sp>
      <p:sp>
        <p:nvSpPr>
          <p:cNvPr id="11" name="object 11"/>
          <p:cNvSpPr txBox="1"/>
          <p:nvPr/>
        </p:nvSpPr>
        <p:spPr>
          <a:xfrm>
            <a:off x="1314237" y="1653752"/>
            <a:ext cx="1209040" cy="408940"/>
          </a:xfrm>
          <a:prstGeom prst="rect">
            <a:avLst/>
          </a:prstGeom>
          <a:ln w="8889">
            <a:solidFill>
              <a:srgbClr val="74644F"/>
            </a:solidFill>
          </a:ln>
        </p:spPr>
        <p:txBody>
          <a:bodyPr vert="horz" wrap="square" lIns="0" tIns="34925" rIns="0" bIns="0" rtlCol="0">
            <a:spAutoFit/>
          </a:bodyPr>
          <a:lstStyle/>
          <a:p>
            <a:pPr marL="213995">
              <a:lnSpc>
                <a:spcPct val="100000"/>
              </a:lnSpc>
              <a:spcBef>
                <a:spcPts val="275"/>
              </a:spcBef>
            </a:pPr>
            <a:r>
              <a:rPr sz="1650" spc="-280" dirty="0">
                <a:solidFill>
                  <a:srgbClr val="260500"/>
                </a:solidFill>
                <a:latin typeface="Consolas"/>
                <a:cs typeface="Consolas"/>
              </a:rPr>
              <a:t>Elcitaflon</a:t>
            </a:r>
            <a:endParaRPr sz="1650">
              <a:latin typeface="Consolas"/>
              <a:cs typeface="Consolas"/>
            </a:endParaRPr>
          </a:p>
        </p:txBody>
      </p:sp>
      <p:sp>
        <p:nvSpPr>
          <p:cNvPr id="12" name="object 12"/>
          <p:cNvSpPr txBox="1"/>
          <p:nvPr/>
        </p:nvSpPr>
        <p:spPr>
          <a:xfrm>
            <a:off x="3053714" y="2862791"/>
            <a:ext cx="1244600" cy="421005"/>
          </a:xfrm>
          <a:prstGeom prst="rect">
            <a:avLst/>
          </a:prstGeom>
          <a:ln w="20743">
            <a:solidFill>
              <a:srgbClr val="080C08"/>
            </a:solidFill>
          </a:ln>
        </p:spPr>
        <p:txBody>
          <a:bodyPr vert="horz" wrap="square" lIns="0" tIns="51435" rIns="0" bIns="0" rtlCol="0">
            <a:spAutoFit/>
          </a:bodyPr>
          <a:lstStyle/>
          <a:p>
            <a:pPr marL="185420">
              <a:lnSpc>
                <a:spcPct val="100000"/>
              </a:lnSpc>
              <a:spcBef>
                <a:spcPts val="405"/>
              </a:spcBef>
            </a:pPr>
            <a:r>
              <a:rPr sz="1600" spc="-15" dirty="0">
                <a:solidFill>
                  <a:srgbClr val="131313"/>
                </a:solidFill>
                <a:latin typeface="Cambria"/>
                <a:cs typeface="Cambria"/>
              </a:rPr>
              <a:t>Nagc›tiation</a:t>
            </a:r>
            <a:endParaRPr sz="1600">
              <a:latin typeface="Cambria"/>
              <a:cs typeface="Cambria"/>
            </a:endParaRPr>
          </a:p>
        </p:txBody>
      </p:sp>
      <p:sp>
        <p:nvSpPr>
          <p:cNvPr id="13" name="object 13"/>
          <p:cNvSpPr txBox="1"/>
          <p:nvPr/>
        </p:nvSpPr>
        <p:spPr>
          <a:xfrm>
            <a:off x="4896908" y="4080722"/>
            <a:ext cx="1209040" cy="408940"/>
          </a:xfrm>
          <a:prstGeom prst="rect">
            <a:avLst/>
          </a:prstGeom>
          <a:ln w="8889">
            <a:solidFill>
              <a:srgbClr val="54677C"/>
            </a:solidFill>
          </a:ln>
        </p:spPr>
        <p:txBody>
          <a:bodyPr vert="horz" wrap="square" lIns="0" tIns="40005" rIns="0" bIns="0" rtlCol="0">
            <a:spAutoFit/>
          </a:bodyPr>
          <a:lstStyle/>
          <a:p>
            <a:pPr marL="218440">
              <a:lnSpc>
                <a:spcPct val="100000"/>
              </a:lnSpc>
              <a:spcBef>
                <a:spcPts val="315"/>
              </a:spcBef>
            </a:pPr>
            <a:r>
              <a:rPr sz="1700" spc="-10" dirty="0">
                <a:solidFill>
                  <a:srgbClr val="001133"/>
                </a:solidFill>
                <a:latin typeface="Cambria"/>
                <a:cs typeface="Cambria"/>
              </a:rPr>
              <a:t>Validation</a:t>
            </a:r>
            <a:endParaRPr sz="1700">
              <a:latin typeface="Cambria"/>
              <a:cs typeface="Cambri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2293" y="189794"/>
            <a:ext cx="4902835" cy="796290"/>
          </a:xfrm>
          <a:prstGeom prst="rect">
            <a:avLst/>
          </a:prstGeom>
        </p:spPr>
        <p:txBody>
          <a:bodyPr vert="horz" wrap="square" lIns="0" tIns="13335" rIns="0" bIns="0" rtlCol="0">
            <a:spAutoFit/>
          </a:bodyPr>
          <a:lstStyle/>
          <a:p>
            <a:pPr marL="12700">
              <a:lnSpc>
                <a:spcPct val="100000"/>
              </a:lnSpc>
              <a:spcBef>
                <a:spcPts val="105"/>
              </a:spcBef>
            </a:pPr>
            <a:r>
              <a:rPr sz="5050" dirty="0">
                <a:latin typeface="Arial MT"/>
                <a:cs typeface="Arial MT"/>
              </a:rPr>
              <a:t>Negotiation</a:t>
            </a:r>
            <a:r>
              <a:rPr sz="5050" spc="640" dirty="0">
                <a:latin typeface="Arial MT"/>
                <a:cs typeface="Arial MT"/>
              </a:rPr>
              <a:t> </a:t>
            </a:r>
            <a:r>
              <a:rPr sz="5050" spc="-35" dirty="0">
                <a:latin typeface="Arial MT"/>
                <a:cs typeface="Arial MT"/>
              </a:rPr>
              <a:t>Task</a:t>
            </a:r>
            <a:endParaRPr sz="5050">
              <a:latin typeface="Arial MT"/>
              <a:cs typeface="Arial MT"/>
            </a:endParaRPr>
          </a:p>
        </p:txBody>
      </p:sp>
      <p:sp>
        <p:nvSpPr>
          <p:cNvPr id="3" name="object 3"/>
          <p:cNvSpPr txBox="1"/>
          <p:nvPr/>
        </p:nvSpPr>
        <p:spPr>
          <a:xfrm>
            <a:off x="670029" y="1334911"/>
            <a:ext cx="6626225" cy="4185920"/>
          </a:xfrm>
          <a:prstGeom prst="rect">
            <a:avLst/>
          </a:prstGeom>
        </p:spPr>
        <p:txBody>
          <a:bodyPr vert="horz" wrap="square" lIns="0" tIns="50165" rIns="0" bIns="0" rtlCol="0">
            <a:spAutoFit/>
          </a:bodyPr>
          <a:lstStyle/>
          <a:p>
            <a:pPr marL="162560" marR="5080" indent="-149225">
              <a:lnSpc>
                <a:spcPts val="2300"/>
              </a:lnSpc>
              <a:spcBef>
                <a:spcPts val="395"/>
              </a:spcBef>
              <a:buChar char="•"/>
              <a:tabLst>
                <a:tab pos="162560" algn="l"/>
                <a:tab pos="172085" algn="l"/>
              </a:tabLst>
            </a:pPr>
            <a:r>
              <a:rPr sz="2100" dirty="0">
                <a:latin typeface="Arial MT"/>
                <a:cs typeface="Arial MT"/>
              </a:rPr>
              <a:t>	</a:t>
            </a:r>
            <a:r>
              <a:rPr sz="2100" spc="-85" dirty="0">
                <a:latin typeface="Arial MT"/>
                <a:cs typeface="Arial MT"/>
              </a:rPr>
              <a:t>During</a:t>
            </a:r>
            <a:r>
              <a:rPr sz="2100" spc="-65" dirty="0">
                <a:latin typeface="Arial MT"/>
                <a:cs typeface="Arial MT"/>
              </a:rPr>
              <a:t> </a:t>
            </a:r>
            <a:r>
              <a:rPr sz="2100" spc="-35" dirty="0">
                <a:latin typeface="Arial MT"/>
                <a:cs typeface="Arial MT"/>
              </a:rPr>
              <a:t>negotiation,</a:t>
            </a:r>
            <a:r>
              <a:rPr sz="2100" spc="-100" dirty="0">
                <a:latin typeface="Arial MT"/>
                <a:cs typeface="Arial MT"/>
              </a:rPr>
              <a:t> </a:t>
            </a:r>
            <a:r>
              <a:rPr sz="2100" spc="-10" dirty="0">
                <a:latin typeface="Arial MT"/>
                <a:cs typeface="Arial MT"/>
              </a:rPr>
              <a:t>the</a:t>
            </a:r>
            <a:r>
              <a:rPr sz="2100" spc="-105" dirty="0">
                <a:latin typeface="Arial MT"/>
                <a:cs typeface="Arial MT"/>
              </a:rPr>
              <a:t> </a:t>
            </a:r>
            <a:r>
              <a:rPr sz="2100" spc="-60" dirty="0">
                <a:latin typeface="Arial MT"/>
                <a:cs typeface="Arial MT"/>
              </a:rPr>
              <a:t>software</a:t>
            </a:r>
            <a:r>
              <a:rPr sz="2100" spc="-5" dirty="0">
                <a:latin typeface="Arial MT"/>
                <a:cs typeface="Arial MT"/>
              </a:rPr>
              <a:t> </a:t>
            </a:r>
            <a:r>
              <a:rPr sz="2100" spc="-65" dirty="0">
                <a:latin typeface="Arial MT"/>
                <a:cs typeface="Arial MT"/>
              </a:rPr>
              <a:t>engineer</a:t>
            </a:r>
            <a:r>
              <a:rPr sz="2100" spc="-10" dirty="0">
                <a:latin typeface="Arial MT"/>
                <a:cs typeface="Arial MT"/>
              </a:rPr>
              <a:t> </a:t>
            </a:r>
            <a:r>
              <a:rPr sz="2100" spc="-75" dirty="0">
                <a:latin typeface="Arial MT"/>
                <a:cs typeface="Arial MT"/>
              </a:rPr>
              <a:t>reconciles</a:t>
            </a:r>
            <a:r>
              <a:rPr sz="2100" spc="-70" dirty="0">
                <a:latin typeface="Arial MT"/>
                <a:cs typeface="Arial MT"/>
              </a:rPr>
              <a:t> </a:t>
            </a:r>
            <a:r>
              <a:rPr sz="2100" spc="-25" dirty="0">
                <a:latin typeface="Arial MT"/>
                <a:cs typeface="Arial MT"/>
              </a:rPr>
              <a:t>the </a:t>
            </a:r>
            <a:r>
              <a:rPr sz="2100" spc="-35" dirty="0">
                <a:latin typeface="Arial MT"/>
                <a:cs typeface="Arial MT"/>
              </a:rPr>
              <a:t>conflicts</a:t>
            </a:r>
            <a:r>
              <a:rPr sz="2100" spc="-114" dirty="0">
                <a:latin typeface="Arial MT"/>
                <a:cs typeface="Arial MT"/>
              </a:rPr>
              <a:t> </a:t>
            </a:r>
            <a:r>
              <a:rPr sz="2100" spc="-30" dirty="0">
                <a:latin typeface="Arial MT"/>
                <a:cs typeface="Arial MT"/>
              </a:rPr>
              <a:t>between</a:t>
            </a:r>
            <a:r>
              <a:rPr sz="2100" spc="10" dirty="0">
                <a:latin typeface="Arial MT"/>
                <a:cs typeface="Arial MT"/>
              </a:rPr>
              <a:t> </a:t>
            </a:r>
            <a:r>
              <a:rPr sz="2100" spc="-10" dirty="0">
                <a:latin typeface="Arial MT"/>
                <a:cs typeface="Arial MT"/>
              </a:rPr>
              <a:t>what</a:t>
            </a:r>
            <a:r>
              <a:rPr sz="2100" spc="-135" dirty="0">
                <a:latin typeface="Arial MT"/>
                <a:cs typeface="Arial MT"/>
              </a:rPr>
              <a:t> </a:t>
            </a:r>
            <a:r>
              <a:rPr sz="2100" dirty="0">
                <a:latin typeface="Arial MT"/>
                <a:cs typeface="Arial MT"/>
              </a:rPr>
              <a:t>the</a:t>
            </a:r>
            <a:r>
              <a:rPr sz="2100" spc="-80" dirty="0">
                <a:latin typeface="Arial MT"/>
                <a:cs typeface="Arial MT"/>
              </a:rPr>
              <a:t> </a:t>
            </a:r>
            <a:r>
              <a:rPr sz="2100" spc="-110" dirty="0">
                <a:latin typeface="Arial MT"/>
                <a:cs typeface="Arial MT"/>
              </a:rPr>
              <a:t>customRr</a:t>
            </a:r>
            <a:r>
              <a:rPr sz="2100" spc="25" dirty="0">
                <a:latin typeface="Arial MT"/>
                <a:cs typeface="Arial MT"/>
              </a:rPr>
              <a:t> </a:t>
            </a:r>
            <a:r>
              <a:rPr sz="2100" spc="-35" dirty="0">
                <a:latin typeface="Arial MT"/>
                <a:cs typeface="Arial MT"/>
              </a:rPr>
              <a:t>wants</a:t>
            </a:r>
            <a:r>
              <a:rPr sz="2100" spc="-100" dirty="0">
                <a:latin typeface="Arial MT"/>
                <a:cs typeface="Arial MT"/>
              </a:rPr>
              <a:t> </a:t>
            </a:r>
            <a:r>
              <a:rPr sz="2100" spc="-90" dirty="0">
                <a:latin typeface="Arial MT"/>
                <a:cs typeface="Arial MT"/>
              </a:rPr>
              <a:t>and</a:t>
            </a:r>
            <a:r>
              <a:rPr sz="2100" spc="-60" dirty="0">
                <a:latin typeface="Arial MT"/>
                <a:cs typeface="Arial MT"/>
              </a:rPr>
              <a:t> </a:t>
            </a:r>
            <a:r>
              <a:rPr sz="2100" dirty="0">
                <a:latin typeface="Arial MT"/>
                <a:cs typeface="Arial MT"/>
              </a:rPr>
              <a:t>what</a:t>
            </a:r>
            <a:r>
              <a:rPr sz="2100" spc="-90" dirty="0">
                <a:latin typeface="Arial MT"/>
                <a:cs typeface="Arial MT"/>
              </a:rPr>
              <a:t> </a:t>
            </a:r>
            <a:r>
              <a:rPr sz="2100" spc="-35" dirty="0">
                <a:latin typeface="Arial MT"/>
                <a:cs typeface="Arial MT"/>
              </a:rPr>
              <a:t>can </a:t>
            </a:r>
            <a:r>
              <a:rPr sz="2100" spc="-20" dirty="0">
                <a:latin typeface="Arial MT"/>
                <a:cs typeface="Arial MT"/>
              </a:rPr>
              <a:t>be</a:t>
            </a:r>
            <a:r>
              <a:rPr sz="2100" spc="-105" dirty="0">
                <a:latin typeface="Arial MT"/>
                <a:cs typeface="Arial MT"/>
              </a:rPr>
              <a:t> </a:t>
            </a:r>
            <a:r>
              <a:rPr sz="2100" spc="-85" dirty="0">
                <a:latin typeface="Arial MT"/>
                <a:cs typeface="Arial MT"/>
              </a:rPr>
              <a:t>achieved</a:t>
            </a:r>
            <a:r>
              <a:rPr sz="2100" spc="-40" dirty="0">
                <a:latin typeface="Arial MT"/>
                <a:cs typeface="Arial MT"/>
              </a:rPr>
              <a:t> </a:t>
            </a:r>
            <a:r>
              <a:rPr sz="2100" spc="-85" dirty="0">
                <a:latin typeface="Arial MT"/>
                <a:cs typeface="Arial MT"/>
              </a:rPr>
              <a:t>given</a:t>
            </a:r>
            <a:r>
              <a:rPr sz="2100" spc="-65" dirty="0">
                <a:latin typeface="Arial MT"/>
                <a:cs typeface="Arial MT"/>
              </a:rPr>
              <a:t> </a:t>
            </a:r>
            <a:r>
              <a:rPr sz="2100" dirty="0">
                <a:latin typeface="Arial MT"/>
                <a:cs typeface="Arial MT"/>
              </a:rPr>
              <a:t>limited</a:t>
            </a:r>
            <a:r>
              <a:rPr sz="2100" spc="-40" dirty="0">
                <a:latin typeface="Arial MT"/>
                <a:cs typeface="Arial MT"/>
              </a:rPr>
              <a:t> </a:t>
            </a:r>
            <a:r>
              <a:rPr sz="2100" spc="-145" dirty="0">
                <a:latin typeface="Arial MT"/>
                <a:cs typeface="Arial MT"/>
              </a:rPr>
              <a:t>business</a:t>
            </a:r>
            <a:r>
              <a:rPr sz="2100" spc="50" dirty="0">
                <a:latin typeface="Arial MT"/>
                <a:cs typeface="Arial MT"/>
              </a:rPr>
              <a:t> </a:t>
            </a:r>
            <a:r>
              <a:rPr sz="2100" spc="-10" dirty="0">
                <a:latin typeface="Arial MT"/>
                <a:cs typeface="Arial MT"/>
              </a:rPr>
              <a:t>resources</a:t>
            </a:r>
            <a:endParaRPr sz="2100">
              <a:latin typeface="Arial MT"/>
              <a:cs typeface="Arial MT"/>
            </a:endParaRPr>
          </a:p>
          <a:p>
            <a:pPr marL="168910" marR="1050925" indent="-156845">
              <a:lnSpc>
                <a:spcPts val="2300"/>
              </a:lnSpc>
              <a:spcBef>
                <a:spcPts val="700"/>
              </a:spcBef>
              <a:buChar char="•"/>
              <a:tabLst>
                <a:tab pos="168910" algn="l"/>
              </a:tabLst>
            </a:pPr>
            <a:r>
              <a:rPr sz="2300" spc="-210" dirty="0">
                <a:latin typeface="Arial MT"/>
                <a:cs typeface="Arial MT"/>
              </a:rPr>
              <a:t>Requirements</a:t>
            </a:r>
            <a:r>
              <a:rPr sz="2300" spc="45" dirty="0">
                <a:latin typeface="Arial MT"/>
                <a:cs typeface="Arial MT"/>
              </a:rPr>
              <a:t> </a:t>
            </a:r>
            <a:r>
              <a:rPr sz="2300" spc="-180" dirty="0">
                <a:latin typeface="Arial MT"/>
                <a:cs typeface="Arial MT"/>
              </a:rPr>
              <a:t>are</a:t>
            </a:r>
            <a:r>
              <a:rPr sz="2300" spc="-105" dirty="0">
                <a:latin typeface="Arial MT"/>
                <a:cs typeface="Arial MT"/>
              </a:rPr>
              <a:t> </a:t>
            </a:r>
            <a:r>
              <a:rPr sz="2300" spc="-210" dirty="0">
                <a:latin typeface="Arial MT"/>
                <a:cs typeface="Arial MT"/>
              </a:rPr>
              <a:t>ranked</a:t>
            </a:r>
            <a:r>
              <a:rPr sz="2300" spc="20" dirty="0">
                <a:latin typeface="Arial MT"/>
                <a:cs typeface="Arial MT"/>
              </a:rPr>
              <a:t> </a:t>
            </a:r>
            <a:r>
              <a:rPr sz="2300" spc="-105" dirty="0">
                <a:latin typeface="Arial MT"/>
                <a:cs typeface="Arial MT"/>
              </a:rPr>
              <a:t>(i.e.,</a:t>
            </a:r>
            <a:r>
              <a:rPr sz="2300" spc="-150" dirty="0">
                <a:latin typeface="Arial MT"/>
                <a:cs typeface="Arial MT"/>
              </a:rPr>
              <a:t> </a:t>
            </a:r>
            <a:r>
              <a:rPr sz="2300" spc="-95" dirty="0">
                <a:latin typeface="Arial MT"/>
                <a:cs typeface="Arial MT"/>
              </a:rPr>
              <a:t>prioritized)</a:t>
            </a:r>
            <a:r>
              <a:rPr sz="2300" spc="160" dirty="0">
                <a:latin typeface="Arial MT"/>
                <a:cs typeface="Arial MT"/>
              </a:rPr>
              <a:t> </a:t>
            </a:r>
            <a:r>
              <a:rPr sz="2300" spc="-225" dirty="0">
                <a:solidFill>
                  <a:srgbClr val="0F0F0F"/>
                </a:solidFill>
                <a:latin typeface="Arial MT"/>
                <a:cs typeface="Arial MT"/>
              </a:rPr>
              <a:t>by</a:t>
            </a:r>
            <a:r>
              <a:rPr sz="2300" spc="-25" dirty="0">
                <a:solidFill>
                  <a:srgbClr val="0F0F0F"/>
                </a:solidFill>
                <a:latin typeface="Arial MT"/>
                <a:cs typeface="Arial MT"/>
              </a:rPr>
              <a:t> </a:t>
            </a:r>
            <a:r>
              <a:rPr sz="2300" spc="-60" dirty="0">
                <a:latin typeface="Arial MT"/>
                <a:cs typeface="Arial MT"/>
              </a:rPr>
              <a:t>the </a:t>
            </a:r>
            <a:r>
              <a:rPr sz="2300" spc="-200" dirty="0">
                <a:latin typeface="Arial MT"/>
                <a:cs typeface="Arial MT"/>
              </a:rPr>
              <a:t>customers,</a:t>
            </a:r>
            <a:r>
              <a:rPr sz="2300" spc="70" dirty="0">
                <a:latin typeface="Arial MT"/>
                <a:cs typeface="Arial MT"/>
              </a:rPr>
              <a:t> </a:t>
            </a:r>
            <a:r>
              <a:rPr sz="2300" spc="-229" dirty="0">
                <a:latin typeface="Arial MT"/>
                <a:cs typeface="Arial MT"/>
              </a:rPr>
              <a:t>users,</a:t>
            </a:r>
            <a:r>
              <a:rPr sz="2300" spc="-15" dirty="0">
                <a:latin typeface="Arial MT"/>
                <a:cs typeface="Arial MT"/>
              </a:rPr>
              <a:t> </a:t>
            </a:r>
            <a:r>
              <a:rPr sz="2300" spc="-254" dirty="0">
                <a:latin typeface="Arial MT"/>
                <a:cs typeface="Arial MT"/>
              </a:rPr>
              <a:t>and</a:t>
            </a:r>
            <a:r>
              <a:rPr sz="2300" spc="-45" dirty="0">
                <a:latin typeface="Arial MT"/>
                <a:cs typeface="Arial MT"/>
              </a:rPr>
              <a:t> </a:t>
            </a:r>
            <a:r>
              <a:rPr sz="2300" spc="-110" dirty="0">
                <a:latin typeface="Arial MT"/>
                <a:cs typeface="Arial MT"/>
              </a:rPr>
              <a:t>other</a:t>
            </a:r>
            <a:r>
              <a:rPr sz="2300" spc="50" dirty="0">
                <a:latin typeface="Arial MT"/>
                <a:cs typeface="Arial MT"/>
              </a:rPr>
              <a:t> </a:t>
            </a:r>
            <a:r>
              <a:rPr sz="2300" spc="-110" dirty="0">
                <a:latin typeface="Arial MT"/>
                <a:cs typeface="Arial MT"/>
              </a:rPr>
              <a:t>stakeholders</a:t>
            </a:r>
            <a:endParaRPr sz="2300">
              <a:latin typeface="Arial MT"/>
              <a:cs typeface="Arial MT"/>
            </a:endParaRPr>
          </a:p>
          <a:p>
            <a:pPr marL="170815" marR="66675" indent="-157480">
              <a:lnSpc>
                <a:spcPts val="2300"/>
              </a:lnSpc>
              <a:spcBef>
                <a:spcPts val="600"/>
              </a:spcBef>
              <a:buChar char="•"/>
              <a:tabLst>
                <a:tab pos="170815" algn="l"/>
              </a:tabLst>
            </a:pPr>
            <a:r>
              <a:rPr sz="2100" spc="-175" dirty="0">
                <a:latin typeface="Arial MT"/>
                <a:cs typeface="Arial MT"/>
              </a:rPr>
              <a:t>Risks</a:t>
            </a:r>
            <a:r>
              <a:rPr sz="2100" spc="20" dirty="0">
                <a:latin typeface="Arial MT"/>
                <a:cs typeface="Arial MT"/>
              </a:rPr>
              <a:t> </a:t>
            </a:r>
            <a:r>
              <a:rPr sz="2100" spc="-85" dirty="0">
                <a:latin typeface="Arial MT"/>
                <a:cs typeface="Arial MT"/>
              </a:rPr>
              <a:t>associated</a:t>
            </a:r>
            <a:r>
              <a:rPr sz="2100" spc="-35" dirty="0">
                <a:latin typeface="Arial MT"/>
                <a:cs typeface="Arial MT"/>
              </a:rPr>
              <a:t> </a:t>
            </a:r>
            <a:r>
              <a:rPr sz="2100" dirty="0">
                <a:latin typeface="Arial MT"/>
                <a:cs typeface="Arial MT"/>
              </a:rPr>
              <a:t>with</a:t>
            </a:r>
            <a:r>
              <a:rPr sz="2100" spc="-120" dirty="0">
                <a:latin typeface="Arial MT"/>
                <a:cs typeface="Arial MT"/>
              </a:rPr>
              <a:t> </a:t>
            </a:r>
            <a:r>
              <a:rPr sz="2100" spc="-140" dirty="0">
                <a:latin typeface="Arial MT"/>
                <a:cs typeface="Arial MT"/>
              </a:rPr>
              <a:t>each</a:t>
            </a:r>
            <a:r>
              <a:rPr sz="2100" spc="-10" dirty="0">
                <a:latin typeface="Arial MT"/>
                <a:cs typeface="Arial MT"/>
              </a:rPr>
              <a:t> </a:t>
            </a:r>
            <a:r>
              <a:rPr sz="2100" spc="-50" dirty="0">
                <a:latin typeface="Arial MT"/>
                <a:cs typeface="Arial MT"/>
              </a:rPr>
              <a:t>requirement</a:t>
            </a:r>
            <a:r>
              <a:rPr sz="2100" spc="70" dirty="0">
                <a:latin typeface="Arial MT"/>
                <a:cs typeface="Arial MT"/>
              </a:rPr>
              <a:t> </a:t>
            </a:r>
            <a:r>
              <a:rPr sz="2100" spc="-90" dirty="0">
                <a:latin typeface="Arial MT"/>
                <a:cs typeface="Arial MT"/>
              </a:rPr>
              <a:t>are</a:t>
            </a:r>
            <a:r>
              <a:rPr sz="2100" spc="-30" dirty="0">
                <a:latin typeface="Arial MT"/>
                <a:cs typeface="Arial MT"/>
              </a:rPr>
              <a:t> </a:t>
            </a:r>
            <a:r>
              <a:rPr sz="2100" spc="-20" dirty="0">
                <a:latin typeface="Arial MT"/>
                <a:cs typeface="Arial MT"/>
              </a:rPr>
              <a:t>identified</a:t>
            </a:r>
            <a:r>
              <a:rPr sz="2100" spc="-40" dirty="0">
                <a:latin typeface="Arial MT"/>
                <a:cs typeface="Arial MT"/>
              </a:rPr>
              <a:t> </a:t>
            </a:r>
            <a:r>
              <a:rPr sz="2100" spc="-25" dirty="0">
                <a:latin typeface="Arial MT"/>
                <a:cs typeface="Arial MT"/>
              </a:rPr>
              <a:t>and </a:t>
            </a:r>
            <a:r>
              <a:rPr sz="2100" spc="-10" dirty="0">
                <a:latin typeface="Arial MT"/>
                <a:cs typeface="Arial MT"/>
              </a:rPr>
              <a:t>analyzed</a:t>
            </a:r>
            <a:endParaRPr sz="2100">
              <a:latin typeface="Arial MT"/>
              <a:cs typeface="Arial MT"/>
            </a:endParaRPr>
          </a:p>
          <a:p>
            <a:pPr marL="163195" marR="150495" indent="-149860">
              <a:lnSpc>
                <a:spcPts val="2300"/>
              </a:lnSpc>
              <a:spcBef>
                <a:spcPts val="700"/>
              </a:spcBef>
              <a:buChar char="•"/>
              <a:tabLst>
                <a:tab pos="163195" algn="l"/>
                <a:tab pos="171450" algn="l"/>
              </a:tabLst>
            </a:pPr>
            <a:r>
              <a:rPr sz="2100" dirty="0">
                <a:latin typeface="Arial MT"/>
                <a:cs typeface="Arial MT"/>
              </a:rPr>
              <a:t>	</a:t>
            </a:r>
            <a:r>
              <a:rPr sz="2100" spc="-180" dirty="0">
                <a:latin typeface="Arial MT"/>
                <a:cs typeface="Arial MT"/>
              </a:rPr>
              <a:t>Rough</a:t>
            </a:r>
            <a:r>
              <a:rPr sz="2100" spc="30" dirty="0">
                <a:latin typeface="Arial MT"/>
                <a:cs typeface="Arial MT"/>
              </a:rPr>
              <a:t> </a:t>
            </a:r>
            <a:r>
              <a:rPr sz="2100" spc="-185" dirty="0">
                <a:latin typeface="Arial MT"/>
                <a:cs typeface="Arial MT"/>
              </a:rPr>
              <a:t>guesses</a:t>
            </a:r>
            <a:r>
              <a:rPr sz="2100" spc="40" dirty="0">
                <a:latin typeface="Arial MT"/>
                <a:cs typeface="Arial MT"/>
              </a:rPr>
              <a:t> </a:t>
            </a:r>
            <a:r>
              <a:rPr sz="2100" spc="-10" dirty="0">
                <a:solidFill>
                  <a:srgbClr val="0E0E0E"/>
                </a:solidFill>
                <a:latin typeface="Arial MT"/>
                <a:cs typeface="Arial MT"/>
              </a:rPr>
              <a:t>of</a:t>
            </a:r>
            <a:r>
              <a:rPr sz="2100" spc="-95" dirty="0">
                <a:solidFill>
                  <a:srgbClr val="0E0E0E"/>
                </a:solidFill>
                <a:latin typeface="Arial MT"/>
                <a:cs typeface="Arial MT"/>
              </a:rPr>
              <a:t> </a:t>
            </a:r>
            <a:r>
              <a:rPr sz="2100" spc="-30" dirty="0">
                <a:latin typeface="Arial MT"/>
                <a:cs typeface="Arial MT"/>
              </a:rPr>
              <a:t>development</a:t>
            </a:r>
            <a:r>
              <a:rPr sz="2100" spc="140" dirty="0">
                <a:latin typeface="Arial MT"/>
                <a:cs typeface="Arial MT"/>
              </a:rPr>
              <a:t> </a:t>
            </a:r>
            <a:r>
              <a:rPr sz="2100" dirty="0">
                <a:latin typeface="Arial MT"/>
                <a:cs typeface="Arial MT"/>
              </a:rPr>
              <a:t>effort</a:t>
            </a:r>
            <a:r>
              <a:rPr sz="2100" spc="-50" dirty="0">
                <a:latin typeface="Arial MT"/>
                <a:cs typeface="Arial MT"/>
              </a:rPr>
              <a:t> </a:t>
            </a:r>
            <a:r>
              <a:rPr sz="2100" spc="-90" dirty="0">
                <a:latin typeface="Arial MT"/>
                <a:cs typeface="Arial MT"/>
              </a:rPr>
              <a:t>are</a:t>
            </a:r>
            <a:r>
              <a:rPr sz="2100" spc="-60" dirty="0">
                <a:latin typeface="Arial MT"/>
                <a:cs typeface="Arial MT"/>
              </a:rPr>
              <a:t> </a:t>
            </a:r>
            <a:r>
              <a:rPr sz="2100" spc="-125" dirty="0">
                <a:latin typeface="Arial MT"/>
                <a:cs typeface="Arial MT"/>
              </a:rPr>
              <a:t>made</a:t>
            </a:r>
            <a:r>
              <a:rPr sz="2100" spc="15" dirty="0">
                <a:latin typeface="Arial MT"/>
                <a:cs typeface="Arial MT"/>
              </a:rPr>
              <a:t> </a:t>
            </a:r>
            <a:r>
              <a:rPr sz="2100" spc="-105" dirty="0">
                <a:latin typeface="Arial MT"/>
                <a:cs typeface="Arial MT"/>
              </a:rPr>
              <a:t>and</a:t>
            </a:r>
            <a:r>
              <a:rPr sz="2100" spc="-40" dirty="0">
                <a:latin typeface="Arial MT"/>
                <a:cs typeface="Arial MT"/>
              </a:rPr>
              <a:t> </a:t>
            </a:r>
            <a:r>
              <a:rPr sz="2100" spc="-80" dirty="0">
                <a:latin typeface="Arial MT"/>
                <a:cs typeface="Arial MT"/>
              </a:rPr>
              <a:t>used </a:t>
            </a:r>
            <a:r>
              <a:rPr sz="2100" spc="65" dirty="0">
                <a:latin typeface="Arial MT"/>
                <a:cs typeface="Arial MT"/>
              </a:rPr>
              <a:t>to</a:t>
            </a:r>
            <a:r>
              <a:rPr sz="2100" spc="-150" dirty="0">
                <a:latin typeface="Arial MT"/>
                <a:cs typeface="Arial MT"/>
              </a:rPr>
              <a:t> </a:t>
            </a:r>
            <a:r>
              <a:rPr sz="2100" spc="-235" dirty="0">
                <a:solidFill>
                  <a:srgbClr val="131313"/>
                </a:solidFill>
                <a:latin typeface="Arial MT"/>
                <a:cs typeface="Arial MT"/>
              </a:rPr>
              <a:t>assess</a:t>
            </a:r>
            <a:r>
              <a:rPr sz="2100" spc="60" dirty="0">
                <a:solidFill>
                  <a:srgbClr val="131313"/>
                </a:solidFill>
                <a:latin typeface="Arial MT"/>
                <a:cs typeface="Arial MT"/>
              </a:rPr>
              <a:t> </a:t>
            </a:r>
            <a:r>
              <a:rPr sz="2100" dirty="0">
                <a:latin typeface="Arial MT"/>
                <a:cs typeface="Arial MT"/>
              </a:rPr>
              <a:t>the</a:t>
            </a:r>
            <a:r>
              <a:rPr sz="2100" spc="-145" dirty="0">
                <a:latin typeface="Arial MT"/>
                <a:cs typeface="Arial MT"/>
              </a:rPr>
              <a:t> </a:t>
            </a:r>
            <a:r>
              <a:rPr sz="2100" spc="-50" dirty="0">
                <a:latin typeface="Arial MT"/>
                <a:cs typeface="Arial MT"/>
              </a:rPr>
              <a:t>impact</a:t>
            </a:r>
            <a:r>
              <a:rPr sz="2100" spc="-70" dirty="0">
                <a:latin typeface="Arial MT"/>
                <a:cs typeface="Arial MT"/>
              </a:rPr>
              <a:t> </a:t>
            </a:r>
            <a:r>
              <a:rPr sz="2100" spc="-20" dirty="0">
                <a:latin typeface="Arial MT"/>
                <a:cs typeface="Arial MT"/>
              </a:rPr>
              <a:t>of</a:t>
            </a:r>
            <a:r>
              <a:rPr sz="2100" spc="-114" dirty="0">
                <a:latin typeface="Arial MT"/>
                <a:cs typeface="Arial MT"/>
              </a:rPr>
              <a:t> </a:t>
            </a:r>
            <a:r>
              <a:rPr sz="2100" spc="-160" dirty="0">
                <a:latin typeface="Arial MT"/>
                <a:cs typeface="Arial MT"/>
              </a:rPr>
              <a:t>each</a:t>
            </a:r>
            <a:r>
              <a:rPr sz="2100" spc="-35" dirty="0">
                <a:latin typeface="Arial MT"/>
                <a:cs typeface="Arial MT"/>
              </a:rPr>
              <a:t> </a:t>
            </a:r>
            <a:r>
              <a:rPr sz="2100" spc="-30" dirty="0">
                <a:latin typeface="Arial MT"/>
                <a:cs typeface="Arial MT"/>
              </a:rPr>
              <a:t>requirement</a:t>
            </a:r>
            <a:r>
              <a:rPr sz="2100" spc="80" dirty="0">
                <a:latin typeface="Arial MT"/>
                <a:cs typeface="Arial MT"/>
              </a:rPr>
              <a:t> </a:t>
            </a:r>
            <a:r>
              <a:rPr sz="2100" spc="-50" dirty="0">
                <a:latin typeface="Arial MT"/>
                <a:cs typeface="Arial MT"/>
              </a:rPr>
              <a:t>on</a:t>
            </a:r>
            <a:r>
              <a:rPr sz="2100" spc="-90" dirty="0">
                <a:latin typeface="Arial MT"/>
                <a:cs typeface="Arial MT"/>
              </a:rPr>
              <a:t> </a:t>
            </a:r>
            <a:r>
              <a:rPr sz="2100" spc="-45" dirty="0">
                <a:latin typeface="Arial MT"/>
                <a:cs typeface="Arial MT"/>
              </a:rPr>
              <a:t>project</a:t>
            </a:r>
            <a:r>
              <a:rPr sz="2100" spc="-5" dirty="0">
                <a:latin typeface="Arial MT"/>
                <a:cs typeface="Arial MT"/>
              </a:rPr>
              <a:t> </a:t>
            </a:r>
            <a:r>
              <a:rPr sz="2100" spc="-20" dirty="0">
                <a:latin typeface="Arial MT"/>
                <a:cs typeface="Arial MT"/>
              </a:rPr>
              <a:t>cost </a:t>
            </a:r>
            <a:r>
              <a:rPr sz="2100" spc="-120" dirty="0">
                <a:latin typeface="Arial MT"/>
                <a:cs typeface="Arial MT"/>
              </a:rPr>
              <a:t>and</a:t>
            </a:r>
            <a:r>
              <a:rPr sz="2100" spc="-30" dirty="0">
                <a:latin typeface="Arial MT"/>
                <a:cs typeface="Arial MT"/>
              </a:rPr>
              <a:t> </a:t>
            </a:r>
            <a:r>
              <a:rPr sz="2100" spc="-25" dirty="0">
                <a:latin typeface="Arial MT"/>
                <a:cs typeface="Arial MT"/>
              </a:rPr>
              <a:t>delivery</a:t>
            </a:r>
            <a:r>
              <a:rPr sz="2100" spc="-60" dirty="0">
                <a:latin typeface="Arial MT"/>
                <a:cs typeface="Arial MT"/>
              </a:rPr>
              <a:t> </a:t>
            </a:r>
            <a:r>
              <a:rPr sz="2100" spc="-20" dirty="0">
                <a:latin typeface="Arial MT"/>
                <a:cs typeface="Arial MT"/>
              </a:rPr>
              <a:t>time</a:t>
            </a:r>
            <a:endParaRPr sz="2100">
              <a:latin typeface="Arial MT"/>
              <a:cs typeface="Arial MT"/>
            </a:endParaRPr>
          </a:p>
          <a:p>
            <a:pPr marL="170180" marR="123189" indent="-156845">
              <a:lnSpc>
                <a:spcPts val="2300"/>
              </a:lnSpc>
              <a:spcBef>
                <a:spcPts val="600"/>
              </a:spcBef>
              <a:buChar char="•"/>
              <a:tabLst>
                <a:tab pos="170180" algn="l"/>
                <a:tab pos="171450" algn="l"/>
              </a:tabLst>
            </a:pPr>
            <a:r>
              <a:rPr sz="2100" dirty="0">
                <a:latin typeface="Arial MT"/>
                <a:cs typeface="Arial MT"/>
              </a:rPr>
              <a:t>	</a:t>
            </a:r>
            <a:r>
              <a:rPr sz="2100" spc="-150" dirty="0">
                <a:latin typeface="Arial MT"/>
                <a:cs typeface="Arial MT"/>
              </a:rPr>
              <a:t>Using</a:t>
            </a:r>
            <a:r>
              <a:rPr sz="2100" dirty="0">
                <a:latin typeface="Arial MT"/>
                <a:cs typeface="Arial MT"/>
              </a:rPr>
              <a:t> </a:t>
            </a:r>
            <a:r>
              <a:rPr sz="2100" spc="-150" dirty="0">
                <a:latin typeface="Arial MT"/>
                <a:cs typeface="Arial MT"/>
              </a:rPr>
              <a:t>an</a:t>
            </a:r>
            <a:r>
              <a:rPr sz="2100" spc="-95" dirty="0">
                <a:latin typeface="Arial MT"/>
                <a:cs typeface="Arial MT"/>
              </a:rPr>
              <a:t> </a:t>
            </a:r>
            <a:r>
              <a:rPr sz="2100" spc="-20" dirty="0">
                <a:latin typeface="Arial MT"/>
                <a:cs typeface="Arial MT"/>
              </a:rPr>
              <a:t>iterative</a:t>
            </a:r>
            <a:r>
              <a:rPr sz="2100" spc="-70" dirty="0">
                <a:latin typeface="Arial MT"/>
                <a:cs typeface="Arial MT"/>
              </a:rPr>
              <a:t> </a:t>
            </a:r>
            <a:r>
              <a:rPr sz="2100" spc="-100" dirty="0">
                <a:latin typeface="Arial MT"/>
                <a:cs typeface="Arial MT"/>
              </a:rPr>
              <a:t>approach,</a:t>
            </a:r>
            <a:r>
              <a:rPr sz="2100" spc="-50" dirty="0">
                <a:latin typeface="Arial MT"/>
                <a:cs typeface="Arial MT"/>
              </a:rPr>
              <a:t> </a:t>
            </a:r>
            <a:r>
              <a:rPr sz="2100" spc="-55" dirty="0">
                <a:latin typeface="Arial MT"/>
                <a:cs typeface="Arial MT"/>
              </a:rPr>
              <a:t>requirements</a:t>
            </a:r>
            <a:r>
              <a:rPr sz="2100" spc="110" dirty="0">
                <a:latin typeface="Arial MT"/>
                <a:cs typeface="Arial MT"/>
              </a:rPr>
              <a:t> </a:t>
            </a:r>
            <a:r>
              <a:rPr sz="2100" spc="-105" dirty="0">
                <a:latin typeface="Arial MT"/>
                <a:cs typeface="Arial MT"/>
              </a:rPr>
              <a:t>are</a:t>
            </a:r>
            <a:r>
              <a:rPr sz="2100" spc="-35" dirty="0">
                <a:latin typeface="Arial MT"/>
                <a:cs typeface="Arial MT"/>
              </a:rPr>
              <a:t> </a:t>
            </a:r>
            <a:r>
              <a:rPr sz="2100" spc="-30" dirty="0">
                <a:latin typeface="Arial MT"/>
                <a:cs typeface="Arial MT"/>
              </a:rPr>
              <a:t>eliminated, </a:t>
            </a:r>
            <a:r>
              <a:rPr sz="2100" spc="-85" dirty="0">
                <a:latin typeface="Arial MT"/>
                <a:cs typeface="Arial MT"/>
              </a:rPr>
              <a:t>combined</a:t>
            </a:r>
            <a:r>
              <a:rPr sz="2100" spc="-65" dirty="0">
                <a:latin typeface="Arial MT"/>
                <a:cs typeface="Arial MT"/>
              </a:rPr>
              <a:t> </a:t>
            </a:r>
            <a:r>
              <a:rPr sz="2100" dirty="0">
                <a:latin typeface="Arial MT"/>
                <a:cs typeface="Arial MT"/>
              </a:rPr>
              <a:t>and/or</a:t>
            </a:r>
            <a:r>
              <a:rPr sz="2100" spc="-40" dirty="0">
                <a:latin typeface="Arial MT"/>
                <a:cs typeface="Arial MT"/>
              </a:rPr>
              <a:t> </a:t>
            </a:r>
            <a:r>
              <a:rPr sz="2100" spc="-35" dirty="0">
                <a:latin typeface="Arial MT"/>
                <a:cs typeface="Arial MT"/>
              </a:rPr>
              <a:t>modified</a:t>
            </a:r>
            <a:r>
              <a:rPr sz="2100" spc="-15" dirty="0">
                <a:latin typeface="Arial MT"/>
                <a:cs typeface="Arial MT"/>
              </a:rPr>
              <a:t> </a:t>
            </a:r>
            <a:r>
              <a:rPr sz="2100" spc="-185" dirty="0">
                <a:solidFill>
                  <a:srgbClr val="0F0F0F"/>
                </a:solidFill>
                <a:latin typeface="Arial MT"/>
                <a:cs typeface="Arial MT"/>
              </a:rPr>
              <a:t>so</a:t>
            </a:r>
            <a:r>
              <a:rPr sz="2100" spc="-30" dirty="0">
                <a:solidFill>
                  <a:srgbClr val="0F0F0F"/>
                </a:solidFill>
                <a:latin typeface="Arial MT"/>
                <a:cs typeface="Arial MT"/>
              </a:rPr>
              <a:t> </a:t>
            </a:r>
            <a:r>
              <a:rPr sz="2100" dirty="0">
                <a:latin typeface="Arial MT"/>
                <a:cs typeface="Arial MT"/>
              </a:rPr>
              <a:t>that</a:t>
            </a:r>
            <a:r>
              <a:rPr sz="2100" spc="-95" dirty="0">
                <a:latin typeface="Arial MT"/>
                <a:cs typeface="Arial MT"/>
              </a:rPr>
              <a:t> </a:t>
            </a:r>
            <a:r>
              <a:rPr sz="2100" spc="-160" dirty="0">
                <a:latin typeface="Arial MT"/>
                <a:cs typeface="Arial MT"/>
              </a:rPr>
              <a:t>each</a:t>
            </a:r>
            <a:r>
              <a:rPr sz="2100" spc="-35" dirty="0">
                <a:latin typeface="Arial MT"/>
                <a:cs typeface="Arial MT"/>
              </a:rPr>
              <a:t> </a:t>
            </a:r>
            <a:r>
              <a:rPr sz="2100" spc="-25" dirty="0">
                <a:latin typeface="Arial MT"/>
                <a:cs typeface="Arial MT"/>
              </a:rPr>
              <a:t>party</a:t>
            </a:r>
            <a:r>
              <a:rPr sz="2100" spc="-70" dirty="0">
                <a:latin typeface="Arial MT"/>
                <a:cs typeface="Arial MT"/>
              </a:rPr>
              <a:t> </a:t>
            </a:r>
            <a:r>
              <a:rPr sz="2100" spc="-10" dirty="0">
                <a:latin typeface="Arial MT"/>
                <a:cs typeface="Arial MT"/>
              </a:rPr>
              <a:t>achieves </a:t>
            </a:r>
            <a:r>
              <a:rPr sz="2100" spc="-160" dirty="0">
                <a:latin typeface="Arial MT"/>
                <a:cs typeface="Arial MT"/>
              </a:rPr>
              <a:t>some</a:t>
            </a:r>
            <a:r>
              <a:rPr sz="2100" spc="-10" dirty="0">
                <a:latin typeface="Arial MT"/>
                <a:cs typeface="Arial MT"/>
              </a:rPr>
              <a:t> </a:t>
            </a:r>
            <a:r>
              <a:rPr sz="2100" spc="-90" dirty="0">
                <a:latin typeface="Arial MT"/>
                <a:cs typeface="Arial MT"/>
              </a:rPr>
              <a:t>measure</a:t>
            </a:r>
            <a:r>
              <a:rPr sz="2100" spc="-15" dirty="0">
                <a:latin typeface="Arial MT"/>
                <a:cs typeface="Arial MT"/>
              </a:rPr>
              <a:t> </a:t>
            </a:r>
            <a:r>
              <a:rPr sz="2100" dirty="0">
                <a:latin typeface="Arial MT"/>
                <a:cs typeface="Arial MT"/>
              </a:rPr>
              <a:t>of</a:t>
            </a:r>
            <a:r>
              <a:rPr sz="2100" spc="-55" dirty="0">
                <a:latin typeface="Arial MT"/>
                <a:cs typeface="Arial MT"/>
              </a:rPr>
              <a:t> </a:t>
            </a:r>
            <a:r>
              <a:rPr sz="2100" spc="-10" dirty="0">
                <a:latin typeface="Arial MT"/>
                <a:cs typeface="Arial MT"/>
              </a:rPr>
              <a:t>satisfaction</a:t>
            </a:r>
            <a:endParaRPr sz="2100">
              <a:latin typeface="Arial MT"/>
              <a:cs typeface="Arial MT"/>
            </a:endParaRPr>
          </a:p>
        </p:txBody>
      </p:sp>
      <p:pic>
        <p:nvPicPr>
          <p:cNvPr id="4" name="Picture 2" descr="Profile for SRM Institute of Science and Technology">
            <a:extLst>
              <a:ext uri="{FF2B5EF4-FFF2-40B4-BE49-F238E27FC236}">
                <a16:creationId xmlns:a16="http://schemas.microsoft.com/office/drawing/2014/main" id="{2FC32E8B-3078-4040-AFAE-6CBABE11D7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6870" rIns="0" bIns="0" rtlCol="0">
            <a:spAutoFit/>
          </a:bodyPr>
          <a:lstStyle/>
          <a:p>
            <a:pPr marL="633095">
              <a:lnSpc>
                <a:spcPct val="100000"/>
              </a:lnSpc>
              <a:spcBef>
                <a:spcPts val="90"/>
              </a:spcBef>
            </a:pPr>
            <a:r>
              <a:rPr sz="5500" dirty="0">
                <a:latin typeface="Calibri"/>
                <a:cs typeface="Calibri"/>
              </a:rPr>
              <a:t>Specification</a:t>
            </a:r>
            <a:r>
              <a:rPr sz="5500" spc="985" dirty="0">
                <a:latin typeface="Calibri"/>
                <a:cs typeface="Calibri"/>
              </a:rPr>
              <a:t> </a:t>
            </a:r>
            <a:r>
              <a:rPr sz="5500" spc="170" dirty="0">
                <a:latin typeface="Calibri"/>
                <a:cs typeface="Calibri"/>
              </a:rPr>
              <a:t>Task</a:t>
            </a:r>
            <a:endParaRPr sz="5500">
              <a:latin typeface="Calibri"/>
              <a:cs typeface="Calibri"/>
            </a:endParaRPr>
          </a:p>
        </p:txBody>
      </p:sp>
      <p:sp>
        <p:nvSpPr>
          <p:cNvPr id="3" name="object 3"/>
          <p:cNvSpPr txBox="1"/>
          <p:nvPr/>
        </p:nvSpPr>
        <p:spPr>
          <a:xfrm>
            <a:off x="734657" y="1494013"/>
            <a:ext cx="6531609" cy="3291204"/>
          </a:xfrm>
          <a:prstGeom prst="rect">
            <a:avLst/>
          </a:prstGeom>
        </p:spPr>
        <p:txBody>
          <a:bodyPr vert="horz" wrap="square" lIns="0" tIns="17145" rIns="0" bIns="0" rtlCol="0">
            <a:spAutoFit/>
          </a:bodyPr>
          <a:lstStyle/>
          <a:p>
            <a:pPr marL="173990" indent="-161290">
              <a:lnSpc>
                <a:spcPts val="2395"/>
              </a:lnSpc>
              <a:spcBef>
                <a:spcPts val="135"/>
              </a:spcBef>
              <a:buChar char="•"/>
              <a:tabLst>
                <a:tab pos="173990" algn="l"/>
              </a:tabLst>
            </a:pPr>
            <a:r>
              <a:rPr sz="2200" spc="-150" dirty="0">
                <a:latin typeface="Calibri"/>
                <a:cs typeface="Calibri"/>
              </a:rPr>
              <a:t>A</a:t>
            </a:r>
            <a:r>
              <a:rPr sz="2200" spc="10" dirty="0">
                <a:latin typeface="Calibri"/>
                <a:cs typeface="Calibri"/>
              </a:rPr>
              <a:t> </a:t>
            </a:r>
            <a:r>
              <a:rPr sz="2200" spc="-35" dirty="0">
                <a:latin typeface="Calibri"/>
                <a:cs typeface="Calibri"/>
              </a:rPr>
              <a:t>specification</a:t>
            </a:r>
            <a:r>
              <a:rPr sz="2200" spc="-25" dirty="0">
                <a:latin typeface="Calibri"/>
                <a:cs typeface="Calibri"/>
              </a:rPr>
              <a:t> </a:t>
            </a:r>
            <a:r>
              <a:rPr sz="2200" dirty="0">
                <a:latin typeface="Calibri"/>
                <a:cs typeface="Calibri"/>
              </a:rPr>
              <a:t>is</a:t>
            </a:r>
            <a:r>
              <a:rPr sz="2200" spc="-85" dirty="0">
                <a:latin typeface="Calibri"/>
                <a:cs typeface="Calibri"/>
              </a:rPr>
              <a:t> </a:t>
            </a:r>
            <a:r>
              <a:rPr sz="2200" spc="-45" dirty="0">
                <a:latin typeface="Calibri"/>
                <a:cs typeface="Calibri"/>
              </a:rPr>
              <a:t>the</a:t>
            </a:r>
            <a:r>
              <a:rPr sz="2200" spc="-60" dirty="0">
                <a:latin typeface="Calibri"/>
                <a:cs typeface="Calibri"/>
              </a:rPr>
              <a:t> </a:t>
            </a:r>
            <a:r>
              <a:rPr sz="2200" dirty="0">
                <a:latin typeface="Calibri"/>
                <a:cs typeface="Calibri"/>
              </a:rPr>
              <a:t>final</a:t>
            </a:r>
            <a:r>
              <a:rPr sz="2200" spc="-110" dirty="0">
                <a:latin typeface="Calibri"/>
                <a:cs typeface="Calibri"/>
              </a:rPr>
              <a:t> </a:t>
            </a:r>
            <a:r>
              <a:rPr sz="2200" dirty="0">
                <a:latin typeface="Calibri"/>
                <a:cs typeface="Calibri"/>
              </a:rPr>
              <a:t>work</a:t>
            </a:r>
            <a:r>
              <a:rPr sz="2200" spc="-5" dirty="0">
                <a:latin typeface="Calibri"/>
                <a:cs typeface="Calibri"/>
              </a:rPr>
              <a:t> </a:t>
            </a:r>
            <a:r>
              <a:rPr sz="2200" spc="-20" dirty="0">
                <a:latin typeface="Calibri"/>
                <a:cs typeface="Calibri"/>
              </a:rPr>
              <a:t>product</a:t>
            </a:r>
            <a:r>
              <a:rPr sz="2200" spc="-10" dirty="0">
                <a:latin typeface="Calibri"/>
                <a:cs typeface="Calibri"/>
              </a:rPr>
              <a:t> </a:t>
            </a:r>
            <a:r>
              <a:rPr sz="2200" spc="-40" dirty="0">
                <a:latin typeface="Calibri"/>
                <a:cs typeface="Calibri"/>
              </a:rPr>
              <a:t>produced</a:t>
            </a:r>
            <a:r>
              <a:rPr sz="2200" spc="5" dirty="0">
                <a:latin typeface="Calibri"/>
                <a:cs typeface="Calibri"/>
              </a:rPr>
              <a:t> </a:t>
            </a:r>
            <a:r>
              <a:rPr sz="2200" dirty="0">
                <a:latin typeface="Calibri"/>
                <a:cs typeface="Calibri"/>
              </a:rPr>
              <a:t>by</a:t>
            </a:r>
            <a:r>
              <a:rPr sz="2200" spc="-25" dirty="0">
                <a:latin typeface="Calibri"/>
                <a:cs typeface="Calibri"/>
              </a:rPr>
              <a:t> the</a:t>
            </a:r>
            <a:endParaRPr sz="2200">
              <a:latin typeface="Calibri"/>
              <a:cs typeface="Calibri"/>
            </a:endParaRPr>
          </a:p>
          <a:p>
            <a:pPr marL="172085">
              <a:lnSpc>
                <a:spcPts val="2275"/>
              </a:lnSpc>
            </a:pPr>
            <a:r>
              <a:rPr sz="2100" dirty="0">
                <a:latin typeface="Calibri"/>
                <a:cs typeface="Calibri"/>
              </a:rPr>
              <a:t>requirements</a:t>
            </a:r>
            <a:r>
              <a:rPr sz="2100" spc="70" dirty="0">
                <a:latin typeface="Calibri"/>
                <a:cs typeface="Calibri"/>
              </a:rPr>
              <a:t> </a:t>
            </a:r>
            <a:r>
              <a:rPr sz="2100" spc="-10" dirty="0">
                <a:latin typeface="Calibri"/>
                <a:cs typeface="Calibri"/>
              </a:rPr>
              <a:t>engineer</a:t>
            </a:r>
            <a:endParaRPr sz="2100">
              <a:latin typeface="Calibri"/>
              <a:cs typeface="Calibri"/>
            </a:endParaRPr>
          </a:p>
          <a:p>
            <a:pPr marL="168910" marR="548640" indent="-154305">
              <a:lnSpc>
                <a:spcPct val="79400"/>
              </a:lnSpc>
              <a:spcBef>
                <a:spcPts val="700"/>
              </a:spcBef>
              <a:buChar char="•"/>
              <a:tabLst>
                <a:tab pos="168910" algn="l"/>
              </a:tabLst>
            </a:pPr>
            <a:r>
              <a:rPr sz="2100" dirty="0">
                <a:latin typeface="Calibri"/>
                <a:cs typeface="Calibri"/>
              </a:rPr>
              <a:t>It</a:t>
            </a:r>
            <a:r>
              <a:rPr sz="2100" spc="30" dirty="0">
                <a:latin typeface="Calibri"/>
                <a:cs typeface="Calibri"/>
              </a:rPr>
              <a:t> </a:t>
            </a:r>
            <a:r>
              <a:rPr sz="2100" dirty="0">
                <a:latin typeface="Calibri"/>
                <a:cs typeface="Calibri"/>
              </a:rPr>
              <a:t>is normally</a:t>
            </a:r>
            <a:r>
              <a:rPr sz="2100" spc="65" dirty="0">
                <a:latin typeface="Calibri"/>
                <a:cs typeface="Calibri"/>
              </a:rPr>
              <a:t> </a:t>
            </a:r>
            <a:r>
              <a:rPr sz="2100" dirty="0">
                <a:latin typeface="Calibri"/>
                <a:cs typeface="Calibri"/>
              </a:rPr>
              <a:t>in</a:t>
            </a:r>
            <a:r>
              <a:rPr sz="2100" spc="60" dirty="0">
                <a:latin typeface="Calibri"/>
                <a:cs typeface="Calibri"/>
              </a:rPr>
              <a:t> </a:t>
            </a:r>
            <a:r>
              <a:rPr sz="2100" dirty="0">
                <a:latin typeface="Calibri"/>
                <a:cs typeface="Calibri"/>
              </a:rPr>
              <a:t>the</a:t>
            </a:r>
            <a:r>
              <a:rPr sz="2100" spc="20" dirty="0">
                <a:latin typeface="Calibri"/>
                <a:cs typeface="Calibri"/>
              </a:rPr>
              <a:t> </a:t>
            </a:r>
            <a:r>
              <a:rPr sz="2100" dirty="0">
                <a:latin typeface="Calibri"/>
                <a:cs typeface="Calibri"/>
              </a:rPr>
              <a:t>form</a:t>
            </a:r>
            <a:r>
              <a:rPr sz="2100" spc="65" dirty="0">
                <a:latin typeface="Calibri"/>
                <a:cs typeface="Calibri"/>
              </a:rPr>
              <a:t> </a:t>
            </a:r>
            <a:r>
              <a:rPr sz="2100" dirty="0">
                <a:latin typeface="Calibri"/>
                <a:cs typeface="Calibri"/>
              </a:rPr>
              <a:t>of</a:t>
            </a:r>
            <a:r>
              <a:rPr sz="2100" spc="-25" dirty="0">
                <a:latin typeface="Calibri"/>
                <a:cs typeface="Calibri"/>
              </a:rPr>
              <a:t> </a:t>
            </a:r>
            <a:r>
              <a:rPr sz="2100" dirty="0">
                <a:solidFill>
                  <a:srgbClr val="1F1F1F"/>
                </a:solidFill>
                <a:latin typeface="Calibri"/>
                <a:cs typeface="Calibri"/>
              </a:rPr>
              <a:t>a</a:t>
            </a:r>
            <a:r>
              <a:rPr sz="2100" spc="90" dirty="0">
                <a:solidFill>
                  <a:srgbClr val="1F1F1F"/>
                </a:solidFill>
                <a:latin typeface="Calibri"/>
                <a:cs typeface="Calibri"/>
              </a:rPr>
              <a:t> </a:t>
            </a:r>
            <a:r>
              <a:rPr sz="2100" dirty="0">
                <a:latin typeface="Calibri"/>
                <a:cs typeface="Calibri"/>
              </a:rPr>
              <a:t>software</a:t>
            </a:r>
            <a:r>
              <a:rPr sz="2100" spc="5" dirty="0">
                <a:latin typeface="Calibri"/>
                <a:cs typeface="Calibri"/>
              </a:rPr>
              <a:t> </a:t>
            </a:r>
            <a:r>
              <a:rPr sz="2100" spc="-10" dirty="0">
                <a:latin typeface="Calibri"/>
                <a:cs typeface="Calibri"/>
              </a:rPr>
              <a:t>requirements specification</a:t>
            </a:r>
            <a:endParaRPr sz="2100">
              <a:latin typeface="Calibri"/>
              <a:cs typeface="Calibri"/>
            </a:endParaRPr>
          </a:p>
          <a:p>
            <a:pPr marL="167640" indent="-154940">
              <a:lnSpc>
                <a:spcPts val="2395"/>
              </a:lnSpc>
              <a:spcBef>
                <a:spcPts val="130"/>
              </a:spcBef>
              <a:buChar char="•"/>
              <a:tabLst>
                <a:tab pos="167640" algn="l"/>
              </a:tabLst>
            </a:pPr>
            <a:r>
              <a:rPr sz="2200" dirty="0">
                <a:latin typeface="Calibri"/>
                <a:cs typeface="Calibri"/>
              </a:rPr>
              <a:t>It</a:t>
            </a:r>
            <a:r>
              <a:rPr sz="2200" spc="-125" dirty="0">
                <a:latin typeface="Calibri"/>
                <a:cs typeface="Calibri"/>
              </a:rPr>
              <a:t> </a:t>
            </a:r>
            <a:r>
              <a:rPr sz="2200" spc="-25" dirty="0">
                <a:latin typeface="Calibri"/>
                <a:cs typeface="Calibri"/>
              </a:rPr>
              <a:t>serves</a:t>
            </a:r>
            <a:r>
              <a:rPr sz="2200" spc="-100" dirty="0">
                <a:latin typeface="Calibri"/>
                <a:cs typeface="Calibri"/>
              </a:rPr>
              <a:t> </a:t>
            </a:r>
            <a:r>
              <a:rPr sz="2200" dirty="0">
                <a:latin typeface="Calibri"/>
                <a:cs typeface="Calibri"/>
              </a:rPr>
              <a:t>as</a:t>
            </a:r>
            <a:r>
              <a:rPr sz="2200" spc="-110" dirty="0">
                <a:latin typeface="Calibri"/>
                <a:cs typeface="Calibri"/>
              </a:rPr>
              <a:t> </a:t>
            </a:r>
            <a:r>
              <a:rPr sz="2200" spc="-10" dirty="0">
                <a:latin typeface="Calibri"/>
                <a:cs typeface="Calibri"/>
              </a:rPr>
              <a:t>the </a:t>
            </a:r>
            <a:r>
              <a:rPr sz="2200" spc="-25" dirty="0">
                <a:latin typeface="Calibri"/>
                <a:cs typeface="Calibri"/>
              </a:rPr>
              <a:t>foundation</a:t>
            </a:r>
            <a:r>
              <a:rPr sz="2200" spc="75" dirty="0">
                <a:latin typeface="Calibri"/>
                <a:cs typeface="Calibri"/>
              </a:rPr>
              <a:t> </a:t>
            </a:r>
            <a:r>
              <a:rPr sz="2200" spc="-30" dirty="0">
                <a:latin typeface="Calibri"/>
                <a:cs typeface="Calibri"/>
              </a:rPr>
              <a:t>for</a:t>
            </a:r>
            <a:r>
              <a:rPr sz="2200" spc="-95" dirty="0">
                <a:latin typeface="Calibri"/>
                <a:cs typeface="Calibri"/>
              </a:rPr>
              <a:t> </a:t>
            </a:r>
            <a:r>
              <a:rPr sz="2200" spc="-50" dirty="0">
                <a:latin typeface="Calibri"/>
                <a:cs typeface="Calibri"/>
              </a:rPr>
              <a:t>subsequent</a:t>
            </a:r>
            <a:r>
              <a:rPr sz="2200" spc="90" dirty="0">
                <a:latin typeface="Calibri"/>
                <a:cs typeface="Calibri"/>
              </a:rPr>
              <a:t> </a:t>
            </a:r>
            <a:r>
              <a:rPr sz="2200" spc="-10" dirty="0">
                <a:latin typeface="Calibri"/>
                <a:cs typeface="Calibri"/>
              </a:rPr>
              <a:t>software</a:t>
            </a:r>
            <a:endParaRPr sz="2200">
              <a:latin typeface="Calibri"/>
              <a:cs typeface="Calibri"/>
            </a:endParaRPr>
          </a:p>
          <a:p>
            <a:pPr marL="167640">
              <a:lnSpc>
                <a:spcPts val="2275"/>
              </a:lnSpc>
            </a:pPr>
            <a:r>
              <a:rPr sz="2100" dirty="0">
                <a:latin typeface="Calibri"/>
                <a:cs typeface="Calibri"/>
              </a:rPr>
              <a:t>engineering</a:t>
            </a:r>
            <a:r>
              <a:rPr sz="2100" spc="114" dirty="0">
                <a:latin typeface="Calibri"/>
                <a:cs typeface="Calibri"/>
              </a:rPr>
              <a:t> </a:t>
            </a:r>
            <a:r>
              <a:rPr sz="2100" spc="-10" dirty="0">
                <a:latin typeface="Calibri"/>
                <a:cs typeface="Calibri"/>
              </a:rPr>
              <a:t>activities</a:t>
            </a:r>
            <a:endParaRPr sz="2100">
              <a:latin typeface="Calibri"/>
              <a:cs typeface="Calibri"/>
            </a:endParaRPr>
          </a:p>
          <a:p>
            <a:pPr marL="165735" marR="5080" indent="-140335">
              <a:lnSpc>
                <a:spcPct val="78800"/>
              </a:lnSpc>
              <a:spcBef>
                <a:spcPts val="675"/>
              </a:spcBef>
            </a:pPr>
            <a:r>
              <a:rPr sz="2150" dirty="0">
                <a:latin typeface="Calibri"/>
                <a:cs typeface="Calibri"/>
              </a:rPr>
              <a:t>°</a:t>
            </a:r>
            <a:r>
              <a:rPr sz="2150" spc="-120" dirty="0">
                <a:latin typeface="Calibri"/>
                <a:cs typeface="Calibri"/>
              </a:rPr>
              <a:t> </a:t>
            </a:r>
            <a:r>
              <a:rPr sz="2150" dirty="0">
                <a:latin typeface="Calibri"/>
                <a:cs typeface="Calibri"/>
              </a:rPr>
              <a:t>It</a:t>
            </a:r>
            <a:r>
              <a:rPr sz="2150" spc="5" dirty="0">
                <a:latin typeface="Calibri"/>
                <a:cs typeface="Calibri"/>
              </a:rPr>
              <a:t> </a:t>
            </a:r>
            <a:r>
              <a:rPr sz="2150" spc="-25" dirty="0">
                <a:latin typeface="Calibri"/>
                <a:cs typeface="Calibri"/>
              </a:rPr>
              <a:t>describes</a:t>
            </a:r>
            <a:r>
              <a:rPr sz="2150" spc="45" dirty="0">
                <a:latin typeface="Calibri"/>
                <a:cs typeface="Calibri"/>
              </a:rPr>
              <a:t> </a:t>
            </a:r>
            <a:r>
              <a:rPr sz="2150" dirty="0">
                <a:latin typeface="Calibri"/>
                <a:cs typeface="Calibri"/>
              </a:rPr>
              <a:t>the</a:t>
            </a:r>
            <a:r>
              <a:rPr sz="2150" spc="-40" dirty="0">
                <a:latin typeface="Calibri"/>
                <a:cs typeface="Calibri"/>
              </a:rPr>
              <a:t> </a:t>
            </a:r>
            <a:r>
              <a:rPr sz="2150" dirty="0">
                <a:latin typeface="Calibri"/>
                <a:cs typeface="Calibri"/>
              </a:rPr>
              <a:t>function</a:t>
            </a:r>
            <a:r>
              <a:rPr sz="2150" spc="10" dirty="0">
                <a:latin typeface="Calibri"/>
                <a:cs typeface="Calibri"/>
              </a:rPr>
              <a:t> </a:t>
            </a:r>
            <a:r>
              <a:rPr sz="2150" dirty="0">
                <a:latin typeface="Calibri"/>
                <a:cs typeface="Calibri"/>
              </a:rPr>
              <a:t>and</a:t>
            </a:r>
            <a:r>
              <a:rPr sz="2150" spc="-5" dirty="0">
                <a:latin typeface="Calibri"/>
                <a:cs typeface="Calibri"/>
              </a:rPr>
              <a:t> </a:t>
            </a:r>
            <a:r>
              <a:rPr sz="2150" spc="-10" dirty="0">
                <a:latin typeface="Calibri"/>
                <a:cs typeface="Calibri"/>
              </a:rPr>
              <a:t>performance</a:t>
            </a:r>
            <a:r>
              <a:rPr sz="2150" spc="105" dirty="0">
                <a:latin typeface="Calibri"/>
                <a:cs typeface="Calibri"/>
              </a:rPr>
              <a:t> </a:t>
            </a:r>
            <a:r>
              <a:rPr sz="2150" dirty="0">
                <a:latin typeface="Calibri"/>
                <a:cs typeface="Calibri"/>
              </a:rPr>
              <a:t>of</a:t>
            </a:r>
            <a:r>
              <a:rPr sz="2150" spc="10" dirty="0">
                <a:latin typeface="Calibri"/>
                <a:cs typeface="Calibri"/>
              </a:rPr>
              <a:t> </a:t>
            </a:r>
            <a:r>
              <a:rPr sz="2150" dirty="0">
                <a:solidFill>
                  <a:srgbClr val="212121"/>
                </a:solidFill>
                <a:latin typeface="Calibri"/>
                <a:cs typeface="Calibri"/>
              </a:rPr>
              <a:t>a</a:t>
            </a:r>
            <a:r>
              <a:rPr sz="2150" spc="-90" dirty="0">
                <a:solidFill>
                  <a:srgbClr val="212121"/>
                </a:solidFill>
                <a:latin typeface="Calibri"/>
                <a:cs typeface="Calibri"/>
              </a:rPr>
              <a:t> </a:t>
            </a:r>
            <a:r>
              <a:rPr sz="2150" spc="-10" dirty="0">
                <a:latin typeface="Calibri"/>
                <a:cs typeface="Calibri"/>
              </a:rPr>
              <a:t>computer- </a:t>
            </a:r>
            <a:r>
              <a:rPr sz="2100" dirty="0">
                <a:latin typeface="Calibri"/>
                <a:cs typeface="Calibri"/>
              </a:rPr>
              <a:t>based</a:t>
            </a:r>
            <a:r>
              <a:rPr sz="2100" spc="60" dirty="0">
                <a:latin typeface="Calibri"/>
                <a:cs typeface="Calibri"/>
              </a:rPr>
              <a:t> </a:t>
            </a:r>
            <a:r>
              <a:rPr sz="2100" dirty="0">
                <a:latin typeface="Calibri"/>
                <a:cs typeface="Calibri"/>
              </a:rPr>
              <a:t>system</a:t>
            </a:r>
            <a:r>
              <a:rPr sz="2100" spc="40" dirty="0">
                <a:latin typeface="Calibri"/>
                <a:cs typeface="Calibri"/>
              </a:rPr>
              <a:t> </a:t>
            </a:r>
            <a:r>
              <a:rPr sz="2100" dirty="0">
                <a:latin typeface="Calibri"/>
                <a:cs typeface="Calibri"/>
              </a:rPr>
              <a:t>and</a:t>
            </a:r>
            <a:r>
              <a:rPr sz="2100" spc="-40" dirty="0">
                <a:latin typeface="Calibri"/>
                <a:cs typeface="Calibri"/>
              </a:rPr>
              <a:t> </a:t>
            </a:r>
            <a:r>
              <a:rPr sz="2100" dirty="0">
                <a:latin typeface="Calibri"/>
                <a:cs typeface="Calibri"/>
              </a:rPr>
              <a:t>the</a:t>
            </a:r>
            <a:r>
              <a:rPr sz="2100" spc="-55" dirty="0">
                <a:latin typeface="Calibri"/>
                <a:cs typeface="Calibri"/>
              </a:rPr>
              <a:t> </a:t>
            </a:r>
            <a:r>
              <a:rPr sz="2100" dirty="0">
                <a:latin typeface="Calibri"/>
                <a:cs typeface="Calibri"/>
              </a:rPr>
              <a:t>constraints</a:t>
            </a:r>
            <a:r>
              <a:rPr sz="2100" spc="30" dirty="0">
                <a:latin typeface="Calibri"/>
                <a:cs typeface="Calibri"/>
              </a:rPr>
              <a:t> </a:t>
            </a:r>
            <a:r>
              <a:rPr sz="2100" dirty="0">
                <a:latin typeface="Calibri"/>
                <a:cs typeface="Calibri"/>
              </a:rPr>
              <a:t>that</a:t>
            </a:r>
            <a:r>
              <a:rPr sz="2100" spc="45" dirty="0">
                <a:latin typeface="Calibri"/>
                <a:cs typeface="Calibri"/>
              </a:rPr>
              <a:t> </a:t>
            </a:r>
            <a:r>
              <a:rPr sz="2100" dirty="0">
                <a:latin typeface="Calibri"/>
                <a:cs typeface="Calibri"/>
              </a:rPr>
              <a:t>will</a:t>
            </a:r>
            <a:r>
              <a:rPr sz="2100" spc="35" dirty="0">
                <a:latin typeface="Calibri"/>
                <a:cs typeface="Calibri"/>
              </a:rPr>
              <a:t> </a:t>
            </a:r>
            <a:r>
              <a:rPr sz="2100" dirty="0">
                <a:latin typeface="Calibri"/>
                <a:cs typeface="Calibri"/>
              </a:rPr>
              <a:t>govern</a:t>
            </a:r>
            <a:r>
              <a:rPr sz="2100" spc="20" dirty="0">
                <a:latin typeface="Calibri"/>
                <a:cs typeface="Calibri"/>
              </a:rPr>
              <a:t> </a:t>
            </a:r>
            <a:r>
              <a:rPr sz="2100" spc="-25" dirty="0">
                <a:latin typeface="Calibri"/>
                <a:cs typeface="Calibri"/>
              </a:rPr>
              <a:t>its </a:t>
            </a:r>
            <a:r>
              <a:rPr sz="2250" spc="-10" dirty="0">
                <a:latin typeface="Calibri"/>
                <a:cs typeface="Calibri"/>
              </a:rPr>
              <a:t>development</a:t>
            </a:r>
            <a:endParaRPr sz="2250">
              <a:latin typeface="Calibri"/>
              <a:cs typeface="Calibri"/>
            </a:endParaRPr>
          </a:p>
          <a:p>
            <a:pPr marL="167640" indent="-155575">
              <a:lnSpc>
                <a:spcPts val="2425"/>
              </a:lnSpc>
              <a:buChar char="•"/>
              <a:tabLst>
                <a:tab pos="167640" algn="l"/>
              </a:tabLst>
            </a:pPr>
            <a:r>
              <a:rPr sz="2250" dirty="0">
                <a:latin typeface="Calibri"/>
                <a:cs typeface="Calibri"/>
              </a:rPr>
              <a:t>It</a:t>
            </a:r>
            <a:r>
              <a:rPr sz="2250" spc="-140" dirty="0">
                <a:latin typeface="Calibri"/>
                <a:cs typeface="Calibri"/>
              </a:rPr>
              <a:t> </a:t>
            </a:r>
            <a:r>
              <a:rPr sz="2250" spc="-40" dirty="0">
                <a:latin typeface="Calibri"/>
                <a:cs typeface="Calibri"/>
              </a:rPr>
              <a:t>formalizes</a:t>
            </a:r>
            <a:r>
              <a:rPr sz="2250" spc="-90" dirty="0">
                <a:latin typeface="Calibri"/>
                <a:cs typeface="Calibri"/>
              </a:rPr>
              <a:t> </a:t>
            </a:r>
            <a:r>
              <a:rPr sz="2250" spc="-45" dirty="0">
                <a:latin typeface="Calibri"/>
                <a:cs typeface="Calibri"/>
              </a:rPr>
              <a:t>requirements</a:t>
            </a:r>
            <a:r>
              <a:rPr sz="2250" spc="25" dirty="0">
                <a:latin typeface="Calibri"/>
                <a:cs typeface="Calibri"/>
              </a:rPr>
              <a:t> </a:t>
            </a:r>
            <a:r>
              <a:rPr sz="2250" spc="-10" dirty="0">
                <a:solidFill>
                  <a:srgbClr val="151515"/>
                </a:solidFill>
                <a:latin typeface="Calibri"/>
                <a:cs typeface="Calibri"/>
              </a:rPr>
              <a:t>of</a:t>
            </a:r>
            <a:r>
              <a:rPr sz="2250" spc="-90" dirty="0">
                <a:solidFill>
                  <a:srgbClr val="151515"/>
                </a:solidFill>
                <a:latin typeface="Calibri"/>
                <a:cs typeface="Calibri"/>
              </a:rPr>
              <a:t> </a:t>
            </a:r>
            <a:r>
              <a:rPr sz="2250" spc="-100" dirty="0">
                <a:latin typeface="Calibri"/>
                <a:cs typeface="Calibri"/>
              </a:rPr>
              <a:t>the</a:t>
            </a:r>
            <a:r>
              <a:rPr sz="2250" spc="-25" dirty="0">
                <a:latin typeface="Calibri"/>
                <a:cs typeface="Calibri"/>
              </a:rPr>
              <a:t> </a:t>
            </a:r>
            <a:r>
              <a:rPr sz="2250" spc="-60" dirty="0">
                <a:latin typeface="Calibri"/>
                <a:cs typeface="Calibri"/>
              </a:rPr>
              <a:t>proposed</a:t>
            </a:r>
            <a:r>
              <a:rPr sz="2250" spc="5" dirty="0">
                <a:latin typeface="Calibri"/>
                <a:cs typeface="Calibri"/>
              </a:rPr>
              <a:t> </a:t>
            </a:r>
            <a:r>
              <a:rPr sz="2250" spc="-70" dirty="0">
                <a:latin typeface="Calibri"/>
                <a:cs typeface="Calibri"/>
              </a:rPr>
              <a:t>software</a:t>
            </a:r>
            <a:r>
              <a:rPr sz="2250" spc="85" dirty="0">
                <a:latin typeface="Calibri"/>
                <a:cs typeface="Calibri"/>
              </a:rPr>
              <a:t> </a:t>
            </a:r>
            <a:r>
              <a:rPr sz="2250" spc="-25" dirty="0">
                <a:latin typeface="Calibri"/>
                <a:cs typeface="Calibri"/>
              </a:rPr>
              <a:t>in</a:t>
            </a:r>
            <a:endParaRPr sz="2250">
              <a:latin typeface="Calibri"/>
              <a:cs typeface="Calibri"/>
            </a:endParaRPr>
          </a:p>
          <a:p>
            <a:pPr marL="172085">
              <a:lnSpc>
                <a:spcPts val="2245"/>
              </a:lnSpc>
            </a:pPr>
            <a:r>
              <a:rPr sz="2100" dirty="0">
                <a:latin typeface="Calibri"/>
                <a:cs typeface="Calibri"/>
              </a:rPr>
              <a:t>bDth</a:t>
            </a:r>
            <a:r>
              <a:rPr sz="2100" spc="-20" dirty="0">
                <a:latin typeface="Calibri"/>
                <a:cs typeface="Calibri"/>
              </a:rPr>
              <a:t> </a:t>
            </a:r>
            <a:r>
              <a:rPr sz="2100" dirty="0">
                <a:latin typeface="Calibri"/>
                <a:cs typeface="Calibri"/>
              </a:rPr>
              <a:t>a</a:t>
            </a:r>
            <a:r>
              <a:rPr sz="2100" spc="-114" dirty="0">
                <a:latin typeface="Calibri"/>
                <a:cs typeface="Calibri"/>
              </a:rPr>
              <a:t> </a:t>
            </a:r>
            <a:r>
              <a:rPr sz="2100" dirty="0">
                <a:latin typeface="Calibri"/>
                <a:cs typeface="Calibri"/>
              </a:rPr>
              <a:t>graphical</a:t>
            </a:r>
            <a:r>
              <a:rPr sz="2100" spc="125" dirty="0">
                <a:latin typeface="Calibri"/>
                <a:cs typeface="Calibri"/>
              </a:rPr>
              <a:t> </a:t>
            </a:r>
            <a:r>
              <a:rPr sz="2100" dirty="0">
                <a:latin typeface="Calibri"/>
                <a:cs typeface="Calibri"/>
              </a:rPr>
              <a:t>and</a:t>
            </a:r>
            <a:r>
              <a:rPr sz="2100" spc="-50" dirty="0">
                <a:latin typeface="Calibri"/>
                <a:cs typeface="Calibri"/>
              </a:rPr>
              <a:t> </a:t>
            </a:r>
            <a:r>
              <a:rPr sz="2100" dirty="0">
                <a:latin typeface="Calibri"/>
                <a:cs typeface="Calibri"/>
              </a:rPr>
              <a:t>textual</a:t>
            </a:r>
            <a:r>
              <a:rPr sz="2100" spc="-40" dirty="0">
                <a:latin typeface="Calibri"/>
                <a:cs typeface="Calibri"/>
              </a:rPr>
              <a:t> </a:t>
            </a:r>
            <a:r>
              <a:rPr sz="2100" spc="-10" dirty="0">
                <a:latin typeface="Calibri"/>
                <a:cs typeface="Calibri"/>
              </a:rPr>
              <a:t>format</a:t>
            </a:r>
            <a:endParaRPr sz="210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3253479B-E4CD-EB60-1EE4-677C1DD28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587" y="241123"/>
            <a:ext cx="5918835" cy="551815"/>
          </a:xfrm>
          <a:prstGeom prst="rect">
            <a:avLst/>
          </a:prstGeom>
        </p:spPr>
        <p:txBody>
          <a:bodyPr vert="horz" wrap="square" lIns="0" tIns="12700" rIns="0" bIns="0" rtlCol="0">
            <a:spAutoFit/>
          </a:bodyPr>
          <a:lstStyle/>
          <a:p>
            <a:pPr marL="12700">
              <a:lnSpc>
                <a:spcPct val="100000"/>
              </a:lnSpc>
              <a:spcBef>
                <a:spcPts val="100"/>
              </a:spcBef>
              <a:tabLst>
                <a:tab pos="4204335" algn="l"/>
              </a:tabLst>
            </a:pPr>
            <a:r>
              <a:rPr sz="3450" spc="145" dirty="0">
                <a:latin typeface="Calibri"/>
                <a:cs typeface="Calibri"/>
              </a:rPr>
              <a:t>Typical</a:t>
            </a:r>
            <a:r>
              <a:rPr sz="3450" spc="175" dirty="0">
                <a:latin typeface="Calibri"/>
                <a:cs typeface="Calibri"/>
              </a:rPr>
              <a:t> </a:t>
            </a:r>
            <a:r>
              <a:rPr sz="3450" spc="120" dirty="0">
                <a:latin typeface="Calibri"/>
                <a:cs typeface="Calibri"/>
              </a:rPr>
              <a:t>Contents</a:t>
            </a:r>
            <a:r>
              <a:rPr sz="3450" spc="280" dirty="0">
                <a:latin typeface="Calibri"/>
                <a:cs typeface="Calibri"/>
              </a:rPr>
              <a:t> </a:t>
            </a:r>
            <a:r>
              <a:rPr sz="3450" spc="265" dirty="0">
                <a:latin typeface="Calibri"/>
                <a:cs typeface="Calibri"/>
              </a:rPr>
              <a:t>o</a:t>
            </a:r>
            <a:r>
              <a:rPr sz="3450" spc="-620" dirty="0">
                <a:latin typeface="Calibri"/>
                <a:cs typeface="Calibri"/>
              </a:rPr>
              <a:t>f</a:t>
            </a:r>
            <a:r>
              <a:rPr lang="en-IN" sz="3450" spc="-620" dirty="0">
                <a:latin typeface="Calibri"/>
                <a:cs typeface="Calibri"/>
              </a:rPr>
              <a:t>       </a:t>
            </a:r>
            <a:r>
              <a:rPr sz="3450" spc="270" dirty="0">
                <a:latin typeface="Calibri"/>
                <a:cs typeface="Calibri"/>
              </a:rPr>
              <a:t>a</a:t>
            </a:r>
            <a:r>
              <a:rPr sz="3450" dirty="0">
                <a:latin typeface="Calibri"/>
                <a:cs typeface="Calibri"/>
              </a:rPr>
              <a:t>	</a:t>
            </a:r>
            <a:r>
              <a:rPr sz="3450" spc="75" dirty="0">
                <a:latin typeface="Calibri"/>
                <a:cs typeface="Calibri"/>
              </a:rPr>
              <a:t>Software</a:t>
            </a:r>
            <a:endParaRPr sz="3450" dirty="0">
              <a:latin typeface="Calibri"/>
              <a:cs typeface="Calibri"/>
            </a:endParaRPr>
          </a:p>
        </p:txBody>
      </p:sp>
      <p:sp>
        <p:nvSpPr>
          <p:cNvPr id="3" name="object 3"/>
          <p:cNvSpPr txBox="1"/>
          <p:nvPr/>
        </p:nvSpPr>
        <p:spPr>
          <a:xfrm>
            <a:off x="657875" y="420569"/>
            <a:ext cx="5339080" cy="1347470"/>
          </a:xfrm>
          <a:prstGeom prst="rect">
            <a:avLst/>
          </a:prstGeom>
        </p:spPr>
        <p:txBody>
          <a:bodyPr vert="horz" wrap="square" lIns="0" tIns="283845" rIns="0" bIns="0" rtlCol="0">
            <a:spAutoFit/>
          </a:bodyPr>
          <a:lstStyle/>
          <a:p>
            <a:pPr marL="17780">
              <a:lnSpc>
                <a:spcPct val="100000"/>
              </a:lnSpc>
              <a:spcBef>
                <a:spcPts val="2235"/>
              </a:spcBef>
            </a:pPr>
            <a:r>
              <a:rPr sz="3300" spc="180" dirty="0">
                <a:latin typeface="Calibri"/>
                <a:cs typeface="Calibri"/>
              </a:rPr>
              <a:t>Requirements</a:t>
            </a:r>
            <a:r>
              <a:rPr sz="3300" spc="405" dirty="0">
                <a:latin typeface="Calibri"/>
                <a:cs typeface="Calibri"/>
              </a:rPr>
              <a:t> </a:t>
            </a:r>
            <a:r>
              <a:rPr sz="3300" spc="165" dirty="0">
                <a:latin typeface="Calibri"/>
                <a:cs typeface="Calibri"/>
              </a:rPr>
              <a:t>Specification</a:t>
            </a:r>
            <a:endParaRPr sz="3300">
              <a:latin typeface="Calibri"/>
              <a:cs typeface="Calibri"/>
            </a:endParaRPr>
          </a:p>
          <a:p>
            <a:pPr marL="180975" indent="-168275">
              <a:lnSpc>
                <a:spcPct val="100000"/>
              </a:lnSpc>
              <a:spcBef>
                <a:spcPts val="1540"/>
              </a:spcBef>
              <a:buChar char="•"/>
              <a:tabLst>
                <a:tab pos="180975" algn="l"/>
              </a:tabLst>
            </a:pPr>
            <a:r>
              <a:rPr sz="2300" spc="-40" dirty="0">
                <a:latin typeface="Calibri"/>
                <a:cs typeface="Calibri"/>
              </a:rPr>
              <a:t>Requirements</a:t>
            </a:r>
            <a:endParaRPr sz="2300">
              <a:latin typeface="Calibri"/>
              <a:cs typeface="Calibri"/>
            </a:endParaRPr>
          </a:p>
        </p:txBody>
      </p:sp>
      <p:sp>
        <p:nvSpPr>
          <p:cNvPr id="4" name="object 4"/>
          <p:cNvSpPr txBox="1"/>
          <p:nvPr/>
        </p:nvSpPr>
        <p:spPr>
          <a:xfrm>
            <a:off x="660202" y="1714852"/>
            <a:ext cx="6341110" cy="3098800"/>
          </a:xfrm>
          <a:prstGeom prst="rect">
            <a:avLst/>
          </a:prstGeom>
        </p:spPr>
        <p:txBody>
          <a:bodyPr vert="horz" wrap="square" lIns="0" tIns="78105" rIns="0" bIns="0" rtlCol="0">
            <a:spAutoFit/>
          </a:bodyPr>
          <a:lstStyle/>
          <a:p>
            <a:pPr marL="485140" marR="164465" indent="-164465">
              <a:lnSpc>
                <a:spcPct val="76600"/>
              </a:lnSpc>
              <a:spcBef>
                <a:spcPts val="615"/>
              </a:spcBef>
              <a:buChar char="•"/>
              <a:tabLst>
                <a:tab pos="485140" algn="l"/>
              </a:tabLst>
            </a:pPr>
            <a:r>
              <a:rPr sz="1850" spc="-55" dirty="0">
                <a:latin typeface="Calibri"/>
                <a:cs typeface="Calibri"/>
              </a:rPr>
              <a:t>Software</a:t>
            </a:r>
            <a:r>
              <a:rPr sz="1850" spc="-15" dirty="0">
                <a:latin typeface="Calibri"/>
                <a:cs typeface="Calibri"/>
              </a:rPr>
              <a:t> </a:t>
            </a:r>
            <a:r>
              <a:rPr sz="1850" spc="-55" dirty="0">
                <a:latin typeface="Calibri"/>
                <a:cs typeface="Calibri"/>
              </a:rPr>
              <a:t>requirements</a:t>
            </a:r>
            <a:r>
              <a:rPr sz="1850" spc="50" dirty="0">
                <a:latin typeface="Calibri"/>
                <a:cs typeface="Calibri"/>
              </a:rPr>
              <a:t> </a:t>
            </a:r>
            <a:r>
              <a:rPr sz="1850" spc="-45" dirty="0">
                <a:latin typeface="Calibri"/>
                <a:cs typeface="Calibri"/>
              </a:rPr>
              <a:t>grouped</a:t>
            </a:r>
            <a:r>
              <a:rPr sz="1850" spc="25" dirty="0">
                <a:latin typeface="Calibri"/>
                <a:cs typeface="Calibri"/>
              </a:rPr>
              <a:t> </a:t>
            </a:r>
            <a:r>
              <a:rPr sz="1850" dirty="0">
                <a:solidFill>
                  <a:srgbClr val="131313"/>
                </a:solidFill>
                <a:latin typeface="Calibri"/>
                <a:cs typeface="Calibri"/>
              </a:rPr>
              <a:t>by</a:t>
            </a:r>
            <a:r>
              <a:rPr sz="1850" spc="-90" dirty="0">
                <a:solidFill>
                  <a:srgbClr val="131313"/>
                </a:solidFill>
                <a:latin typeface="Calibri"/>
                <a:cs typeface="Calibri"/>
              </a:rPr>
              <a:t> </a:t>
            </a:r>
            <a:r>
              <a:rPr sz="1850" spc="-50" dirty="0">
                <a:latin typeface="Calibri"/>
                <a:cs typeface="Calibri"/>
              </a:rPr>
              <a:t>capabilities</a:t>
            </a:r>
            <a:r>
              <a:rPr sz="1850" spc="50" dirty="0">
                <a:latin typeface="Calibri"/>
                <a:cs typeface="Calibri"/>
              </a:rPr>
              <a:t> </a:t>
            </a:r>
            <a:r>
              <a:rPr sz="1850" spc="-20" dirty="0">
                <a:solidFill>
                  <a:srgbClr val="151515"/>
                </a:solidFill>
                <a:latin typeface="Calibri"/>
                <a:cs typeface="Calibri"/>
              </a:rPr>
              <a:t>(i.e.,</a:t>
            </a:r>
            <a:r>
              <a:rPr sz="1850" spc="-85" dirty="0">
                <a:solidFill>
                  <a:srgbClr val="151515"/>
                </a:solidFill>
                <a:latin typeface="Calibri"/>
                <a:cs typeface="Calibri"/>
              </a:rPr>
              <a:t> </a:t>
            </a:r>
            <a:r>
              <a:rPr sz="1850" spc="-10" dirty="0">
                <a:latin typeface="Calibri"/>
                <a:cs typeface="Calibri"/>
              </a:rPr>
              <a:t>functions, objects)</a:t>
            </a:r>
            <a:endParaRPr sz="1850">
              <a:latin typeface="Calibri"/>
              <a:cs typeface="Calibri"/>
            </a:endParaRPr>
          </a:p>
          <a:p>
            <a:pPr marL="330835">
              <a:lnSpc>
                <a:spcPts val="1939"/>
              </a:lnSpc>
            </a:pPr>
            <a:r>
              <a:rPr sz="1850" dirty="0">
                <a:latin typeface="Calibri"/>
                <a:cs typeface="Calibri"/>
              </a:rPr>
              <a:t>°</a:t>
            </a:r>
            <a:r>
              <a:rPr sz="1850" spc="110" dirty="0">
                <a:latin typeface="Calibri"/>
                <a:cs typeface="Calibri"/>
              </a:rPr>
              <a:t> </a:t>
            </a:r>
            <a:r>
              <a:rPr sz="1850" spc="-55" dirty="0">
                <a:solidFill>
                  <a:srgbClr val="0E0E0E"/>
                </a:solidFill>
                <a:latin typeface="Calibri"/>
                <a:cs typeface="Calibri"/>
              </a:rPr>
              <a:t>Software</a:t>
            </a:r>
            <a:r>
              <a:rPr sz="1850" spc="50" dirty="0">
                <a:solidFill>
                  <a:srgbClr val="0E0E0E"/>
                </a:solidFill>
                <a:latin typeface="Calibri"/>
                <a:cs typeface="Calibri"/>
              </a:rPr>
              <a:t> </a:t>
            </a:r>
            <a:r>
              <a:rPr sz="1850" spc="-25" dirty="0">
                <a:latin typeface="Calibri"/>
                <a:cs typeface="Calibri"/>
              </a:rPr>
              <a:t>external</a:t>
            </a:r>
            <a:r>
              <a:rPr sz="1850" spc="-40" dirty="0">
                <a:latin typeface="Calibri"/>
                <a:cs typeface="Calibri"/>
              </a:rPr>
              <a:t> </a:t>
            </a:r>
            <a:r>
              <a:rPr sz="1850" spc="-10" dirty="0">
                <a:latin typeface="Calibri"/>
                <a:cs typeface="Calibri"/>
              </a:rPr>
              <a:t>interface</a:t>
            </a:r>
            <a:r>
              <a:rPr sz="1850" spc="-20" dirty="0">
                <a:latin typeface="Calibri"/>
                <a:cs typeface="Calibri"/>
              </a:rPr>
              <a:t> </a:t>
            </a:r>
            <a:r>
              <a:rPr sz="1850" spc="-10" dirty="0">
                <a:latin typeface="Calibri"/>
                <a:cs typeface="Calibri"/>
              </a:rPr>
              <a:t>requirements</a:t>
            </a:r>
            <a:endParaRPr sz="1850">
              <a:latin typeface="Calibri"/>
              <a:cs typeface="Calibri"/>
            </a:endParaRPr>
          </a:p>
          <a:p>
            <a:pPr marL="488315" indent="-166370">
              <a:lnSpc>
                <a:spcPts val="1989"/>
              </a:lnSpc>
              <a:buChar char="•"/>
              <a:tabLst>
                <a:tab pos="488315" algn="l"/>
              </a:tabLst>
            </a:pPr>
            <a:r>
              <a:rPr sz="1750" dirty="0">
                <a:latin typeface="Calibri"/>
                <a:cs typeface="Calibri"/>
              </a:rPr>
              <a:t>Software</a:t>
            </a:r>
            <a:r>
              <a:rPr sz="1750" spc="100" dirty="0">
                <a:latin typeface="Calibri"/>
                <a:cs typeface="Calibri"/>
              </a:rPr>
              <a:t> </a:t>
            </a:r>
            <a:r>
              <a:rPr sz="1750" dirty="0">
                <a:latin typeface="Calibri"/>
                <a:cs typeface="Calibri"/>
              </a:rPr>
              <a:t>internal</a:t>
            </a:r>
            <a:r>
              <a:rPr sz="1750" spc="35" dirty="0">
                <a:latin typeface="Calibri"/>
                <a:cs typeface="Calibri"/>
              </a:rPr>
              <a:t> </a:t>
            </a:r>
            <a:r>
              <a:rPr sz="1750" dirty="0">
                <a:latin typeface="Calibri"/>
                <a:cs typeface="Calibri"/>
              </a:rPr>
              <a:t>interface</a:t>
            </a:r>
            <a:r>
              <a:rPr sz="1750" spc="95" dirty="0">
                <a:latin typeface="Calibri"/>
                <a:cs typeface="Calibri"/>
              </a:rPr>
              <a:t> </a:t>
            </a:r>
            <a:r>
              <a:rPr sz="1750" spc="-10" dirty="0">
                <a:latin typeface="Calibri"/>
                <a:cs typeface="Calibri"/>
              </a:rPr>
              <a:t>requirements</a:t>
            </a:r>
            <a:endParaRPr sz="1750">
              <a:latin typeface="Calibri"/>
              <a:cs typeface="Calibri"/>
            </a:endParaRPr>
          </a:p>
          <a:p>
            <a:pPr marL="485140" indent="-164465">
              <a:lnSpc>
                <a:spcPts val="2060"/>
              </a:lnSpc>
              <a:buClr>
                <a:srgbClr val="000000"/>
              </a:buClr>
              <a:buChar char="•"/>
              <a:tabLst>
                <a:tab pos="485140" algn="l"/>
              </a:tabLst>
            </a:pPr>
            <a:r>
              <a:rPr sz="1850" spc="-55" dirty="0">
                <a:solidFill>
                  <a:srgbClr val="161616"/>
                </a:solidFill>
                <a:latin typeface="Calibri"/>
                <a:cs typeface="Calibri"/>
              </a:rPr>
              <a:t>Software</a:t>
            </a:r>
            <a:r>
              <a:rPr sz="1850" spc="-15" dirty="0">
                <a:solidFill>
                  <a:srgbClr val="161616"/>
                </a:solidFill>
                <a:latin typeface="Calibri"/>
                <a:cs typeface="Calibri"/>
              </a:rPr>
              <a:t> </a:t>
            </a:r>
            <a:r>
              <a:rPr sz="1850" spc="-10" dirty="0">
                <a:latin typeface="Calibri"/>
                <a:cs typeface="Calibri"/>
              </a:rPr>
              <a:t>internal</a:t>
            </a:r>
            <a:r>
              <a:rPr sz="1850" spc="-55" dirty="0">
                <a:latin typeface="Calibri"/>
                <a:cs typeface="Calibri"/>
              </a:rPr>
              <a:t> </a:t>
            </a:r>
            <a:r>
              <a:rPr sz="1850" dirty="0">
                <a:latin typeface="Calibri"/>
                <a:cs typeface="Calibri"/>
              </a:rPr>
              <a:t>data</a:t>
            </a:r>
            <a:r>
              <a:rPr sz="1850" spc="-60" dirty="0">
                <a:latin typeface="Calibri"/>
                <a:cs typeface="Calibri"/>
              </a:rPr>
              <a:t> </a:t>
            </a:r>
            <a:r>
              <a:rPr sz="1850" spc="-10" dirty="0">
                <a:latin typeface="Calibri"/>
                <a:cs typeface="Calibri"/>
              </a:rPr>
              <a:t>requirements</a:t>
            </a:r>
            <a:endParaRPr sz="1850">
              <a:latin typeface="Calibri"/>
              <a:cs typeface="Calibri"/>
            </a:endParaRPr>
          </a:p>
          <a:p>
            <a:pPr marL="477520" marR="362585" indent="-157480">
              <a:lnSpc>
                <a:spcPct val="76600"/>
              </a:lnSpc>
              <a:spcBef>
                <a:spcPts val="409"/>
              </a:spcBef>
              <a:buChar char="•"/>
              <a:tabLst>
                <a:tab pos="477520" algn="l"/>
                <a:tab pos="481330" algn="l"/>
              </a:tabLst>
            </a:pPr>
            <a:r>
              <a:rPr sz="1850" dirty="0">
                <a:latin typeface="Calibri"/>
                <a:cs typeface="Calibri"/>
              </a:rPr>
              <a:t>	</a:t>
            </a:r>
            <a:r>
              <a:rPr sz="1850" spc="-40" dirty="0">
                <a:latin typeface="Calibri"/>
                <a:cs typeface="Calibri"/>
              </a:rPr>
              <a:t>Other</a:t>
            </a:r>
            <a:r>
              <a:rPr sz="1850" spc="-25" dirty="0">
                <a:latin typeface="Calibri"/>
                <a:cs typeface="Calibri"/>
              </a:rPr>
              <a:t> </a:t>
            </a:r>
            <a:r>
              <a:rPr sz="1850" spc="-50" dirty="0">
                <a:latin typeface="Calibri"/>
                <a:cs typeface="Calibri"/>
              </a:rPr>
              <a:t>software</a:t>
            </a:r>
            <a:r>
              <a:rPr sz="1850" spc="-30" dirty="0">
                <a:latin typeface="Calibri"/>
                <a:cs typeface="Calibri"/>
              </a:rPr>
              <a:t> </a:t>
            </a:r>
            <a:r>
              <a:rPr sz="1850" spc="-55" dirty="0">
                <a:latin typeface="Calibri"/>
                <a:cs typeface="Calibri"/>
              </a:rPr>
              <a:t>requirements</a:t>
            </a:r>
            <a:r>
              <a:rPr sz="1850" spc="70" dirty="0">
                <a:latin typeface="Calibri"/>
                <a:cs typeface="Calibri"/>
              </a:rPr>
              <a:t> </a:t>
            </a:r>
            <a:r>
              <a:rPr sz="1850" spc="-40" dirty="0">
                <a:latin typeface="Calibri"/>
                <a:cs typeface="Calibri"/>
              </a:rPr>
              <a:t>(safety,</a:t>
            </a:r>
            <a:r>
              <a:rPr sz="1850" spc="-15" dirty="0">
                <a:latin typeface="Calibri"/>
                <a:cs typeface="Calibri"/>
              </a:rPr>
              <a:t> </a:t>
            </a:r>
            <a:r>
              <a:rPr sz="1850" spc="-40" dirty="0">
                <a:latin typeface="Calibri"/>
                <a:cs typeface="Calibri"/>
              </a:rPr>
              <a:t>security,</a:t>
            </a:r>
            <a:r>
              <a:rPr sz="1850" spc="10" dirty="0">
                <a:latin typeface="Calibri"/>
                <a:cs typeface="Calibri"/>
              </a:rPr>
              <a:t> </a:t>
            </a:r>
            <a:r>
              <a:rPr sz="1850" spc="-10" dirty="0">
                <a:latin typeface="Calibri"/>
                <a:cs typeface="Calibri"/>
              </a:rPr>
              <a:t>privacy, </a:t>
            </a:r>
            <a:r>
              <a:rPr sz="1850" spc="-55" dirty="0">
                <a:latin typeface="Calibri"/>
                <a:cs typeface="Calibri"/>
              </a:rPr>
              <a:t>environment,</a:t>
            </a:r>
            <a:r>
              <a:rPr sz="1850" spc="70" dirty="0">
                <a:latin typeface="Calibri"/>
                <a:cs typeface="Calibri"/>
              </a:rPr>
              <a:t> </a:t>
            </a:r>
            <a:r>
              <a:rPr sz="1850" spc="-50" dirty="0">
                <a:latin typeface="Calibri"/>
                <a:cs typeface="Calibri"/>
              </a:rPr>
              <a:t>hardware,</a:t>
            </a:r>
            <a:r>
              <a:rPr sz="1850" spc="120" dirty="0">
                <a:latin typeface="Calibri"/>
                <a:cs typeface="Calibri"/>
              </a:rPr>
              <a:t> </a:t>
            </a:r>
            <a:r>
              <a:rPr sz="1850" spc="-50" dirty="0">
                <a:latin typeface="Calibri"/>
                <a:cs typeface="Calibri"/>
              </a:rPr>
              <a:t>software,</a:t>
            </a:r>
            <a:r>
              <a:rPr sz="1850" spc="20" dirty="0">
                <a:latin typeface="Calibri"/>
                <a:cs typeface="Calibri"/>
              </a:rPr>
              <a:t> </a:t>
            </a:r>
            <a:r>
              <a:rPr sz="1850" spc="-50" dirty="0">
                <a:latin typeface="Calibri"/>
                <a:cs typeface="Calibri"/>
              </a:rPr>
              <a:t>communications, </a:t>
            </a:r>
            <a:r>
              <a:rPr sz="1850" spc="-10" dirty="0">
                <a:latin typeface="Calibri"/>
                <a:cs typeface="Calibri"/>
              </a:rPr>
              <a:t>quality, </a:t>
            </a:r>
            <a:r>
              <a:rPr sz="1850" spc="-45" dirty="0">
                <a:latin typeface="Calibri"/>
                <a:cs typeface="Calibri"/>
              </a:rPr>
              <a:t>personnel,</a:t>
            </a:r>
            <a:r>
              <a:rPr sz="1850" spc="75" dirty="0">
                <a:latin typeface="Calibri"/>
                <a:cs typeface="Calibri"/>
              </a:rPr>
              <a:t> </a:t>
            </a:r>
            <a:r>
              <a:rPr sz="1850" spc="-40" dirty="0">
                <a:latin typeface="Calibri"/>
                <a:cs typeface="Calibri"/>
              </a:rPr>
              <a:t>training,</a:t>
            </a:r>
            <a:r>
              <a:rPr sz="1850" spc="-60" dirty="0">
                <a:latin typeface="Calibri"/>
                <a:cs typeface="Calibri"/>
              </a:rPr>
              <a:t> </a:t>
            </a:r>
            <a:r>
              <a:rPr sz="1850" spc="-40" dirty="0">
                <a:latin typeface="Calibri"/>
                <a:cs typeface="Calibri"/>
              </a:rPr>
              <a:t>logistics,</a:t>
            </a:r>
            <a:r>
              <a:rPr sz="1850" dirty="0">
                <a:latin typeface="Calibri"/>
                <a:cs typeface="Calibri"/>
              </a:rPr>
              <a:t> </a:t>
            </a:r>
            <a:r>
              <a:rPr sz="1850" spc="-10" dirty="0">
                <a:solidFill>
                  <a:srgbClr val="111111"/>
                </a:solidFill>
                <a:latin typeface="Calibri"/>
                <a:cs typeface="Calibri"/>
              </a:rPr>
              <a:t>etc.)</a:t>
            </a:r>
            <a:endParaRPr sz="1850">
              <a:latin typeface="Calibri"/>
              <a:cs typeface="Calibri"/>
            </a:endParaRPr>
          </a:p>
          <a:p>
            <a:pPr marL="474345" indent="-153670">
              <a:lnSpc>
                <a:spcPts val="2000"/>
              </a:lnSpc>
              <a:buChar char="•"/>
              <a:tabLst>
                <a:tab pos="474345" algn="l"/>
              </a:tabLst>
            </a:pPr>
            <a:r>
              <a:rPr sz="1850" spc="-20" dirty="0">
                <a:latin typeface="Calibri"/>
                <a:cs typeface="Calibri"/>
              </a:rPr>
              <a:t>Design</a:t>
            </a:r>
            <a:r>
              <a:rPr sz="1850" spc="-45" dirty="0">
                <a:latin typeface="Calibri"/>
                <a:cs typeface="Calibri"/>
              </a:rPr>
              <a:t> </a:t>
            </a:r>
            <a:r>
              <a:rPr sz="1850" spc="-10" dirty="0">
                <a:latin typeface="Calibri"/>
                <a:cs typeface="Calibri"/>
              </a:rPr>
              <a:t>and</a:t>
            </a:r>
            <a:r>
              <a:rPr sz="1850" spc="-35" dirty="0">
                <a:latin typeface="Calibri"/>
                <a:cs typeface="Calibri"/>
              </a:rPr>
              <a:t> </a:t>
            </a:r>
            <a:r>
              <a:rPr sz="1850" spc="-25" dirty="0">
                <a:latin typeface="Calibri"/>
                <a:cs typeface="Calibri"/>
              </a:rPr>
              <a:t>implementation</a:t>
            </a:r>
            <a:r>
              <a:rPr sz="1850" spc="-30" dirty="0">
                <a:latin typeface="Calibri"/>
                <a:cs typeface="Calibri"/>
              </a:rPr>
              <a:t> </a:t>
            </a:r>
            <a:r>
              <a:rPr sz="1850" spc="-10" dirty="0">
                <a:latin typeface="Calibri"/>
                <a:cs typeface="Calibri"/>
              </a:rPr>
              <a:t>constraints</a:t>
            </a:r>
            <a:endParaRPr sz="1850">
              <a:latin typeface="Calibri"/>
              <a:cs typeface="Calibri"/>
            </a:endParaRPr>
          </a:p>
          <a:p>
            <a:pPr marL="177165" indent="-164465">
              <a:lnSpc>
                <a:spcPts val="2260"/>
              </a:lnSpc>
              <a:spcBef>
                <a:spcPts val="229"/>
              </a:spcBef>
              <a:buChar char="•"/>
              <a:tabLst>
                <a:tab pos="177165" algn="l"/>
              </a:tabLst>
            </a:pPr>
            <a:r>
              <a:rPr sz="2100" dirty="0">
                <a:latin typeface="Calibri"/>
                <a:cs typeface="Calibri"/>
              </a:rPr>
              <a:t>Qualification</a:t>
            </a:r>
            <a:r>
              <a:rPr sz="2100" spc="95" dirty="0">
                <a:latin typeface="Calibri"/>
                <a:cs typeface="Calibri"/>
              </a:rPr>
              <a:t> </a:t>
            </a:r>
            <a:r>
              <a:rPr sz="2100" spc="-10" dirty="0">
                <a:latin typeface="Calibri"/>
                <a:cs typeface="Calibri"/>
              </a:rPr>
              <a:t>provisions</a:t>
            </a:r>
            <a:r>
              <a:rPr sz="2100" spc="50" dirty="0">
                <a:latin typeface="Calibri"/>
                <a:cs typeface="Calibri"/>
              </a:rPr>
              <a:t> </a:t>
            </a:r>
            <a:r>
              <a:rPr sz="2100" dirty="0">
                <a:latin typeface="Calibri"/>
                <a:cs typeface="Calibri"/>
              </a:rPr>
              <a:t>to</a:t>
            </a:r>
            <a:r>
              <a:rPr sz="2100" spc="-110" dirty="0">
                <a:latin typeface="Calibri"/>
                <a:cs typeface="Calibri"/>
              </a:rPr>
              <a:t> </a:t>
            </a:r>
            <a:r>
              <a:rPr sz="2100" dirty="0">
                <a:latin typeface="Calibri"/>
                <a:cs typeface="Calibri"/>
              </a:rPr>
              <a:t>ensure</a:t>
            </a:r>
            <a:r>
              <a:rPr sz="2100" spc="55" dirty="0">
                <a:latin typeface="Calibri"/>
                <a:cs typeface="Calibri"/>
              </a:rPr>
              <a:t> </a:t>
            </a:r>
            <a:r>
              <a:rPr sz="2100" dirty="0">
                <a:latin typeface="Calibri"/>
                <a:cs typeface="Calibri"/>
              </a:rPr>
              <a:t>each</a:t>
            </a:r>
            <a:r>
              <a:rPr sz="2100" spc="-85" dirty="0">
                <a:latin typeface="Calibri"/>
                <a:cs typeface="Calibri"/>
              </a:rPr>
              <a:t> </a:t>
            </a:r>
            <a:r>
              <a:rPr sz="2100" dirty="0">
                <a:latin typeface="Calibri"/>
                <a:cs typeface="Calibri"/>
              </a:rPr>
              <a:t>requirement</a:t>
            </a:r>
            <a:r>
              <a:rPr sz="2100" spc="85" dirty="0">
                <a:latin typeface="Calibri"/>
                <a:cs typeface="Calibri"/>
              </a:rPr>
              <a:t> </a:t>
            </a:r>
            <a:r>
              <a:rPr sz="2100" spc="-25" dirty="0">
                <a:latin typeface="Calibri"/>
                <a:cs typeface="Calibri"/>
              </a:rPr>
              <a:t>has</a:t>
            </a:r>
            <a:endParaRPr sz="2100">
              <a:latin typeface="Calibri"/>
              <a:cs typeface="Calibri"/>
            </a:endParaRPr>
          </a:p>
          <a:p>
            <a:pPr marL="183515">
              <a:lnSpc>
                <a:spcPts val="2225"/>
              </a:lnSpc>
            </a:pPr>
            <a:r>
              <a:rPr sz="2100" dirty="0">
                <a:latin typeface="Calibri"/>
                <a:cs typeface="Calibri"/>
              </a:rPr>
              <a:t>been</a:t>
            </a:r>
            <a:r>
              <a:rPr sz="2100" spc="-15" dirty="0">
                <a:latin typeface="Calibri"/>
                <a:cs typeface="Calibri"/>
              </a:rPr>
              <a:t> </a:t>
            </a:r>
            <a:r>
              <a:rPr sz="2100" spc="-25" dirty="0">
                <a:latin typeface="Calibri"/>
                <a:cs typeface="Calibri"/>
              </a:rPr>
              <a:t>met</a:t>
            </a:r>
            <a:endParaRPr sz="2100">
              <a:latin typeface="Calibri"/>
              <a:cs typeface="Calibri"/>
            </a:endParaRPr>
          </a:p>
          <a:p>
            <a:pPr marL="476250" lvl="1" indent="-154305">
              <a:lnSpc>
                <a:spcPts val="2065"/>
              </a:lnSpc>
              <a:buChar char="•"/>
              <a:tabLst>
                <a:tab pos="476250" algn="l"/>
              </a:tabLst>
            </a:pPr>
            <a:r>
              <a:rPr sz="1750" dirty="0">
                <a:latin typeface="Calibri"/>
                <a:cs typeface="Calibri"/>
              </a:rPr>
              <a:t>Demonstration,</a:t>
            </a:r>
            <a:r>
              <a:rPr sz="1750" spc="-35" dirty="0">
                <a:latin typeface="Calibri"/>
                <a:cs typeface="Calibri"/>
              </a:rPr>
              <a:t> </a:t>
            </a:r>
            <a:r>
              <a:rPr sz="1750" dirty="0">
                <a:solidFill>
                  <a:srgbClr val="0C0C0C"/>
                </a:solidFill>
                <a:latin typeface="Calibri"/>
                <a:cs typeface="Calibri"/>
              </a:rPr>
              <a:t>test,</a:t>
            </a:r>
            <a:r>
              <a:rPr sz="1750" spc="-15" dirty="0">
                <a:solidFill>
                  <a:srgbClr val="0C0C0C"/>
                </a:solidFill>
                <a:latin typeface="Calibri"/>
                <a:cs typeface="Calibri"/>
              </a:rPr>
              <a:t> </a:t>
            </a:r>
            <a:r>
              <a:rPr sz="1750" dirty="0">
                <a:latin typeface="Calibri"/>
                <a:cs typeface="Calibri"/>
              </a:rPr>
              <a:t>analysis, inspection,</a:t>
            </a:r>
            <a:r>
              <a:rPr sz="1750" spc="60" dirty="0">
                <a:latin typeface="Calibri"/>
                <a:cs typeface="Calibri"/>
              </a:rPr>
              <a:t> </a:t>
            </a:r>
            <a:r>
              <a:rPr sz="1750" spc="-20" dirty="0">
                <a:latin typeface="Calibri"/>
                <a:cs typeface="Calibri"/>
              </a:rPr>
              <a:t>etc.</a:t>
            </a:r>
            <a:endParaRPr sz="1750">
              <a:latin typeface="Calibri"/>
              <a:cs typeface="Calibri"/>
            </a:endParaRPr>
          </a:p>
        </p:txBody>
      </p:sp>
      <p:pic>
        <p:nvPicPr>
          <p:cNvPr id="5" name="Picture 2" descr="Profile for SRM Institute of Science and Technology">
            <a:extLst>
              <a:ext uri="{FF2B5EF4-FFF2-40B4-BE49-F238E27FC236}">
                <a16:creationId xmlns:a16="http://schemas.microsoft.com/office/drawing/2014/main" id="{608294F3-CBE7-FA68-1919-0C5E7D8C3D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315200" y="5740400"/>
            <a:ext cx="139700" cy="139700"/>
          </a:xfrm>
          <a:prstGeom prst="rect">
            <a:avLst/>
          </a:prstGeom>
        </p:spPr>
      </p:pic>
      <p:sp>
        <p:nvSpPr>
          <p:cNvPr id="3" name="object 3"/>
          <p:cNvSpPr txBox="1">
            <a:spLocks noGrp="1"/>
          </p:cNvSpPr>
          <p:nvPr>
            <p:ph type="title"/>
          </p:nvPr>
        </p:nvSpPr>
        <p:spPr>
          <a:prstGeom prst="rect">
            <a:avLst/>
          </a:prstGeom>
        </p:spPr>
        <p:txBody>
          <a:bodyPr vert="horz" wrap="square" lIns="0" tIns="121355" rIns="0" bIns="0" rtlCol="0">
            <a:spAutoFit/>
          </a:bodyPr>
          <a:lstStyle/>
          <a:p>
            <a:pPr marL="637540">
              <a:lnSpc>
                <a:spcPct val="100000"/>
              </a:lnSpc>
              <a:spcBef>
                <a:spcPts val="100"/>
              </a:spcBef>
            </a:pPr>
            <a:r>
              <a:rPr dirty="0"/>
              <a:t>Validation</a:t>
            </a:r>
            <a:r>
              <a:rPr spc="185" dirty="0"/>
              <a:t> </a:t>
            </a:r>
            <a:r>
              <a:rPr spc="50" dirty="0"/>
              <a:t>Task</a:t>
            </a:r>
          </a:p>
        </p:txBody>
      </p:sp>
      <p:sp>
        <p:nvSpPr>
          <p:cNvPr id="4" name="object 4"/>
          <p:cNvSpPr txBox="1"/>
          <p:nvPr/>
        </p:nvSpPr>
        <p:spPr>
          <a:xfrm>
            <a:off x="660202" y="1456090"/>
            <a:ext cx="6544945" cy="3574415"/>
          </a:xfrm>
          <a:prstGeom prst="rect">
            <a:avLst/>
          </a:prstGeom>
        </p:spPr>
        <p:txBody>
          <a:bodyPr vert="horz" wrap="square" lIns="0" tIns="69215" rIns="0" bIns="0" rtlCol="0">
            <a:spAutoFit/>
          </a:bodyPr>
          <a:lstStyle/>
          <a:p>
            <a:pPr marL="177800" marR="65405" indent="-154305">
              <a:lnSpc>
                <a:spcPts val="2300"/>
              </a:lnSpc>
              <a:spcBef>
                <a:spcPts val="545"/>
              </a:spcBef>
            </a:pPr>
            <a:r>
              <a:rPr sz="2250" spc="65" dirty="0">
                <a:latin typeface="Calibri"/>
                <a:cs typeface="Calibri"/>
              </a:rPr>
              <a:t>°</a:t>
            </a:r>
            <a:r>
              <a:rPr sz="2250" spc="-130" dirty="0">
                <a:latin typeface="Calibri"/>
                <a:cs typeface="Calibri"/>
              </a:rPr>
              <a:t> </a:t>
            </a:r>
            <a:r>
              <a:rPr sz="2250" spc="-65" dirty="0">
                <a:latin typeface="Calibri"/>
                <a:cs typeface="Calibri"/>
              </a:rPr>
              <a:t>During </a:t>
            </a:r>
            <a:r>
              <a:rPr sz="2250" spc="-60" dirty="0">
                <a:latin typeface="Calibri"/>
                <a:cs typeface="Calibri"/>
              </a:rPr>
              <a:t>validation,</a:t>
            </a:r>
            <a:r>
              <a:rPr sz="2250" spc="-30" dirty="0">
                <a:latin typeface="Calibri"/>
                <a:cs typeface="Calibri"/>
              </a:rPr>
              <a:t> </a:t>
            </a:r>
            <a:r>
              <a:rPr sz="2250" spc="-45" dirty="0">
                <a:latin typeface="Calibri"/>
                <a:cs typeface="Calibri"/>
              </a:rPr>
              <a:t>the</a:t>
            </a:r>
            <a:r>
              <a:rPr sz="2250" spc="-90" dirty="0">
                <a:latin typeface="Calibri"/>
                <a:cs typeface="Calibri"/>
              </a:rPr>
              <a:t> </a:t>
            </a:r>
            <a:r>
              <a:rPr sz="2250" spc="-80" dirty="0">
                <a:latin typeface="Calibri"/>
                <a:cs typeface="Calibri"/>
              </a:rPr>
              <a:t>work</a:t>
            </a:r>
            <a:r>
              <a:rPr sz="2250" spc="-35" dirty="0">
                <a:latin typeface="Calibri"/>
                <a:cs typeface="Calibri"/>
              </a:rPr>
              <a:t> </a:t>
            </a:r>
            <a:r>
              <a:rPr sz="2250" spc="-60" dirty="0">
                <a:latin typeface="Calibri"/>
                <a:cs typeface="Calibri"/>
              </a:rPr>
              <a:t>products</a:t>
            </a:r>
            <a:r>
              <a:rPr sz="2250" spc="70" dirty="0">
                <a:latin typeface="Calibri"/>
                <a:cs typeface="Calibri"/>
              </a:rPr>
              <a:t> </a:t>
            </a:r>
            <a:r>
              <a:rPr sz="2250" spc="-70" dirty="0">
                <a:latin typeface="Calibri"/>
                <a:cs typeface="Calibri"/>
              </a:rPr>
              <a:t>produced</a:t>
            </a:r>
            <a:r>
              <a:rPr sz="2250" spc="30" dirty="0">
                <a:latin typeface="Calibri"/>
                <a:cs typeface="Calibri"/>
              </a:rPr>
              <a:t> </a:t>
            </a:r>
            <a:r>
              <a:rPr sz="2250" spc="-55" dirty="0">
                <a:solidFill>
                  <a:srgbClr val="131313"/>
                </a:solidFill>
                <a:latin typeface="Calibri"/>
                <a:cs typeface="Calibri"/>
              </a:rPr>
              <a:t>as </a:t>
            </a:r>
            <a:r>
              <a:rPr sz="2250" dirty="0">
                <a:solidFill>
                  <a:srgbClr val="1F1F1F"/>
                </a:solidFill>
                <a:latin typeface="Calibri"/>
                <a:cs typeface="Calibri"/>
              </a:rPr>
              <a:t>a</a:t>
            </a:r>
            <a:r>
              <a:rPr sz="2250" spc="-114" dirty="0">
                <a:solidFill>
                  <a:srgbClr val="1F1F1F"/>
                </a:solidFill>
                <a:latin typeface="Calibri"/>
                <a:cs typeface="Calibri"/>
              </a:rPr>
              <a:t> </a:t>
            </a:r>
            <a:r>
              <a:rPr sz="2250" spc="-40" dirty="0">
                <a:latin typeface="Calibri"/>
                <a:cs typeface="Calibri"/>
              </a:rPr>
              <a:t>result </a:t>
            </a:r>
            <a:r>
              <a:rPr sz="2250" spc="-45" dirty="0">
                <a:latin typeface="Calibri"/>
                <a:cs typeface="Calibri"/>
              </a:rPr>
              <a:t>of</a:t>
            </a:r>
            <a:r>
              <a:rPr sz="2250" spc="-85" dirty="0">
                <a:latin typeface="Calibri"/>
                <a:cs typeface="Calibri"/>
              </a:rPr>
              <a:t> </a:t>
            </a:r>
            <a:r>
              <a:rPr sz="2250" spc="-70" dirty="0">
                <a:latin typeface="Calibri"/>
                <a:cs typeface="Calibri"/>
              </a:rPr>
              <a:t>requirements</a:t>
            </a:r>
            <a:r>
              <a:rPr sz="2250" spc="35" dirty="0">
                <a:latin typeface="Calibri"/>
                <a:cs typeface="Calibri"/>
              </a:rPr>
              <a:t> </a:t>
            </a:r>
            <a:r>
              <a:rPr sz="2250" spc="-70" dirty="0">
                <a:latin typeface="Calibri"/>
                <a:cs typeface="Calibri"/>
              </a:rPr>
              <a:t>engineering</a:t>
            </a:r>
            <a:r>
              <a:rPr sz="2250" spc="45" dirty="0">
                <a:latin typeface="Calibri"/>
                <a:cs typeface="Calibri"/>
              </a:rPr>
              <a:t> </a:t>
            </a:r>
            <a:r>
              <a:rPr sz="2250" spc="-45" dirty="0">
                <a:latin typeface="Calibri"/>
                <a:cs typeface="Calibri"/>
              </a:rPr>
              <a:t>are</a:t>
            </a:r>
            <a:r>
              <a:rPr sz="2250" spc="-60" dirty="0">
                <a:latin typeface="Calibri"/>
                <a:cs typeface="Calibri"/>
              </a:rPr>
              <a:t> </a:t>
            </a:r>
            <a:r>
              <a:rPr sz="2250" spc="-65" dirty="0">
                <a:latin typeface="Calibri"/>
                <a:cs typeface="Calibri"/>
              </a:rPr>
              <a:t>assessed</a:t>
            </a:r>
            <a:r>
              <a:rPr sz="2250" spc="15" dirty="0">
                <a:latin typeface="Calibri"/>
                <a:cs typeface="Calibri"/>
              </a:rPr>
              <a:t> </a:t>
            </a:r>
            <a:r>
              <a:rPr sz="2250" spc="-65" dirty="0">
                <a:latin typeface="Calibri"/>
                <a:cs typeface="Calibri"/>
              </a:rPr>
              <a:t>for</a:t>
            </a:r>
            <a:r>
              <a:rPr sz="2250" spc="-70" dirty="0">
                <a:latin typeface="Calibri"/>
                <a:cs typeface="Calibri"/>
              </a:rPr>
              <a:t> </a:t>
            </a:r>
            <a:r>
              <a:rPr sz="2250" spc="-10" dirty="0">
                <a:latin typeface="Calibri"/>
                <a:cs typeface="Calibri"/>
              </a:rPr>
              <a:t>quality</a:t>
            </a:r>
            <a:endParaRPr sz="2250">
              <a:latin typeface="Calibri"/>
              <a:cs typeface="Calibri"/>
            </a:endParaRPr>
          </a:p>
          <a:p>
            <a:pPr marL="174625" indent="-159385">
              <a:lnSpc>
                <a:spcPct val="100000"/>
              </a:lnSpc>
              <a:spcBef>
                <a:spcPts val="540"/>
              </a:spcBef>
              <a:buChar char="•"/>
              <a:tabLst>
                <a:tab pos="174625" algn="l"/>
              </a:tabLst>
            </a:pPr>
            <a:r>
              <a:rPr sz="1900" spc="80" dirty="0">
                <a:latin typeface="Calibri"/>
                <a:cs typeface="Calibri"/>
              </a:rPr>
              <a:t>The</a:t>
            </a:r>
            <a:r>
              <a:rPr sz="1900" spc="170" dirty="0">
                <a:latin typeface="Calibri"/>
                <a:cs typeface="Calibri"/>
              </a:rPr>
              <a:t> </a:t>
            </a:r>
            <a:r>
              <a:rPr sz="1900" spc="60" dirty="0">
                <a:latin typeface="Calibri"/>
                <a:cs typeface="Calibri"/>
              </a:rPr>
              <a:t>specification</a:t>
            </a:r>
            <a:r>
              <a:rPr sz="1900" spc="265" dirty="0">
                <a:latin typeface="Calibri"/>
                <a:cs typeface="Calibri"/>
              </a:rPr>
              <a:t> </a:t>
            </a:r>
            <a:r>
              <a:rPr sz="1900" spc="55" dirty="0">
                <a:latin typeface="Calibri"/>
                <a:cs typeface="Calibri"/>
              </a:rPr>
              <a:t>is</a:t>
            </a:r>
            <a:r>
              <a:rPr sz="1900" spc="120" dirty="0">
                <a:latin typeface="Calibri"/>
                <a:cs typeface="Calibri"/>
              </a:rPr>
              <a:t> </a:t>
            </a:r>
            <a:r>
              <a:rPr sz="1900" spc="80" dirty="0">
                <a:latin typeface="Calibri"/>
                <a:cs typeface="Calibri"/>
              </a:rPr>
              <a:t>examined</a:t>
            </a:r>
            <a:r>
              <a:rPr sz="1900" spc="225" dirty="0">
                <a:latin typeface="Calibri"/>
                <a:cs typeface="Calibri"/>
              </a:rPr>
              <a:t> </a:t>
            </a:r>
            <a:r>
              <a:rPr sz="1900" spc="70" dirty="0">
                <a:latin typeface="Calibri"/>
                <a:cs typeface="Calibri"/>
              </a:rPr>
              <a:t>to</a:t>
            </a:r>
            <a:r>
              <a:rPr sz="1900" spc="25" dirty="0">
                <a:latin typeface="Calibri"/>
                <a:cs typeface="Calibri"/>
              </a:rPr>
              <a:t> </a:t>
            </a:r>
            <a:r>
              <a:rPr sz="1900" spc="90" dirty="0">
                <a:latin typeface="Calibri"/>
                <a:cs typeface="Calibri"/>
              </a:rPr>
              <a:t>ensure</a:t>
            </a:r>
            <a:r>
              <a:rPr sz="1900" spc="125" dirty="0">
                <a:latin typeface="Calibri"/>
                <a:cs typeface="Calibri"/>
              </a:rPr>
              <a:t> </a:t>
            </a:r>
            <a:r>
              <a:rPr sz="1900" spc="30" dirty="0">
                <a:latin typeface="Calibri"/>
                <a:cs typeface="Calibri"/>
              </a:rPr>
              <a:t>that</a:t>
            </a:r>
            <a:endParaRPr sz="1900">
              <a:latin typeface="Calibri"/>
              <a:cs typeface="Calibri"/>
            </a:endParaRPr>
          </a:p>
          <a:p>
            <a:pPr marL="485140" lvl="1" indent="-163830">
              <a:lnSpc>
                <a:spcPts val="2155"/>
              </a:lnSpc>
              <a:spcBef>
                <a:spcPts val="170"/>
              </a:spcBef>
              <a:buChar char="•"/>
              <a:tabLst>
                <a:tab pos="485140" algn="l"/>
              </a:tabLst>
            </a:pPr>
            <a:r>
              <a:rPr sz="1800" dirty="0">
                <a:latin typeface="Calibri"/>
                <a:cs typeface="Calibri"/>
              </a:rPr>
              <a:t>all</a:t>
            </a:r>
            <a:r>
              <a:rPr sz="1800" spc="-75" dirty="0">
                <a:latin typeface="Calibri"/>
                <a:cs typeface="Calibri"/>
              </a:rPr>
              <a:t> </a:t>
            </a:r>
            <a:r>
              <a:rPr sz="1800" spc="-30" dirty="0">
                <a:latin typeface="Calibri"/>
                <a:cs typeface="Calibri"/>
              </a:rPr>
              <a:t>software</a:t>
            </a:r>
            <a:r>
              <a:rPr sz="1800" spc="10" dirty="0">
                <a:latin typeface="Calibri"/>
                <a:cs typeface="Calibri"/>
              </a:rPr>
              <a:t> </a:t>
            </a:r>
            <a:r>
              <a:rPr sz="1800" spc="-35" dirty="0">
                <a:latin typeface="Calibri"/>
                <a:cs typeface="Calibri"/>
              </a:rPr>
              <a:t>requirements</a:t>
            </a:r>
            <a:r>
              <a:rPr sz="1800" spc="40" dirty="0">
                <a:latin typeface="Calibri"/>
                <a:cs typeface="Calibri"/>
              </a:rPr>
              <a:t> </a:t>
            </a:r>
            <a:r>
              <a:rPr sz="1800" dirty="0">
                <a:latin typeface="Calibri"/>
                <a:cs typeface="Calibri"/>
              </a:rPr>
              <a:t>have</a:t>
            </a:r>
            <a:r>
              <a:rPr sz="1800" spc="-45" dirty="0">
                <a:latin typeface="Calibri"/>
                <a:cs typeface="Calibri"/>
              </a:rPr>
              <a:t> </a:t>
            </a:r>
            <a:r>
              <a:rPr sz="1800" dirty="0">
                <a:solidFill>
                  <a:srgbClr val="212121"/>
                </a:solidFill>
                <a:latin typeface="Calibri"/>
                <a:cs typeface="Calibri"/>
              </a:rPr>
              <a:t>been</a:t>
            </a:r>
            <a:r>
              <a:rPr sz="1800" spc="-45" dirty="0">
                <a:solidFill>
                  <a:srgbClr val="212121"/>
                </a:solidFill>
                <a:latin typeface="Calibri"/>
                <a:cs typeface="Calibri"/>
              </a:rPr>
              <a:t> </a:t>
            </a:r>
            <a:r>
              <a:rPr sz="1800" dirty="0">
                <a:latin typeface="Calibri"/>
                <a:cs typeface="Calibri"/>
              </a:rPr>
              <a:t>stated</a:t>
            </a:r>
            <a:r>
              <a:rPr sz="1800" spc="-65" dirty="0">
                <a:latin typeface="Calibri"/>
                <a:cs typeface="Calibri"/>
              </a:rPr>
              <a:t> </a:t>
            </a:r>
            <a:r>
              <a:rPr sz="1800" spc="-10" dirty="0">
                <a:latin typeface="Calibri"/>
                <a:cs typeface="Calibri"/>
              </a:rPr>
              <a:t>unambiguously</a:t>
            </a:r>
            <a:endParaRPr sz="1800">
              <a:latin typeface="Calibri"/>
              <a:cs typeface="Calibri"/>
            </a:endParaRPr>
          </a:p>
          <a:p>
            <a:pPr marL="484505" marR="341630" indent="-154305">
              <a:lnSpc>
                <a:spcPts val="1900"/>
              </a:lnSpc>
              <a:spcBef>
                <a:spcPts val="375"/>
              </a:spcBef>
            </a:pPr>
            <a:r>
              <a:rPr sz="1900" dirty="0">
                <a:latin typeface="Calibri"/>
                <a:cs typeface="Calibri"/>
              </a:rPr>
              <a:t>°</a:t>
            </a:r>
            <a:r>
              <a:rPr sz="1900" spc="50" dirty="0">
                <a:latin typeface="Calibri"/>
                <a:cs typeface="Calibri"/>
              </a:rPr>
              <a:t> </a:t>
            </a:r>
            <a:r>
              <a:rPr sz="1900" spc="-65" dirty="0">
                <a:latin typeface="Calibri"/>
                <a:cs typeface="Calibri"/>
              </a:rPr>
              <a:t>inconsistencies, </a:t>
            </a:r>
            <a:r>
              <a:rPr sz="1900" spc="-55" dirty="0">
                <a:solidFill>
                  <a:srgbClr val="0F0F0F"/>
                </a:solidFill>
                <a:latin typeface="Calibri"/>
                <a:cs typeface="Calibri"/>
              </a:rPr>
              <a:t>omissions,</a:t>
            </a:r>
            <a:r>
              <a:rPr sz="1900" spc="85" dirty="0">
                <a:solidFill>
                  <a:srgbClr val="0F0F0F"/>
                </a:solidFill>
                <a:latin typeface="Calibri"/>
                <a:cs typeface="Calibri"/>
              </a:rPr>
              <a:t> </a:t>
            </a:r>
            <a:r>
              <a:rPr sz="1900" spc="-90" dirty="0">
                <a:latin typeface="Calibri"/>
                <a:cs typeface="Calibri"/>
              </a:rPr>
              <a:t>and</a:t>
            </a:r>
            <a:r>
              <a:rPr sz="1900" spc="-15" dirty="0">
                <a:latin typeface="Calibri"/>
                <a:cs typeface="Calibri"/>
              </a:rPr>
              <a:t> </a:t>
            </a:r>
            <a:r>
              <a:rPr sz="1900" spc="-70" dirty="0">
                <a:latin typeface="Calibri"/>
                <a:cs typeface="Calibri"/>
              </a:rPr>
              <a:t>errors</a:t>
            </a:r>
            <a:r>
              <a:rPr sz="1900" spc="15" dirty="0">
                <a:latin typeface="Calibri"/>
                <a:cs typeface="Calibri"/>
              </a:rPr>
              <a:t> </a:t>
            </a:r>
            <a:r>
              <a:rPr sz="1900" spc="-95" dirty="0">
                <a:latin typeface="Calibri"/>
                <a:cs typeface="Calibri"/>
              </a:rPr>
              <a:t>have</a:t>
            </a:r>
            <a:r>
              <a:rPr sz="1900" spc="-10" dirty="0">
                <a:latin typeface="Calibri"/>
                <a:cs typeface="Calibri"/>
              </a:rPr>
              <a:t> </a:t>
            </a:r>
            <a:r>
              <a:rPr sz="1900" spc="-70" dirty="0">
                <a:latin typeface="Calibri"/>
                <a:cs typeface="Calibri"/>
              </a:rPr>
              <a:t>been</a:t>
            </a:r>
            <a:r>
              <a:rPr sz="1900" spc="-30" dirty="0">
                <a:latin typeface="Calibri"/>
                <a:cs typeface="Calibri"/>
              </a:rPr>
              <a:t> </a:t>
            </a:r>
            <a:r>
              <a:rPr sz="1900" spc="-60" dirty="0">
                <a:latin typeface="Calibri"/>
                <a:cs typeface="Calibri"/>
              </a:rPr>
              <a:t>detected</a:t>
            </a:r>
            <a:r>
              <a:rPr sz="1900" spc="15" dirty="0">
                <a:latin typeface="Calibri"/>
                <a:cs typeface="Calibri"/>
              </a:rPr>
              <a:t> </a:t>
            </a:r>
            <a:r>
              <a:rPr sz="1900" spc="-25" dirty="0">
                <a:solidFill>
                  <a:srgbClr val="282828"/>
                </a:solidFill>
                <a:latin typeface="Calibri"/>
                <a:cs typeface="Calibri"/>
              </a:rPr>
              <a:t>and </a:t>
            </a:r>
            <a:r>
              <a:rPr sz="1900" spc="-10" dirty="0">
                <a:latin typeface="Calibri"/>
                <a:cs typeface="Calibri"/>
              </a:rPr>
              <a:t>corrected</a:t>
            </a:r>
            <a:endParaRPr sz="1900">
              <a:latin typeface="Calibri"/>
              <a:cs typeface="Calibri"/>
            </a:endParaRPr>
          </a:p>
          <a:p>
            <a:pPr marL="476884" marR="233045" lvl="1" indent="-157480">
              <a:lnSpc>
                <a:spcPts val="1900"/>
              </a:lnSpc>
              <a:spcBef>
                <a:spcPts val="400"/>
              </a:spcBef>
              <a:buClr>
                <a:srgbClr val="000000"/>
              </a:buClr>
              <a:buChar char="•"/>
              <a:tabLst>
                <a:tab pos="476884" algn="l"/>
              </a:tabLst>
            </a:pPr>
            <a:r>
              <a:rPr sz="1900" spc="-30" dirty="0">
                <a:solidFill>
                  <a:srgbClr val="111111"/>
                </a:solidFill>
                <a:latin typeface="Calibri"/>
                <a:cs typeface="Calibri"/>
              </a:rPr>
              <a:t>the</a:t>
            </a:r>
            <a:r>
              <a:rPr sz="1900" spc="-80" dirty="0">
                <a:solidFill>
                  <a:srgbClr val="111111"/>
                </a:solidFill>
                <a:latin typeface="Calibri"/>
                <a:cs typeface="Calibri"/>
              </a:rPr>
              <a:t> </a:t>
            </a:r>
            <a:r>
              <a:rPr sz="1900" spc="-85" dirty="0">
                <a:latin typeface="Calibri"/>
                <a:cs typeface="Calibri"/>
              </a:rPr>
              <a:t>work</a:t>
            </a:r>
            <a:r>
              <a:rPr sz="1900" spc="15" dirty="0">
                <a:latin typeface="Calibri"/>
                <a:cs typeface="Calibri"/>
              </a:rPr>
              <a:t> </a:t>
            </a:r>
            <a:r>
              <a:rPr sz="1900" spc="-80" dirty="0">
                <a:latin typeface="Calibri"/>
                <a:cs typeface="Calibri"/>
              </a:rPr>
              <a:t>products</a:t>
            </a:r>
            <a:r>
              <a:rPr sz="1900" spc="-20" dirty="0">
                <a:latin typeface="Calibri"/>
                <a:cs typeface="Calibri"/>
              </a:rPr>
              <a:t> </a:t>
            </a:r>
            <a:r>
              <a:rPr sz="1900" spc="-65" dirty="0">
                <a:latin typeface="Calibri"/>
                <a:cs typeface="Calibri"/>
              </a:rPr>
              <a:t>conform</a:t>
            </a:r>
            <a:r>
              <a:rPr sz="1900" spc="-30" dirty="0">
                <a:latin typeface="Calibri"/>
                <a:cs typeface="Calibri"/>
              </a:rPr>
              <a:t> </a:t>
            </a:r>
            <a:r>
              <a:rPr sz="1900" spc="-90" dirty="0">
                <a:solidFill>
                  <a:srgbClr val="111111"/>
                </a:solidFill>
                <a:latin typeface="Calibri"/>
                <a:cs typeface="Calibri"/>
              </a:rPr>
              <a:t>to</a:t>
            </a:r>
            <a:r>
              <a:rPr sz="1900" spc="-15" dirty="0">
                <a:solidFill>
                  <a:srgbClr val="111111"/>
                </a:solidFill>
                <a:latin typeface="Calibri"/>
                <a:cs typeface="Calibri"/>
              </a:rPr>
              <a:t> </a:t>
            </a:r>
            <a:r>
              <a:rPr sz="1900" spc="-45" dirty="0">
                <a:solidFill>
                  <a:srgbClr val="262626"/>
                </a:solidFill>
                <a:latin typeface="Calibri"/>
                <a:cs typeface="Calibri"/>
              </a:rPr>
              <a:t>the</a:t>
            </a:r>
            <a:r>
              <a:rPr sz="1900" spc="-15" dirty="0">
                <a:solidFill>
                  <a:srgbClr val="262626"/>
                </a:solidFill>
                <a:latin typeface="Calibri"/>
                <a:cs typeface="Calibri"/>
              </a:rPr>
              <a:t> </a:t>
            </a:r>
            <a:r>
              <a:rPr sz="1900" spc="-75" dirty="0">
                <a:latin typeface="Calibri"/>
                <a:cs typeface="Calibri"/>
              </a:rPr>
              <a:t>standards</a:t>
            </a:r>
            <a:r>
              <a:rPr sz="1900" spc="75" dirty="0">
                <a:latin typeface="Calibri"/>
                <a:cs typeface="Calibri"/>
              </a:rPr>
              <a:t> </a:t>
            </a:r>
            <a:r>
              <a:rPr sz="1900" spc="-70" dirty="0">
                <a:latin typeface="Calibri"/>
                <a:cs typeface="Calibri"/>
              </a:rPr>
              <a:t>established</a:t>
            </a:r>
            <a:r>
              <a:rPr sz="1900" spc="-10" dirty="0">
                <a:latin typeface="Calibri"/>
                <a:cs typeface="Calibri"/>
              </a:rPr>
              <a:t> </a:t>
            </a:r>
            <a:r>
              <a:rPr sz="1900" spc="-40" dirty="0">
                <a:latin typeface="Calibri"/>
                <a:cs typeface="Calibri"/>
              </a:rPr>
              <a:t>for</a:t>
            </a:r>
            <a:r>
              <a:rPr sz="1900" spc="-70" dirty="0">
                <a:latin typeface="Calibri"/>
                <a:cs typeface="Calibri"/>
              </a:rPr>
              <a:t> </a:t>
            </a:r>
            <a:r>
              <a:rPr sz="1900" spc="-25" dirty="0">
                <a:solidFill>
                  <a:srgbClr val="131313"/>
                </a:solidFill>
                <a:latin typeface="Calibri"/>
                <a:cs typeface="Calibri"/>
              </a:rPr>
              <a:t>the </a:t>
            </a:r>
            <a:r>
              <a:rPr sz="1900" spc="-60" dirty="0">
                <a:latin typeface="Calibri"/>
                <a:cs typeface="Calibri"/>
              </a:rPr>
              <a:t>process,</a:t>
            </a:r>
            <a:r>
              <a:rPr sz="1900" spc="-20" dirty="0">
                <a:latin typeface="Calibri"/>
                <a:cs typeface="Calibri"/>
              </a:rPr>
              <a:t> </a:t>
            </a:r>
            <a:r>
              <a:rPr sz="1900" spc="-80" dirty="0">
                <a:solidFill>
                  <a:srgbClr val="181818"/>
                </a:solidFill>
                <a:latin typeface="Calibri"/>
                <a:cs typeface="Calibri"/>
              </a:rPr>
              <a:t>the</a:t>
            </a:r>
            <a:r>
              <a:rPr sz="1900" spc="-25" dirty="0">
                <a:solidFill>
                  <a:srgbClr val="181818"/>
                </a:solidFill>
                <a:latin typeface="Calibri"/>
                <a:cs typeface="Calibri"/>
              </a:rPr>
              <a:t> </a:t>
            </a:r>
            <a:r>
              <a:rPr sz="1900" spc="-65" dirty="0">
                <a:latin typeface="Calibri"/>
                <a:cs typeface="Calibri"/>
              </a:rPr>
              <a:t>project,</a:t>
            </a:r>
            <a:r>
              <a:rPr sz="1900" spc="45" dirty="0">
                <a:latin typeface="Calibri"/>
                <a:cs typeface="Calibri"/>
              </a:rPr>
              <a:t> </a:t>
            </a:r>
            <a:r>
              <a:rPr sz="1900" spc="-55" dirty="0">
                <a:latin typeface="Calibri"/>
                <a:cs typeface="Calibri"/>
              </a:rPr>
              <a:t>and</a:t>
            </a:r>
            <a:r>
              <a:rPr sz="1900" spc="-50" dirty="0">
                <a:latin typeface="Calibri"/>
                <a:cs typeface="Calibri"/>
              </a:rPr>
              <a:t> </a:t>
            </a:r>
            <a:r>
              <a:rPr sz="1900" spc="-80" dirty="0">
                <a:latin typeface="Calibri"/>
                <a:cs typeface="Calibri"/>
              </a:rPr>
              <a:t>the</a:t>
            </a:r>
            <a:r>
              <a:rPr sz="1900" spc="-30" dirty="0">
                <a:latin typeface="Calibri"/>
                <a:cs typeface="Calibri"/>
              </a:rPr>
              <a:t> </a:t>
            </a:r>
            <a:r>
              <a:rPr sz="1900" spc="-10" dirty="0">
                <a:latin typeface="Calibri"/>
                <a:cs typeface="Calibri"/>
              </a:rPr>
              <a:t>product</a:t>
            </a:r>
            <a:endParaRPr sz="1900">
              <a:latin typeface="Calibri"/>
              <a:cs typeface="Calibri"/>
            </a:endParaRPr>
          </a:p>
          <a:p>
            <a:pPr marL="175260" indent="-162560">
              <a:lnSpc>
                <a:spcPts val="2410"/>
              </a:lnSpc>
              <a:spcBef>
                <a:spcPts val="420"/>
              </a:spcBef>
              <a:buChar char="•"/>
              <a:tabLst>
                <a:tab pos="175260" algn="l"/>
              </a:tabLst>
            </a:pPr>
            <a:r>
              <a:rPr sz="2100" dirty="0">
                <a:latin typeface="Calibri"/>
                <a:cs typeface="Calibri"/>
              </a:rPr>
              <a:t>The</a:t>
            </a:r>
            <a:r>
              <a:rPr sz="2100" spc="55" dirty="0">
                <a:latin typeface="Calibri"/>
                <a:cs typeface="Calibri"/>
              </a:rPr>
              <a:t> </a:t>
            </a:r>
            <a:r>
              <a:rPr sz="2100" dirty="0">
                <a:latin typeface="Calibri"/>
                <a:cs typeface="Calibri"/>
              </a:rPr>
              <a:t>formal</a:t>
            </a:r>
            <a:r>
              <a:rPr sz="2100" spc="-15" dirty="0">
                <a:latin typeface="Calibri"/>
                <a:cs typeface="Calibri"/>
              </a:rPr>
              <a:t> </a:t>
            </a:r>
            <a:r>
              <a:rPr sz="2100" dirty="0">
                <a:latin typeface="Calibri"/>
                <a:cs typeface="Calibri"/>
              </a:rPr>
              <a:t>technical</a:t>
            </a:r>
            <a:r>
              <a:rPr sz="2100" spc="-30" dirty="0">
                <a:latin typeface="Calibri"/>
                <a:cs typeface="Calibri"/>
              </a:rPr>
              <a:t> </a:t>
            </a:r>
            <a:r>
              <a:rPr sz="2100" dirty="0">
                <a:latin typeface="Calibri"/>
                <a:cs typeface="Calibri"/>
              </a:rPr>
              <a:t>review</a:t>
            </a:r>
            <a:r>
              <a:rPr sz="2100" spc="135" dirty="0">
                <a:latin typeface="Calibri"/>
                <a:cs typeface="Calibri"/>
              </a:rPr>
              <a:t> </a:t>
            </a:r>
            <a:r>
              <a:rPr sz="2100" dirty="0">
                <a:latin typeface="Calibri"/>
                <a:cs typeface="Calibri"/>
              </a:rPr>
              <a:t>serves</a:t>
            </a:r>
            <a:r>
              <a:rPr sz="2100" spc="-5" dirty="0">
                <a:latin typeface="Calibri"/>
                <a:cs typeface="Calibri"/>
              </a:rPr>
              <a:t> </a:t>
            </a:r>
            <a:r>
              <a:rPr sz="2100" dirty="0">
                <a:solidFill>
                  <a:srgbClr val="0C0C0C"/>
                </a:solidFill>
                <a:latin typeface="Calibri"/>
                <a:cs typeface="Calibri"/>
              </a:rPr>
              <a:t>as</a:t>
            </a:r>
            <a:r>
              <a:rPr sz="2100" spc="-25" dirty="0">
                <a:solidFill>
                  <a:srgbClr val="0C0C0C"/>
                </a:solidFill>
                <a:latin typeface="Calibri"/>
                <a:cs typeface="Calibri"/>
              </a:rPr>
              <a:t> </a:t>
            </a:r>
            <a:r>
              <a:rPr sz="2100" dirty="0">
                <a:latin typeface="Calibri"/>
                <a:cs typeface="Calibri"/>
              </a:rPr>
              <a:t>the</a:t>
            </a:r>
            <a:r>
              <a:rPr sz="2100" spc="-40" dirty="0">
                <a:latin typeface="Calibri"/>
                <a:cs typeface="Calibri"/>
              </a:rPr>
              <a:t> </a:t>
            </a:r>
            <a:r>
              <a:rPr sz="2100" spc="-10" dirty="0">
                <a:latin typeface="Calibri"/>
                <a:cs typeface="Calibri"/>
              </a:rPr>
              <a:t>primary</a:t>
            </a:r>
            <a:endParaRPr sz="2100">
              <a:latin typeface="Calibri"/>
              <a:cs typeface="Calibri"/>
            </a:endParaRPr>
          </a:p>
          <a:p>
            <a:pPr marL="183515">
              <a:lnSpc>
                <a:spcPts val="2410"/>
              </a:lnSpc>
            </a:pPr>
            <a:r>
              <a:rPr sz="2100" dirty="0">
                <a:latin typeface="Calibri"/>
                <a:cs typeface="Calibri"/>
              </a:rPr>
              <a:t>requirements</a:t>
            </a:r>
            <a:r>
              <a:rPr sz="2100" spc="10" dirty="0">
                <a:latin typeface="Calibri"/>
                <a:cs typeface="Calibri"/>
              </a:rPr>
              <a:t> </a:t>
            </a:r>
            <a:r>
              <a:rPr sz="2100" dirty="0">
                <a:latin typeface="Calibri"/>
                <a:cs typeface="Calibri"/>
              </a:rPr>
              <a:t>validation</a:t>
            </a:r>
            <a:r>
              <a:rPr sz="2100" spc="20" dirty="0">
                <a:latin typeface="Calibri"/>
                <a:cs typeface="Calibri"/>
              </a:rPr>
              <a:t> </a:t>
            </a:r>
            <a:r>
              <a:rPr sz="2100" spc="-10" dirty="0">
                <a:latin typeface="Calibri"/>
                <a:cs typeface="Calibri"/>
              </a:rPr>
              <a:t>mechanism</a:t>
            </a:r>
            <a:endParaRPr sz="2100">
              <a:latin typeface="Calibri"/>
              <a:cs typeface="Calibri"/>
            </a:endParaRPr>
          </a:p>
          <a:p>
            <a:pPr marL="475615" marR="5080" lvl="1" indent="-154305">
              <a:lnSpc>
                <a:spcPts val="1900"/>
              </a:lnSpc>
              <a:spcBef>
                <a:spcPts val="359"/>
              </a:spcBef>
              <a:buChar char="•"/>
              <a:tabLst>
                <a:tab pos="486409" algn="l"/>
              </a:tabLst>
            </a:pPr>
            <a:r>
              <a:rPr sz="1800" spc="-10" dirty="0">
                <a:latin typeface="Calibri"/>
                <a:cs typeface="Calibri"/>
              </a:rPr>
              <a:t>Members</a:t>
            </a:r>
            <a:r>
              <a:rPr sz="1800" spc="-15" dirty="0">
                <a:latin typeface="Calibri"/>
                <a:cs typeface="Calibri"/>
              </a:rPr>
              <a:t> </a:t>
            </a:r>
            <a:r>
              <a:rPr sz="1800" spc="-20" dirty="0">
                <a:latin typeface="Calibri"/>
                <a:cs typeface="Calibri"/>
              </a:rPr>
              <a:t>include</a:t>
            </a:r>
            <a:r>
              <a:rPr sz="1800" spc="-5" dirty="0">
                <a:latin typeface="Calibri"/>
                <a:cs typeface="Calibri"/>
              </a:rPr>
              <a:t> </a:t>
            </a:r>
            <a:r>
              <a:rPr sz="1800" spc="-30" dirty="0">
                <a:latin typeface="Calibri"/>
                <a:cs typeface="Calibri"/>
              </a:rPr>
              <a:t>software</a:t>
            </a:r>
            <a:r>
              <a:rPr sz="1800" spc="-55" dirty="0">
                <a:latin typeface="Calibri"/>
                <a:cs typeface="Calibri"/>
              </a:rPr>
              <a:t> </a:t>
            </a:r>
            <a:r>
              <a:rPr sz="1800" spc="-25" dirty="0">
                <a:latin typeface="Calibri"/>
                <a:cs typeface="Calibri"/>
              </a:rPr>
              <a:t>engineers,</a:t>
            </a:r>
            <a:r>
              <a:rPr sz="1800" spc="-20" dirty="0">
                <a:latin typeface="Calibri"/>
                <a:cs typeface="Calibri"/>
              </a:rPr>
              <a:t> customers,</a:t>
            </a:r>
            <a:r>
              <a:rPr sz="1800" spc="55" dirty="0">
                <a:latin typeface="Calibri"/>
                <a:cs typeface="Calibri"/>
              </a:rPr>
              <a:t> </a:t>
            </a:r>
            <a:r>
              <a:rPr sz="1800" spc="-20" dirty="0">
                <a:latin typeface="Calibri"/>
                <a:cs typeface="Calibri"/>
              </a:rPr>
              <a:t>users,</a:t>
            </a:r>
            <a:r>
              <a:rPr sz="1800" spc="-35" dirty="0">
                <a:latin typeface="Calibri"/>
                <a:cs typeface="Calibri"/>
              </a:rPr>
              <a:t> </a:t>
            </a:r>
            <a:r>
              <a:rPr sz="1800" dirty="0">
                <a:latin typeface="Calibri"/>
                <a:cs typeface="Calibri"/>
              </a:rPr>
              <a:t>and</a:t>
            </a:r>
            <a:r>
              <a:rPr sz="1800" spc="-90" dirty="0">
                <a:latin typeface="Calibri"/>
                <a:cs typeface="Calibri"/>
              </a:rPr>
              <a:t> </a:t>
            </a:r>
            <a:r>
              <a:rPr sz="1800" spc="-10" dirty="0">
                <a:latin typeface="Calibri"/>
                <a:cs typeface="Calibri"/>
              </a:rPr>
              <a:t>other 	stakeholders</a:t>
            </a:r>
            <a:endParaRPr sz="1800">
              <a:latin typeface="Calibri"/>
              <a:cs typeface="Calibri"/>
            </a:endParaRPr>
          </a:p>
        </p:txBody>
      </p:sp>
      <p:pic>
        <p:nvPicPr>
          <p:cNvPr id="5" name="Picture 2" descr="Profile for SRM Institute of Science and Technology">
            <a:extLst>
              <a:ext uri="{FF2B5EF4-FFF2-40B4-BE49-F238E27FC236}">
                <a16:creationId xmlns:a16="http://schemas.microsoft.com/office/drawing/2014/main" id="{80D27776-DD78-8C71-4209-014F9CD748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315200" y="5740400"/>
            <a:ext cx="139700" cy="139700"/>
          </a:xfrm>
          <a:prstGeom prst="rect">
            <a:avLst/>
          </a:prstGeom>
        </p:spPr>
      </p:pic>
      <p:sp>
        <p:nvSpPr>
          <p:cNvPr id="3" name="object 3"/>
          <p:cNvSpPr txBox="1">
            <a:spLocks noGrp="1"/>
          </p:cNvSpPr>
          <p:nvPr>
            <p:ph type="title"/>
          </p:nvPr>
        </p:nvSpPr>
        <p:spPr>
          <a:xfrm>
            <a:off x="679834" y="-3880"/>
            <a:ext cx="5388610" cy="662940"/>
          </a:xfrm>
          <a:prstGeom prst="rect">
            <a:avLst/>
          </a:prstGeom>
        </p:spPr>
        <p:txBody>
          <a:bodyPr vert="horz" wrap="square" lIns="0" tIns="16510" rIns="0" bIns="0" rtlCol="0">
            <a:spAutoFit/>
          </a:bodyPr>
          <a:lstStyle/>
          <a:p>
            <a:pPr marL="12700">
              <a:lnSpc>
                <a:spcPct val="100000"/>
              </a:lnSpc>
              <a:spcBef>
                <a:spcPts val="130"/>
              </a:spcBef>
            </a:pPr>
            <a:r>
              <a:rPr sz="4150" spc="75" dirty="0">
                <a:latin typeface="Arial MT"/>
                <a:cs typeface="Arial MT"/>
              </a:rPr>
              <a:t>questions</a:t>
            </a:r>
            <a:r>
              <a:rPr sz="4150" spc="285" dirty="0">
                <a:latin typeface="Arial MT"/>
                <a:cs typeface="Arial MT"/>
              </a:rPr>
              <a:t> </a:t>
            </a:r>
            <a:r>
              <a:rPr sz="4150" spc="100" dirty="0">
                <a:latin typeface="Arial MT"/>
                <a:cs typeface="Arial MT"/>
              </a:rPr>
              <a:t>to</a:t>
            </a:r>
            <a:r>
              <a:rPr sz="4150" spc="-140" dirty="0">
                <a:latin typeface="Arial MT"/>
                <a:cs typeface="Arial MT"/>
              </a:rPr>
              <a:t> </a:t>
            </a:r>
            <a:r>
              <a:rPr sz="4150" dirty="0">
                <a:latin typeface="Arial MT"/>
                <a:cs typeface="Arial MT"/>
              </a:rPr>
              <a:t>ask</a:t>
            </a:r>
            <a:r>
              <a:rPr sz="4150" spc="40" dirty="0">
                <a:latin typeface="Arial MT"/>
                <a:cs typeface="Arial MT"/>
              </a:rPr>
              <a:t> </a:t>
            </a:r>
            <a:r>
              <a:rPr sz="4150" spc="-20" dirty="0">
                <a:latin typeface="Arial MT"/>
                <a:cs typeface="Arial MT"/>
              </a:rPr>
              <a:t>when</a:t>
            </a:r>
            <a:endParaRPr sz="4150">
              <a:latin typeface="Arial MT"/>
              <a:cs typeface="Arial MT"/>
            </a:endParaRPr>
          </a:p>
        </p:txBody>
      </p:sp>
      <p:sp>
        <p:nvSpPr>
          <p:cNvPr id="4" name="object 4"/>
          <p:cNvSpPr txBox="1"/>
          <p:nvPr/>
        </p:nvSpPr>
        <p:spPr>
          <a:xfrm>
            <a:off x="658457" y="541866"/>
            <a:ext cx="6517640" cy="3645535"/>
          </a:xfrm>
          <a:prstGeom prst="rect">
            <a:avLst/>
          </a:prstGeom>
        </p:spPr>
        <p:txBody>
          <a:bodyPr vert="horz" wrap="square" lIns="0" tIns="16510" rIns="0" bIns="0" rtlCol="0">
            <a:spAutoFit/>
          </a:bodyPr>
          <a:lstStyle/>
          <a:p>
            <a:pPr marL="37465">
              <a:lnSpc>
                <a:spcPct val="100000"/>
              </a:lnSpc>
              <a:spcBef>
                <a:spcPts val="130"/>
              </a:spcBef>
            </a:pPr>
            <a:r>
              <a:rPr sz="4050" dirty="0">
                <a:latin typeface="Arial MT"/>
                <a:cs typeface="Arial MT"/>
              </a:rPr>
              <a:t>Validating</a:t>
            </a:r>
            <a:r>
              <a:rPr sz="4050" spc="490" dirty="0">
                <a:latin typeface="Arial MT"/>
                <a:cs typeface="Arial MT"/>
              </a:rPr>
              <a:t> </a:t>
            </a:r>
            <a:r>
              <a:rPr sz="4050" spc="-10" dirty="0">
                <a:latin typeface="Arial MT"/>
                <a:cs typeface="Arial MT"/>
              </a:rPr>
              <a:t>Requirements</a:t>
            </a:r>
            <a:endParaRPr sz="4050">
              <a:latin typeface="Arial MT"/>
              <a:cs typeface="Arial MT"/>
            </a:endParaRPr>
          </a:p>
          <a:p>
            <a:pPr marL="180975" indent="-168275">
              <a:lnSpc>
                <a:spcPts val="2425"/>
              </a:lnSpc>
              <a:spcBef>
                <a:spcPts val="2640"/>
              </a:spcBef>
              <a:buChar char="•"/>
              <a:tabLst>
                <a:tab pos="180975" algn="l"/>
              </a:tabLst>
            </a:pPr>
            <a:r>
              <a:rPr sz="2250" spc="-45" dirty="0">
                <a:latin typeface="Calibri"/>
                <a:cs typeface="Calibri"/>
              </a:rPr>
              <a:t>Is</a:t>
            </a:r>
            <a:r>
              <a:rPr sz="2250" spc="-85" dirty="0">
                <a:latin typeface="Calibri"/>
                <a:cs typeface="Calibri"/>
              </a:rPr>
              <a:t> </a:t>
            </a:r>
            <a:r>
              <a:rPr sz="2250" spc="-45" dirty="0">
                <a:latin typeface="Calibri"/>
                <a:cs typeface="Calibri"/>
              </a:rPr>
              <a:t>each</a:t>
            </a:r>
            <a:r>
              <a:rPr sz="2250" spc="-85" dirty="0">
                <a:latin typeface="Calibri"/>
                <a:cs typeface="Calibri"/>
              </a:rPr>
              <a:t> </a:t>
            </a:r>
            <a:r>
              <a:rPr sz="2250" spc="-75" dirty="0">
                <a:latin typeface="Calibri"/>
                <a:cs typeface="Calibri"/>
              </a:rPr>
              <a:t>requirement</a:t>
            </a:r>
            <a:r>
              <a:rPr sz="2250" spc="15" dirty="0">
                <a:latin typeface="Calibri"/>
                <a:cs typeface="Calibri"/>
              </a:rPr>
              <a:t> </a:t>
            </a:r>
            <a:r>
              <a:rPr sz="2250" spc="-60" dirty="0">
                <a:latin typeface="Calibri"/>
                <a:cs typeface="Calibri"/>
              </a:rPr>
              <a:t>consistent</a:t>
            </a:r>
            <a:r>
              <a:rPr sz="2250" spc="135" dirty="0">
                <a:latin typeface="Calibri"/>
                <a:cs typeface="Calibri"/>
              </a:rPr>
              <a:t> </a:t>
            </a:r>
            <a:r>
              <a:rPr sz="2250" spc="-85" dirty="0">
                <a:latin typeface="Calibri"/>
                <a:cs typeface="Calibri"/>
              </a:rPr>
              <a:t>with</a:t>
            </a:r>
            <a:r>
              <a:rPr sz="2250" spc="-45" dirty="0">
                <a:latin typeface="Calibri"/>
                <a:cs typeface="Calibri"/>
              </a:rPr>
              <a:t> </a:t>
            </a:r>
            <a:r>
              <a:rPr sz="2250" spc="-20" dirty="0">
                <a:solidFill>
                  <a:srgbClr val="0E0E0E"/>
                </a:solidFill>
                <a:latin typeface="Calibri"/>
                <a:cs typeface="Calibri"/>
              </a:rPr>
              <a:t>the</a:t>
            </a:r>
            <a:r>
              <a:rPr sz="2250" spc="-50" dirty="0">
                <a:solidFill>
                  <a:srgbClr val="0E0E0E"/>
                </a:solidFill>
                <a:latin typeface="Calibri"/>
                <a:cs typeface="Calibri"/>
              </a:rPr>
              <a:t> </a:t>
            </a:r>
            <a:r>
              <a:rPr sz="2250" spc="-30" dirty="0">
                <a:latin typeface="Calibri"/>
                <a:cs typeface="Calibri"/>
              </a:rPr>
              <a:t>overall</a:t>
            </a:r>
            <a:r>
              <a:rPr sz="2250" spc="-95" dirty="0">
                <a:latin typeface="Calibri"/>
                <a:cs typeface="Calibri"/>
              </a:rPr>
              <a:t> </a:t>
            </a:r>
            <a:r>
              <a:rPr sz="2250" spc="-10" dirty="0">
                <a:latin typeface="Calibri"/>
                <a:cs typeface="Calibri"/>
              </a:rPr>
              <a:t>objective</a:t>
            </a:r>
            <a:endParaRPr sz="2250">
              <a:latin typeface="Calibri"/>
              <a:cs typeface="Calibri"/>
            </a:endParaRPr>
          </a:p>
          <a:p>
            <a:pPr marL="174625">
              <a:lnSpc>
                <a:spcPts val="2245"/>
              </a:lnSpc>
            </a:pPr>
            <a:r>
              <a:rPr sz="2100" dirty="0">
                <a:latin typeface="Calibri"/>
                <a:cs typeface="Calibri"/>
              </a:rPr>
              <a:t>for</a:t>
            </a:r>
            <a:r>
              <a:rPr sz="2100" spc="5" dirty="0">
                <a:latin typeface="Calibri"/>
                <a:cs typeface="Calibri"/>
              </a:rPr>
              <a:t> </a:t>
            </a:r>
            <a:r>
              <a:rPr sz="2100" dirty="0">
                <a:latin typeface="Calibri"/>
                <a:cs typeface="Calibri"/>
              </a:rPr>
              <a:t>the </a:t>
            </a:r>
            <a:r>
              <a:rPr sz="2100" spc="-10" dirty="0">
                <a:latin typeface="Calibri"/>
                <a:cs typeface="Calibri"/>
              </a:rPr>
              <a:t>system/product?</a:t>
            </a:r>
            <a:endParaRPr sz="2100">
              <a:latin typeface="Calibri"/>
              <a:cs typeface="Calibri"/>
            </a:endParaRPr>
          </a:p>
          <a:p>
            <a:pPr marL="180975" indent="-167005">
              <a:lnSpc>
                <a:spcPts val="2260"/>
              </a:lnSpc>
              <a:spcBef>
                <a:spcPts val="180"/>
              </a:spcBef>
              <a:buChar char="•"/>
              <a:tabLst>
                <a:tab pos="180975" algn="l"/>
              </a:tabLst>
            </a:pPr>
            <a:r>
              <a:rPr sz="2100" dirty="0">
                <a:latin typeface="Calibri"/>
                <a:cs typeface="Calibri"/>
              </a:rPr>
              <a:t>Have</a:t>
            </a:r>
            <a:r>
              <a:rPr sz="2100" spc="45" dirty="0">
                <a:latin typeface="Calibri"/>
                <a:cs typeface="Calibri"/>
              </a:rPr>
              <a:t> </a:t>
            </a:r>
            <a:r>
              <a:rPr sz="2100" dirty="0">
                <a:latin typeface="Calibri"/>
                <a:cs typeface="Calibri"/>
              </a:rPr>
              <a:t>all</a:t>
            </a:r>
            <a:r>
              <a:rPr sz="2100" spc="5" dirty="0">
                <a:latin typeface="Calibri"/>
                <a:cs typeface="Calibri"/>
              </a:rPr>
              <a:t> </a:t>
            </a:r>
            <a:r>
              <a:rPr sz="2100" dirty="0">
                <a:latin typeface="Calibri"/>
                <a:cs typeface="Calibri"/>
              </a:rPr>
              <a:t>requirements</a:t>
            </a:r>
            <a:r>
              <a:rPr sz="2100" spc="90" dirty="0">
                <a:latin typeface="Calibri"/>
                <a:cs typeface="Calibri"/>
              </a:rPr>
              <a:t> </a:t>
            </a:r>
            <a:r>
              <a:rPr sz="2100" dirty="0">
                <a:latin typeface="Calibri"/>
                <a:cs typeface="Calibri"/>
              </a:rPr>
              <a:t>been</a:t>
            </a:r>
            <a:r>
              <a:rPr sz="2100" spc="10" dirty="0">
                <a:latin typeface="Calibri"/>
                <a:cs typeface="Calibri"/>
              </a:rPr>
              <a:t> </a:t>
            </a:r>
            <a:r>
              <a:rPr sz="2100" dirty="0">
                <a:latin typeface="Calibri"/>
                <a:cs typeface="Calibri"/>
              </a:rPr>
              <a:t>specified</a:t>
            </a:r>
            <a:r>
              <a:rPr sz="2100" spc="60" dirty="0">
                <a:latin typeface="Calibri"/>
                <a:cs typeface="Calibri"/>
              </a:rPr>
              <a:t> </a:t>
            </a:r>
            <a:r>
              <a:rPr sz="2100" dirty="0">
                <a:latin typeface="Calibri"/>
                <a:cs typeface="Calibri"/>
              </a:rPr>
              <a:t>at</a:t>
            </a:r>
            <a:r>
              <a:rPr sz="2100" spc="10" dirty="0">
                <a:latin typeface="Calibri"/>
                <a:cs typeface="Calibri"/>
              </a:rPr>
              <a:t> </a:t>
            </a:r>
            <a:r>
              <a:rPr sz="2100" dirty="0">
                <a:latin typeface="Calibri"/>
                <a:cs typeface="Calibri"/>
              </a:rPr>
              <a:t>the</a:t>
            </a:r>
            <a:r>
              <a:rPr sz="2100" spc="-25" dirty="0">
                <a:latin typeface="Calibri"/>
                <a:cs typeface="Calibri"/>
              </a:rPr>
              <a:t> </a:t>
            </a:r>
            <a:r>
              <a:rPr sz="2100" dirty="0">
                <a:latin typeface="Calibri"/>
                <a:cs typeface="Calibri"/>
              </a:rPr>
              <a:t>proper</a:t>
            </a:r>
            <a:r>
              <a:rPr sz="2100" spc="-15" dirty="0">
                <a:latin typeface="Calibri"/>
                <a:cs typeface="Calibri"/>
              </a:rPr>
              <a:t> </a:t>
            </a:r>
            <a:r>
              <a:rPr sz="2100" spc="-10" dirty="0">
                <a:latin typeface="Calibri"/>
                <a:cs typeface="Calibri"/>
              </a:rPr>
              <a:t>level?</a:t>
            </a:r>
            <a:endParaRPr sz="2100">
              <a:latin typeface="Calibri"/>
              <a:cs typeface="Calibri"/>
            </a:endParaRPr>
          </a:p>
          <a:p>
            <a:pPr marL="177165">
              <a:lnSpc>
                <a:spcPts val="1950"/>
              </a:lnSpc>
            </a:pPr>
            <a:r>
              <a:rPr sz="2100" dirty="0">
                <a:latin typeface="Calibri"/>
                <a:cs typeface="Calibri"/>
              </a:rPr>
              <a:t>That</a:t>
            </a:r>
            <a:r>
              <a:rPr sz="2100" spc="30" dirty="0">
                <a:latin typeface="Calibri"/>
                <a:cs typeface="Calibri"/>
              </a:rPr>
              <a:t> </a:t>
            </a:r>
            <a:r>
              <a:rPr sz="2100" dirty="0">
                <a:latin typeface="Calibri"/>
                <a:cs typeface="Calibri"/>
              </a:rPr>
              <a:t>is,</a:t>
            </a:r>
            <a:r>
              <a:rPr sz="2100" spc="-50" dirty="0">
                <a:latin typeface="Calibri"/>
                <a:cs typeface="Calibri"/>
              </a:rPr>
              <a:t> </a:t>
            </a:r>
            <a:r>
              <a:rPr sz="2100" dirty="0">
                <a:latin typeface="Calibri"/>
                <a:cs typeface="Calibri"/>
              </a:rPr>
              <a:t>do</a:t>
            </a:r>
            <a:r>
              <a:rPr sz="2100" spc="35" dirty="0">
                <a:latin typeface="Calibri"/>
                <a:cs typeface="Calibri"/>
              </a:rPr>
              <a:t> </a:t>
            </a:r>
            <a:r>
              <a:rPr sz="2100" dirty="0">
                <a:latin typeface="Calibri"/>
                <a:cs typeface="Calibri"/>
              </a:rPr>
              <a:t>some</a:t>
            </a:r>
            <a:r>
              <a:rPr sz="2100" spc="-10" dirty="0">
                <a:latin typeface="Calibri"/>
                <a:cs typeface="Calibri"/>
              </a:rPr>
              <a:t> </a:t>
            </a:r>
            <a:r>
              <a:rPr sz="2100" dirty="0">
                <a:latin typeface="Calibri"/>
                <a:cs typeface="Calibri"/>
              </a:rPr>
              <a:t>requirements</a:t>
            </a:r>
            <a:r>
              <a:rPr sz="2100" spc="170" dirty="0">
                <a:latin typeface="Calibri"/>
                <a:cs typeface="Calibri"/>
              </a:rPr>
              <a:t> </a:t>
            </a:r>
            <a:r>
              <a:rPr sz="2100" dirty="0">
                <a:latin typeface="Calibri"/>
                <a:cs typeface="Calibri"/>
              </a:rPr>
              <a:t>provide</a:t>
            </a:r>
            <a:r>
              <a:rPr sz="2100" spc="80" dirty="0">
                <a:latin typeface="Calibri"/>
                <a:cs typeface="Calibri"/>
              </a:rPr>
              <a:t> </a:t>
            </a:r>
            <a:r>
              <a:rPr sz="2100" dirty="0">
                <a:latin typeface="Calibri"/>
                <a:cs typeface="Calibri"/>
              </a:rPr>
              <a:t>a</a:t>
            </a:r>
            <a:r>
              <a:rPr sz="2100" spc="-120" dirty="0">
                <a:latin typeface="Calibri"/>
                <a:cs typeface="Calibri"/>
              </a:rPr>
              <a:t> </a:t>
            </a:r>
            <a:r>
              <a:rPr sz="2100" dirty="0">
                <a:latin typeface="Calibri"/>
                <a:cs typeface="Calibri"/>
              </a:rPr>
              <a:t>level</a:t>
            </a:r>
            <a:r>
              <a:rPr sz="2100" spc="-10" dirty="0">
                <a:latin typeface="Calibri"/>
                <a:cs typeface="Calibri"/>
              </a:rPr>
              <a:t> </a:t>
            </a:r>
            <a:r>
              <a:rPr sz="2100" dirty="0">
                <a:latin typeface="Calibri"/>
                <a:cs typeface="Calibri"/>
              </a:rPr>
              <a:t>of</a:t>
            </a:r>
            <a:r>
              <a:rPr sz="2100" spc="-20" dirty="0">
                <a:latin typeface="Calibri"/>
                <a:cs typeface="Calibri"/>
              </a:rPr>
              <a:t> </a:t>
            </a:r>
            <a:r>
              <a:rPr sz="2100" spc="-10" dirty="0">
                <a:latin typeface="Calibri"/>
                <a:cs typeface="Calibri"/>
              </a:rPr>
              <a:t>technical</a:t>
            </a:r>
            <a:endParaRPr sz="2100">
              <a:latin typeface="Calibri"/>
              <a:cs typeface="Calibri"/>
            </a:endParaRPr>
          </a:p>
          <a:p>
            <a:pPr marL="178435">
              <a:lnSpc>
                <a:spcPts val="2450"/>
              </a:lnSpc>
            </a:pPr>
            <a:r>
              <a:rPr sz="2300" spc="-75" dirty="0">
                <a:latin typeface="Calibri"/>
                <a:cs typeface="Calibri"/>
              </a:rPr>
              <a:t>detail</a:t>
            </a:r>
            <a:r>
              <a:rPr sz="2300" spc="-60" dirty="0">
                <a:latin typeface="Calibri"/>
                <a:cs typeface="Calibri"/>
              </a:rPr>
              <a:t> that</a:t>
            </a:r>
            <a:r>
              <a:rPr sz="2300" spc="-70" dirty="0">
                <a:latin typeface="Calibri"/>
                <a:cs typeface="Calibri"/>
              </a:rPr>
              <a:t> </a:t>
            </a:r>
            <a:r>
              <a:rPr sz="2300" spc="-30" dirty="0">
                <a:latin typeface="Calibri"/>
                <a:cs typeface="Calibri"/>
              </a:rPr>
              <a:t>is</a:t>
            </a:r>
            <a:r>
              <a:rPr sz="2300" spc="-100" dirty="0">
                <a:latin typeface="Calibri"/>
                <a:cs typeface="Calibri"/>
              </a:rPr>
              <a:t> </a:t>
            </a:r>
            <a:r>
              <a:rPr sz="2300" spc="-90" dirty="0">
                <a:latin typeface="Calibri"/>
                <a:cs typeface="Calibri"/>
              </a:rPr>
              <a:t>inappropriate</a:t>
            </a:r>
            <a:r>
              <a:rPr sz="2300" spc="85" dirty="0">
                <a:latin typeface="Calibri"/>
                <a:cs typeface="Calibri"/>
              </a:rPr>
              <a:t> </a:t>
            </a:r>
            <a:r>
              <a:rPr sz="2300" spc="-110" dirty="0">
                <a:latin typeface="Calibri"/>
                <a:cs typeface="Calibri"/>
              </a:rPr>
              <a:t>at</a:t>
            </a:r>
            <a:r>
              <a:rPr sz="2300" spc="-20" dirty="0">
                <a:latin typeface="Calibri"/>
                <a:cs typeface="Calibri"/>
              </a:rPr>
              <a:t> </a:t>
            </a:r>
            <a:r>
              <a:rPr sz="2300" spc="-60" dirty="0">
                <a:latin typeface="Calibri"/>
                <a:cs typeface="Calibri"/>
              </a:rPr>
              <a:t>this</a:t>
            </a:r>
            <a:r>
              <a:rPr sz="2300" spc="-15" dirty="0">
                <a:latin typeface="Calibri"/>
                <a:cs typeface="Calibri"/>
              </a:rPr>
              <a:t> </a:t>
            </a:r>
            <a:r>
              <a:rPr sz="2300" spc="-10" dirty="0">
                <a:latin typeface="Calibri"/>
                <a:cs typeface="Calibri"/>
              </a:rPr>
              <a:t>stage?</a:t>
            </a:r>
            <a:endParaRPr sz="2300">
              <a:latin typeface="Calibri"/>
              <a:cs typeface="Calibri"/>
            </a:endParaRPr>
          </a:p>
          <a:p>
            <a:pPr marL="26034">
              <a:lnSpc>
                <a:spcPct val="100000"/>
              </a:lnSpc>
              <a:spcBef>
                <a:spcPts val="140"/>
              </a:spcBef>
            </a:pPr>
            <a:r>
              <a:rPr sz="2100" dirty="0">
                <a:latin typeface="Calibri"/>
                <a:cs typeface="Calibri"/>
              </a:rPr>
              <a:t>°</a:t>
            </a:r>
            <a:r>
              <a:rPr sz="2100" spc="30" dirty="0">
                <a:latin typeface="Calibri"/>
                <a:cs typeface="Calibri"/>
              </a:rPr>
              <a:t> </a:t>
            </a:r>
            <a:r>
              <a:rPr sz="2100" dirty="0">
                <a:latin typeface="Calibri"/>
                <a:cs typeface="Calibri"/>
              </a:rPr>
              <a:t>Is</a:t>
            </a:r>
            <a:r>
              <a:rPr sz="2100" spc="-85" dirty="0">
                <a:latin typeface="Calibri"/>
                <a:cs typeface="Calibri"/>
              </a:rPr>
              <a:t> </a:t>
            </a:r>
            <a:r>
              <a:rPr sz="2100" dirty="0">
                <a:latin typeface="Calibri"/>
                <a:cs typeface="Calibri"/>
              </a:rPr>
              <a:t>each</a:t>
            </a:r>
            <a:r>
              <a:rPr sz="2100" spc="20" dirty="0">
                <a:latin typeface="Calibri"/>
                <a:cs typeface="Calibri"/>
              </a:rPr>
              <a:t> </a:t>
            </a:r>
            <a:r>
              <a:rPr sz="2100" dirty="0">
                <a:latin typeface="Calibri"/>
                <a:cs typeface="Calibri"/>
              </a:rPr>
              <a:t>requirement</a:t>
            </a:r>
            <a:r>
              <a:rPr sz="2100" spc="110" dirty="0">
                <a:latin typeface="Calibri"/>
                <a:cs typeface="Calibri"/>
              </a:rPr>
              <a:t> </a:t>
            </a:r>
            <a:r>
              <a:rPr sz="2100" spc="-10" dirty="0">
                <a:latin typeface="Calibri"/>
                <a:cs typeface="Calibri"/>
              </a:rPr>
              <a:t>unambiguous?</a:t>
            </a:r>
            <a:endParaRPr sz="2100">
              <a:latin typeface="Calibri"/>
              <a:cs typeface="Calibri"/>
            </a:endParaRPr>
          </a:p>
          <a:p>
            <a:pPr marL="181610" marR="438784" indent="-167005">
              <a:lnSpc>
                <a:spcPct val="81300"/>
              </a:lnSpc>
              <a:spcBef>
                <a:spcPts val="655"/>
              </a:spcBef>
              <a:buChar char="•"/>
              <a:tabLst>
                <a:tab pos="181610" algn="l"/>
              </a:tabLst>
            </a:pPr>
            <a:r>
              <a:rPr sz="2100" dirty="0">
                <a:latin typeface="Calibri"/>
                <a:cs typeface="Calibri"/>
              </a:rPr>
              <a:t>Does</a:t>
            </a:r>
            <a:r>
              <a:rPr sz="2100" spc="-40" dirty="0">
                <a:latin typeface="Calibri"/>
                <a:cs typeface="Calibri"/>
              </a:rPr>
              <a:t> </a:t>
            </a:r>
            <a:r>
              <a:rPr sz="2100" dirty="0">
                <a:latin typeface="Calibri"/>
                <a:cs typeface="Calibri"/>
              </a:rPr>
              <a:t>each</a:t>
            </a:r>
            <a:r>
              <a:rPr sz="2100" spc="-50" dirty="0">
                <a:latin typeface="Calibri"/>
                <a:cs typeface="Calibri"/>
              </a:rPr>
              <a:t> </a:t>
            </a:r>
            <a:r>
              <a:rPr sz="2100" dirty="0">
                <a:latin typeface="Calibri"/>
                <a:cs typeface="Calibri"/>
              </a:rPr>
              <a:t>requirement</a:t>
            </a:r>
            <a:r>
              <a:rPr sz="2100" spc="145" dirty="0">
                <a:latin typeface="Calibri"/>
                <a:cs typeface="Calibri"/>
              </a:rPr>
              <a:t> </a:t>
            </a:r>
            <a:r>
              <a:rPr sz="2100" dirty="0">
                <a:latin typeface="Calibri"/>
                <a:cs typeface="Calibri"/>
              </a:rPr>
              <a:t>have</a:t>
            </a:r>
            <a:r>
              <a:rPr sz="2100" spc="45" dirty="0">
                <a:latin typeface="Calibri"/>
                <a:cs typeface="Calibri"/>
              </a:rPr>
              <a:t> </a:t>
            </a:r>
            <a:r>
              <a:rPr sz="2100" spc="-10" dirty="0">
                <a:latin typeface="Calibri"/>
                <a:cs typeface="Calibri"/>
              </a:rPr>
              <a:t>attribution?</a:t>
            </a:r>
            <a:r>
              <a:rPr sz="2100" spc="180" dirty="0">
                <a:latin typeface="Calibri"/>
                <a:cs typeface="Calibri"/>
              </a:rPr>
              <a:t> </a:t>
            </a:r>
            <a:r>
              <a:rPr sz="2100" dirty="0">
                <a:latin typeface="Calibri"/>
                <a:cs typeface="Calibri"/>
              </a:rPr>
              <a:t>That</a:t>
            </a:r>
            <a:r>
              <a:rPr sz="2100" spc="30" dirty="0">
                <a:latin typeface="Calibri"/>
                <a:cs typeface="Calibri"/>
              </a:rPr>
              <a:t> </a:t>
            </a:r>
            <a:r>
              <a:rPr sz="2100" dirty="0">
                <a:latin typeface="Calibri"/>
                <a:cs typeface="Calibri"/>
              </a:rPr>
              <a:t>is,</a:t>
            </a:r>
            <a:r>
              <a:rPr sz="2100" spc="-75" dirty="0">
                <a:latin typeface="Calibri"/>
                <a:cs typeface="Calibri"/>
              </a:rPr>
              <a:t> </a:t>
            </a:r>
            <a:r>
              <a:rPr sz="2100" dirty="0">
                <a:latin typeface="Calibri"/>
                <a:cs typeface="Calibri"/>
              </a:rPr>
              <a:t>is</a:t>
            </a:r>
            <a:r>
              <a:rPr sz="2100" spc="10" dirty="0">
                <a:latin typeface="Calibri"/>
                <a:cs typeface="Calibri"/>
              </a:rPr>
              <a:t> </a:t>
            </a:r>
            <a:r>
              <a:rPr sz="2100" spc="-50" dirty="0">
                <a:latin typeface="Calibri"/>
                <a:cs typeface="Calibri"/>
              </a:rPr>
              <a:t>a </a:t>
            </a:r>
            <a:r>
              <a:rPr sz="2100" dirty="0">
                <a:latin typeface="Calibri"/>
                <a:cs typeface="Calibri"/>
              </a:rPr>
              <a:t>source</a:t>
            </a:r>
            <a:r>
              <a:rPr sz="2100" spc="30" dirty="0">
                <a:latin typeface="Calibri"/>
                <a:cs typeface="Calibri"/>
              </a:rPr>
              <a:t> </a:t>
            </a:r>
            <a:r>
              <a:rPr sz="2100" dirty="0">
                <a:latin typeface="Calibri"/>
                <a:cs typeface="Calibri"/>
              </a:rPr>
              <a:t>(generally,</a:t>
            </a:r>
            <a:r>
              <a:rPr sz="2100" spc="130" dirty="0">
                <a:latin typeface="Calibri"/>
                <a:cs typeface="Calibri"/>
              </a:rPr>
              <a:t> </a:t>
            </a:r>
            <a:r>
              <a:rPr sz="2100" dirty="0">
                <a:latin typeface="Calibri"/>
                <a:cs typeface="Calibri"/>
              </a:rPr>
              <a:t>a</a:t>
            </a:r>
            <a:r>
              <a:rPr sz="2100" spc="-35" dirty="0">
                <a:latin typeface="Calibri"/>
                <a:cs typeface="Calibri"/>
              </a:rPr>
              <a:t> </a:t>
            </a:r>
            <a:r>
              <a:rPr sz="2100" dirty="0">
                <a:latin typeface="Calibri"/>
                <a:cs typeface="Calibri"/>
              </a:rPr>
              <a:t>specific</a:t>
            </a:r>
            <a:r>
              <a:rPr sz="2100" spc="80" dirty="0">
                <a:latin typeface="Calibri"/>
                <a:cs typeface="Calibri"/>
              </a:rPr>
              <a:t> </a:t>
            </a:r>
            <a:r>
              <a:rPr sz="2100" dirty="0">
                <a:latin typeface="Calibri"/>
                <a:cs typeface="Calibri"/>
              </a:rPr>
              <a:t>individual)</a:t>
            </a:r>
            <a:r>
              <a:rPr sz="2100" spc="45" dirty="0">
                <a:latin typeface="Calibri"/>
                <a:cs typeface="Calibri"/>
              </a:rPr>
              <a:t> </a:t>
            </a:r>
            <a:r>
              <a:rPr sz="2100" dirty="0">
                <a:latin typeface="Calibri"/>
                <a:cs typeface="Calibri"/>
              </a:rPr>
              <a:t>noted</a:t>
            </a:r>
            <a:r>
              <a:rPr sz="2100" spc="-55" dirty="0">
                <a:latin typeface="Calibri"/>
                <a:cs typeface="Calibri"/>
              </a:rPr>
              <a:t> </a:t>
            </a:r>
            <a:r>
              <a:rPr sz="2100" dirty="0">
                <a:latin typeface="Calibri"/>
                <a:cs typeface="Calibri"/>
              </a:rPr>
              <a:t>for</a:t>
            </a:r>
            <a:r>
              <a:rPr sz="2100" spc="-15" dirty="0">
                <a:latin typeface="Calibri"/>
                <a:cs typeface="Calibri"/>
              </a:rPr>
              <a:t> </a:t>
            </a:r>
            <a:r>
              <a:rPr sz="2100" spc="-20" dirty="0">
                <a:latin typeface="Calibri"/>
                <a:cs typeface="Calibri"/>
              </a:rPr>
              <a:t>each </a:t>
            </a:r>
            <a:r>
              <a:rPr sz="2100" spc="-10" dirty="0">
                <a:latin typeface="Calibri"/>
                <a:cs typeface="Calibri"/>
              </a:rPr>
              <a:t>requirement?</a:t>
            </a:r>
            <a:endParaRPr sz="2100">
              <a:latin typeface="Calibri"/>
              <a:cs typeface="Calibri"/>
            </a:endParaRPr>
          </a:p>
        </p:txBody>
      </p:sp>
      <p:sp>
        <p:nvSpPr>
          <p:cNvPr id="5" name="object 5"/>
          <p:cNvSpPr txBox="1"/>
          <p:nvPr/>
        </p:nvSpPr>
        <p:spPr>
          <a:xfrm>
            <a:off x="3103904" y="5574241"/>
            <a:ext cx="1657985" cy="247650"/>
          </a:xfrm>
          <a:prstGeom prst="rect">
            <a:avLst/>
          </a:prstGeom>
        </p:spPr>
        <p:txBody>
          <a:bodyPr vert="horz" wrap="square" lIns="0" tIns="13335" rIns="0" bIns="0" rtlCol="0">
            <a:spAutoFit/>
          </a:bodyPr>
          <a:lstStyle/>
          <a:p>
            <a:pPr marL="12700">
              <a:lnSpc>
                <a:spcPct val="100000"/>
              </a:lnSpc>
              <a:spcBef>
                <a:spcPts val="105"/>
              </a:spcBef>
            </a:pPr>
            <a:r>
              <a:rPr sz="1450" spc="-140" dirty="0">
                <a:solidFill>
                  <a:srgbClr val="151515"/>
                </a:solidFill>
                <a:latin typeface="Times New Roman"/>
                <a:cs typeface="Times New Roman"/>
              </a:rPr>
              <a:t>(</a:t>
            </a:r>
            <a:r>
              <a:rPr sz="1450" spc="-105" dirty="0">
                <a:solidFill>
                  <a:srgbClr val="151515"/>
                </a:solidFill>
                <a:latin typeface="Times New Roman"/>
                <a:cs typeface="Times New Roman"/>
              </a:rPr>
              <a:t> </a:t>
            </a:r>
            <a:r>
              <a:rPr sz="1450" dirty="0">
                <a:latin typeface="Times New Roman"/>
                <a:cs typeface="Times New Roman"/>
              </a:rPr>
              <a:t>irioru</a:t>
            </a:r>
            <a:r>
              <a:rPr sz="1450" spc="114" dirty="0">
                <a:latin typeface="Times New Roman"/>
                <a:cs typeface="Times New Roman"/>
              </a:rPr>
              <a:t> </a:t>
            </a:r>
            <a:r>
              <a:rPr sz="1450" dirty="0">
                <a:solidFill>
                  <a:srgbClr val="161616"/>
                </a:solidFill>
                <a:latin typeface="Times New Roman"/>
                <a:cs typeface="Times New Roman"/>
              </a:rPr>
              <a:t>tin</a:t>
            </a:r>
            <a:r>
              <a:rPr sz="1450" spc="100" dirty="0">
                <a:solidFill>
                  <a:srgbClr val="161616"/>
                </a:solidFill>
                <a:latin typeface="Times New Roman"/>
                <a:cs typeface="Times New Roman"/>
              </a:rPr>
              <a:t> </a:t>
            </a:r>
            <a:r>
              <a:rPr sz="1450" dirty="0">
                <a:solidFill>
                  <a:srgbClr val="111111"/>
                </a:solidFill>
                <a:latin typeface="Times New Roman"/>
                <a:cs typeface="Times New Roman"/>
              </a:rPr>
              <a:t>next</a:t>
            </a:r>
            <a:r>
              <a:rPr sz="1450" spc="165" dirty="0">
                <a:solidFill>
                  <a:srgbClr val="111111"/>
                </a:solidFill>
                <a:latin typeface="Times New Roman"/>
                <a:cs typeface="Times New Roman"/>
              </a:rPr>
              <a:t> </a:t>
            </a:r>
            <a:r>
              <a:rPr sz="1450" spc="-10" dirty="0">
                <a:solidFill>
                  <a:srgbClr val="1C1C1C"/>
                </a:solidFill>
                <a:latin typeface="Times New Roman"/>
                <a:cs typeface="Times New Roman"/>
              </a:rPr>
              <a:t>s</a:t>
            </a:r>
            <a:r>
              <a:rPr sz="1450" spc="-10" dirty="0">
                <a:latin typeface="Times New Roman"/>
                <a:cs typeface="Times New Roman"/>
              </a:rPr>
              <a:t>fide)</a:t>
            </a:r>
            <a:endParaRPr sz="1450">
              <a:latin typeface="Times New Roman"/>
              <a:cs typeface="Times New Roman"/>
            </a:endParaRPr>
          </a:p>
        </p:txBody>
      </p:sp>
      <p:pic>
        <p:nvPicPr>
          <p:cNvPr id="6" name="Picture 2" descr="Profile for SRM Institute of Science and Technology">
            <a:extLst>
              <a:ext uri="{FF2B5EF4-FFF2-40B4-BE49-F238E27FC236}">
                <a16:creationId xmlns:a16="http://schemas.microsoft.com/office/drawing/2014/main" id="{D5D15158-7B76-F827-5AFE-6DCB2CB5A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4858" y="159937"/>
            <a:ext cx="6663042" cy="1144929"/>
          </a:xfrm>
          <a:prstGeom prst="rect">
            <a:avLst/>
          </a:prstGeom>
        </p:spPr>
        <p:txBody>
          <a:bodyPr vert="horz" wrap="square" lIns="0" tIns="45085" rIns="0" bIns="0" rtlCol="0">
            <a:spAutoFit/>
          </a:bodyPr>
          <a:lstStyle/>
          <a:p>
            <a:pPr marL="12700" marR="5080" indent="1905">
              <a:lnSpc>
                <a:spcPct val="94200"/>
              </a:lnSpc>
              <a:spcBef>
                <a:spcPts val="355"/>
              </a:spcBef>
            </a:pPr>
            <a:r>
              <a:rPr lang="en-US" sz="3750" dirty="0">
                <a:latin typeface="Arial MT"/>
                <a:cs typeface="Arial MT"/>
              </a:rPr>
              <a:t>Q</a:t>
            </a:r>
            <a:r>
              <a:rPr sz="3750" dirty="0">
                <a:latin typeface="Arial MT"/>
                <a:cs typeface="Arial MT"/>
              </a:rPr>
              <a:t>uestions</a:t>
            </a:r>
            <a:r>
              <a:rPr sz="3750" spc="195" dirty="0">
                <a:latin typeface="Arial MT"/>
                <a:cs typeface="Arial MT"/>
              </a:rPr>
              <a:t> </a:t>
            </a:r>
            <a:r>
              <a:rPr lang="en-US" sz="3750" spc="195" dirty="0">
                <a:latin typeface="Arial MT"/>
                <a:cs typeface="Arial MT"/>
              </a:rPr>
              <a:t>-</a:t>
            </a:r>
            <a:r>
              <a:rPr sz="3750" spc="-20" dirty="0">
                <a:latin typeface="Arial MT"/>
                <a:cs typeface="Arial MT"/>
              </a:rPr>
              <a:t> </a:t>
            </a:r>
            <a:r>
              <a:rPr sz="3800" dirty="0">
                <a:latin typeface="Arial MT"/>
                <a:cs typeface="Arial MT"/>
              </a:rPr>
              <a:t>Validating</a:t>
            </a:r>
            <a:r>
              <a:rPr sz="3800" spc="-200" dirty="0">
                <a:latin typeface="Arial MT"/>
                <a:cs typeface="Arial MT"/>
              </a:rPr>
              <a:t> </a:t>
            </a:r>
            <a:r>
              <a:rPr sz="3800" spc="-10" dirty="0">
                <a:latin typeface="Arial MT"/>
                <a:cs typeface="Arial MT"/>
              </a:rPr>
              <a:t>Requirements </a:t>
            </a:r>
            <a:r>
              <a:rPr lang="en-US" sz="3800" spc="-10" dirty="0">
                <a:latin typeface="Arial MT"/>
                <a:cs typeface="Arial MT"/>
              </a:rPr>
              <a:t>	</a:t>
            </a:r>
            <a:endParaRPr sz="4350" dirty="0">
              <a:latin typeface="Arial MT"/>
              <a:cs typeface="Arial MT"/>
            </a:endParaRPr>
          </a:p>
        </p:txBody>
      </p:sp>
      <p:sp>
        <p:nvSpPr>
          <p:cNvPr id="3" name="object 3"/>
          <p:cNvSpPr txBox="1"/>
          <p:nvPr/>
        </p:nvSpPr>
        <p:spPr>
          <a:xfrm>
            <a:off x="609402" y="1557690"/>
            <a:ext cx="6815455" cy="3289935"/>
          </a:xfrm>
          <a:prstGeom prst="rect">
            <a:avLst/>
          </a:prstGeom>
        </p:spPr>
        <p:txBody>
          <a:bodyPr vert="horz" wrap="square" lIns="0" tIns="17145" rIns="0" bIns="0" rtlCol="0">
            <a:spAutoFit/>
          </a:bodyPr>
          <a:lstStyle/>
          <a:p>
            <a:pPr marL="179705" indent="-157480">
              <a:lnSpc>
                <a:spcPts val="2675"/>
              </a:lnSpc>
              <a:spcBef>
                <a:spcPts val="135"/>
              </a:spcBef>
              <a:buChar char="•"/>
              <a:tabLst>
                <a:tab pos="179705" algn="l"/>
              </a:tabLst>
            </a:pPr>
            <a:r>
              <a:rPr sz="2250" spc="-265" dirty="0">
                <a:latin typeface="Arial MT"/>
                <a:cs typeface="Arial MT"/>
              </a:rPr>
              <a:t>Do</a:t>
            </a:r>
            <a:r>
              <a:rPr sz="2250" spc="-100" dirty="0">
                <a:latin typeface="Arial MT"/>
                <a:cs typeface="Arial MT"/>
              </a:rPr>
              <a:t> </a:t>
            </a:r>
            <a:r>
              <a:rPr sz="2250" spc="-215" dirty="0">
                <a:latin typeface="Arial MT"/>
                <a:cs typeface="Arial MT"/>
              </a:rPr>
              <a:t>any</a:t>
            </a:r>
            <a:r>
              <a:rPr sz="2250" spc="-114" dirty="0">
                <a:latin typeface="Arial MT"/>
                <a:cs typeface="Arial MT"/>
              </a:rPr>
              <a:t> </a:t>
            </a:r>
            <a:r>
              <a:rPr sz="2250" spc="-135" dirty="0">
                <a:latin typeface="Arial MT"/>
                <a:cs typeface="Arial MT"/>
              </a:rPr>
              <a:t>requirements</a:t>
            </a:r>
            <a:r>
              <a:rPr sz="2250" spc="-20" dirty="0">
                <a:latin typeface="Arial MT"/>
                <a:cs typeface="Arial MT"/>
              </a:rPr>
              <a:t> </a:t>
            </a:r>
            <a:r>
              <a:rPr sz="2250" spc="-95" dirty="0">
                <a:latin typeface="Arial MT"/>
                <a:cs typeface="Arial MT"/>
              </a:rPr>
              <a:t>conflict</a:t>
            </a:r>
            <a:r>
              <a:rPr sz="2250" spc="20" dirty="0">
                <a:latin typeface="Arial MT"/>
                <a:cs typeface="Arial MT"/>
              </a:rPr>
              <a:t> </a:t>
            </a:r>
            <a:r>
              <a:rPr sz="2250" spc="-60" dirty="0">
                <a:latin typeface="Arial MT"/>
                <a:cs typeface="Arial MT"/>
              </a:rPr>
              <a:t>with</a:t>
            </a:r>
            <a:r>
              <a:rPr sz="2250" spc="-100" dirty="0">
                <a:latin typeface="Arial MT"/>
                <a:cs typeface="Arial MT"/>
              </a:rPr>
              <a:t> other</a:t>
            </a:r>
            <a:r>
              <a:rPr sz="2250" spc="40" dirty="0">
                <a:latin typeface="Arial MT"/>
                <a:cs typeface="Arial MT"/>
              </a:rPr>
              <a:t> </a:t>
            </a:r>
            <a:r>
              <a:rPr sz="2250" spc="-80" dirty="0">
                <a:latin typeface="Arial MT"/>
                <a:cs typeface="Arial MT"/>
              </a:rPr>
              <a:t>requirements?</a:t>
            </a:r>
            <a:endParaRPr sz="2250" dirty="0">
              <a:latin typeface="Arial MT"/>
              <a:cs typeface="Arial MT"/>
            </a:endParaRPr>
          </a:p>
          <a:p>
            <a:pPr marL="174625" indent="-152400">
              <a:lnSpc>
                <a:spcPts val="2455"/>
              </a:lnSpc>
              <a:buChar char="•"/>
              <a:tabLst>
                <a:tab pos="174625" algn="l"/>
              </a:tabLst>
            </a:pPr>
            <a:r>
              <a:rPr sz="2300" spc="-254" dirty="0">
                <a:latin typeface="Arial MT"/>
                <a:cs typeface="Arial MT"/>
              </a:rPr>
              <a:t>Is</a:t>
            </a:r>
            <a:r>
              <a:rPr sz="2300" spc="-100" dirty="0">
                <a:latin typeface="Arial MT"/>
                <a:cs typeface="Arial MT"/>
              </a:rPr>
              <a:t> </a:t>
            </a:r>
            <a:r>
              <a:rPr sz="2300" spc="-254" dirty="0">
                <a:latin typeface="Arial MT"/>
                <a:cs typeface="Arial MT"/>
              </a:rPr>
              <a:t>each</a:t>
            </a:r>
            <a:r>
              <a:rPr sz="2300" spc="-5" dirty="0">
                <a:latin typeface="Arial MT"/>
                <a:cs typeface="Arial MT"/>
              </a:rPr>
              <a:t> </a:t>
            </a:r>
            <a:r>
              <a:rPr sz="2300" spc="-150" dirty="0">
                <a:latin typeface="Arial MT"/>
                <a:cs typeface="Arial MT"/>
              </a:rPr>
              <a:t>requirement</a:t>
            </a:r>
            <a:r>
              <a:rPr sz="2300" spc="60" dirty="0">
                <a:latin typeface="Arial MT"/>
                <a:cs typeface="Arial MT"/>
              </a:rPr>
              <a:t> </a:t>
            </a:r>
            <a:r>
              <a:rPr sz="2300" spc="-204" dirty="0">
                <a:latin typeface="Arial MT"/>
                <a:cs typeface="Arial MT"/>
              </a:rPr>
              <a:t>achievable</a:t>
            </a:r>
            <a:r>
              <a:rPr sz="2300" spc="45" dirty="0">
                <a:latin typeface="Arial MT"/>
                <a:cs typeface="Arial MT"/>
              </a:rPr>
              <a:t> </a:t>
            </a:r>
            <a:r>
              <a:rPr sz="2300" spc="-130" dirty="0">
                <a:latin typeface="Arial MT"/>
                <a:cs typeface="Arial MT"/>
              </a:rPr>
              <a:t>in</a:t>
            </a:r>
            <a:r>
              <a:rPr sz="2300" spc="-70" dirty="0">
                <a:latin typeface="Arial MT"/>
                <a:cs typeface="Arial MT"/>
              </a:rPr>
              <a:t> </a:t>
            </a:r>
            <a:r>
              <a:rPr sz="2300" spc="-160" dirty="0">
                <a:latin typeface="Arial MT"/>
                <a:cs typeface="Arial MT"/>
              </a:rPr>
              <a:t>the</a:t>
            </a:r>
            <a:r>
              <a:rPr sz="2300" spc="-100" dirty="0">
                <a:latin typeface="Arial MT"/>
                <a:cs typeface="Arial MT"/>
              </a:rPr>
              <a:t> </a:t>
            </a:r>
            <a:r>
              <a:rPr sz="2300" spc="-165" dirty="0">
                <a:latin typeface="Arial MT"/>
                <a:cs typeface="Arial MT"/>
              </a:rPr>
              <a:t>technical</a:t>
            </a:r>
            <a:r>
              <a:rPr sz="2300" spc="140" dirty="0">
                <a:latin typeface="Arial MT"/>
                <a:cs typeface="Arial MT"/>
              </a:rPr>
              <a:t> </a:t>
            </a:r>
            <a:r>
              <a:rPr sz="2300" spc="-135" dirty="0">
                <a:latin typeface="Arial MT"/>
                <a:cs typeface="Arial MT"/>
              </a:rPr>
              <a:t>environment</a:t>
            </a:r>
            <a:endParaRPr sz="2300" dirty="0">
              <a:latin typeface="Arial MT"/>
              <a:cs typeface="Arial MT"/>
            </a:endParaRPr>
          </a:p>
          <a:p>
            <a:pPr marL="185420">
              <a:lnSpc>
                <a:spcPts val="2240"/>
              </a:lnSpc>
            </a:pPr>
            <a:r>
              <a:rPr sz="2100" dirty="0">
                <a:latin typeface="Arial MT"/>
                <a:cs typeface="Arial MT"/>
              </a:rPr>
              <a:t>that</a:t>
            </a:r>
            <a:r>
              <a:rPr sz="2100" spc="-100" dirty="0">
                <a:latin typeface="Arial MT"/>
                <a:cs typeface="Arial MT"/>
              </a:rPr>
              <a:t> </a:t>
            </a:r>
            <a:r>
              <a:rPr sz="2100" dirty="0">
                <a:latin typeface="Arial MT"/>
                <a:cs typeface="Arial MT"/>
              </a:rPr>
              <a:t>will</a:t>
            </a:r>
            <a:r>
              <a:rPr sz="2100" spc="-110" dirty="0">
                <a:latin typeface="Arial MT"/>
                <a:cs typeface="Arial MT"/>
              </a:rPr>
              <a:t> </a:t>
            </a:r>
            <a:r>
              <a:rPr sz="2100" spc="-130" dirty="0">
                <a:latin typeface="Arial MT"/>
                <a:cs typeface="Arial MT"/>
              </a:rPr>
              <a:t>house</a:t>
            </a:r>
            <a:r>
              <a:rPr sz="2100" spc="-20" dirty="0">
                <a:latin typeface="Arial MT"/>
                <a:cs typeface="Arial MT"/>
              </a:rPr>
              <a:t> </a:t>
            </a:r>
            <a:r>
              <a:rPr sz="2100" spc="-10" dirty="0">
                <a:solidFill>
                  <a:srgbClr val="0E0E0E"/>
                </a:solidFill>
                <a:latin typeface="Arial MT"/>
                <a:cs typeface="Arial MT"/>
              </a:rPr>
              <a:t>the</a:t>
            </a:r>
            <a:r>
              <a:rPr sz="2100" spc="-75" dirty="0">
                <a:solidFill>
                  <a:srgbClr val="0E0E0E"/>
                </a:solidFill>
                <a:latin typeface="Arial MT"/>
                <a:cs typeface="Arial MT"/>
              </a:rPr>
              <a:t> </a:t>
            </a:r>
            <a:r>
              <a:rPr sz="2100" spc="-110" dirty="0">
                <a:latin typeface="Arial MT"/>
                <a:cs typeface="Arial MT"/>
              </a:rPr>
              <a:t>system</a:t>
            </a:r>
            <a:r>
              <a:rPr sz="2100" spc="-35" dirty="0">
                <a:latin typeface="Arial MT"/>
                <a:cs typeface="Arial MT"/>
              </a:rPr>
              <a:t> </a:t>
            </a:r>
            <a:r>
              <a:rPr sz="2100" dirty="0">
                <a:latin typeface="Arial MT"/>
                <a:cs typeface="Arial MT"/>
              </a:rPr>
              <a:t>or</a:t>
            </a:r>
            <a:r>
              <a:rPr sz="2100" spc="-70" dirty="0">
                <a:latin typeface="Arial MT"/>
                <a:cs typeface="Arial MT"/>
              </a:rPr>
              <a:t> </a:t>
            </a:r>
            <a:r>
              <a:rPr sz="2100" spc="-10" dirty="0">
                <a:latin typeface="Arial MT"/>
                <a:cs typeface="Arial MT"/>
              </a:rPr>
              <a:t>prDduct?</a:t>
            </a:r>
            <a:endParaRPr sz="2100" dirty="0">
              <a:latin typeface="Arial MT"/>
              <a:cs typeface="Arial MT"/>
            </a:endParaRPr>
          </a:p>
          <a:p>
            <a:pPr marL="177165" indent="-153670">
              <a:lnSpc>
                <a:spcPts val="2435"/>
              </a:lnSpc>
              <a:spcBef>
                <a:spcPts val="180"/>
              </a:spcBef>
              <a:buChar char="•"/>
              <a:tabLst>
                <a:tab pos="177165" algn="l"/>
              </a:tabLst>
            </a:pPr>
            <a:r>
              <a:rPr sz="2100" spc="-180" dirty="0">
                <a:latin typeface="Arial MT"/>
                <a:cs typeface="Arial MT"/>
              </a:rPr>
              <a:t>Is</a:t>
            </a:r>
            <a:r>
              <a:rPr sz="2100" spc="-60" dirty="0">
                <a:latin typeface="Arial MT"/>
                <a:cs typeface="Arial MT"/>
              </a:rPr>
              <a:t> </a:t>
            </a:r>
            <a:r>
              <a:rPr sz="2100" spc="-140" dirty="0">
                <a:latin typeface="Arial MT"/>
                <a:cs typeface="Arial MT"/>
              </a:rPr>
              <a:t>each</a:t>
            </a:r>
            <a:r>
              <a:rPr sz="2100" spc="-10" dirty="0">
                <a:latin typeface="Arial MT"/>
                <a:cs typeface="Arial MT"/>
              </a:rPr>
              <a:t> </a:t>
            </a:r>
            <a:r>
              <a:rPr sz="2100" spc="-20" dirty="0">
                <a:latin typeface="Arial MT"/>
                <a:cs typeface="Arial MT"/>
              </a:rPr>
              <a:t>requirement</a:t>
            </a:r>
            <a:r>
              <a:rPr sz="2100" spc="40" dirty="0">
                <a:latin typeface="Arial MT"/>
                <a:cs typeface="Arial MT"/>
              </a:rPr>
              <a:t> </a:t>
            </a:r>
            <a:r>
              <a:rPr sz="2100" spc="-100" dirty="0">
                <a:latin typeface="Arial MT"/>
                <a:cs typeface="Arial MT"/>
              </a:rPr>
              <a:t>tR5table,</a:t>
            </a:r>
            <a:r>
              <a:rPr sz="2100" spc="-15" dirty="0">
                <a:latin typeface="Arial MT"/>
                <a:cs typeface="Arial MT"/>
              </a:rPr>
              <a:t> </a:t>
            </a:r>
            <a:r>
              <a:rPr sz="2100" spc="-110" dirty="0">
                <a:latin typeface="Arial MT"/>
                <a:cs typeface="Arial MT"/>
              </a:rPr>
              <a:t>once</a:t>
            </a:r>
            <a:r>
              <a:rPr sz="2100" spc="30" dirty="0">
                <a:latin typeface="Arial MT"/>
                <a:cs typeface="Arial MT"/>
              </a:rPr>
              <a:t> </a:t>
            </a:r>
            <a:r>
              <a:rPr sz="2100" spc="-10" dirty="0">
                <a:latin typeface="Arial MT"/>
                <a:cs typeface="Arial MT"/>
              </a:rPr>
              <a:t>implemented?</a:t>
            </a:r>
            <a:endParaRPr sz="2100" dirty="0">
              <a:latin typeface="Arial MT"/>
              <a:cs typeface="Arial MT"/>
            </a:endParaRPr>
          </a:p>
          <a:p>
            <a:pPr marL="494665" lvl="1" indent="-164465">
              <a:lnSpc>
                <a:spcPts val="2135"/>
              </a:lnSpc>
              <a:buChar char="•"/>
              <a:tabLst>
                <a:tab pos="494665" algn="l"/>
              </a:tabLst>
            </a:pPr>
            <a:r>
              <a:rPr sz="1850" spc="-150" dirty="0">
                <a:latin typeface="Arial MT"/>
                <a:cs typeface="Arial MT"/>
              </a:rPr>
              <a:t>Approaches:</a:t>
            </a:r>
            <a:r>
              <a:rPr sz="1850" spc="105" dirty="0">
                <a:latin typeface="Arial MT"/>
                <a:cs typeface="Arial MT"/>
              </a:rPr>
              <a:t> </a:t>
            </a:r>
            <a:r>
              <a:rPr sz="1850" spc="-100" dirty="0">
                <a:latin typeface="Arial MT"/>
                <a:cs typeface="Arial MT"/>
              </a:rPr>
              <a:t>Demonstration,</a:t>
            </a:r>
            <a:r>
              <a:rPr sz="1850" spc="-95" dirty="0">
                <a:latin typeface="Arial MT"/>
                <a:cs typeface="Arial MT"/>
              </a:rPr>
              <a:t> </a:t>
            </a:r>
            <a:r>
              <a:rPr sz="1850" spc="-105" dirty="0">
                <a:latin typeface="Arial MT"/>
                <a:cs typeface="Arial MT"/>
              </a:rPr>
              <a:t>actual</a:t>
            </a:r>
            <a:r>
              <a:rPr sz="1850" spc="20" dirty="0">
                <a:latin typeface="Arial MT"/>
                <a:cs typeface="Arial MT"/>
              </a:rPr>
              <a:t> </a:t>
            </a:r>
            <a:r>
              <a:rPr sz="1850" spc="-65" dirty="0">
                <a:latin typeface="Arial MT"/>
                <a:cs typeface="Arial MT"/>
              </a:rPr>
              <a:t>test,</a:t>
            </a:r>
            <a:r>
              <a:rPr sz="1850" spc="35" dirty="0">
                <a:latin typeface="Arial MT"/>
                <a:cs typeface="Arial MT"/>
              </a:rPr>
              <a:t> </a:t>
            </a:r>
            <a:r>
              <a:rPr sz="1850" spc="-165" dirty="0">
                <a:latin typeface="Arial MT"/>
                <a:cs typeface="Arial MT"/>
              </a:rPr>
              <a:t>analysis,</a:t>
            </a:r>
            <a:r>
              <a:rPr sz="1850" spc="70" dirty="0">
                <a:latin typeface="Arial MT"/>
                <a:cs typeface="Arial MT"/>
              </a:rPr>
              <a:t> </a:t>
            </a:r>
            <a:r>
              <a:rPr sz="1850" spc="-80" dirty="0">
                <a:latin typeface="Arial MT"/>
                <a:cs typeface="Arial MT"/>
              </a:rPr>
              <a:t>or</a:t>
            </a:r>
            <a:r>
              <a:rPr sz="1850" spc="-70" dirty="0">
                <a:latin typeface="Arial MT"/>
                <a:cs typeface="Arial MT"/>
              </a:rPr>
              <a:t> </a:t>
            </a:r>
            <a:r>
              <a:rPr sz="1850" spc="-10" dirty="0">
                <a:latin typeface="Arial MT"/>
                <a:cs typeface="Arial MT"/>
              </a:rPr>
              <a:t>inspection</a:t>
            </a:r>
            <a:endParaRPr sz="1850" dirty="0">
              <a:latin typeface="Arial MT"/>
              <a:cs typeface="Arial MT"/>
            </a:endParaRPr>
          </a:p>
          <a:p>
            <a:pPr marL="172720" marR="443230" indent="-149225">
              <a:lnSpc>
                <a:spcPct val="80400"/>
              </a:lnSpc>
              <a:spcBef>
                <a:spcPts val="670"/>
              </a:spcBef>
              <a:buChar char="•"/>
              <a:tabLst>
                <a:tab pos="172720" algn="l"/>
                <a:tab pos="181610" algn="l"/>
              </a:tabLst>
            </a:pPr>
            <a:r>
              <a:rPr sz="2100" dirty="0">
                <a:latin typeface="Arial MT"/>
                <a:cs typeface="Arial MT"/>
              </a:rPr>
              <a:t>	</a:t>
            </a:r>
            <a:r>
              <a:rPr sz="2100" spc="-190" dirty="0">
                <a:latin typeface="Arial MT"/>
                <a:cs typeface="Arial MT"/>
              </a:rPr>
              <a:t>Does</a:t>
            </a:r>
            <a:r>
              <a:rPr sz="2100" spc="40" dirty="0">
                <a:latin typeface="Arial MT"/>
                <a:cs typeface="Arial MT"/>
              </a:rPr>
              <a:t> </a:t>
            </a:r>
            <a:r>
              <a:rPr sz="2100" spc="-45" dirty="0">
                <a:latin typeface="Arial MT"/>
                <a:cs typeface="Arial MT"/>
              </a:rPr>
              <a:t>the</a:t>
            </a:r>
            <a:r>
              <a:rPr sz="2100" spc="-105" dirty="0">
                <a:latin typeface="Arial MT"/>
                <a:cs typeface="Arial MT"/>
              </a:rPr>
              <a:t> </a:t>
            </a:r>
            <a:r>
              <a:rPr sz="2100" spc="-55" dirty="0">
                <a:latin typeface="Arial MT"/>
                <a:cs typeface="Arial MT"/>
              </a:rPr>
              <a:t>requirements</a:t>
            </a:r>
            <a:r>
              <a:rPr sz="2100" spc="-15" dirty="0">
                <a:latin typeface="Arial MT"/>
                <a:cs typeface="Arial MT"/>
              </a:rPr>
              <a:t> </a:t>
            </a:r>
            <a:r>
              <a:rPr sz="2100" spc="-80" dirty="0">
                <a:latin typeface="Arial MT"/>
                <a:cs typeface="Arial MT"/>
              </a:rPr>
              <a:t>model</a:t>
            </a:r>
            <a:r>
              <a:rPr sz="2100" spc="-25" dirty="0">
                <a:latin typeface="Arial MT"/>
                <a:cs typeface="Arial MT"/>
              </a:rPr>
              <a:t> </a:t>
            </a:r>
            <a:r>
              <a:rPr sz="2100" spc="-40" dirty="0">
                <a:latin typeface="Arial MT"/>
                <a:cs typeface="Arial MT"/>
              </a:rPr>
              <a:t>properly</a:t>
            </a:r>
            <a:r>
              <a:rPr sz="2100" spc="-60" dirty="0">
                <a:latin typeface="Arial MT"/>
                <a:cs typeface="Arial MT"/>
              </a:rPr>
              <a:t> </a:t>
            </a:r>
            <a:r>
              <a:rPr sz="2100" dirty="0">
                <a:latin typeface="Arial MT"/>
                <a:cs typeface="Arial MT"/>
              </a:rPr>
              <a:t>reflect</a:t>
            </a:r>
            <a:r>
              <a:rPr sz="2100" spc="-15" dirty="0">
                <a:latin typeface="Arial MT"/>
                <a:cs typeface="Arial MT"/>
              </a:rPr>
              <a:t> </a:t>
            </a:r>
            <a:r>
              <a:rPr sz="2100" spc="-25" dirty="0">
                <a:latin typeface="Arial MT"/>
                <a:cs typeface="Arial MT"/>
              </a:rPr>
              <a:t>the </a:t>
            </a:r>
            <a:r>
              <a:rPr sz="2100" dirty="0">
                <a:latin typeface="Arial MT"/>
                <a:cs typeface="Arial MT"/>
              </a:rPr>
              <a:t>information,</a:t>
            </a:r>
            <a:r>
              <a:rPr sz="2100" spc="-130" dirty="0">
                <a:latin typeface="Arial MT"/>
                <a:cs typeface="Arial MT"/>
              </a:rPr>
              <a:t> </a:t>
            </a:r>
            <a:r>
              <a:rPr sz="2100" spc="-10" dirty="0">
                <a:latin typeface="Arial MT"/>
                <a:cs typeface="Arial MT"/>
              </a:rPr>
              <a:t>function,</a:t>
            </a:r>
            <a:r>
              <a:rPr sz="2100" spc="-25" dirty="0">
                <a:latin typeface="Arial MT"/>
                <a:cs typeface="Arial MT"/>
              </a:rPr>
              <a:t> </a:t>
            </a:r>
            <a:r>
              <a:rPr sz="2100" spc="-90" dirty="0">
                <a:latin typeface="Arial MT"/>
                <a:cs typeface="Arial MT"/>
              </a:rPr>
              <a:t>and </a:t>
            </a:r>
            <a:r>
              <a:rPr sz="2100" spc="-35" dirty="0">
                <a:latin typeface="Arial MT"/>
                <a:cs typeface="Arial MT"/>
              </a:rPr>
              <a:t>behavior</a:t>
            </a:r>
            <a:r>
              <a:rPr sz="2100" spc="70" dirty="0">
                <a:latin typeface="Arial MT"/>
                <a:cs typeface="Arial MT"/>
              </a:rPr>
              <a:t> </a:t>
            </a:r>
            <a:r>
              <a:rPr sz="2100" dirty="0">
                <a:latin typeface="Arial MT"/>
                <a:cs typeface="Arial MT"/>
              </a:rPr>
              <a:t>of</a:t>
            </a:r>
            <a:r>
              <a:rPr sz="2100" spc="-80" dirty="0">
                <a:latin typeface="Arial MT"/>
                <a:cs typeface="Arial MT"/>
              </a:rPr>
              <a:t> </a:t>
            </a:r>
            <a:r>
              <a:rPr sz="2100" spc="-10" dirty="0">
                <a:latin typeface="Arial MT"/>
                <a:cs typeface="Arial MT"/>
              </a:rPr>
              <a:t>the</a:t>
            </a:r>
            <a:r>
              <a:rPr sz="2100" spc="-135" dirty="0">
                <a:latin typeface="Arial MT"/>
                <a:cs typeface="Arial MT"/>
              </a:rPr>
              <a:t> </a:t>
            </a:r>
            <a:r>
              <a:rPr sz="2100" spc="-105" dirty="0">
                <a:latin typeface="Arial MT"/>
                <a:cs typeface="Arial MT"/>
              </a:rPr>
              <a:t>system</a:t>
            </a:r>
            <a:r>
              <a:rPr sz="2100" dirty="0">
                <a:latin typeface="Arial MT"/>
                <a:cs typeface="Arial MT"/>
              </a:rPr>
              <a:t> </a:t>
            </a:r>
            <a:r>
              <a:rPr sz="2100" dirty="0">
                <a:solidFill>
                  <a:srgbClr val="212121"/>
                </a:solidFill>
                <a:latin typeface="Arial MT"/>
                <a:cs typeface="Arial MT"/>
              </a:rPr>
              <a:t>to</a:t>
            </a:r>
            <a:r>
              <a:rPr sz="2100" spc="-130" dirty="0">
                <a:solidFill>
                  <a:srgbClr val="212121"/>
                </a:solidFill>
                <a:latin typeface="Arial MT"/>
                <a:cs typeface="Arial MT"/>
              </a:rPr>
              <a:t> </a:t>
            </a:r>
            <a:r>
              <a:rPr sz="2100" spc="-25" dirty="0">
                <a:solidFill>
                  <a:srgbClr val="161616"/>
                </a:solidFill>
                <a:latin typeface="Arial MT"/>
                <a:cs typeface="Arial MT"/>
              </a:rPr>
              <a:t>be </a:t>
            </a:r>
            <a:r>
              <a:rPr sz="2100" spc="-10" dirty="0">
                <a:latin typeface="Arial MT"/>
                <a:cs typeface="Arial MT"/>
              </a:rPr>
              <a:t>built?</a:t>
            </a:r>
            <a:endParaRPr sz="2100" dirty="0">
              <a:latin typeface="Arial MT"/>
              <a:cs typeface="Arial MT"/>
            </a:endParaRPr>
          </a:p>
          <a:p>
            <a:pPr marL="172720" marR="5080" indent="-160655">
              <a:lnSpc>
                <a:spcPct val="78500"/>
              </a:lnSpc>
              <a:spcBef>
                <a:spcPts val="725"/>
              </a:spcBef>
              <a:buChar char="•"/>
              <a:tabLst>
                <a:tab pos="172720" algn="l"/>
                <a:tab pos="179070" algn="l"/>
              </a:tabLst>
            </a:pPr>
            <a:r>
              <a:rPr sz="2100" dirty="0">
                <a:latin typeface="Calibri"/>
                <a:cs typeface="Calibri"/>
              </a:rPr>
              <a:t>	Has</a:t>
            </a:r>
            <a:r>
              <a:rPr sz="2100" spc="10" dirty="0">
                <a:latin typeface="Calibri"/>
                <a:cs typeface="Calibri"/>
              </a:rPr>
              <a:t> </a:t>
            </a:r>
            <a:r>
              <a:rPr sz="2100" dirty="0">
                <a:latin typeface="Calibri"/>
                <a:cs typeface="Calibri"/>
              </a:rPr>
              <a:t>the</a:t>
            </a:r>
            <a:r>
              <a:rPr sz="2100" spc="-25" dirty="0">
                <a:latin typeface="Calibri"/>
                <a:cs typeface="Calibri"/>
              </a:rPr>
              <a:t> </a:t>
            </a:r>
            <a:r>
              <a:rPr sz="2100" dirty="0">
                <a:latin typeface="Calibri"/>
                <a:cs typeface="Calibri"/>
              </a:rPr>
              <a:t>requirements</a:t>
            </a:r>
            <a:r>
              <a:rPr sz="2100" spc="90" dirty="0">
                <a:latin typeface="Calibri"/>
                <a:cs typeface="Calibri"/>
              </a:rPr>
              <a:t> </a:t>
            </a:r>
            <a:r>
              <a:rPr sz="2100" dirty="0">
                <a:latin typeface="Calibri"/>
                <a:cs typeface="Calibri"/>
              </a:rPr>
              <a:t>model</a:t>
            </a:r>
            <a:r>
              <a:rPr sz="2100" spc="55" dirty="0">
                <a:latin typeface="Calibri"/>
                <a:cs typeface="Calibri"/>
              </a:rPr>
              <a:t> </a:t>
            </a:r>
            <a:r>
              <a:rPr sz="2100" dirty="0">
                <a:latin typeface="Calibri"/>
                <a:cs typeface="Calibri"/>
              </a:rPr>
              <a:t>been</a:t>
            </a:r>
            <a:r>
              <a:rPr sz="2100" spc="125" dirty="0">
                <a:latin typeface="Calibri"/>
                <a:cs typeface="Calibri"/>
              </a:rPr>
              <a:t> </a:t>
            </a:r>
            <a:r>
              <a:rPr sz="2100" spc="-10" dirty="0">
                <a:latin typeface="Calibri"/>
                <a:cs typeface="Calibri"/>
              </a:rPr>
              <a:t>”partitioned”</a:t>
            </a:r>
            <a:r>
              <a:rPr sz="2100" spc="85" dirty="0">
                <a:latin typeface="Calibri"/>
                <a:cs typeface="Calibri"/>
              </a:rPr>
              <a:t> </a:t>
            </a:r>
            <a:r>
              <a:rPr sz="2100" dirty="0">
                <a:latin typeface="Calibri"/>
                <a:cs typeface="Calibri"/>
              </a:rPr>
              <a:t>in</a:t>
            </a:r>
            <a:r>
              <a:rPr sz="2100" spc="-60" dirty="0">
                <a:latin typeface="Calibri"/>
                <a:cs typeface="Calibri"/>
              </a:rPr>
              <a:t> </a:t>
            </a:r>
            <a:r>
              <a:rPr sz="2100" dirty="0">
                <a:solidFill>
                  <a:srgbClr val="242424"/>
                </a:solidFill>
                <a:latin typeface="Calibri"/>
                <a:cs typeface="Calibri"/>
              </a:rPr>
              <a:t>a</a:t>
            </a:r>
            <a:r>
              <a:rPr sz="2100" spc="-35" dirty="0">
                <a:solidFill>
                  <a:srgbClr val="242424"/>
                </a:solidFill>
                <a:latin typeface="Calibri"/>
                <a:cs typeface="Calibri"/>
              </a:rPr>
              <a:t> </a:t>
            </a:r>
            <a:r>
              <a:rPr sz="2100" spc="-25" dirty="0">
                <a:latin typeface="Calibri"/>
                <a:cs typeface="Calibri"/>
              </a:rPr>
              <a:t>way </a:t>
            </a:r>
            <a:r>
              <a:rPr sz="2250" spc="-55" dirty="0">
                <a:latin typeface="Calibri"/>
                <a:cs typeface="Calibri"/>
              </a:rPr>
              <a:t>that</a:t>
            </a:r>
            <a:r>
              <a:rPr sz="2250" spc="-85" dirty="0">
                <a:latin typeface="Calibri"/>
                <a:cs typeface="Calibri"/>
              </a:rPr>
              <a:t> </a:t>
            </a:r>
            <a:r>
              <a:rPr sz="2250" spc="-35" dirty="0">
                <a:latin typeface="Calibri"/>
                <a:cs typeface="Calibri"/>
              </a:rPr>
              <a:t>exposes</a:t>
            </a:r>
            <a:r>
              <a:rPr sz="2250" spc="-15" dirty="0">
                <a:latin typeface="Calibri"/>
                <a:cs typeface="Calibri"/>
              </a:rPr>
              <a:t> </a:t>
            </a:r>
            <a:r>
              <a:rPr sz="2250" spc="-40" dirty="0">
                <a:latin typeface="Calibri"/>
                <a:cs typeface="Calibri"/>
              </a:rPr>
              <a:t>progressively</a:t>
            </a:r>
            <a:r>
              <a:rPr sz="2250" spc="85" dirty="0">
                <a:latin typeface="Calibri"/>
                <a:cs typeface="Calibri"/>
              </a:rPr>
              <a:t> </a:t>
            </a:r>
            <a:r>
              <a:rPr sz="2250" spc="-85" dirty="0">
                <a:latin typeface="Calibri"/>
                <a:cs typeface="Calibri"/>
              </a:rPr>
              <a:t>more</a:t>
            </a:r>
            <a:r>
              <a:rPr sz="2250" spc="-45" dirty="0">
                <a:latin typeface="Calibri"/>
                <a:cs typeface="Calibri"/>
              </a:rPr>
              <a:t> </a:t>
            </a:r>
            <a:r>
              <a:rPr sz="2250" spc="-60" dirty="0">
                <a:latin typeface="Calibri"/>
                <a:cs typeface="Calibri"/>
              </a:rPr>
              <a:t>detailed</a:t>
            </a:r>
            <a:r>
              <a:rPr sz="2250" spc="-70" dirty="0">
                <a:latin typeface="Calibri"/>
                <a:cs typeface="Calibri"/>
              </a:rPr>
              <a:t> information</a:t>
            </a:r>
            <a:r>
              <a:rPr sz="2250" spc="100" dirty="0">
                <a:latin typeface="Calibri"/>
                <a:cs typeface="Calibri"/>
              </a:rPr>
              <a:t> </a:t>
            </a:r>
            <a:r>
              <a:rPr sz="2250" spc="-35" dirty="0">
                <a:latin typeface="Calibri"/>
                <a:cs typeface="Calibri"/>
              </a:rPr>
              <a:t>about </a:t>
            </a:r>
            <a:r>
              <a:rPr sz="2100" dirty="0">
                <a:latin typeface="Calibri"/>
                <a:cs typeface="Calibri"/>
              </a:rPr>
              <a:t>the</a:t>
            </a:r>
            <a:r>
              <a:rPr sz="2100" spc="-5" dirty="0">
                <a:latin typeface="Calibri"/>
                <a:cs typeface="Calibri"/>
              </a:rPr>
              <a:t> </a:t>
            </a:r>
            <a:r>
              <a:rPr sz="2100" spc="-10" dirty="0">
                <a:latin typeface="Calibri"/>
                <a:cs typeface="Calibri"/>
              </a:rPr>
              <a:t>system?</a:t>
            </a:r>
            <a:endParaRPr sz="2100" dirty="0">
              <a:latin typeface="Calibri"/>
              <a:cs typeface="Calibri"/>
            </a:endParaRPr>
          </a:p>
        </p:txBody>
      </p:sp>
      <p:pic>
        <p:nvPicPr>
          <p:cNvPr id="4" name="Picture 2" descr="Profile for SRM Institute of Science and Technology">
            <a:extLst>
              <a:ext uri="{FF2B5EF4-FFF2-40B4-BE49-F238E27FC236}">
                <a16:creationId xmlns:a16="http://schemas.microsoft.com/office/drawing/2014/main" id="{B00AFFEA-B501-973A-8AB0-8E9257BF1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434" y="71966"/>
            <a:ext cx="6419215" cy="1184910"/>
          </a:xfrm>
          <a:prstGeom prst="rect">
            <a:avLst/>
          </a:prstGeom>
        </p:spPr>
        <p:txBody>
          <a:bodyPr vert="horz" wrap="square" lIns="0" tIns="16510" rIns="0" bIns="0" rtlCol="0">
            <a:spAutoFit/>
          </a:bodyPr>
          <a:lstStyle/>
          <a:p>
            <a:pPr marL="12700">
              <a:lnSpc>
                <a:spcPts val="4455"/>
              </a:lnSpc>
              <a:spcBef>
                <a:spcPts val="130"/>
              </a:spcBef>
            </a:pPr>
            <a:r>
              <a:rPr sz="4050" dirty="0">
                <a:latin typeface="Arial MT"/>
                <a:cs typeface="Arial MT"/>
              </a:rPr>
              <a:t>Requirements</a:t>
            </a:r>
            <a:r>
              <a:rPr sz="4050" spc="470" dirty="0">
                <a:latin typeface="Arial MT"/>
                <a:cs typeface="Arial MT"/>
              </a:rPr>
              <a:t> </a:t>
            </a:r>
            <a:r>
              <a:rPr sz="4050" spc="-10" dirty="0">
                <a:latin typeface="Arial MT"/>
                <a:cs typeface="Arial MT"/>
              </a:rPr>
              <a:t>Management</a:t>
            </a:r>
            <a:endParaRPr sz="4050">
              <a:latin typeface="Arial MT"/>
              <a:cs typeface="Arial MT"/>
            </a:endParaRPr>
          </a:p>
          <a:p>
            <a:pPr marL="15240">
              <a:lnSpc>
                <a:spcPts val="4635"/>
              </a:lnSpc>
            </a:pPr>
            <a:r>
              <a:rPr sz="4200" spc="-20" dirty="0">
                <a:latin typeface="Arial MT"/>
                <a:cs typeface="Arial MT"/>
              </a:rPr>
              <a:t>Task</a:t>
            </a:r>
            <a:endParaRPr sz="4200">
              <a:latin typeface="Arial MT"/>
              <a:cs typeface="Arial MT"/>
            </a:endParaRPr>
          </a:p>
        </p:txBody>
      </p:sp>
      <p:sp>
        <p:nvSpPr>
          <p:cNvPr id="3" name="object 3"/>
          <p:cNvSpPr txBox="1">
            <a:spLocks noGrp="1"/>
          </p:cNvSpPr>
          <p:nvPr>
            <p:ph idx="1"/>
          </p:nvPr>
        </p:nvSpPr>
        <p:spPr>
          <a:xfrm>
            <a:off x="405130" y="1416474"/>
            <a:ext cx="7292340" cy="3309367"/>
          </a:xfrm>
          <a:prstGeom prst="rect">
            <a:avLst/>
          </a:prstGeom>
        </p:spPr>
        <p:txBody>
          <a:bodyPr vert="horz" wrap="square" lIns="0" tIns="85090" rIns="0" bIns="0" rtlCol="0">
            <a:spAutoFit/>
          </a:bodyPr>
          <a:lstStyle/>
          <a:p>
            <a:pPr marL="165735" marR="5080" indent="1905" algn="just">
              <a:lnSpc>
                <a:spcPct val="78800"/>
              </a:lnSpc>
              <a:spcBef>
                <a:spcPts val="670"/>
              </a:spcBef>
            </a:pPr>
            <a:r>
              <a:rPr sz="2000" dirty="0"/>
              <a:t>During</a:t>
            </a:r>
            <a:r>
              <a:rPr sz="2000" spc="-80" dirty="0"/>
              <a:t> </a:t>
            </a:r>
            <a:r>
              <a:rPr sz="2000" dirty="0"/>
              <a:t>requirements</a:t>
            </a:r>
            <a:r>
              <a:rPr sz="2000" spc="140" dirty="0"/>
              <a:t> </a:t>
            </a:r>
            <a:r>
              <a:rPr sz="2000" spc="-10" dirty="0"/>
              <a:t>management,</a:t>
            </a:r>
            <a:r>
              <a:rPr sz="2000" spc="195" dirty="0"/>
              <a:t> </a:t>
            </a:r>
            <a:r>
              <a:rPr sz="2000" dirty="0">
                <a:solidFill>
                  <a:srgbClr val="0F0F0F"/>
                </a:solidFill>
              </a:rPr>
              <a:t>the</a:t>
            </a:r>
            <a:r>
              <a:rPr sz="2000" spc="-70" dirty="0">
                <a:solidFill>
                  <a:srgbClr val="0F0F0F"/>
                </a:solidFill>
              </a:rPr>
              <a:t> </a:t>
            </a:r>
            <a:r>
              <a:rPr sz="2000" dirty="0"/>
              <a:t>project</a:t>
            </a:r>
            <a:r>
              <a:rPr sz="2000" spc="35" dirty="0"/>
              <a:t> </a:t>
            </a:r>
            <a:r>
              <a:rPr sz="2000" spc="-20" dirty="0"/>
              <a:t>team </a:t>
            </a:r>
            <a:r>
              <a:rPr sz="2000" dirty="0"/>
              <a:t>performs</a:t>
            </a:r>
            <a:r>
              <a:rPr sz="2000" spc="175" dirty="0"/>
              <a:t> </a:t>
            </a:r>
            <a:r>
              <a:rPr sz="2000" dirty="0">
                <a:solidFill>
                  <a:srgbClr val="181818"/>
                </a:solidFill>
              </a:rPr>
              <a:t>a </a:t>
            </a:r>
            <a:r>
              <a:rPr sz="2000" dirty="0"/>
              <a:t>set</a:t>
            </a:r>
            <a:r>
              <a:rPr sz="2000" spc="20" dirty="0"/>
              <a:t> </a:t>
            </a:r>
            <a:r>
              <a:rPr sz="2000" dirty="0"/>
              <a:t>of</a:t>
            </a:r>
            <a:r>
              <a:rPr sz="2000" spc="-15" dirty="0"/>
              <a:t> </a:t>
            </a:r>
            <a:r>
              <a:rPr sz="2000" dirty="0"/>
              <a:t>activities</a:t>
            </a:r>
            <a:r>
              <a:rPr sz="2000" spc="170" dirty="0"/>
              <a:t> </a:t>
            </a:r>
            <a:r>
              <a:rPr sz="2000" dirty="0"/>
              <a:t>to</a:t>
            </a:r>
            <a:r>
              <a:rPr sz="2000" spc="40" dirty="0"/>
              <a:t> </a:t>
            </a:r>
            <a:r>
              <a:rPr sz="2000" dirty="0"/>
              <a:t>identify,</a:t>
            </a:r>
            <a:r>
              <a:rPr sz="2000" spc="5" dirty="0"/>
              <a:t> </a:t>
            </a:r>
            <a:r>
              <a:rPr sz="2000" dirty="0"/>
              <a:t>control,</a:t>
            </a:r>
            <a:r>
              <a:rPr sz="2000" spc="125" dirty="0"/>
              <a:t> </a:t>
            </a:r>
            <a:r>
              <a:rPr sz="2000" dirty="0"/>
              <a:t>and</a:t>
            </a:r>
            <a:r>
              <a:rPr sz="2000" spc="100" dirty="0"/>
              <a:t> </a:t>
            </a:r>
            <a:r>
              <a:rPr sz="2000" spc="-10" dirty="0"/>
              <a:t>track </a:t>
            </a:r>
            <a:r>
              <a:rPr sz="2000" spc="-45" dirty="0"/>
              <a:t>requirements</a:t>
            </a:r>
            <a:r>
              <a:rPr sz="2000" spc="-85" dirty="0"/>
              <a:t> </a:t>
            </a:r>
            <a:r>
              <a:rPr sz="2000" spc="-80" dirty="0"/>
              <a:t>and</a:t>
            </a:r>
            <a:r>
              <a:rPr sz="2000" spc="-45" dirty="0"/>
              <a:t> </a:t>
            </a:r>
            <a:r>
              <a:rPr sz="2000" spc="-65" dirty="0"/>
              <a:t>changes </a:t>
            </a:r>
            <a:r>
              <a:rPr sz="2000" spc="-45" dirty="0"/>
              <a:t>to</a:t>
            </a:r>
            <a:r>
              <a:rPr sz="2000" spc="-85" dirty="0"/>
              <a:t> </a:t>
            </a:r>
            <a:r>
              <a:rPr sz="2000" spc="-50" dirty="0"/>
              <a:t>the</a:t>
            </a:r>
            <a:r>
              <a:rPr sz="2000" spc="-80" dirty="0"/>
              <a:t> </a:t>
            </a:r>
            <a:r>
              <a:rPr sz="2000" spc="-70" dirty="0"/>
              <a:t>requirements</a:t>
            </a:r>
            <a:r>
              <a:rPr sz="2000" spc="120" dirty="0"/>
              <a:t> </a:t>
            </a:r>
            <a:r>
              <a:rPr sz="2000" spc="-30" dirty="0"/>
              <a:t>at</a:t>
            </a:r>
            <a:r>
              <a:rPr sz="2000" spc="-40" dirty="0"/>
              <a:t> </a:t>
            </a:r>
            <a:r>
              <a:rPr sz="2000" spc="-60" dirty="0"/>
              <a:t>any</a:t>
            </a:r>
            <a:r>
              <a:rPr sz="2000" spc="-25" dirty="0"/>
              <a:t> </a:t>
            </a:r>
            <a:r>
              <a:rPr sz="2000" spc="-20" dirty="0"/>
              <a:t>time </a:t>
            </a:r>
            <a:r>
              <a:rPr sz="2000" dirty="0"/>
              <a:t>as</a:t>
            </a:r>
            <a:r>
              <a:rPr sz="2000" spc="-15" dirty="0"/>
              <a:t> </a:t>
            </a:r>
            <a:r>
              <a:rPr sz="2000" dirty="0"/>
              <a:t>the</a:t>
            </a:r>
            <a:r>
              <a:rPr sz="2000" spc="-25" dirty="0"/>
              <a:t> </a:t>
            </a:r>
            <a:r>
              <a:rPr sz="2000" dirty="0"/>
              <a:t>project</a:t>
            </a:r>
            <a:r>
              <a:rPr sz="2000" spc="60" dirty="0"/>
              <a:t> </a:t>
            </a:r>
            <a:r>
              <a:rPr sz="2000" spc="-10" dirty="0"/>
              <a:t>proceeds</a:t>
            </a:r>
            <a:endParaRPr sz="2000" dirty="0"/>
          </a:p>
          <a:p>
            <a:pPr marL="167005" indent="-154305" algn="just">
              <a:lnSpc>
                <a:spcPct val="100000"/>
              </a:lnSpc>
              <a:spcBef>
                <a:spcPts val="180"/>
              </a:spcBef>
              <a:buChar char="•"/>
              <a:tabLst>
                <a:tab pos="167005" algn="l"/>
              </a:tabLst>
            </a:pPr>
            <a:r>
              <a:rPr sz="2000" dirty="0"/>
              <a:t>Each</a:t>
            </a:r>
            <a:r>
              <a:rPr sz="2000" spc="45" dirty="0"/>
              <a:t> </a:t>
            </a:r>
            <a:r>
              <a:rPr sz="2000" dirty="0"/>
              <a:t>requirement</a:t>
            </a:r>
            <a:r>
              <a:rPr sz="2000" spc="65" dirty="0"/>
              <a:t> </a:t>
            </a:r>
            <a:r>
              <a:rPr sz="2000" dirty="0"/>
              <a:t>is</a:t>
            </a:r>
            <a:r>
              <a:rPr sz="2000" spc="25" dirty="0"/>
              <a:t> </a:t>
            </a:r>
            <a:r>
              <a:rPr sz="2000" dirty="0"/>
              <a:t>assigned</a:t>
            </a:r>
            <a:r>
              <a:rPr sz="2000" spc="95" dirty="0"/>
              <a:t> </a:t>
            </a:r>
            <a:r>
              <a:rPr sz="2000" dirty="0"/>
              <a:t>a</a:t>
            </a:r>
            <a:r>
              <a:rPr sz="2000" spc="-20" dirty="0"/>
              <a:t> </a:t>
            </a:r>
            <a:r>
              <a:rPr sz="2000" dirty="0"/>
              <a:t>unique</a:t>
            </a:r>
            <a:r>
              <a:rPr sz="2000" spc="55" dirty="0"/>
              <a:t> </a:t>
            </a:r>
            <a:r>
              <a:rPr sz="2000" spc="-10" dirty="0"/>
              <a:t>identifier</a:t>
            </a:r>
          </a:p>
          <a:p>
            <a:pPr marL="175260" indent="-162560" algn="just">
              <a:lnSpc>
                <a:spcPts val="2285"/>
              </a:lnSpc>
              <a:spcBef>
                <a:spcPts val="180"/>
              </a:spcBef>
              <a:buChar char="•"/>
              <a:tabLst>
                <a:tab pos="175260" algn="l"/>
              </a:tabLst>
            </a:pPr>
            <a:r>
              <a:rPr sz="2000" dirty="0"/>
              <a:t>The</a:t>
            </a:r>
            <a:r>
              <a:rPr sz="2000" spc="-45" dirty="0"/>
              <a:t> </a:t>
            </a:r>
            <a:r>
              <a:rPr sz="2000" dirty="0"/>
              <a:t>requirements</a:t>
            </a:r>
            <a:r>
              <a:rPr sz="2000" spc="150" dirty="0"/>
              <a:t> </a:t>
            </a:r>
            <a:r>
              <a:rPr sz="2000" dirty="0"/>
              <a:t>are</a:t>
            </a:r>
            <a:r>
              <a:rPr sz="2000" spc="-30" dirty="0"/>
              <a:t> </a:t>
            </a:r>
            <a:r>
              <a:rPr sz="2000" dirty="0"/>
              <a:t>then</a:t>
            </a:r>
            <a:r>
              <a:rPr sz="2000" spc="25" dirty="0"/>
              <a:t> </a:t>
            </a:r>
            <a:r>
              <a:rPr sz="2000" dirty="0"/>
              <a:t>placed</a:t>
            </a:r>
            <a:r>
              <a:rPr sz="2000" spc="60" dirty="0"/>
              <a:t> </a:t>
            </a:r>
            <a:r>
              <a:rPr sz="2000" dirty="0"/>
              <a:t>into</a:t>
            </a:r>
            <a:r>
              <a:rPr sz="2000" spc="-75" dirty="0"/>
              <a:t> </a:t>
            </a:r>
            <a:r>
              <a:rPr sz="2000" dirty="0">
                <a:solidFill>
                  <a:srgbClr val="111111"/>
                </a:solidFill>
              </a:rPr>
              <a:t>one</a:t>
            </a:r>
            <a:r>
              <a:rPr sz="2000" spc="10" dirty="0">
                <a:solidFill>
                  <a:srgbClr val="111111"/>
                </a:solidFill>
              </a:rPr>
              <a:t> </a:t>
            </a:r>
            <a:r>
              <a:rPr sz="2000" dirty="0"/>
              <a:t>or</a:t>
            </a:r>
            <a:r>
              <a:rPr sz="2000" spc="-10" dirty="0"/>
              <a:t> </a:t>
            </a:r>
            <a:r>
              <a:rPr sz="2000" spc="-20" dirty="0"/>
              <a:t>more</a:t>
            </a:r>
            <a:r>
              <a:rPr lang="en-US" sz="2000" spc="-20" dirty="0"/>
              <a:t> </a:t>
            </a:r>
            <a:r>
              <a:rPr sz="2000" dirty="0"/>
              <a:t>traceability</a:t>
            </a:r>
            <a:r>
              <a:rPr sz="2000" spc="-10" dirty="0"/>
              <a:t> tables</a:t>
            </a:r>
            <a:endParaRPr sz="2000" dirty="0"/>
          </a:p>
          <a:p>
            <a:pPr marL="172720" marR="784860" indent="-149860" algn="just">
              <a:lnSpc>
                <a:spcPct val="78700"/>
              </a:lnSpc>
              <a:spcBef>
                <a:spcPts val="575"/>
              </a:spcBef>
            </a:pPr>
            <a:r>
              <a:rPr sz="2000" dirty="0"/>
              <a:t>°</a:t>
            </a:r>
            <a:r>
              <a:rPr sz="2000" spc="-135" dirty="0"/>
              <a:t> </a:t>
            </a:r>
            <a:r>
              <a:rPr sz="2000" spc="-105" dirty="0"/>
              <a:t>These</a:t>
            </a:r>
            <a:r>
              <a:rPr sz="2000" spc="-25" dirty="0"/>
              <a:t> </a:t>
            </a:r>
            <a:r>
              <a:rPr sz="2000" spc="-90" dirty="0"/>
              <a:t>tables</a:t>
            </a:r>
            <a:r>
              <a:rPr sz="2000" spc="-40" dirty="0"/>
              <a:t> </a:t>
            </a:r>
            <a:r>
              <a:rPr sz="2000" spc="-130" dirty="0"/>
              <a:t>may</a:t>
            </a:r>
            <a:r>
              <a:rPr sz="2000" spc="-55" dirty="0"/>
              <a:t> </a:t>
            </a:r>
            <a:r>
              <a:rPr sz="2000" spc="-90" dirty="0"/>
              <a:t>be</a:t>
            </a:r>
            <a:r>
              <a:rPr sz="2000" spc="-60" dirty="0"/>
              <a:t> </a:t>
            </a:r>
            <a:r>
              <a:rPr sz="2000" spc="-75" dirty="0"/>
              <a:t>stored</a:t>
            </a:r>
            <a:r>
              <a:rPr sz="2000" spc="-5" dirty="0"/>
              <a:t> </a:t>
            </a:r>
            <a:r>
              <a:rPr sz="2000" spc="-90" dirty="0"/>
              <a:t>in</a:t>
            </a:r>
            <a:r>
              <a:rPr sz="2000" spc="-40" dirty="0"/>
              <a:t> </a:t>
            </a:r>
            <a:r>
              <a:rPr sz="2000" dirty="0">
                <a:solidFill>
                  <a:srgbClr val="161616"/>
                </a:solidFill>
              </a:rPr>
              <a:t>a</a:t>
            </a:r>
            <a:r>
              <a:rPr sz="2000" spc="-110" dirty="0">
                <a:solidFill>
                  <a:srgbClr val="161616"/>
                </a:solidFill>
              </a:rPr>
              <a:t> </a:t>
            </a:r>
            <a:r>
              <a:rPr sz="2000" spc="-90" dirty="0"/>
              <a:t>database</a:t>
            </a:r>
            <a:r>
              <a:rPr sz="2000" spc="80" dirty="0"/>
              <a:t> </a:t>
            </a:r>
            <a:r>
              <a:rPr sz="2000" spc="-100" dirty="0"/>
              <a:t>that</a:t>
            </a:r>
            <a:r>
              <a:rPr sz="2000" spc="-70" dirty="0"/>
              <a:t> </a:t>
            </a:r>
            <a:r>
              <a:rPr sz="2000" spc="-50" dirty="0"/>
              <a:t>relate </a:t>
            </a:r>
            <a:r>
              <a:rPr sz="2000" dirty="0"/>
              <a:t>features,</a:t>
            </a:r>
            <a:r>
              <a:rPr sz="2000" spc="-10" dirty="0"/>
              <a:t> </a:t>
            </a:r>
            <a:r>
              <a:rPr sz="2000" dirty="0"/>
              <a:t>sources,</a:t>
            </a:r>
            <a:r>
              <a:rPr sz="2000" spc="70" dirty="0"/>
              <a:t> </a:t>
            </a:r>
            <a:r>
              <a:rPr sz="2000" spc="-10" dirty="0"/>
              <a:t>dependencies,</a:t>
            </a:r>
            <a:r>
              <a:rPr sz="2000" spc="95" dirty="0"/>
              <a:t> </a:t>
            </a:r>
            <a:r>
              <a:rPr sz="2000" dirty="0"/>
              <a:t>subsystems,</a:t>
            </a:r>
            <a:r>
              <a:rPr sz="2000" spc="-10" dirty="0"/>
              <a:t> </a:t>
            </a:r>
            <a:r>
              <a:rPr sz="2000" spc="-25" dirty="0"/>
              <a:t>and </a:t>
            </a:r>
            <a:r>
              <a:rPr sz="2000" dirty="0"/>
              <a:t>interfaces</a:t>
            </a:r>
            <a:r>
              <a:rPr sz="2000" spc="80" dirty="0"/>
              <a:t> </a:t>
            </a:r>
            <a:r>
              <a:rPr sz="2000" dirty="0"/>
              <a:t>to</a:t>
            </a:r>
            <a:r>
              <a:rPr sz="2000" spc="-80" dirty="0"/>
              <a:t> </a:t>
            </a:r>
            <a:r>
              <a:rPr sz="2000" dirty="0"/>
              <a:t>the</a:t>
            </a:r>
            <a:r>
              <a:rPr sz="2000" spc="-5" dirty="0"/>
              <a:t> </a:t>
            </a:r>
            <a:r>
              <a:rPr sz="2000" spc="-10" dirty="0"/>
              <a:t>requirements</a:t>
            </a:r>
            <a:endParaRPr sz="2000" dirty="0"/>
          </a:p>
          <a:p>
            <a:pPr marL="172720" indent="-160020" algn="just">
              <a:lnSpc>
                <a:spcPts val="2285"/>
              </a:lnSpc>
              <a:spcBef>
                <a:spcPts val="180"/>
              </a:spcBef>
              <a:buChar char="•"/>
              <a:tabLst>
                <a:tab pos="172720" algn="l"/>
              </a:tabLst>
            </a:pPr>
            <a:r>
              <a:rPr sz="2000" dirty="0"/>
              <a:t>A</a:t>
            </a:r>
            <a:r>
              <a:rPr sz="2000" spc="50" dirty="0"/>
              <a:t> </a:t>
            </a:r>
            <a:r>
              <a:rPr sz="2000" dirty="0"/>
              <a:t>requirements</a:t>
            </a:r>
            <a:r>
              <a:rPr sz="2000" spc="140" dirty="0"/>
              <a:t> </a:t>
            </a:r>
            <a:r>
              <a:rPr sz="2000" dirty="0"/>
              <a:t>traceability</a:t>
            </a:r>
            <a:r>
              <a:rPr sz="2000" spc="175" dirty="0"/>
              <a:t> </a:t>
            </a:r>
            <a:r>
              <a:rPr sz="2000" dirty="0"/>
              <a:t>table</a:t>
            </a:r>
            <a:r>
              <a:rPr sz="2000" spc="55" dirty="0"/>
              <a:t> </a:t>
            </a:r>
            <a:r>
              <a:rPr sz="2000" dirty="0"/>
              <a:t>is</a:t>
            </a:r>
            <a:r>
              <a:rPr sz="2000" spc="60" dirty="0"/>
              <a:t> </a:t>
            </a:r>
            <a:r>
              <a:rPr sz="2000" dirty="0"/>
              <a:t>also</a:t>
            </a:r>
            <a:r>
              <a:rPr sz="2000" spc="40" dirty="0"/>
              <a:t> </a:t>
            </a:r>
            <a:r>
              <a:rPr sz="2000" dirty="0"/>
              <a:t>placed</a:t>
            </a:r>
            <a:r>
              <a:rPr sz="2000" spc="70" dirty="0"/>
              <a:t> </a:t>
            </a:r>
            <a:r>
              <a:rPr sz="2000" dirty="0"/>
              <a:t>at</a:t>
            </a:r>
            <a:r>
              <a:rPr sz="2000" spc="60" dirty="0"/>
              <a:t> </a:t>
            </a:r>
            <a:r>
              <a:rPr sz="2000" dirty="0"/>
              <a:t>the</a:t>
            </a:r>
            <a:r>
              <a:rPr sz="2000" spc="70" dirty="0"/>
              <a:t> </a:t>
            </a:r>
            <a:r>
              <a:rPr sz="2000" spc="-25" dirty="0"/>
              <a:t>end</a:t>
            </a:r>
            <a:r>
              <a:rPr lang="en-US" sz="2000" spc="-25" dirty="0"/>
              <a:t> </a:t>
            </a:r>
            <a:r>
              <a:rPr sz="2000" dirty="0"/>
              <a:t>of</a:t>
            </a:r>
            <a:r>
              <a:rPr sz="2000" spc="-80" dirty="0"/>
              <a:t> </a:t>
            </a:r>
            <a:r>
              <a:rPr sz="2000" dirty="0">
                <a:solidFill>
                  <a:srgbClr val="0F0F0F"/>
                </a:solidFill>
              </a:rPr>
              <a:t>the</a:t>
            </a:r>
            <a:r>
              <a:rPr sz="2000" spc="-120" dirty="0">
                <a:solidFill>
                  <a:srgbClr val="0F0F0F"/>
                </a:solidFill>
              </a:rPr>
              <a:t> </a:t>
            </a:r>
            <a:r>
              <a:rPr sz="2000" spc="-10" dirty="0"/>
              <a:t>software</a:t>
            </a:r>
            <a:r>
              <a:rPr sz="2000" spc="-40" dirty="0"/>
              <a:t> </a:t>
            </a:r>
            <a:r>
              <a:rPr sz="2000" spc="-20" dirty="0"/>
              <a:t>requirements</a:t>
            </a:r>
            <a:r>
              <a:rPr sz="2000" spc="45" dirty="0"/>
              <a:t> </a:t>
            </a:r>
            <a:r>
              <a:rPr sz="2000" spc="-10" dirty="0"/>
              <a:t>specification</a:t>
            </a:r>
            <a:endParaRPr sz="2000" dirty="0"/>
          </a:p>
        </p:txBody>
      </p:sp>
      <p:pic>
        <p:nvPicPr>
          <p:cNvPr id="4" name="Picture 2" descr="Profile for SRM Institute of Science and Technology">
            <a:extLst>
              <a:ext uri="{FF2B5EF4-FFF2-40B4-BE49-F238E27FC236}">
                <a16:creationId xmlns:a16="http://schemas.microsoft.com/office/drawing/2014/main" id="{70F67F26-3AA9-5CB5-4E38-B7C9AAFC4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900" y="-5079"/>
            <a:ext cx="1371600" cy="922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83187-EE85-9167-8256-0CCE6A85C1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A7537F-6C92-4305-2168-7FE0436E6AC9}"/>
              </a:ext>
            </a:extLst>
          </p:cNvPr>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a:extLst>
              <a:ext uri="{FF2B5EF4-FFF2-40B4-BE49-F238E27FC236}">
                <a16:creationId xmlns:a16="http://schemas.microsoft.com/office/drawing/2014/main" id="{C2A77013-74F7-047D-B713-E0436FA43F41}"/>
              </a:ext>
            </a:extLst>
          </p:cNvPr>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a:extLst>
              <a:ext uri="{FF2B5EF4-FFF2-40B4-BE49-F238E27FC236}">
                <a16:creationId xmlns:a16="http://schemas.microsoft.com/office/drawing/2014/main" id="{FBF63D97-6FAE-5428-4C94-17726993A30B}"/>
              </a:ext>
            </a:extLst>
          </p:cNvPr>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pic>
        <p:nvPicPr>
          <p:cNvPr id="16" name="Picture 2" descr="Gallery Item 10">
            <a:extLst>
              <a:ext uri="{FF2B5EF4-FFF2-40B4-BE49-F238E27FC236}">
                <a16:creationId xmlns:a16="http://schemas.microsoft.com/office/drawing/2014/main" id="{EFD26817-64DA-3F6D-78E6-89A86CC7A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84" y="757518"/>
            <a:ext cx="7522316" cy="47923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84B95F2-07ED-1DC2-015D-81772D05A71A}"/>
              </a:ext>
            </a:extLst>
          </p:cNvPr>
          <p:cNvSpPr txBox="1"/>
          <p:nvPr/>
        </p:nvSpPr>
        <p:spPr>
          <a:xfrm>
            <a:off x="850900" y="520700"/>
            <a:ext cx="5794984" cy="523220"/>
          </a:xfrm>
          <a:prstGeom prst="rect">
            <a:avLst/>
          </a:prstGeom>
          <a:noFill/>
        </p:spPr>
        <p:txBody>
          <a:bodyPr wrap="none" rtlCol="0">
            <a:spAutoFit/>
          </a:bodyPr>
          <a:lstStyle/>
          <a:p>
            <a:r>
              <a:rPr lang="en-US" sz="2800" b="1" dirty="0"/>
              <a:t>REQUIREMENTS ENGINEERING STEPS </a:t>
            </a:r>
            <a:endParaRPr lang="en-IN" sz="2800" b="1" dirty="0"/>
          </a:p>
        </p:txBody>
      </p:sp>
    </p:spTree>
    <p:extLst>
      <p:ext uri="{BB962C8B-B14F-4D97-AF65-F5344CB8AC3E}">
        <p14:creationId xmlns:p14="http://schemas.microsoft.com/office/powerpoint/2010/main" val="41242435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0A6EC-08E4-DB71-C403-EB12F00E4D8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5ADB030-279E-C49E-FC01-3BCDD9452B19}"/>
              </a:ext>
            </a:extLst>
          </p:cNvPr>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a:extLst>
              <a:ext uri="{FF2B5EF4-FFF2-40B4-BE49-F238E27FC236}">
                <a16:creationId xmlns:a16="http://schemas.microsoft.com/office/drawing/2014/main" id="{F6B0AAED-6448-6D9D-6DFA-74023CEB20A6}"/>
              </a:ext>
            </a:extLst>
          </p:cNvPr>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a:extLst>
              <a:ext uri="{FF2B5EF4-FFF2-40B4-BE49-F238E27FC236}">
                <a16:creationId xmlns:a16="http://schemas.microsoft.com/office/drawing/2014/main" id="{924FFAF1-16BB-114A-A9EC-EFCC0913D0F1}"/>
              </a:ext>
            </a:extLst>
          </p:cNvPr>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sp>
        <p:nvSpPr>
          <p:cNvPr id="5" name="TextBox 4">
            <a:extLst>
              <a:ext uri="{FF2B5EF4-FFF2-40B4-BE49-F238E27FC236}">
                <a16:creationId xmlns:a16="http://schemas.microsoft.com/office/drawing/2014/main" id="{85D969D8-EA91-2605-67B5-5D262A62D915}"/>
              </a:ext>
            </a:extLst>
          </p:cNvPr>
          <p:cNvSpPr txBox="1"/>
          <p:nvPr/>
        </p:nvSpPr>
        <p:spPr>
          <a:xfrm>
            <a:off x="850900" y="520700"/>
            <a:ext cx="2854756" cy="523220"/>
          </a:xfrm>
          <a:prstGeom prst="rect">
            <a:avLst/>
          </a:prstGeom>
          <a:noFill/>
        </p:spPr>
        <p:txBody>
          <a:bodyPr wrap="none" rtlCol="0">
            <a:spAutoFit/>
          </a:bodyPr>
          <a:lstStyle/>
          <a:p>
            <a:r>
              <a:rPr lang="en-US" sz="2800" b="1" dirty="0"/>
              <a:t>FEASIBILTY STUDY</a:t>
            </a:r>
            <a:endParaRPr lang="en-IN" sz="2800" b="1" dirty="0"/>
          </a:p>
        </p:txBody>
      </p:sp>
      <p:sp>
        <p:nvSpPr>
          <p:cNvPr id="11" name="TextBox 10">
            <a:extLst>
              <a:ext uri="{FF2B5EF4-FFF2-40B4-BE49-F238E27FC236}">
                <a16:creationId xmlns:a16="http://schemas.microsoft.com/office/drawing/2014/main" id="{04CEC6EE-30AD-34F0-DF0B-160F72459BFF}"/>
              </a:ext>
            </a:extLst>
          </p:cNvPr>
          <p:cNvSpPr txBox="1"/>
          <p:nvPr/>
        </p:nvSpPr>
        <p:spPr>
          <a:xfrm>
            <a:off x="850900" y="1459710"/>
            <a:ext cx="5867400" cy="3847592"/>
          </a:xfrm>
          <a:prstGeom prst="rect">
            <a:avLst/>
          </a:prstGeom>
          <a:noFill/>
        </p:spPr>
        <p:txBody>
          <a:bodyPr wrap="square">
            <a:spAutoFit/>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Any proposed project or plan in the initial design phase must include a feasibility study.</a:t>
            </a:r>
          </a:p>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It is done to assess the viability of a project being considered or an existing piece of software the company uses. It can help recognize and evaluate the risks and opportunities in the environment, the resources required for the project, and the likelihood of success.</a:t>
            </a:r>
          </a:p>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Regarding software development, the feasibility study ensures that every little detail of the project's or software's viability is examined. </a:t>
            </a:r>
          </a:p>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The Software Project Management Process consists of four steps at this feasibility study stage. Technically speaking, a feasibility study can assist you in conducting multiple analyses to determine whether the software will survive the market. This feasibility study aids in developers' proper understanding of the product, including development, implementation, project contribution to the organization, etc. Companies are also free to use industry experts' software development services.</a:t>
            </a:r>
          </a:p>
        </p:txBody>
      </p:sp>
    </p:spTree>
    <p:extLst>
      <p:ext uri="{BB962C8B-B14F-4D97-AF65-F5344CB8AC3E}">
        <p14:creationId xmlns:p14="http://schemas.microsoft.com/office/powerpoint/2010/main" val="1012406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D469B-87E4-65A8-17C8-131265A3E2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C3AF08-0549-8F6E-7523-B77877F3CCF2}"/>
              </a:ext>
            </a:extLst>
          </p:cNvPr>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a:extLst>
              <a:ext uri="{FF2B5EF4-FFF2-40B4-BE49-F238E27FC236}">
                <a16:creationId xmlns:a16="http://schemas.microsoft.com/office/drawing/2014/main" id="{E9F668CB-E173-9816-CA75-682AFB322D3F}"/>
              </a:ext>
            </a:extLst>
          </p:cNvPr>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a:extLst>
              <a:ext uri="{FF2B5EF4-FFF2-40B4-BE49-F238E27FC236}">
                <a16:creationId xmlns:a16="http://schemas.microsoft.com/office/drawing/2014/main" id="{4B465A86-0AB2-24EB-FE08-BCDF2C568FF1}"/>
              </a:ext>
            </a:extLst>
          </p:cNvPr>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sp>
        <p:nvSpPr>
          <p:cNvPr id="5" name="TextBox 4">
            <a:extLst>
              <a:ext uri="{FF2B5EF4-FFF2-40B4-BE49-F238E27FC236}">
                <a16:creationId xmlns:a16="http://schemas.microsoft.com/office/drawing/2014/main" id="{635D58FE-5E0C-21FD-69C4-73E92C3D7622}"/>
              </a:ext>
            </a:extLst>
          </p:cNvPr>
          <p:cNvSpPr txBox="1"/>
          <p:nvPr/>
        </p:nvSpPr>
        <p:spPr>
          <a:xfrm>
            <a:off x="850900" y="520700"/>
            <a:ext cx="2854756" cy="523220"/>
          </a:xfrm>
          <a:prstGeom prst="rect">
            <a:avLst/>
          </a:prstGeom>
          <a:noFill/>
        </p:spPr>
        <p:txBody>
          <a:bodyPr wrap="none" rtlCol="0">
            <a:spAutoFit/>
          </a:bodyPr>
          <a:lstStyle/>
          <a:p>
            <a:r>
              <a:rPr lang="en-US" sz="2800" b="1" dirty="0"/>
              <a:t>FEASIBILTY STUDY</a:t>
            </a:r>
            <a:endParaRPr lang="en-IN" sz="2800" b="1" dirty="0"/>
          </a:p>
        </p:txBody>
      </p:sp>
      <p:sp>
        <p:nvSpPr>
          <p:cNvPr id="8" name="TextBox 7">
            <a:extLst>
              <a:ext uri="{FF2B5EF4-FFF2-40B4-BE49-F238E27FC236}">
                <a16:creationId xmlns:a16="http://schemas.microsoft.com/office/drawing/2014/main" id="{005573DA-4CD1-364F-CCE2-F462BFE274DB}"/>
              </a:ext>
            </a:extLst>
          </p:cNvPr>
          <p:cNvSpPr txBox="1"/>
          <p:nvPr/>
        </p:nvSpPr>
        <p:spPr>
          <a:xfrm>
            <a:off x="698500" y="1538257"/>
            <a:ext cx="6019800" cy="2925544"/>
          </a:xfrm>
          <a:prstGeom prst="rect">
            <a:avLst/>
          </a:prstGeom>
          <a:noFill/>
        </p:spPr>
        <p:txBody>
          <a:bodyPr wrap="square">
            <a:spAutoFit/>
          </a:bodyPr>
          <a:lstStyle/>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key Aspects of Feasibility Study in Software Engineering</a:t>
            </a:r>
          </a:p>
          <a:p>
            <a:pPr>
              <a:lnSpc>
                <a:spcPct val="107000"/>
              </a:lnSpc>
              <a:spcAft>
                <a:spcPts val="800"/>
              </a:spcAft>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Here are the key aspects typically covered in a feasibility study in software engineering:</a:t>
            </a:r>
          </a:p>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Technical Feasibility: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This aspect assesses whether the proposed software project is technically possible with the available technology, resources, and expertise. It considers software development tools, hardware requirements, integration with existing systems, and potential technical challenges.</a:t>
            </a:r>
          </a:p>
          <a:p>
            <a:pPr marL="342900" lvl="0" indent="-342900">
              <a:lnSpc>
                <a:spcPct val="107000"/>
              </a:lnSpc>
              <a:spcAft>
                <a:spcPts val="800"/>
              </a:spcAft>
              <a:buFont typeface="+mj-lt"/>
              <a:buAutoNum type="arabicPeriod"/>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Operational Feasibility: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Operational feasibility evaluates whether the software will fit smoothly into the organization's existing processes and whether users can adapt. It considers factors like user training, change management, and the impact on daily operations.</a:t>
            </a:r>
          </a:p>
        </p:txBody>
      </p:sp>
    </p:spTree>
    <p:extLst>
      <p:ext uri="{BB962C8B-B14F-4D97-AF65-F5344CB8AC3E}">
        <p14:creationId xmlns:p14="http://schemas.microsoft.com/office/powerpoint/2010/main" val="30839710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5A94-53F3-815A-8AF2-0193F58DCDD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FA7AF5-5A46-C3A4-0EC6-214D8D806DCD}"/>
              </a:ext>
            </a:extLst>
          </p:cNvPr>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a:extLst>
              <a:ext uri="{FF2B5EF4-FFF2-40B4-BE49-F238E27FC236}">
                <a16:creationId xmlns:a16="http://schemas.microsoft.com/office/drawing/2014/main" id="{4F271E42-65F0-D568-8822-D8E51B1C30AE}"/>
              </a:ext>
            </a:extLst>
          </p:cNvPr>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a:extLst>
              <a:ext uri="{FF2B5EF4-FFF2-40B4-BE49-F238E27FC236}">
                <a16:creationId xmlns:a16="http://schemas.microsoft.com/office/drawing/2014/main" id="{B0067A35-0CEB-593B-B017-9F15C4B71AC0}"/>
              </a:ext>
            </a:extLst>
          </p:cNvPr>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sp>
        <p:nvSpPr>
          <p:cNvPr id="5" name="TextBox 4">
            <a:extLst>
              <a:ext uri="{FF2B5EF4-FFF2-40B4-BE49-F238E27FC236}">
                <a16:creationId xmlns:a16="http://schemas.microsoft.com/office/drawing/2014/main" id="{EC929B9D-6D81-FF39-053C-24BCA8902BCD}"/>
              </a:ext>
            </a:extLst>
          </p:cNvPr>
          <p:cNvSpPr txBox="1"/>
          <p:nvPr/>
        </p:nvSpPr>
        <p:spPr>
          <a:xfrm>
            <a:off x="850900" y="520700"/>
            <a:ext cx="2854756" cy="523220"/>
          </a:xfrm>
          <a:prstGeom prst="rect">
            <a:avLst/>
          </a:prstGeom>
          <a:noFill/>
        </p:spPr>
        <p:txBody>
          <a:bodyPr wrap="none" rtlCol="0">
            <a:spAutoFit/>
          </a:bodyPr>
          <a:lstStyle/>
          <a:p>
            <a:r>
              <a:rPr lang="en-US" sz="2800" b="1" dirty="0"/>
              <a:t>FEASIBILTY STUDY</a:t>
            </a:r>
            <a:endParaRPr lang="en-IN" sz="2800" b="1" dirty="0"/>
          </a:p>
        </p:txBody>
      </p:sp>
      <p:sp>
        <p:nvSpPr>
          <p:cNvPr id="7" name="TextBox 6">
            <a:extLst>
              <a:ext uri="{FF2B5EF4-FFF2-40B4-BE49-F238E27FC236}">
                <a16:creationId xmlns:a16="http://schemas.microsoft.com/office/drawing/2014/main" id="{2C1B2F3D-9D2A-284C-4A4C-1615FA0B157E}"/>
              </a:ext>
            </a:extLst>
          </p:cNvPr>
          <p:cNvSpPr txBox="1"/>
          <p:nvPr/>
        </p:nvSpPr>
        <p:spPr>
          <a:xfrm>
            <a:off x="927100" y="1912559"/>
            <a:ext cx="5562600" cy="2489849"/>
          </a:xfrm>
          <a:prstGeom prst="rect">
            <a:avLst/>
          </a:prstGeom>
          <a:noFill/>
        </p:spPr>
        <p:txBody>
          <a:bodyPr wrap="square">
            <a:spAutoFit/>
          </a:bodyPr>
          <a:lstStyle/>
          <a:p>
            <a:pPr lvl="0">
              <a:lnSpc>
                <a:spcPct val="107000"/>
              </a:lnSpc>
              <a:spcAft>
                <a:spcPts val="800"/>
              </a:spcAft>
              <a:tabLst>
                <a:tab pos="457200" algn="l"/>
                <a:tab pos="4231005"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3.Economic Feasibility: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This part of the study focuses on the financial aspects of the project. It includes a cost-benefit analysis to determine if the project is economically viable. This analysis involves estimating the development costs, maintenance costs, potential benefits, and return on investment (ROI). It helps stakeholders understand whether the project is financially justified.</a:t>
            </a:r>
          </a:p>
          <a:p>
            <a:pPr lvl="0">
              <a:lnSpc>
                <a:spcPct val="107000"/>
              </a:lnSpc>
              <a:spcAft>
                <a:spcPts val="800"/>
              </a:spcAft>
              <a:tabLst>
                <a:tab pos="457200" algn="l"/>
                <a:tab pos="4231005"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4. Scheduling Feasibility: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Scheduling feasibility assesses whether the project can be completed within the required timeframe. It considers factors like project scope, resource availability, and potential risks that might impact the project schedule.</a:t>
            </a:r>
          </a:p>
        </p:txBody>
      </p:sp>
    </p:spTree>
    <p:extLst>
      <p:ext uri="{BB962C8B-B14F-4D97-AF65-F5344CB8AC3E}">
        <p14:creationId xmlns:p14="http://schemas.microsoft.com/office/powerpoint/2010/main" val="5068876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57594-C48A-C7D4-B423-A28E74D8BC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69E053E-9C26-5717-6A98-93536B4C708C}"/>
              </a:ext>
            </a:extLst>
          </p:cNvPr>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a:extLst>
              <a:ext uri="{FF2B5EF4-FFF2-40B4-BE49-F238E27FC236}">
                <a16:creationId xmlns:a16="http://schemas.microsoft.com/office/drawing/2014/main" id="{D7372F04-09DD-60F8-5173-5DD7D0D76C88}"/>
              </a:ext>
            </a:extLst>
          </p:cNvPr>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a:extLst>
              <a:ext uri="{FF2B5EF4-FFF2-40B4-BE49-F238E27FC236}">
                <a16:creationId xmlns:a16="http://schemas.microsoft.com/office/drawing/2014/main" id="{DCBB5F7A-D2A2-9E1B-6D0C-CD21892A07B0}"/>
              </a:ext>
            </a:extLst>
          </p:cNvPr>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sp>
        <p:nvSpPr>
          <p:cNvPr id="5" name="TextBox 4">
            <a:extLst>
              <a:ext uri="{FF2B5EF4-FFF2-40B4-BE49-F238E27FC236}">
                <a16:creationId xmlns:a16="http://schemas.microsoft.com/office/drawing/2014/main" id="{12265C9E-473A-D411-87D7-6A74C0FD5CED}"/>
              </a:ext>
            </a:extLst>
          </p:cNvPr>
          <p:cNvSpPr txBox="1"/>
          <p:nvPr/>
        </p:nvSpPr>
        <p:spPr>
          <a:xfrm>
            <a:off x="850900" y="520700"/>
            <a:ext cx="2854756" cy="523220"/>
          </a:xfrm>
          <a:prstGeom prst="rect">
            <a:avLst/>
          </a:prstGeom>
          <a:noFill/>
        </p:spPr>
        <p:txBody>
          <a:bodyPr wrap="none" rtlCol="0">
            <a:spAutoFit/>
          </a:bodyPr>
          <a:lstStyle/>
          <a:p>
            <a:r>
              <a:rPr lang="en-US" sz="2800" b="1" dirty="0"/>
              <a:t>FEASIBILTY STUDY</a:t>
            </a:r>
            <a:endParaRPr lang="en-IN" sz="2800" b="1" dirty="0"/>
          </a:p>
        </p:txBody>
      </p:sp>
      <p:sp>
        <p:nvSpPr>
          <p:cNvPr id="7" name="TextBox 6">
            <a:extLst>
              <a:ext uri="{FF2B5EF4-FFF2-40B4-BE49-F238E27FC236}">
                <a16:creationId xmlns:a16="http://schemas.microsoft.com/office/drawing/2014/main" id="{0C05184B-2E38-5ED4-94BC-A6FDC6C2441E}"/>
              </a:ext>
            </a:extLst>
          </p:cNvPr>
          <p:cNvSpPr txBox="1"/>
          <p:nvPr/>
        </p:nvSpPr>
        <p:spPr>
          <a:xfrm>
            <a:off x="1231900" y="2093698"/>
            <a:ext cx="5029200" cy="2028825"/>
          </a:xfrm>
          <a:prstGeom prst="rect">
            <a:avLst/>
          </a:prstGeom>
          <a:noFill/>
        </p:spPr>
        <p:txBody>
          <a:bodyPr wrap="square">
            <a:spAutoFit/>
          </a:bodyPr>
          <a:lstStyle/>
          <a:p>
            <a:pPr lvl="0">
              <a:lnSpc>
                <a:spcPct val="107000"/>
              </a:lnSpc>
              <a:spcAft>
                <a:spcPts val="800"/>
              </a:spcAft>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5</a:t>
            </a: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 Legal and Regulatory Feasibility:</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This examines whether the proposed software project complies with legal and regulatory requirements. It may involve data privacy, intellectual property rights, and industry-specific regulations.</a:t>
            </a:r>
          </a:p>
          <a:p>
            <a:pPr lvl="0">
              <a:lnSpc>
                <a:spcPct val="107000"/>
              </a:lnSpc>
              <a:spcAft>
                <a:spcPts val="800"/>
              </a:spcAft>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6. Market Feasibility (if applicable):</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For commercial software projects, market feasibility examines whether there is a demand for the proposed software in the target market. It involves market research, competition analysis, and potential market adoption.</a:t>
            </a:r>
          </a:p>
        </p:txBody>
      </p:sp>
    </p:spTree>
    <p:extLst>
      <p:ext uri="{BB962C8B-B14F-4D97-AF65-F5344CB8AC3E}">
        <p14:creationId xmlns:p14="http://schemas.microsoft.com/office/powerpoint/2010/main" val="15034732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6BFB3-AD09-3C80-E89F-C0A3E4BBE9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AD58A0-5185-C012-0C20-FDB34AE7B1CD}"/>
              </a:ext>
            </a:extLst>
          </p:cNvPr>
          <p:cNvSpPr/>
          <p:nvPr/>
        </p:nvSpPr>
        <p:spPr>
          <a:xfrm>
            <a:off x="3108537" y="3227281"/>
            <a:ext cx="385445" cy="0"/>
          </a:xfrm>
          <a:custGeom>
            <a:avLst/>
            <a:gdLst/>
            <a:ahLst/>
            <a:cxnLst/>
            <a:rect l="l" t="t" r="r" b="b"/>
            <a:pathLst>
              <a:path w="385445">
                <a:moveTo>
                  <a:pt x="0" y="0"/>
                </a:moveTo>
                <a:lnTo>
                  <a:pt x="385233" y="0"/>
                </a:lnTo>
              </a:path>
            </a:pathLst>
          </a:custGeom>
          <a:ln w="3175">
            <a:solidFill>
              <a:srgbClr val="708370"/>
            </a:solidFill>
          </a:ln>
        </p:spPr>
        <p:txBody>
          <a:bodyPr wrap="square" lIns="0" tIns="0" rIns="0" bIns="0" rtlCol="0"/>
          <a:lstStyle/>
          <a:p>
            <a:endParaRPr/>
          </a:p>
        </p:txBody>
      </p:sp>
      <p:sp>
        <p:nvSpPr>
          <p:cNvPr id="3" name="object 3">
            <a:extLst>
              <a:ext uri="{FF2B5EF4-FFF2-40B4-BE49-F238E27FC236}">
                <a16:creationId xmlns:a16="http://schemas.microsoft.com/office/drawing/2014/main" id="{B0AEB864-293D-47DF-F7C1-291D5E83272A}"/>
              </a:ext>
            </a:extLst>
          </p:cNvPr>
          <p:cNvSpPr/>
          <p:nvPr/>
        </p:nvSpPr>
        <p:spPr>
          <a:xfrm>
            <a:off x="3541183" y="3227281"/>
            <a:ext cx="753110" cy="0"/>
          </a:xfrm>
          <a:custGeom>
            <a:avLst/>
            <a:gdLst/>
            <a:ahLst/>
            <a:cxnLst/>
            <a:rect l="l" t="t" r="r" b="b"/>
            <a:pathLst>
              <a:path w="753110">
                <a:moveTo>
                  <a:pt x="0" y="0"/>
                </a:moveTo>
                <a:lnTo>
                  <a:pt x="752686" y="0"/>
                </a:lnTo>
              </a:path>
            </a:pathLst>
          </a:custGeom>
          <a:ln w="3175">
            <a:solidFill>
              <a:srgbClr val="708370"/>
            </a:solidFill>
          </a:ln>
        </p:spPr>
        <p:txBody>
          <a:bodyPr wrap="square" lIns="0" tIns="0" rIns="0" bIns="0" rtlCol="0"/>
          <a:lstStyle/>
          <a:p>
            <a:endParaRPr/>
          </a:p>
        </p:txBody>
      </p:sp>
      <p:sp>
        <p:nvSpPr>
          <p:cNvPr id="4" name="object 4">
            <a:extLst>
              <a:ext uri="{FF2B5EF4-FFF2-40B4-BE49-F238E27FC236}">
                <a16:creationId xmlns:a16="http://schemas.microsoft.com/office/drawing/2014/main" id="{792646A2-8E55-27DE-8691-4AE7573A2C48}"/>
              </a:ext>
            </a:extLst>
          </p:cNvPr>
          <p:cNvSpPr/>
          <p:nvPr/>
        </p:nvSpPr>
        <p:spPr>
          <a:xfrm>
            <a:off x="2191385" y="2259752"/>
            <a:ext cx="0" cy="417830"/>
          </a:xfrm>
          <a:custGeom>
            <a:avLst/>
            <a:gdLst/>
            <a:ahLst/>
            <a:cxnLst/>
            <a:rect l="l" t="t" r="r" b="b"/>
            <a:pathLst>
              <a:path h="417830">
                <a:moveTo>
                  <a:pt x="0" y="417829"/>
                </a:moveTo>
                <a:lnTo>
                  <a:pt x="0" y="0"/>
                </a:lnTo>
              </a:path>
            </a:pathLst>
          </a:custGeom>
          <a:ln w="8889">
            <a:solidFill>
              <a:srgbClr val="747454"/>
            </a:solidFill>
          </a:ln>
        </p:spPr>
        <p:txBody>
          <a:bodyPr wrap="square" lIns="0" tIns="0" rIns="0" bIns="0" rtlCol="0"/>
          <a:lstStyle/>
          <a:p>
            <a:endParaRPr/>
          </a:p>
        </p:txBody>
      </p:sp>
      <p:sp>
        <p:nvSpPr>
          <p:cNvPr id="5" name="TextBox 4">
            <a:extLst>
              <a:ext uri="{FF2B5EF4-FFF2-40B4-BE49-F238E27FC236}">
                <a16:creationId xmlns:a16="http://schemas.microsoft.com/office/drawing/2014/main" id="{8D4A6FCC-AD34-7D54-134E-0594B65D9C6A}"/>
              </a:ext>
            </a:extLst>
          </p:cNvPr>
          <p:cNvSpPr txBox="1"/>
          <p:nvPr/>
        </p:nvSpPr>
        <p:spPr>
          <a:xfrm>
            <a:off x="850900" y="520700"/>
            <a:ext cx="2854756" cy="523220"/>
          </a:xfrm>
          <a:prstGeom prst="rect">
            <a:avLst/>
          </a:prstGeom>
          <a:noFill/>
        </p:spPr>
        <p:txBody>
          <a:bodyPr wrap="none" rtlCol="0">
            <a:spAutoFit/>
          </a:bodyPr>
          <a:lstStyle/>
          <a:p>
            <a:r>
              <a:rPr lang="en-US" sz="2800" b="1" dirty="0"/>
              <a:t>FEASIBILTY STUDY</a:t>
            </a:r>
            <a:endParaRPr lang="en-IN" sz="2800" b="1" dirty="0"/>
          </a:p>
        </p:txBody>
      </p:sp>
      <p:sp>
        <p:nvSpPr>
          <p:cNvPr id="7" name="TextBox 6">
            <a:extLst>
              <a:ext uri="{FF2B5EF4-FFF2-40B4-BE49-F238E27FC236}">
                <a16:creationId xmlns:a16="http://schemas.microsoft.com/office/drawing/2014/main" id="{ECC919D6-10AF-42F2-68B1-CB14EDCED304}"/>
              </a:ext>
            </a:extLst>
          </p:cNvPr>
          <p:cNvSpPr txBox="1"/>
          <p:nvPr/>
        </p:nvSpPr>
        <p:spPr>
          <a:xfrm>
            <a:off x="850900" y="1809967"/>
            <a:ext cx="5224145" cy="2925544"/>
          </a:xfrm>
          <a:prstGeom prst="rect">
            <a:avLst/>
          </a:prstGeom>
          <a:noFill/>
        </p:spPr>
        <p:txBody>
          <a:bodyPr wrap="square">
            <a:spAutoFit/>
          </a:bodyPr>
          <a:lstStyle/>
          <a:p>
            <a:pPr>
              <a:lnSpc>
                <a:spcPct val="107000"/>
              </a:lnSpc>
              <a:spcAft>
                <a:spcPts val="800"/>
              </a:spcAf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The outcome of a feasibility study can be one of the following: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Go Decision: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If the study concludes that the project is feasible regarding technical, operational, economic, scheduling, and legal aspects, the project can proceed to the next phase.</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No-Go Decision: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If the study determines that the project is not feasible or too risky, it may lead to a decision to abandon the project or revise its scope.</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Calibri" panose="020F0502020204030204" pitchFamily="34" charset="0"/>
                <a:ea typeface="Calibri" panose="020F0502020204030204" pitchFamily="34" charset="0"/>
                <a:cs typeface="Times New Roman" panose="02020603050405020304" pitchFamily="18" charset="0"/>
              </a:rPr>
              <a:t>Revised Scope Decision:</a:t>
            </a: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 In some cases, the study may reveal that the original project scope needs modification to increase feasibility. In this case, stakeholders may refine the project's goals and constraints.</a:t>
            </a:r>
          </a:p>
        </p:txBody>
      </p:sp>
    </p:spTree>
    <p:extLst>
      <p:ext uri="{BB962C8B-B14F-4D97-AF65-F5344CB8AC3E}">
        <p14:creationId xmlns:p14="http://schemas.microsoft.com/office/powerpoint/2010/main" val="33302641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FEE7F-A320-FF56-3659-1D67C49ACB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974838-2D9B-E852-4C40-E6CBE40FBEA9}"/>
              </a:ext>
            </a:extLst>
          </p:cNvPr>
          <p:cNvSpPr txBox="1">
            <a:spLocks noGrp="1"/>
          </p:cNvSpPr>
          <p:nvPr>
            <p:ph type="title"/>
          </p:nvPr>
        </p:nvSpPr>
        <p:spPr>
          <a:xfrm>
            <a:off x="1460500" y="141116"/>
            <a:ext cx="5105399" cy="596457"/>
          </a:xfrm>
          <a:prstGeom prst="rect">
            <a:avLst/>
          </a:prstGeom>
        </p:spPr>
        <p:txBody>
          <a:bodyPr vert="horz" wrap="square" lIns="0" tIns="10680" rIns="0" bIns="0" rtlCol="0" anchor="ctr">
            <a:spAutoFit/>
          </a:bodyPr>
          <a:lstStyle/>
          <a:p>
            <a:pPr marL="11242">
              <a:spcBef>
                <a:spcPts val="84"/>
              </a:spcBef>
            </a:pPr>
            <a:r>
              <a:rPr lang="en-IN" sz="3806" spc="-168" dirty="0"/>
              <a:t>PROJECT ESTIMATION</a:t>
            </a:r>
            <a:endParaRPr sz="3806" dirty="0"/>
          </a:p>
        </p:txBody>
      </p:sp>
      <p:sp>
        <p:nvSpPr>
          <p:cNvPr id="3" name="object 3">
            <a:extLst>
              <a:ext uri="{FF2B5EF4-FFF2-40B4-BE49-F238E27FC236}">
                <a16:creationId xmlns:a16="http://schemas.microsoft.com/office/drawing/2014/main" id="{1DB5B261-F6E5-51A8-059A-CDFC738ACE20}"/>
              </a:ext>
            </a:extLst>
          </p:cNvPr>
          <p:cNvSpPr txBox="1"/>
          <p:nvPr/>
        </p:nvSpPr>
        <p:spPr>
          <a:xfrm>
            <a:off x="465710" y="1346123"/>
            <a:ext cx="7071125" cy="801734"/>
          </a:xfrm>
          <a:prstGeom prst="rect">
            <a:avLst/>
          </a:prstGeom>
        </p:spPr>
        <p:txBody>
          <a:bodyPr vert="horz" wrap="square" lIns="0" tIns="100052" rIns="0" bIns="0" rtlCol="0">
            <a:spAutoFit/>
          </a:bodyPr>
          <a:lstStyle/>
          <a:p>
            <a:pPr marL="326581" marR="4497" indent="-315901">
              <a:lnSpc>
                <a:spcPct val="77400"/>
              </a:lnSpc>
              <a:spcBef>
                <a:spcPts val="788"/>
              </a:spcBef>
              <a:buChar char="•"/>
              <a:tabLst>
                <a:tab pos="326581" algn="l"/>
                <a:tab pos="327705" algn="l"/>
              </a:tabLst>
            </a:pPr>
            <a:r>
              <a:rPr lang="en-IN" sz="2479" dirty="0">
                <a:latin typeface="Calibri"/>
                <a:cs typeface="Calibri"/>
              </a:rPr>
              <a:t>PROJECT PLANNING TASK 1</a:t>
            </a:r>
          </a:p>
          <a:p>
            <a:pPr marL="326581" marR="4497" indent="-315901">
              <a:lnSpc>
                <a:spcPct val="77400"/>
              </a:lnSpc>
              <a:spcBef>
                <a:spcPts val="788"/>
              </a:spcBef>
              <a:buChar char="•"/>
              <a:tabLst>
                <a:tab pos="326581" algn="l"/>
                <a:tab pos="327705" algn="l"/>
              </a:tabLst>
            </a:pPr>
            <a:r>
              <a:rPr sz="2479" dirty="0">
                <a:latin typeface="Calibri"/>
                <a:cs typeface="Calibri"/>
              </a:rPr>
              <a:t>	</a:t>
            </a:r>
            <a:r>
              <a:rPr lang="en-IN" sz="2479" dirty="0">
                <a:latin typeface="Calibri"/>
                <a:cs typeface="Calibri"/>
              </a:rPr>
              <a:t>PROJECT PLANNING TASK 2</a:t>
            </a:r>
            <a:endParaRPr sz="2434" dirty="0">
              <a:latin typeface="Calibri"/>
              <a:cs typeface="Calibri"/>
            </a:endParaRPr>
          </a:p>
        </p:txBody>
      </p:sp>
    </p:spTree>
    <p:extLst>
      <p:ext uri="{BB962C8B-B14F-4D97-AF65-F5344CB8AC3E}">
        <p14:creationId xmlns:p14="http://schemas.microsoft.com/office/powerpoint/2010/main" val="8272881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889355"/>
            <a:ext cx="5471409" cy="610747"/>
          </a:xfrm>
          <a:prstGeom prst="rect">
            <a:avLst/>
          </a:prstGeom>
        </p:spPr>
        <p:txBody>
          <a:bodyPr vert="horz" wrap="square" lIns="0" tIns="11242" rIns="0" bIns="0" rtlCol="0" anchor="ctr">
            <a:spAutoFit/>
          </a:bodyPr>
          <a:lstStyle/>
          <a:p>
            <a:pPr marL="11242">
              <a:spcBef>
                <a:spcPts val="89"/>
              </a:spcBef>
              <a:tabLst>
                <a:tab pos="3410834" algn="l"/>
              </a:tabLst>
            </a:pPr>
            <a:r>
              <a:rPr dirty="0"/>
              <a:t>Project</a:t>
            </a:r>
            <a:r>
              <a:rPr spc="-4" dirty="0"/>
              <a:t> </a:t>
            </a:r>
            <a:r>
              <a:rPr dirty="0"/>
              <a:t>Planning	</a:t>
            </a:r>
            <a:r>
              <a:rPr spc="-4" dirty="0"/>
              <a:t>Task</a:t>
            </a:r>
            <a:r>
              <a:rPr spc="-58" dirty="0"/>
              <a:t> </a:t>
            </a:r>
            <a:r>
              <a:rPr spc="-4" dirty="0"/>
              <a:t>Set-I</a:t>
            </a:r>
          </a:p>
        </p:txBody>
      </p:sp>
      <p:sp>
        <p:nvSpPr>
          <p:cNvPr id="4" name="object 4"/>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64</a:t>
            </a:fld>
            <a:endParaRPr dirty="0"/>
          </a:p>
        </p:txBody>
      </p:sp>
      <p:sp>
        <p:nvSpPr>
          <p:cNvPr id="3" name="object 3"/>
          <p:cNvSpPr txBox="1"/>
          <p:nvPr/>
        </p:nvSpPr>
        <p:spPr>
          <a:xfrm>
            <a:off x="948549" y="1690774"/>
            <a:ext cx="6610209" cy="3455018"/>
          </a:xfrm>
          <a:prstGeom prst="rect">
            <a:avLst/>
          </a:prstGeom>
        </p:spPr>
        <p:txBody>
          <a:bodyPr vert="horz" wrap="square" lIns="0" tIns="35974" rIns="0" bIns="0" rtlCol="0">
            <a:spAutoFit/>
          </a:bodyPr>
          <a:lstStyle/>
          <a:p>
            <a:pPr marL="11242">
              <a:lnSpc>
                <a:spcPct val="150000"/>
              </a:lnSpc>
              <a:spcBef>
                <a:spcPts val="283"/>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Establish </a:t>
            </a:r>
            <a:r>
              <a:rPr sz="2124" dirty="0">
                <a:latin typeface="Arial"/>
                <a:cs typeface="Arial"/>
              </a:rPr>
              <a:t>project</a:t>
            </a:r>
            <a:r>
              <a:rPr sz="2124" spc="-4" dirty="0">
                <a:latin typeface="Arial"/>
                <a:cs typeface="Arial"/>
              </a:rPr>
              <a:t> </a:t>
            </a:r>
            <a:r>
              <a:rPr sz="2124" dirty="0">
                <a:latin typeface="Arial"/>
                <a:cs typeface="Arial"/>
              </a:rPr>
              <a:t>scope</a:t>
            </a:r>
          </a:p>
          <a:p>
            <a:pPr marL="11242">
              <a:lnSpc>
                <a:spcPct val="150000"/>
              </a:lnSpc>
              <a:spcBef>
                <a:spcPts val="194"/>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Determine feasibility</a:t>
            </a:r>
            <a:endParaRPr sz="2124" dirty="0">
              <a:latin typeface="Arial"/>
              <a:cs typeface="Arial"/>
            </a:endParaRPr>
          </a:p>
          <a:p>
            <a:pPr marL="11242">
              <a:lnSpc>
                <a:spcPct val="150000"/>
              </a:lnSpc>
              <a:spcBef>
                <a:spcPts val="527"/>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Analyze</a:t>
            </a:r>
            <a:r>
              <a:rPr sz="2124" spc="-4" dirty="0">
                <a:latin typeface="Arial"/>
                <a:cs typeface="Arial"/>
              </a:rPr>
              <a:t> </a:t>
            </a:r>
            <a:r>
              <a:rPr sz="2124" dirty="0">
                <a:latin typeface="Arial"/>
                <a:cs typeface="Arial"/>
              </a:rPr>
              <a:t>risks</a:t>
            </a:r>
            <a:endParaRPr sz="1770" dirty="0">
              <a:latin typeface="Arial"/>
              <a:cs typeface="Arial"/>
            </a:endParaRPr>
          </a:p>
          <a:p>
            <a:pPr marL="11242">
              <a:lnSpc>
                <a:spcPct val="150000"/>
              </a:lnSpc>
              <a:spcBef>
                <a:spcPts val="438"/>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Define required</a:t>
            </a:r>
            <a:r>
              <a:rPr sz="2124" spc="-9" dirty="0">
                <a:latin typeface="Arial"/>
                <a:cs typeface="Arial"/>
              </a:rPr>
              <a:t> </a:t>
            </a:r>
            <a:r>
              <a:rPr sz="2124" dirty="0">
                <a:latin typeface="Arial"/>
                <a:cs typeface="Arial"/>
              </a:rPr>
              <a:t>resources</a:t>
            </a:r>
          </a:p>
          <a:p>
            <a:pPr marL="415955">
              <a:lnSpc>
                <a:spcPct val="150000"/>
              </a:lnSpc>
              <a:spcBef>
                <a:spcPts val="305"/>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Determine </a:t>
            </a:r>
            <a:r>
              <a:rPr sz="1770" dirty="0">
                <a:latin typeface="Arial"/>
                <a:cs typeface="Arial"/>
              </a:rPr>
              <a:t>require human</a:t>
            </a:r>
            <a:r>
              <a:rPr sz="1770" spc="-4" dirty="0">
                <a:latin typeface="Arial"/>
                <a:cs typeface="Arial"/>
              </a:rPr>
              <a:t> </a:t>
            </a:r>
            <a:r>
              <a:rPr sz="1770" dirty="0">
                <a:latin typeface="Arial"/>
                <a:cs typeface="Arial"/>
              </a:rPr>
              <a:t>resources</a:t>
            </a:r>
          </a:p>
          <a:p>
            <a:pPr marL="415955">
              <a:lnSpc>
                <a:spcPct val="150000"/>
              </a:lnSpc>
              <a:spcBef>
                <a:spcPts val="425"/>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Define reusable </a:t>
            </a:r>
            <a:r>
              <a:rPr sz="1770" spc="-4" dirty="0">
                <a:latin typeface="Arial"/>
                <a:cs typeface="Arial"/>
              </a:rPr>
              <a:t>software</a:t>
            </a:r>
            <a:r>
              <a:rPr sz="1770" spc="-9" dirty="0">
                <a:latin typeface="Arial"/>
                <a:cs typeface="Arial"/>
              </a:rPr>
              <a:t> </a:t>
            </a:r>
            <a:r>
              <a:rPr sz="1770" dirty="0">
                <a:latin typeface="Arial"/>
                <a:cs typeface="Arial"/>
              </a:rPr>
              <a:t>resources</a:t>
            </a:r>
          </a:p>
          <a:p>
            <a:pPr marL="415955">
              <a:lnSpc>
                <a:spcPct val="150000"/>
              </a:lnSpc>
              <a:spcBef>
                <a:spcPts val="443"/>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Identify environmental </a:t>
            </a:r>
            <a:r>
              <a:rPr sz="1770" dirty="0">
                <a:latin typeface="Arial"/>
                <a:cs typeface="Arial"/>
              </a:rPr>
              <a:t>resources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821904"/>
            <a:ext cx="5596194" cy="610747"/>
          </a:xfrm>
          <a:prstGeom prst="rect">
            <a:avLst/>
          </a:prstGeom>
        </p:spPr>
        <p:txBody>
          <a:bodyPr vert="horz" wrap="square" lIns="0" tIns="11242" rIns="0" bIns="0" rtlCol="0" anchor="ctr">
            <a:spAutoFit/>
          </a:bodyPr>
          <a:lstStyle/>
          <a:p>
            <a:pPr marL="11242">
              <a:spcBef>
                <a:spcPts val="89"/>
              </a:spcBef>
              <a:tabLst>
                <a:tab pos="3410834" algn="l"/>
              </a:tabLst>
            </a:pPr>
            <a:r>
              <a:rPr dirty="0"/>
              <a:t>Project</a:t>
            </a:r>
            <a:r>
              <a:rPr spc="-4" dirty="0"/>
              <a:t> </a:t>
            </a:r>
            <a:r>
              <a:rPr dirty="0"/>
              <a:t>Planning	</a:t>
            </a:r>
            <a:r>
              <a:rPr spc="-4" dirty="0"/>
              <a:t>Task</a:t>
            </a:r>
            <a:r>
              <a:rPr spc="-58" dirty="0"/>
              <a:t> </a:t>
            </a:r>
            <a:r>
              <a:rPr spc="-4" dirty="0"/>
              <a:t>Set-II</a:t>
            </a:r>
          </a:p>
        </p:txBody>
      </p:sp>
      <p:sp>
        <p:nvSpPr>
          <p:cNvPr id="4" name="object 4"/>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65</a:t>
            </a:fld>
            <a:endParaRPr dirty="0"/>
          </a:p>
        </p:txBody>
      </p:sp>
      <p:sp>
        <p:nvSpPr>
          <p:cNvPr id="3" name="object 3"/>
          <p:cNvSpPr txBox="1"/>
          <p:nvPr/>
        </p:nvSpPr>
        <p:spPr>
          <a:xfrm>
            <a:off x="938149" y="1797206"/>
            <a:ext cx="6485707" cy="3238152"/>
          </a:xfrm>
          <a:prstGeom prst="rect">
            <a:avLst/>
          </a:prstGeom>
        </p:spPr>
        <p:txBody>
          <a:bodyPr vert="horz" wrap="square" lIns="0" tIns="40471" rIns="0" bIns="0" rtlCol="0">
            <a:spAutoFit/>
          </a:bodyPr>
          <a:lstStyle/>
          <a:p>
            <a:pPr marR="2598035" algn="r">
              <a:spcBef>
                <a:spcPts val="319"/>
              </a:spcBef>
              <a:tabLst>
                <a:tab pos="302973"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Estimate </a:t>
            </a:r>
            <a:r>
              <a:rPr sz="2124" dirty="0">
                <a:latin typeface="Arial"/>
                <a:cs typeface="Arial"/>
              </a:rPr>
              <a:t>cost and</a:t>
            </a:r>
            <a:r>
              <a:rPr sz="2124" spc="-44" dirty="0">
                <a:latin typeface="Arial"/>
                <a:cs typeface="Arial"/>
              </a:rPr>
              <a:t> </a:t>
            </a:r>
            <a:r>
              <a:rPr sz="2124" spc="-4" dirty="0">
                <a:latin typeface="Arial"/>
                <a:cs typeface="Arial"/>
              </a:rPr>
              <a:t>effort</a:t>
            </a:r>
            <a:endParaRPr sz="2124" dirty="0">
              <a:latin typeface="Arial"/>
              <a:cs typeface="Arial"/>
            </a:endParaRPr>
          </a:p>
          <a:p>
            <a:pPr marR="2628389" algn="r">
              <a:spcBef>
                <a:spcPts val="195"/>
              </a:spcBef>
              <a:tabLst>
                <a:tab pos="252384"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Decompose </a:t>
            </a:r>
            <a:r>
              <a:rPr sz="1770" spc="-4" dirty="0">
                <a:latin typeface="Arial"/>
                <a:cs typeface="Arial"/>
              </a:rPr>
              <a:t>the</a:t>
            </a:r>
            <a:r>
              <a:rPr sz="1770" spc="-80" dirty="0">
                <a:latin typeface="Arial"/>
                <a:cs typeface="Arial"/>
              </a:rPr>
              <a:t> </a:t>
            </a:r>
            <a:r>
              <a:rPr sz="1770" dirty="0">
                <a:latin typeface="Arial"/>
                <a:cs typeface="Arial"/>
              </a:rPr>
              <a:t>problem</a:t>
            </a:r>
          </a:p>
          <a:p>
            <a:pPr marL="663280" marR="4497" indent="-247325">
              <a:lnSpc>
                <a:spcPct val="100800"/>
              </a:lnSpc>
              <a:spcBef>
                <a:spcPts val="411"/>
              </a:spcBef>
              <a:tabLst>
                <a:tab pos="668339" algn="l"/>
              </a:tabLst>
            </a:pPr>
            <a:r>
              <a:rPr lang="en-US" sz="1239" spc="-465" dirty="0">
                <a:solidFill>
                  <a:srgbClr val="9A0000"/>
                </a:solidFill>
                <a:latin typeface="Wingdings"/>
                <a:cs typeface="Wingdings"/>
              </a:rPr>
              <a:t>			    </a:t>
            </a: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Develop </a:t>
            </a:r>
            <a:r>
              <a:rPr sz="1770" spc="-4" dirty="0">
                <a:latin typeface="Arial"/>
                <a:cs typeface="Arial"/>
              </a:rPr>
              <a:t>two </a:t>
            </a:r>
            <a:r>
              <a:rPr sz="1770" dirty="0">
                <a:latin typeface="Arial"/>
                <a:cs typeface="Arial"/>
              </a:rPr>
              <a:t>or more </a:t>
            </a:r>
            <a:r>
              <a:rPr sz="1770" spc="-4" dirty="0">
                <a:latin typeface="Arial"/>
                <a:cs typeface="Arial"/>
              </a:rPr>
              <a:t>estimates </a:t>
            </a:r>
            <a:r>
              <a:rPr sz="1770" dirty="0">
                <a:latin typeface="Arial"/>
                <a:cs typeface="Arial"/>
              </a:rPr>
              <a:t>using size, </a:t>
            </a:r>
            <a:r>
              <a:rPr sz="1770" spc="-4" dirty="0">
                <a:latin typeface="Arial"/>
                <a:cs typeface="Arial"/>
              </a:rPr>
              <a:t>function  points, </a:t>
            </a:r>
            <a:r>
              <a:rPr sz="1770" dirty="0">
                <a:latin typeface="Arial"/>
                <a:cs typeface="Arial"/>
              </a:rPr>
              <a:t>process </a:t>
            </a:r>
            <a:r>
              <a:rPr sz="1770" spc="-4" dirty="0">
                <a:latin typeface="Arial"/>
                <a:cs typeface="Arial"/>
              </a:rPr>
              <a:t>tasks </a:t>
            </a:r>
            <a:r>
              <a:rPr sz="1770" dirty="0">
                <a:latin typeface="Arial"/>
                <a:cs typeface="Arial"/>
              </a:rPr>
              <a:t>or</a:t>
            </a:r>
            <a:r>
              <a:rPr sz="1770" spc="-18" dirty="0">
                <a:latin typeface="Arial"/>
                <a:cs typeface="Arial"/>
              </a:rPr>
              <a:t> </a:t>
            </a:r>
            <a:r>
              <a:rPr sz="1770" dirty="0">
                <a:latin typeface="Arial"/>
                <a:cs typeface="Arial"/>
              </a:rPr>
              <a:t>use-cases</a:t>
            </a:r>
          </a:p>
          <a:p>
            <a:pPr marL="415955">
              <a:spcBef>
                <a:spcPts val="425"/>
              </a:spcBef>
              <a:tabLst>
                <a:tab pos="668339" algn="l"/>
              </a:tabLst>
            </a:pPr>
            <a:r>
              <a:rPr lang="en-US" sz="1239" spc="-465" dirty="0">
                <a:solidFill>
                  <a:srgbClr val="9A0000"/>
                </a:solidFill>
                <a:latin typeface="Wingdings"/>
                <a:cs typeface="Wingdings"/>
              </a:rPr>
              <a:t>		</a:t>
            </a:r>
            <a:r>
              <a:rPr sz="1239" spc="-465" dirty="0">
                <a:solidFill>
                  <a:srgbClr val="9A0000"/>
                </a:solidFill>
                <a:latin typeface="Wingdings"/>
                <a:cs typeface="Wingdings"/>
              </a:rPr>
              <a:t></a:t>
            </a:r>
            <a:r>
              <a:rPr lang="en-IN" sz="1239" spc="-465" dirty="0">
                <a:solidFill>
                  <a:srgbClr val="9A0000"/>
                </a:solidFill>
                <a:latin typeface="Times New Roman"/>
                <a:cs typeface="Times New Roman"/>
              </a:rPr>
              <a:t>	</a:t>
            </a:r>
            <a:r>
              <a:rPr lang="en-IN" sz="1770" dirty="0">
                <a:latin typeface="Arial"/>
                <a:cs typeface="Arial"/>
              </a:rPr>
              <a:t>Re</a:t>
            </a:r>
            <a:r>
              <a:rPr sz="1770" dirty="0" err="1">
                <a:latin typeface="Arial"/>
                <a:cs typeface="Arial"/>
              </a:rPr>
              <a:t>concile</a:t>
            </a:r>
            <a:r>
              <a:rPr sz="1770" dirty="0">
                <a:latin typeface="Arial"/>
                <a:cs typeface="Arial"/>
              </a:rPr>
              <a:t> </a:t>
            </a:r>
            <a:r>
              <a:rPr sz="1770" spc="-4" dirty="0">
                <a:latin typeface="Arial"/>
                <a:cs typeface="Arial"/>
              </a:rPr>
              <a:t>the estimates</a:t>
            </a:r>
            <a:endParaRPr sz="1770" dirty="0">
              <a:latin typeface="Arial"/>
              <a:cs typeface="Arial"/>
            </a:endParaRPr>
          </a:p>
          <a:p>
            <a:pPr marL="11242">
              <a:spcBef>
                <a:spcPts val="283"/>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Develop a project</a:t>
            </a:r>
            <a:r>
              <a:rPr sz="2124" spc="-13" dirty="0">
                <a:latin typeface="Arial"/>
                <a:cs typeface="Arial"/>
              </a:rPr>
              <a:t> </a:t>
            </a:r>
            <a:r>
              <a:rPr sz="2124" dirty="0">
                <a:latin typeface="Arial"/>
                <a:cs typeface="Arial"/>
              </a:rPr>
              <a:t>schedule</a:t>
            </a:r>
          </a:p>
          <a:p>
            <a:pPr marL="1073615" lvl="1" indent="-252946">
              <a:spcBef>
                <a:spcPts val="443"/>
              </a:spcBef>
              <a:buFont typeface="Arial" panose="020B0604020202020204" pitchFamily="34" charset="0"/>
              <a:buChar char="•"/>
              <a:tabLst>
                <a:tab pos="668339" algn="l"/>
              </a:tabLst>
            </a:pPr>
            <a:r>
              <a:rPr sz="1770" spc="-4" dirty="0">
                <a:latin typeface="Arial"/>
                <a:cs typeface="Arial"/>
              </a:rPr>
              <a:t>Establish </a:t>
            </a:r>
            <a:r>
              <a:rPr sz="1770" dirty="0">
                <a:latin typeface="Arial"/>
                <a:cs typeface="Arial"/>
              </a:rPr>
              <a:t>a </a:t>
            </a:r>
            <a:r>
              <a:rPr sz="1770" spc="-4" dirty="0">
                <a:latin typeface="Arial"/>
                <a:cs typeface="Arial"/>
              </a:rPr>
              <a:t>meaningful task</a:t>
            </a:r>
            <a:r>
              <a:rPr sz="1770" spc="4" dirty="0">
                <a:latin typeface="Arial"/>
                <a:cs typeface="Arial"/>
              </a:rPr>
              <a:t> </a:t>
            </a:r>
            <a:r>
              <a:rPr sz="1770" dirty="0">
                <a:latin typeface="Arial"/>
                <a:cs typeface="Arial"/>
              </a:rPr>
              <a:t>set</a:t>
            </a:r>
          </a:p>
          <a:p>
            <a:pPr marL="1073615" indent="-252946">
              <a:spcBef>
                <a:spcPts val="328"/>
              </a:spcBef>
              <a:buClr>
                <a:srgbClr val="003366"/>
              </a:buClr>
              <a:buFont typeface="Arial" panose="020B0604020202020204" pitchFamily="34" charset="0"/>
              <a:buChar char="•"/>
              <a:tabLst>
                <a:tab pos="1022464" algn="l"/>
                <a:tab pos="1023026" algn="l"/>
              </a:tabLst>
            </a:pPr>
            <a:r>
              <a:rPr sz="1770" dirty="0">
                <a:latin typeface="Arial"/>
                <a:cs typeface="Arial"/>
              </a:rPr>
              <a:t>Define a </a:t>
            </a:r>
            <a:r>
              <a:rPr sz="1770" spc="-4" dirty="0">
                <a:latin typeface="Arial"/>
                <a:cs typeface="Arial"/>
              </a:rPr>
              <a:t>task</a:t>
            </a:r>
            <a:r>
              <a:rPr sz="1770" spc="-9" dirty="0">
                <a:latin typeface="Arial"/>
                <a:cs typeface="Arial"/>
              </a:rPr>
              <a:t> </a:t>
            </a:r>
            <a:r>
              <a:rPr sz="1770" spc="-4" dirty="0">
                <a:latin typeface="Arial"/>
                <a:cs typeface="Arial"/>
              </a:rPr>
              <a:t>network</a:t>
            </a:r>
            <a:endParaRPr sz="1770" dirty="0">
              <a:latin typeface="Arial"/>
              <a:cs typeface="Arial"/>
            </a:endParaRPr>
          </a:p>
          <a:p>
            <a:pPr marL="1023026" indent="-202357">
              <a:spcBef>
                <a:spcPts val="389"/>
              </a:spcBef>
              <a:buClr>
                <a:srgbClr val="003366"/>
              </a:buClr>
              <a:buChar char="•"/>
              <a:tabLst>
                <a:tab pos="1022464" algn="l"/>
                <a:tab pos="1023026" algn="l"/>
              </a:tabLst>
            </a:pPr>
            <a:r>
              <a:rPr sz="1770" dirty="0">
                <a:latin typeface="Arial"/>
                <a:cs typeface="Arial"/>
              </a:rPr>
              <a:t>Use scheduling </a:t>
            </a:r>
            <a:r>
              <a:rPr sz="1770" spc="-4" dirty="0">
                <a:latin typeface="Arial"/>
                <a:cs typeface="Arial"/>
              </a:rPr>
              <a:t>tools to </a:t>
            </a:r>
            <a:r>
              <a:rPr sz="1770" dirty="0">
                <a:latin typeface="Arial"/>
                <a:cs typeface="Arial"/>
              </a:rPr>
              <a:t>develop a </a:t>
            </a:r>
            <a:r>
              <a:rPr sz="1770" spc="-4" dirty="0">
                <a:latin typeface="Arial"/>
                <a:cs typeface="Arial"/>
              </a:rPr>
              <a:t>timeline</a:t>
            </a:r>
            <a:r>
              <a:rPr sz="1770" spc="-13" dirty="0">
                <a:latin typeface="Arial"/>
                <a:cs typeface="Arial"/>
              </a:rPr>
              <a:t> </a:t>
            </a:r>
            <a:r>
              <a:rPr sz="1770" dirty="0">
                <a:latin typeface="Arial"/>
                <a:cs typeface="Arial"/>
              </a:rPr>
              <a:t>chart</a:t>
            </a:r>
          </a:p>
          <a:p>
            <a:pPr marL="1023026" indent="-202357">
              <a:spcBef>
                <a:spcPts val="389"/>
              </a:spcBef>
              <a:buClr>
                <a:srgbClr val="003366"/>
              </a:buClr>
              <a:buChar char="•"/>
              <a:tabLst>
                <a:tab pos="1022464" algn="l"/>
                <a:tab pos="1023026" algn="l"/>
              </a:tabLst>
            </a:pPr>
            <a:r>
              <a:rPr sz="1770" dirty="0">
                <a:latin typeface="Arial"/>
                <a:cs typeface="Arial"/>
              </a:rPr>
              <a:t>Define schedule </a:t>
            </a:r>
            <a:r>
              <a:rPr sz="1770" spc="-4" dirty="0">
                <a:latin typeface="Arial"/>
                <a:cs typeface="Arial"/>
              </a:rPr>
              <a:t>tracking</a:t>
            </a:r>
            <a:r>
              <a:rPr sz="1770" spc="-9" dirty="0">
                <a:latin typeface="Arial"/>
                <a:cs typeface="Arial"/>
              </a:rPr>
              <a:t> </a:t>
            </a:r>
            <a:r>
              <a:rPr sz="1770" dirty="0">
                <a:latin typeface="Arial"/>
                <a:cs typeface="Arial"/>
              </a:rPr>
              <a:t>mechanisms</a:t>
            </a:r>
            <a:endParaRPr sz="1593" dirty="0">
              <a:latin typeface="Arial"/>
              <a:cs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294" y="741948"/>
            <a:ext cx="3100504" cy="610747"/>
          </a:xfrm>
          <a:prstGeom prst="rect">
            <a:avLst/>
          </a:prstGeom>
        </p:spPr>
        <p:txBody>
          <a:bodyPr vert="horz" wrap="square" lIns="0" tIns="11242" rIns="0" bIns="0" rtlCol="0" anchor="ctr">
            <a:spAutoFit/>
          </a:bodyPr>
          <a:lstStyle/>
          <a:p>
            <a:pPr marL="11242">
              <a:spcBef>
                <a:spcPts val="89"/>
              </a:spcBef>
            </a:pPr>
            <a:r>
              <a:rPr spc="-4" dirty="0"/>
              <a:t>Estimation</a:t>
            </a:r>
          </a:p>
        </p:txBody>
      </p:sp>
      <p:sp>
        <p:nvSpPr>
          <p:cNvPr id="4" name="object 4"/>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66</a:t>
            </a:fld>
            <a:endParaRPr dirty="0"/>
          </a:p>
        </p:txBody>
      </p:sp>
      <p:sp>
        <p:nvSpPr>
          <p:cNvPr id="3" name="object 3"/>
          <p:cNvSpPr txBox="1"/>
          <p:nvPr/>
        </p:nvSpPr>
        <p:spPr>
          <a:xfrm>
            <a:off x="611294" y="1715507"/>
            <a:ext cx="7016601" cy="2528275"/>
          </a:xfrm>
          <a:prstGeom prst="rect">
            <a:avLst/>
          </a:prstGeom>
        </p:spPr>
        <p:txBody>
          <a:bodyPr vert="horz" wrap="square" lIns="0" tIns="29229" rIns="0" bIns="0" rtlCol="0">
            <a:spAutoFit/>
          </a:bodyPr>
          <a:lstStyle/>
          <a:p>
            <a:pPr marL="314777" marR="4497" indent="-303535">
              <a:lnSpc>
                <a:spcPts val="2479"/>
              </a:lnSpc>
              <a:spcBef>
                <a:spcPts val="230"/>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Estimation </a:t>
            </a:r>
            <a:r>
              <a:rPr sz="2124" dirty="0">
                <a:latin typeface="Arial"/>
                <a:cs typeface="Arial"/>
              </a:rPr>
              <a:t>of resources, </a:t>
            </a:r>
            <a:r>
              <a:rPr sz="2124" spc="-4" dirty="0">
                <a:latin typeface="Arial"/>
                <a:cs typeface="Arial"/>
              </a:rPr>
              <a:t>cost, </a:t>
            </a:r>
            <a:r>
              <a:rPr sz="2124" dirty="0">
                <a:latin typeface="Arial"/>
                <a:cs typeface="Arial"/>
              </a:rPr>
              <a:t>and schedule </a:t>
            </a:r>
            <a:r>
              <a:rPr sz="2124" spc="-4" dirty="0">
                <a:latin typeface="Arial"/>
                <a:cs typeface="Arial"/>
              </a:rPr>
              <a:t>for  </a:t>
            </a:r>
            <a:r>
              <a:rPr sz="2124" dirty="0">
                <a:latin typeface="Arial"/>
                <a:cs typeface="Arial"/>
              </a:rPr>
              <a:t>a </a:t>
            </a:r>
            <a:r>
              <a:rPr sz="2124" spc="-4" dirty="0">
                <a:latin typeface="Arial"/>
                <a:cs typeface="Arial"/>
              </a:rPr>
              <a:t>software </a:t>
            </a:r>
            <a:r>
              <a:rPr sz="2124" dirty="0">
                <a:latin typeface="Arial"/>
                <a:cs typeface="Arial"/>
              </a:rPr>
              <a:t>engineering </a:t>
            </a:r>
            <a:r>
              <a:rPr sz="2124" spc="-4" dirty="0">
                <a:latin typeface="Arial"/>
                <a:cs typeface="Arial"/>
              </a:rPr>
              <a:t>effort</a:t>
            </a:r>
            <a:r>
              <a:rPr sz="2124" spc="-13" dirty="0">
                <a:latin typeface="Arial"/>
                <a:cs typeface="Arial"/>
              </a:rPr>
              <a:t> </a:t>
            </a:r>
            <a:r>
              <a:rPr sz="2124" dirty="0">
                <a:latin typeface="Arial"/>
                <a:cs typeface="Arial"/>
              </a:rPr>
              <a:t>requires</a:t>
            </a:r>
          </a:p>
          <a:p>
            <a:pPr marL="415955">
              <a:spcBef>
                <a:spcPts val="212"/>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solidFill>
                  <a:srgbClr val="9A0000"/>
                </a:solidFill>
                <a:latin typeface="Arial"/>
                <a:cs typeface="Arial"/>
              </a:rPr>
              <a:t>experience</a:t>
            </a:r>
            <a:endParaRPr sz="1770" dirty="0">
              <a:latin typeface="Arial"/>
              <a:cs typeface="Arial"/>
            </a:endParaRPr>
          </a:p>
          <a:p>
            <a:pPr marL="415955">
              <a:spcBef>
                <a:spcPts val="26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solidFill>
                  <a:srgbClr val="9A0000"/>
                </a:solidFill>
                <a:latin typeface="Arial"/>
                <a:cs typeface="Arial"/>
              </a:rPr>
              <a:t>access </a:t>
            </a:r>
            <a:r>
              <a:rPr sz="1770" spc="-4" dirty="0">
                <a:solidFill>
                  <a:srgbClr val="9A0000"/>
                </a:solidFill>
                <a:latin typeface="Arial"/>
                <a:cs typeface="Arial"/>
              </a:rPr>
              <a:t>to </a:t>
            </a:r>
            <a:r>
              <a:rPr sz="1770" dirty="0">
                <a:solidFill>
                  <a:srgbClr val="9A0000"/>
                </a:solidFill>
                <a:latin typeface="Arial"/>
                <a:cs typeface="Arial"/>
              </a:rPr>
              <a:t>good </a:t>
            </a:r>
            <a:r>
              <a:rPr sz="1770" spc="-4" dirty="0">
                <a:solidFill>
                  <a:srgbClr val="9A0000"/>
                </a:solidFill>
                <a:latin typeface="Arial"/>
                <a:cs typeface="Arial"/>
              </a:rPr>
              <a:t>historical information</a:t>
            </a:r>
            <a:r>
              <a:rPr sz="1770" spc="13" dirty="0">
                <a:solidFill>
                  <a:srgbClr val="9A0000"/>
                </a:solidFill>
                <a:latin typeface="Arial"/>
                <a:cs typeface="Arial"/>
              </a:rPr>
              <a:t> </a:t>
            </a:r>
            <a:r>
              <a:rPr sz="1770" spc="-4" dirty="0">
                <a:solidFill>
                  <a:srgbClr val="9A0000"/>
                </a:solidFill>
                <a:latin typeface="Arial"/>
                <a:cs typeface="Arial"/>
              </a:rPr>
              <a:t>(metrics)</a:t>
            </a:r>
            <a:endParaRPr sz="1770" dirty="0">
              <a:latin typeface="Arial"/>
              <a:cs typeface="Arial"/>
            </a:endParaRPr>
          </a:p>
          <a:p>
            <a:pPr marL="663280" marR="422138" indent="-247325">
              <a:spcBef>
                <a:spcPts val="26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solidFill>
                  <a:srgbClr val="9A0000"/>
                </a:solidFill>
                <a:latin typeface="Arial"/>
                <a:cs typeface="Arial"/>
              </a:rPr>
              <a:t>the </a:t>
            </a:r>
            <a:r>
              <a:rPr sz="1770" dirty="0">
                <a:solidFill>
                  <a:srgbClr val="9A0000"/>
                </a:solidFill>
                <a:latin typeface="Arial"/>
                <a:cs typeface="Arial"/>
              </a:rPr>
              <a:t>courage </a:t>
            </a:r>
            <a:r>
              <a:rPr sz="1770" spc="-4" dirty="0">
                <a:solidFill>
                  <a:srgbClr val="9A0000"/>
                </a:solidFill>
                <a:latin typeface="Arial"/>
                <a:cs typeface="Arial"/>
              </a:rPr>
              <a:t>to </a:t>
            </a:r>
            <a:r>
              <a:rPr sz="1770" dirty="0">
                <a:solidFill>
                  <a:srgbClr val="9A0000"/>
                </a:solidFill>
                <a:latin typeface="Arial"/>
                <a:cs typeface="Arial"/>
              </a:rPr>
              <a:t>commit </a:t>
            </a:r>
            <a:r>
              <a:rPr sz="1770" spc="-4" dirty="0">
                <a:solidFill>
                  <a:srgbClr val="9A0000"/>
                </a:solidFill>
                <a:latin typeface="Arial"/>
                <a:cs typeface="Arial"/>
              </a:rPr>
              <a:t>to quantitative predictions  </a:t>
            </a:r>
            <a:r>
              <a:rPr sz="1770" dirty="0">
                <a:solidFill>
                  <a:srgbClr val="9A0000"/>
                </a:solidFill>
                <a:latin typeface="Arial"/>
                <a:cs typeface="Arial"/>
              </a:rPr>
              <a:t>when </a:t>
            </a:r>
            <a:r>
              <a:rPr sz="1770" spc="-4" dirty="0">
                <a:solidFill>
                  <a:srgbClr val="9A0000"/>
                </a:solidFill>
                <a:latin typeface="Arial"/>
                <a:cs typeface="Arial"/>
              </a:rPr>
              <a:t>qualitative information </a:t>
            </a:r>
            <a:r>
              <a:rPr sz="1770" dirty="0">
                <a:solidFill>
                  <a:srgbClr val="9A0000"/>
                </a:solidFill>
                <a:latin typeface="Arial"/>
                <a:cs typeface="Arial"/>
              </a:rPr>
              <a:t>is all </a:t>
            </a:r>
            <a:r>
              <a:rPr sz="1770" spc="-4" dirty="0">
                <a:solidFill>
                  <a:srgbClr val="9A0000"/>
                </a:solidFill>
                <a:latin typeface="Arial"/>
                <a:cs typeface="Arial"/>
              </a:rPr>
              <a:t>that</a:t>
            </a:r>
            <a:r>
              <a:rPr sz="1770" spc="9" dirty="0">
                <a:solidFill>
                  <a:srgbClr val="9A0000"/>
                </a:solidFill>
                <a:latin typeface="Arial"/>
                <a:cs typeface="Arial"/>
              </a:rPr>
              <a:t> </a:t>
            </a:r>
            <a:r>
              <a:rPr sz="1770" spc="-4" dirty="0">
                <a:solidFill>
                  <a:srgbClr val="9A0000"/>
                </a:solidFill>
                <a:latin typeface="Arial"/>
                <a:cs typeface="Arial"/>
              </a:rPr>
              <a:t>exists</a:t>
            </a:r>
            <a:endParaRPr sz="1770" dirty="0">
              <a:latin typeface="Arial"/>
              <a:cs typeface="Arial"/>
            </a:endParaRPr>
          </a:p>
          <a:p>
            <a:pPr marL="314777" marR="409772" indent="-303535">
              <a:lnSpc>
                <a:spcPct val="100699"/>
              </a:lnSpc>
              <a:spcBef>
                <a:spcPts val="248"/>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Estimation </a:t>
            </a:r>
            <a:r>
              <a:rPr sz="2124" dirty="0">
                <a:latin typeface="Arial"/>
                <a:cs typeface="Arial"/>
              </a:rPr>
              <a:t>carries inherent risk and </a:t>
            </a:r>
            <a:r>
              <a:rPr sz="2124" spc="-4" dirty="0">
                <a:latin typeface="Arial"/>
                <a:cs typeface="Arial"/>
              </a:rPr>
              <a:t>this</a:t>
            </a:r>
            <a:r>
              <a:rPr sz="2124" spc="-53" dirty="0">
                <a:latin typeface="Arial"/>
                <a:cs typeface="Arial"/>
              </a:rPr>
              <a:t> </a:t>
            </a:r>
            <a:r>
              <a:rPr sz="2124" dirty="0">
                <a:latin typeface="Arial"/>
                <a:cs typeface="Arial"/>
              </a:rPr>
              <a:t>risk  leads </a:t>
            </a:r>
            <a:r>
              <a:rPr sz="2124" spc="-4" dirty="0">
                <a:latin typeface="Arial"/>
                <a:cs typeface="Arial"/>
              </a:rPr>
              <a:t>to</a:t>
            </a:r>
            <a:r>
              <a:rPr sz="2124" spc="-9" dirty="0">
                <a:latin typeface="Arial"/>
                <a:cs typeface="Arial"/>
              </a:rPr>
              <a:t> </a:t>
            </a:r>
            <a:r>
              <a:rPr sz="2124" spc="-4" dirty="0">
                <a:latin typeface="Arial"/>
                <a:cs typeface="Arial"/>
              </a:rPr>
              <a:t>uncertainty</a:t>
            </a:r>
            <a:endParaRPr sz="2124" dirty="0">
              <a:latin typeface="Arial"/>
              <a:cs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849155"/>
            <a:ext cx="2821143" cy="556245"/>
          </a:xfrm>
          <a:prstGeom prst="rect">
            <a:avLst/>
          </a:prstGeom>
        </p:spPr>
        <p:txBody>
          <a:bodyPr vert="horz" wrap="square" lIns="0" tIns="11242" rIns="0" bIns="0" rtlCol="0" anchor="ctr">
            <a:spAutoFit/>
          </a:bodyPr>
          <a:lstStyle/>
          <a:p>
            <a:pPr marL="11242">
              <a:spcBef>
                <a:spcPts val="89"/>
              </a:spcBef>
              <a:tabLst>
                <a:tab pos="1184911" algn="l"/>
              </a:tabLst>
            </a:pPr>
            <a:r>
              <a:rPr spc="-4" dirty="0"/>
              <a:t>Write	</a:t>
            </a:r>
            <a:r>
              <a:rPr dirty="0"/>
              <a:t>it</a:t>
            </a:r>
            <a:r>
              <a:rPr spc="-89" dirty="0"/>
              <a:t> </a:t>
            </a:r>
            <a:r>
              <a:rPr dirty="0"/>
              <a:t>Down!</a:t>
            </a:r>
          </a:p>
        </p:txBody>
      </p:sp>
      <p:sp>
        <p:nvSpPr>
          <p:cNvPr id="19" name="object 19"/>
          <p:cNvSpPr txBox="1">
            <a:spLocks noGrp="1"/>
          </p:cNvSpPr>
          <p:nvPr>
            <p:ph type="sldNum" sz="quarter" idx="7"/>
          </p:nvPr>
        </p:nvSpPr>
        <p:spPr>
          <a:xfrm>
            <a:off x="5144383" y="5065875"/>
            <a:ext cx="1673537" cy="115416"/>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67</a:t>
            </a:fld>
            <a:endParaRPr dirty="0"/>
          </a:p>
        </p:txBody>
      </p:sp>
      <p:sp>
        <p:nvSpPr>
          <p:cNvPr id="3" name="object 3"/>
          <p:cNvSpPr/>
          <p:nvPr/>
        </p:nvSpPr>
        <p:spPr>
          <a:xfrm>
            <a:off x="5235986" y="2064004"/>
            <a:ext cx="1824859" cy="2803512"/>
          </a:xfrm>
          <a:prstGeom prst="rect">
            <a:avLst/>
          </a:prstGeom>
          <a:blipFill>
            <a:blip r:embed="rId2" cstate="print"/>
            <a:stretch>
              <a:fillRect/>
            </a:stretch>
          </a:blipFill>
        </p:spPr>
        <p:txBody>
          <a:bodyPr wrap="square" lIns="0" tIns="0" rIns="0" bIns="0" rtlCol="0"/>
          <a:lstStyle/>
          <a:p>
            <a:endParaRPr sz="1593"/>
          </a:p>
        </p:txBody>
      </p:sp>
      <p:sp>
        <p:nvSpPr>
          <p:cNvPr id="4" name="object 4"/>
          <p:cNvSpPr/>
          <p:nvPr/>
        </p:nvSpPr>
        <p:spPr>
          <a:xfrm>
            <a:off x="5265418" y="2090984"/>
            <a:ext cx="1697520" cy="2681182"/>
          </a:xfrm>
          <a:custGeom>
            <a:avLst/>
            <a:gdLst/>
            <a:ahLst/>
            <a:cxnLst/>
            <a:rect l="l" t="t" r="r" b="b"/>
            <a:pathLst>
              <a:path w="1917700" h="3028950">
                <a:moveTo>
                  <a:pt x="0" y="0"/>
                </a:moveTo>
                <a:lnTo>
                  <a:pt x="1917700" y="0"/>
                </a:lnTo>
                <a:lnTo>
                  <a:pt x="1917700" y="3028950"/>
                </a:lnTo>
                <a:lnTo>
                  <a:pt x="0" y="3028950"/>
                </a:lnTo>
                <a:lnTo>
                  <a:pt x="0" y="0"/>
                </a:lnTo>
                <a:close/>
              </a:path>
            </a:pathLst>
          </a:custGeom>
          <a:solidFill>
            <a:srgbClr val="BD419E"/>
          </a:solidFill>
        </p:spPr>
        <p:txBody>
          <a:bodyPr wrap="square" lIns="0" tIns="0" rIns="0" bIns="0" rtlCol="0"/>
          <a:lstStyle/>
          <a:p>
            <a:endParaRPr sz="1593"/>
          </a:p>
        </p:txBody>
      </p:sp>
      <p:sp>
        <p:nvSpPr>
          <p:cNvPr id="5" name="object 5"/>
          <p:cNvSpPr/>
          <p:nvPr/>
        </p:nvSpPr>
        <p:spPr>
          <a:xfrm>
            <a:off x="5533998" y="2549652"/>
            <a:ext cx="1232516" cy="434139"/>
          </a:xfrm>
          <a:prstGeom prst="rect">
            <a:avLst/>
          </a:prstGeom>
          <a:blipFill>
            <a:blip r:embed="rId3" cstate="print"/>
            <a:stretch>
              <a:fillRect/>
            </a:stretch>
          </a:blipFill>
        </p:spPr>
        <p:txBody>
          <a:bodyPr wrap="square" lIns="0" tIns="0" rIns="0" bIns="0" rtlCol="0"/>
          <a:lstStyle/>
          <a:p>
            <a:endParaRPr sz="1593"/>
          </a:p>
        </p:txBody>
      </p:sp>
      <p:sp>
        <p:nvSpPr>
          <p:cNvPr id="6" name="object 6"/>
          <p:cNvSpPr/>
          <p:nvPr/>
        </p:nvSpPr>
        <p:spPr>
          <a:xfrm>
            <a:off x="5648051" y="2866058"/>
            <a:ext cx="1004408" cy="434139"/>
          </a:xfrm>
          <a:prstGeom prst="rect">
            <a:avLst/>
          </a:prstGeom>
          <a:blipFill>
            <a:blip r:embed="rId4" cstate="print"/>
            <a:stretch>
              <a:fillRect/>
            </a:stretch>
          </a:blipFill>
        </p:spPr>
        <p:txBody>
          <a:bodyPr wrap="square" lIns="0" tIns="0" rIns="0" bIns="0" rtlCol="0"/>
          <a:lstStyle/>
          <a:p>
            <a:endParaRPr sz="1593"/>
          </a:p>
        </p:txBody>
      </p:sp>
      <p:sp>
        <p:nvSpPr>
          <p:cNvPr id="7" name="object 7"/>
          <p:cNvSpPr/>
          <p:nvPr/>
        </p:nvSpPr>
        <p:spPr>
          <a:xfrm>
            <a:off x="5817292" y="3189823"/>
            <a:ext cx="658567" cy="434139"/>
          </a:xfrm>
          <a:prstGeom prst="rect">
            <a:avLst/>
          </a:prstGeom>
          <a:blipFill>
            <a:blip r:embed="rId5" cstate="print"/>
            <a:stretch>
              <a:fillRect/>
            </a:stretch>
          </a:blipFill>
        </p:spPr>
        <p:txBody>
          <a:bodyPr wrap="square" lIns="0" tIns="0" rIns="0" bIns="0" rtlCol="0"/>
          <a:lstStyle/>
          <a:p>
            <a:endParaRPr sz="1593"/>
          </a:p>
        </p:txBody>
      </p:sp>
      <p:sp>
        <p:nvSpPr>
          <p:cNvPr id="8" name="object 8"/>
          <p:cNvSpPr txBox="1"/>
          <p:nvPr/>
        </p:nvSpPr>
        <p:spPr>
          <a:xfrm>
            <a:off x="5557707" y="2572980"/>
            <a:ext cx="1161845" cy="985032"/>
          </a:xfrm>
          <a:prstGeom prst="rect">
            <a:avLst/>
          </a:prstGeom>
        </p:spPr>
        <p:txBody>
          <a:bodyPr vert="horz" wrap="square" lIns="0" tIns="14052" rIns="0" bIns="0" rtlCol="0">
            <a:spAutoFit/>
          </a:bodyPr>
          <a:lstStyle/>
          <a:p>
            <a:pPr marL="11242" marR="4497" algn="ctr">
              <a:lnSpc>
                <a:spcPct val="99000"/>
              </a:lnSpc>
              <a:spcBef>
                <a:spcPts val="111"/>
              </a:spcBef>
            </a:pPr>
            <a:r>
              <a:rPr sz="2124" b="1" dirty="0">
                <a:latin typeface="Arial"/>
                <a:cs typeface="Arial"/>
              </a:rPr>
              <a:t>S</a:t>
            </a:r>
            <a:r>
              <a:rPr sz="2124" b="1" spc="-4" dirty="0">
                <a:latin typeface="Arial"/>
                <a:cs typeface="Arial"/>
              </a:rPr>
              <a:t>o</a:t>
            </a:r>
            <a:r>
              <a:rPr sz="2124" b="1" dirty="0">
                <a:latin typeface="Arial"/>
                <a:cs typeface="Arial"/>
              </a:rPr>
              <a:t>ft</a:t>
            </a:r>
            <a:r>
              <a:rPr sz="2124" b="1" spc="-4" dirty="0">
                <a:latin typeface="Arial"/>
                <a:cs typeface="Arial"/>
              </a:rPr>
              <a:t>w</a:t>
            </a:r>
            <a:r>
              <a:rPr sz="2124" b="1" dirty="0">
                <a:latin typeface="Arial"/>
                <a:cs typeface="Arial"/>
              </a:rPr>
              <a:t>are  </a:t>
            </a:r>
            <a:r>
              <a:rPr sz="2124" b="1" spc="-4" dirty="0">
                <a:latin typeface="Arial"/>
                <a:cs typeface="Arial"/>
              </a:rPr>
              <a:t>Project  Plan</a:t>
            </a:r>
            <a:endParaRPr sz="2124">
              <a:latin typeface="Arial"/>
              <a:cs typeface="Arial"/>
            </a:endParaRPr>
          </a:p>
        </p:txBody>
      </p:sp>
      <p:sp>
        <p:nvSpPr>
          <p:cNvPr id="9" name="object 9"/>
          <p:cNvSpPr/>
          <p:nvPr/>
        </p:nvSpPr>
        <p:spPr>
          <a:xfrm>
            <a:off x="1965221" y="2200132"/>
            <a:ext cx="2487107" cy="2656347"/>
          </a:xfrm>
          <a:prstGeom prst="rect">
            <a:avLst/>
          </a:prstGeom>
          <a:blipFill>
            <a:blip r:embed="rId6" cstate="print"/>
            <a:stretch>
              <a:fillRect/>
            </a:stretch>
          </a:blipFill>
        </p:spPr>
        <p:txBody>
          <a:bodyPr wrap="square" lIns="0" tIns="0" rIns="0" bIns="0" rtlCol="0"/>
          <a:lstStyle/>
          <a:p>
            <a:endParaRPr sz="1593"/>
          </a:p>
        </p:txBody>
      </p:sp>
      <p:sp>
        <p:nvSpPr>
          <p:cNvPr id="10" name="object 10"/>
          <p:cNvSpPr/>
          <p:nvPr/>
        </p:nvSpPr>
        <p:spPr>
          <a:xfrm>
            <a:off x="1994041" y="2230103"/>
            <a:ext cx="2360789" cy="2529417"/>
          </a:xfrm>
          <a:custGeom>
            <a:avLst/>
            <a:gdLst/>
            <a:ahLst/>
            <a:cxnLst/>
            <a:rect l="l" t="t" r="r" b="b"/>
            <a:pathLst>
              <a:path w="2667000" h="2857500">
                <a:moveTo>
                  <a:pt x="0" y="0"/>
                </a:moveTo>
                <a:lnTo>
                  <a:pt x="2666998" y="0"/>
                </a:lnTo>
                <a:lnTo>
                  <a:pt x="2666998" y="2857498"/>
                </a:lnTo>
                <a:lnTo>
                  <a:pt x="0" y="2857498"/>
                </a:lnTo>
                <a:lnTo>
                  <a:pt x="0" y="0"/>
                </a:lnTo>
                <a:close/>
              </a:path>
            </a:pathLst>
          </a:custGeom>
          <a:solidFill>
            <a:srgbClr val="407AAA"/>
          </a:solidFill>
        </p:spPr>
        <p:txBody>
          <a:bodyPr wrap="square" lIns="0" tIns="0" rIns="0" bIns="0" rtlCol="0"/>
          <a:lstStyle/>
          <a:p>
            <a:endParaRPr sz="1593"/>
          </a:p>
        </p:txBody>
      </p:sp>
      <p:sp>
        <p:nvSpPr>
          <p:cNvPr id="11" name="object 11"/>
          <p:cNvSpPr/>
          <p:nvPr/>
        </p:nvSpPr>
        <p:spPr>
          <a:xfrm>
            <a:off x="2127103" y="2498144"/>
            <a:ext cx="1894762" cy="434139"/>
          </a:xfrm>
          <a:prstGeom prst="rect">
            <a:avLst/>
          </a:prstGeom>
          <a:blipFill>
            <a:blip r:embed="rId7" cstate="print"/>
            <a:stretch>
              <a:fillRect/>
            </a:stretch>
          </a:blipFill>
        </p:spPr>
        <p:txBody>
          <a:bodyPr wrap="square" lIns="0" tIns="0" rIns="0" bIns="0" rtlCol="0"/>
          <a:lstStyle/>
          <a:p>
            <a:endParaRPr sz="1593"/>
          </a:p>
        </p:txBody>
      </p:sp>
      <p:sp>
        <p:nvSpPr>
          <p:cNvPr id="12" name="object 12"/>
          <p:cNvSpPr/>
          <p:nvPr/>
        </p:nvSpPr>
        <p:spPr>
          <a:xfrm>
            <a:off x="2127104" y="2814550"/>
            <a:ext cx="1368644" cy="434139"/>
          </a:xfrm>
          <a:prstGeom prst="rect">
            <a:avLst/>
          </a:prstGeom>
          <a:blipFill>
            <a:blip r:embed="rId8" cstate="print"/>
            <a:stretch>
              <a:fillRect/>
            </a:stretch>
          </a:blipFill>
        </p:spPr>
        <p:txBody>
          <a:bodyPr wrap="square" lIns="0" tIns="0" rIns="0" bIns="0" rtlCol="0"/>
          <a:lstStyle/>
          <a:p>
            <a:endParaRPr sz="1593"/>
          </a:p>
        </p:txBody>
      </p:sp>
      <p:sp>
        <p:nvSpPr>
          <p:cNvPr id="13" name="object 13"/>
          <p:cNvSpPr/>
          <p:nvPr/>
        </p:nvSpPr>
        <p:spPr>
          <a:xfrm>
            <a:off x="2127103" y="3141995"/>
            <a:ext cx="816771" cy="430460"/>
          </a:xfrm>
          <a:prstGeom prst="rect">
            <a:avLst/>
          </a:prstGeom>
          <a:blipFill>
            <a:blip r:embed="rId9" cstate="print"/>
            <a:stretch>
              <a:fillRect/>
            </a:stretch>
          </a:blipFill>
        </p:spPr>
        <p:txBody>
          <a:bodyPr wrap="square" lIns="0" tIns="0" rIns="0" bIns="0" rtlCol="0"/>
          <a:lstStyle/>
          <a:p>
            <a:endParaRPr sz="1593"/>
          </a:p>
        </p:txBody>
      </p:sp>
      <p:sp>
        <p:nvSpPr>
          <p:cNvPr id="14" name="object 14"/>
          <p:cNvSpPr/>
          <p:nvPr/>
        </p:nvSpPr>
        <p:spPr>
          <a:xfrm>
            <a:off x="2127103" y="3465760"/>
            <a:ext cx="1287702" cy="434139"/>
          </a:xfrm>
          <a:prstGeom prst="rect">
            <a:avLst/>
          </a:prstGeom>
          <a:blipFill>
            <a:blip r:embed="rId10" cstate="print"/>
            <a:stretch>
              <a:fillRect/>
            </a:stretch>
          </a:blipFill>
        </p:spPr>
        <p:txBody>
          <a:bodyPr wrap="square" lIns="0" tIns="0" rIns="0" bIns="0" rtlCol="0"/>
          <a:lstStyle/>
          <a:p>
            <a:endParaRPr sz="1593"/>
          </a:p>
        </p:txBody>
      </p:sp>
      <p:sp>
        <p:nvSpPr>
          <p:cNvPr id="15" name="object 15"/>
          <p:cNvSpPr/>
          <p:nvPr/>
        </p:nvSpPr>
        <p:spPr>
          <a:xfrm>
            <a:off x="2127104" y="3793204"/>
            <a:ext cx="2178057" cy="434139"/>
          </a:xfrm>
          <a:prstGeom prst="rect">
            <a:avLst/>
          </a:prstGeom>
          <a:blipFill>
            <a:blip r:embed="rId11" cstate="print"/>
            <a:stretch>
              <a:fillRect/>
            </a:stretch>
          </a:blipFill>
        </p:spPr>
        <p:txBody>
          <a:bodyPr wrap="square" lIns="0" tIns="0" rIns="0" bIns="0" rtlCol="0"/>
          <a:lstStyle/>
          <a:p>
            <a:endParaRPr sz="1593"/>
          </a:p>
        </p:txBody>
      </p:sp>
      <p:sp>
        <p:nvSpPr>
          <p:cNvPr id="16" name="object 16"/>
          <p:cNvSpPr txBox="1"/>
          <p:nvPr/>
        </p:nvSpPr>
        <p:spPr>
          <a:xfrm>
            <a:off x="2151427" y="2522391"/>
            <a:ext cx="2106723" cy="1647476"/>
          </a:xfrm>
          <a:prstGeom prst="rect">
            <a:avLst/>
          </a:prstGeom>
        </p:spPr>
        <p:txBody>
          <a:bodyPr vert="horz" wrap="square" lIns="0" tIns="12928" rIns="0" bIns="0" rtlCol="0">
            <a:spAutoFit/>
          </a:bodyPr>
          <a:lstStyle/>
          <a:p>
            <a:pPr marL="11242" marR="288920">
              <a:lnSpc>
                <a:spcPct val="99500"/>
              </a:lnSpc>
              <a:spcBef>
                <a:spcPts val="102"/>
              </a:spcBef>
            </a:pPr>
            <a:r>
              <a:rPr sz="2124" b="1" spc="-4" dirty="0">
                <a:solidFill>
                  <a:srgbClr val="FFFFFF"/>
                </a:solidFill>
                <a:latin typeface="Arial"/>
                <a:cs typeface="Arial"/>
              </a:rPr>
              <a:t>Project</a:t>
            </a:r>
            <a:r>
              <a:rPr sz="2124" b="1" spc="-58" dirty="0">
                <a:solidFill>
                  <a:srgbClr val="FFFFFF"/>
                </a:solidFill>
                <a:latin typeface="Arial"/>
                <a:cs typeface="Arial"/>
              </a:rPr>
              <a:t> </a:t>
            </a:r>
            <a:r>
              <a:rPr sz="2124" b="1" spc="-4" dirty="0">
                <a:solidFill>
                  <a:srgbClr val="FFFFFF"/>
                </a:solidFill>
                <a:latin typeface="Arial"/>
                <a:cs typeface="Arial"/>
              </a:rPr>
              <a:t>Scope  </a:t>
            </a:r>
            <a:r>
              <a:rPr sz="2124" b="1" spc="-4" dirty="0">
                <a:latin typeface="Arial"/>
                <a:cs typeface="Arial"/>
              </a:rPr>
              <a:t>Estimates  </a:t>
            </a:r>
            <a:r>
              <a:rPr sz="2124" b="1" dirty="0">
                <a:latin typeface="Arial"/>
                <a:cs typeface="Arial"/>
              </a:rPr>
              <a:t>Risks  </a:t>
            </a:r>
            <a:r>
              <a:rPr sz="2124" b="1" spc="-4" dirty="0">
                <a:latin typeface="Arial"/>
                <a:cs typeface="Arial"/>
              </a:rPr>
              <a:t>Schedule</a:t>
            </a:r>
            <a:endParaRPr sz="2124">
              <a:latin typeface="Arial"/>
              <a:cs typeface="Arial"/>
            </a:endParaRPr>
          </a:p>
          <a:p>
            <a:pPr marL="11242">
              <a:spcBef>
                <a:spcPts val="18"/>
              </a:spcBef>
            </a:pPr>
            <a:r>
              <a:rPr sz="2124" b="1" spc="-4" dirty="0">
                <a:latin typeface="Arial"/>
                <a:cs typeface="Arial"/>
              </a:rPr>
              <a:t>Control</a:t>
            </a:r>
            <a:r>
              <a:rPr sz="2124" b="1" spc="-40" dirty="0">
                <a:latin typeface="Arial"/>
                <a:cs typeface="Arial"/>
              </a:rPr>
              <a:t> </a:t>
            </a:r>
            <a:r>
              <a:rPr sz="2124" b="1" spc="-4" dirty="0">
                <a:latin typeface="Arial"/>
                <a:cs typeface="Arial"/>
              </a:rPr>
              <a:t>strategy</a:t>
            </a:r>
            <a:endParaRPr sz="2124">
              <a:latin typeface="Arial"/>
              <a:cs typeface="Arial"/>
            </a:endParaRPr>
          </a:p>
        </p:txBody>
      </p:sp>
      <p:sp>
        <p:nvSpPr>
          <p:cNvPr id="17" name="object 17"/>
          <p:cNvSpPr/>
          <p:nvPr/>
        </p:nvSpPr>
        <p:spPr>
          <a:xfrm>
            <a:off x="3661310" y="2490786"/>
            <a:ext cx="1802783" cy="1854291"/>
          </a:xfrm>
          <a:prstGeom prst="rect">
            <a:avLst/>
          </a:prstGeom>
          <a:blipFill>
            <a:blip r:embed="rId12" cstate="print"/>
            <a:stretch>
              <a:fillRect/>
            </a:stretch>
          </a:blipFill>
        </p:spPr>
        <p:txBody>
          <a:bodyPr wrap="square" lIns="0" tIns="0" rIns="0" bIns="0" rtlCol="0"/>
          <a:lstStyle/>
          <a:p>
            <a:endParaRPr sz="1593"/>
          </a:p>
        </p:txBody>
      </p:sp>
      <p:sp>
        <p:nvSpPr>
          <p:cNvPr id="18" name="object 18"/>
          <p:cNvSpPr/>
          <p:nvPr/>
        </p:nvSpPr>
        <p:spPr>
          <a:xfrm>
            <a:off x="3691561" y="2520986"/>
            <a:ext cx="1675036" cy="1728435"/>
          </a:xfrm>
          <a:custGeom>
            <a:avLst/>
            <a:gdLst/>
            <a:ahLst/>
            <a:cxnLst/>
            <a:rect l="l" t="t" r="r" b="b"/>
            <a:pathLst>
              <a:path w="1892300" h="1952625">
                <a:moveTo>
                  <a:pt x="946054" y="0"/>
                </a:moveTo>
                <a:lnTo>
                  <a:pt x="946054" y="488156"/>
                </a:lnTo>
                <a:lnTo>
                  <a:pt x="0" y="488156"/>
                </a:lnTo>
                <a:lnTo>
                  <a:pt x="0" y="1464468"/>
                </a:lnTo>
                <a:lnTo>
                  <a:pt x="946054" y="1464468"/>
                </a:lnTo>
                <a:lnTo>
                  <a:pt x="946054" y="1952625"/>
                </a:lnTo>
                <a:lnTo>
                  <a:pt x="1892298" y="976313"/>
                </a:lnTo>
                <a:lnTo>
                  <a:pt x="946054" y="0"/>
                </a:lnTo>
                <a:close/>
              </a:path>
            </a:pathLst>
          </a:custGeom>
          <a:solidFill>
            <a:srgbClr val="004479"/>
          </a:solidFill>
        </p:spPr>
        <p:txBody>
          <a:bodyPr wrap="square" lIns="0" tIns="0" rIns="0" bIns="0" rtlCol="0"/>
          <a:lstStyle/>
          <a:p>
            <a:endParaRPr sz="1593"/>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889355"/>
            <a:ext cx="4896951" cy="610747"/>
          </a:xfrm>
          <a:prstGeom prst="rect">
            <a:avLst/>
          </a:prstGeom>
        </p:spPr>
        <p:txBody>
          <a:bodyPr vert="horz" wrap="square" lIns="0" tIns="11242" rIns="0" bIns="0" rtlCol="0" anchor="ctr">
            <a:spAutoFit/>
          </a:bodyPr>
          <a:lstStyle/>
          <a:p>
            <a:pPr marL="11242">
              <a:spcBef>
                <a:spcPts val="89"/>
              </a:spcBef>
              <a:tabLst>
                <a:tab pos="660470" algn="l"/>
                <a:tab pos="3110672" algn="l"/>
                <a:tab pos="4510306" algn="l"/>
              </a:tabLst>
            </a:pPr>
            <a:r>
              <a:rPr spc="-4" dirty="0"/>
              <a:t>T</a:t>
            </a:r>
            <a:r>
              <a:rPr dirty="0"/>
              <a:t>o	Unders</a:t>
            </a:r>
            <a:r>
              <a:rPr spc="-4" dirty="0"/>
              <a:t>t</a:t>
            </a:r>
            <a:r>
              <a:rPr dirty="0"/>
              <a:t>and	Scope	</a:t>
            </a:r>
            <a:r>
              <a:rPr spc="-4" dirty="0"/>
              <a:t>..</a:t>
            </a:r>
            <a:r>
              <a:rPr dirty="0"/>
              <a:t>.</a:t>
            </a:r>
          </a:p>
        </p:txBody>
      </p:sp>
      <p:sp>
        <p:nvSpPr>
          <p:cNvPr id="6" name="object 6"/>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68</a:t>
            </a:fld>
            <a:endParaRPr dirty="0"/>
          </a:p>
        </p:txBody>
      </p:sp>
      <p:sp>
        <p:nvSpPr>
          <p:cNvPr id="3" name="object 3"/>
          <p:cNvSpPr/>
          <p:nvPr/>
        </p:nvSpPr>
        <p:spPr>
          <a:xfrm>
            <a:off x="2130782" y="4330361"/>
            <a:ext cx="3726980" cy="434139"/>
          </a:xfrm>
          <a:prstGeom prst="rect">
            <a:avLst/>
          </a:prstGeom>
          <a:blipFill>
            <a:blip r:embed="rId2" cstate="print"/>
            <a:stretch>
              <a:fillRect/>
            </a:stretch>
          </a:blipFill>
        </p:spPr>
        <p:txBody>
          <a:bodyPr wrap="square" lIns="0" tIns="0" rIns="0" bIns="0" rtlCol="0"/>
          <a:lstStyle/>
          <a:p>
            <a:endParaRPr sz="1593"/>
          </a:p>
        </p:txBody>
      </p:sp>
      <p:sp>
        <p:nvSpPr>
          <p:cNvPr id="4" name="object 4"/>
          <p:cNvSpPr/>
          <p:nvPr/>
        </p:nvSpPr>
        <p:spPr>
          <a:xfrm>
            <a:off x="2130782" y="4646767"/>
            <a:ext cx="3053696" cy="434139"/>
          </a:xfrm>
          <a:prstGeom prst="rect">
            <a:avLst/>
          </a:prstGeom>
          <a:blipFill>
            <a:blip r:embed="rId3" cstate="print"/>
            <a:stretch>
              <a:fillRect/>
            </a:stretch>
          </a:blipFill>
        </p:spPr>
        <p:txBody>
          <a:bodyPr wrap="square" lIns="0" tIns="0" rIns="0" bIns="0" rtlCol="0"/>
          <a:lstStyle/>
          <a:p>
            <a:endParaRPr sz="1593"/>
          </a:p>
        </p:txBody>
      </p:sp>
      <p:sp>
        <p:nvSpPr>
          <p:cNvPr id="5" name="object 5"/>
          <p:cNvSpPr txBox="1"/>
          <p:nvPr/>
        </p:nvSpPr>
        <p:spPr>
          <a:xfrm>
            <a:off x="1691915" y="1591172"/>
            <a:ext cx="4886271" cy="3461356"/>
          </a:xfrm>
          <a:prstGeom prst="rect">
            <a:avLst/>
          </a:prstGeom>
        </p:spPr>
        <p:txBody>
          <a:bodyPr vert="horz" wrap="square" lIns="0" tIns="66889" rIns="0" bIns="0" rtlCol="0">
            <a:spAutoFit/>
          </a:bodyPr>
          <a:lstStyle/>
          <a:p>
            <a:pPr marL="11242">
              <a:spcBef>
                <a:spcPts val="527"/>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Understand the customers</a:t>
            </a:r>
            <a:r>
              <a:rPr sz="2124" dirty="0">
                <a:latin typeface="Arial"/>
                <a:cs typeface="Arial"/>
              </a:rPr>
              <a:t> needs</a:t>
            </a:r>
            <a:endParaRPr sz="2124">
              <a:latin typeface="Arial"/>
              <a:cs typeface="Arial"/>
            </a:endParaRPr>
          </a:p>
          <a:p>
            <a:pPr marL="11242">
              <a:spcBef>
                <a:spcPts val="438"/>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understand the </a:t>
            </a:r>
            <a:r>
              <a:rPr sz="2124" dirty="0">
                <a:latin typeface="Arial"/>
                <a:cs typeface="Arial"/>
              </a:rPr>
              <a:t>business </a:t>
            </a:r>
            <a:r>
              <a:rPr sz="2124" spc="-4" dirty="0">
                <a:latin typeface="Arial"/>
                <a:cs typeface="Arial"/>
              </a:rPr>
              <a:t>context</a:t>
            </a:r>
            <a:endParaRPr sz="2124">
              <a:latin typeface="Arial"/>
              <a:cs typeface="Arial"/>
            </a:endParaRPr>
          </a:p>
          <a:p>
            <a:pPr marL="11242">
              <a:spcBef>
                <a:spcPts val="549"/>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understand the </a:t>
            </a:r>
            <a:r>
              <a:rPr sz="2124" dirty="0">
                <a:latin typeface="Arial"/>
                <a:cs typeface="Arial"/>
              </a:rPr>
              <a:t>project</a:t>
            </a:r>
            <a:r>
              <a:rPr sz="2124" spc="-9" dirty="0">
                <a:latin typeface="Arial"/>
                <a:cs typeface="Arial"/>
              </a:rPr>
              <a:t> </a:t>
            </a:r>
            <a:r>
              <a:rPr sz="2124" dirty="0">
                <a:latin typeface="Arial"/>
                <a:cs typeface="Arial"/>
              </a:rPr>
              <a:t>boundaries</a:t>
            </a:r>
            <a:endParaRPr sz="2124">
              <a:latin typeface="Arial"/>
              <a:cs typeface="Arial"/>
            </a:endParaRPr>
          </a:p>
          <a:p>
            <a:pPr marL="11242">
              <a:spcBef>
                <a:spcPts val="460"/>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understand the customer’s</a:t>
            </a:r>
            <a:r>
              <a:rPr sz="2124" spc="22" dirty="0">
                <a:latin typeface="Arial"/>
                <a:cs typeface="Arial"/>
              </a:rPr>
              <a:t> </a:t>
            </a:r>
            <a:r>
              <a:rPr sz="2124" spc="-4" dirty="0">
                <a:latin typeface="Arial"/>
                <a:cs typeface="Arial"/>
              </a:rPr>
              <a:t>motivation</a:t>
            </a:r>
            <a:endParaRPr sz="2124">
              <a:latin typeface="Arial"/>
              <a:cs typeface="Arial"/>
            </a:endParaRPr>
          </a:p>
          <a:p>
            <a:pPr marL="11242">
              <a:spcBef>
                <a:spcPts val="549"/>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understand the </a:t>
            </a:r>
            <a:r>
              <a:rPr sz="2124" dirty="0">
                <a:latin typeface="Arial"/>
                <a:cs typeface="Arial"/>
              </a:rPr>
              <a:t>likely </a:t>
            </a:r>
            <a:r>
              <a:rPr sz="2124" spc="-4" dirty="0">
                <a:latin typeface="Arial"/>
                <a:cs typeface="Arial"/>
              </a:rPr>
              <a:t>paths for</a:t>
            </a:r>
            <a:r>
              <a:rPr sz="2124" spc="-13" dirty="0">
                <a:latin typeface="Arial"/>
                <a:cs typeface="Arial"/>
              </a:rPr>
              <a:t> </a:t>
            </a:r>
            <a:r>
              <a:rPr sz="2124" dirty="0">
                <a:latin typeface="Arial"/>
                <a:cs typeface="Arial"/>
              </a:rPr>
              <a:t>change</a:t>
            </a:r>
            <a:endParaRPr sz="2124">
              <a:latin typeface="Arial"/>
              <a:cs typeface="Arial"/>
            </a:endParaRPr>
          </a:p>
          <a:p>
            <a:pPr marL="11242">
              <a:spcBef>
                <a:spcPts val="549"/>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understand that ...</a:t>
            </a:r>
            <a:endParaRPr sz="2124">
              <a:latin typeface="Arial"/>
              <a:cs typeface="Arial"/>
            </a:endParaRPr>
          </a:p>
          <a:p>
            <a:pPr>
              <a:lnSpc>
                <a:spcPct val="100000"/>
              </a:lnSpc>
            </a:pPr>
            <a:endParaRPr sz="3142">
              <a:latin typeface="Times New Roman"/>
              <a:cs typeface="Times New Roman"/>
            </a:endParaRPr>
          </a:p>
          <a:p>
            <a:pPr marL="483408" marR="812237">
              <a:lnSpc>
                <a:spcPts val="2479"/>
              </a:lnSpc>
            </a:pPr>
            <a:r>
              <a:rPr sz="2124" b="1" i="1" dirty="0">
                <a:solidFill>
                  <a:srgbClr val="9A0000"/>
                </a:solidFill>
                <a:latin typeface="Arial"/>
                <a:cs typeface="Arial"/>
              </a:rPr>
              <a:t>Even </a:t>
            </a:r>
            <a:r>
              <a:rPr sz="2124" b="1" i="1" spc="-4" dirty="0">
                <a:solidFill>
                  <a:srgbClr val="9A0000"/>
                </a:solidFill>
                <a:latin typeface="Arial"/>
                <a:cs typeface="Arial"/>
              </a:rPr>
              <a:t>when you understand,  nothing is</a:t>
            </a:r>
            <a:r>
              <a:rPr sz="2124" b="1" i="1" spc="-9" dirty="0">
                <a:solidFill>
                  <a:srgbClr val="9A0000"/>
                </a:solidFill>
                <a:latin typeface="Arial"/>
                <a:cs typeface="Arial"/>
              </a:rPr>
              <a:t> </a:t>
            </a:r>
            <a:r>
              <a:rPr sz="2124" b="1" i="1" spc="-4" dirty="0">
                <a:solidFill>
                  <a:srgbClr val="9A0000"/>
                </a:solidFill>
                <a:latin typeface="Arial"/>
                <a:cs typeface="Arial"/>
              </a:rPr>
              <a:t>guaranteed!</a:t>
            </a:r>
            <a:endParaRPr sz="2124">
              <a:latin typeface="Arial"/>
              <a:cs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821904"/>
            <a:ext cx="3171888" cy="610747"/>
          </a:xfrm>
          <a:prstGeom prst="rect">
            <a:avLst/>
          </a:prstGeom>
        </p:spPr>
        <p:txBody>
          <a:bodyPr vert="horz" wrap="square" lIns="0" tIns="11242" rIns="0" bIns="0" rtlCol="0" anchor="ctr">
            <a:spAutoFit/>
          </a:bodyPr>
          <a:lstStyle/>
          <a:p>
            <a:pPr marL="11242">
              <a:spcBef>
                <a:spcPts val="89"/>
              </a:spcBef>
            </a:pPr>
            <a:r>
              <a:rPr spc="-4" dirty="0"/>
              <a:t>What </a:t>
            </a:r>
            <a:r>
              <a:rPr dirty="0"/>
              <a:t>is</a:t>
            </a:r>
            <a:r>
              <a:rPr spc="-80" dirty="0"/>
              <a:t> </a:t>
            </a:r>
            <a:r>
              <a:rPr dirty="0"/>
              <a:t>Scope?</a:t>
            </a:r>
          </a:p>
        </p:txBody>
      </p:sp>
      <p:sp>
        <p:nvSpPr>
          <p:cNvPr id="4" name="object 4"/>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69</a:t>
            </a:fld>
            <a:endParaRPr dirty="0"/>
          </a:p>
        </p:txBody>
      </p:sp>
      <p:sp>
        <p:nvSpPr>
          <p:cNvPr id="3" name="object 3"/>
          <p:cNvSpPr txBox="1"/>
          <p:nvPr/>
        </p:nvSpPr>
        <p:spPr>
          <a:xfrm>
            <a:off x="1692759" y="1685828"/>
            <a:ext cx="5949188" cy="3687762"/>
          </a:xfrm>
          <a:prstGeom prst="rect">
            <a:avLst/>
          </a:prstGeom>
        </p:spPr>
        <p:txBody>
          <a:bodyPr vert="horz" wrap="square" lIns="0" tIns="40471" rIns="0" bIns="0" rtlCol="0">
            <a:spAutoFit/>
          </a:bodyPr>
          <a:lstStyle/>
          <a:p>
            <a:pPr marL="11242">
              <a:spcBef>
                <a:spcPts val="319"/>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i="1" spc="-4" dirty="0">
                <a:solidFill>
                  <a:srgbClr val="9A0000"/>
                </a:solidFill>
                <a:latin typeface="Arial"/>
                <a:cs typeface="Arial"/>
              </a:rPr>
              <a:t>Software </a:t>
            </a:r>
            <a:r>
              <a:rPr sz="2124" i="1" dirty="0">
                <a:solidFill>
                  <a:srgbClr val="9A0000"/>
                </a:solidFill>
                <a:latin typeface="Arial"/>
                <a:cs typeface="Arial"/>
              </a:rPr>
              <a:t>scope</a:t>
            </a:r>
            <a:r>
              <a:rPr sz="2124" i="1" spc="-4" dirty="0">
                <a:solidFill>
                  <a:srgbClr val="9A0000"/>
                </a:solidFill>
                <a:latin typeface="Arial"/>
                <a:cs typeface="Arial"/>
              </a:rPr>
              <a:t> </a:t>
            </a:r>
            <a:r>
              <a:rPr sz="2124" dirty="0">
                <a:latin typeface="Arial"/>
                <a:cs typeface="Arial"/>
              </a:rPr>
              <a:t>describes</a:t>
            </a:r>
            <a:endParaRPr sz="2124">
              <a:latin typeface="Arial"/>
              <a:cs typeface="Arial"/>
            </a:endParaRPr>
          </a:p>
          <a:p>
            <a:pPr marL="663280" marR="73073" indent="-247325">
              <a:spcBef>
                <a:spcPts val="195"/>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the functions </a:t>
            </a:r>
            <a:r>
              <a:rPr sz="1770" dirty="0">
                <a:latin typeface="Arial"/>
                <a:cs typeface="Arial"/>
              </a:rPr>
              <a:t>and </a:t>
            </a:r>
            <a:r>
              <a:rPr sz="1770" spc="-4" dirty="0">
                <a:latin typeface="Arial"/>
                <a:cs typeface="Arial"/>
              </a:rPr>
              <a:t>features that </a:t>
            </a:r>
            <a:r>
              <a:rPr sz="1770" dirty="0">
                <a:latin typeface="Arial"/>
                <a:cs typeface="Arial"/>
              </a:rPr>
              <a:t>are </a:t>
            </a:r>
            <a:r>
              <a:rPr sz="1770" spc="-4" dirty="0">
                <a:latin typeface="Arial"/>
                <a:cs typeface="Arial"/>
              </a:rPr>
              <a:t>to </a:t>
            </a:r>
            <a:r>
              <a:rPr sz="1770" dirty="0">
                <a:latin typeface="Arial"/>
                <a:cs typeface="Arial"/>
              </a:rPr>
              <a:t>be delivered </a:t>
            </a:r>
            <a:r>
              <a:rPr sz="1770" spc="-4" dirty="0">
                <a:latin typeface="Arial"/>
                <a:cs typeface="Arial"/>
              </a:rPr>
              <a:t>to  </a:t>
            </a:r>
            <a:r>
              <a:rPr sz="1770" dirty="0">
                <a:latin typeface="Arial"/>
                <a:cs typeface="Arial"/>
              </a:rPr>
              <a:t>end-users</a:t>
            </a:r>
            <a:endParaRPr sz="1770">
              <a:latin typeface="Arial"/>
              <a:cs typeface="Arial"/>
            </a:endParaRPr>
          </a:p>
          <a:p>
            <a:pPr marL="415955">
              <a:spcBef>
                <a:spcPts val="26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the data that </a:t>
            </a:r>
            <a:r>
              <a:rPr sz="1770" dirty="0">
                <a:latin typeface="Arial"/>
                <a:cs typeface="Arial"/>
              </a:rPr>
              <a:t>are input and</a:t>
            </a:r>
            <a:r>
              <a:rPr sz="1770" spc="-4" dirty="0">
                <a:latin typeface="Arial"/>
                <a:cs typeface="Arial"/>
              </a:rPr>
              <a:t> output</a:t>
            </a:r>
            <a:endParaRPr sz="1770">
              <a:latin typeface="Arial"/>
              <a:cs typeface="Arial"/>
            </a:endParaRPr>
          </a:p>
          <a:p>
            <a:pPr marL="663280" marR="861139" indent="-247325">
              <a:spcBef>
                <a:spcPts val="26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the </a:t>
            </a:r>
            <a:r>
              <a:rPr sz="1770" spc="-4" dirty="0">
                <a:latin typeface="MS PGothic"/>
                <a:cs typeface="MS PGothic"/>
              </a:rPr>
              <a:t>“</a:t>
            </a:r>
            <a:r>
              <a:rPr sz="1770" spc="-4" dirty="0">
                <a:latin typeface="Arial"/>
                <a:cs typeface="Arial"/>
              </a:rPr>
              <a:t>content</a:t>
            </a:r>
            <a:r>
              <a:rPr sz="1770" spc="-4" dirty="0">
                <a:latin typeface="MS PGothic"/>
                <a:cs typeface="MS PGothic"/>
              </a:rPr>
              <a:t>” </a:t>
            </a:r>
            <a:r>
              <a:rPr sz="1770" spc="-4" dirty="0">
                <a:latin typeface="Arial"/>
                <a:cs typeface="Arial"/>
              </a:rPr>
              <a:t>that </a:t>
            </a:r>
            <a:r>
              <a:rPr sz="1770" dirty="0">
                <a:latin typeface="Arial"/>
                <a:cs typeface="Arial"/>
              </a:rPr>
              <a:t>is </a:t>
            </a:r>
            <a:r>
              <a:rPr sz="1770" spc="-4" dirty="0">
                <a:latin typeface="Arial"/>
                <a:cs typeface="Arial"/>
              </a:rPr>
              <a:t>presented to </a:t>
            </a:r>
            <a:r>
              <a:rPr sz="1770" dirty="0">
                <a:latin typeface="Arial"/>
                <a:cs typeface="Arial"/>
              </a:rPr>
              <a:t>users as</a:t>
            </a:r>
            <a:r>
              <a:rPr sz="1770" spc="-58" dirty="0">
                <a:latin typeface="Arial"/>
                <a:cs typeface="Arial"/>
              </a:rPr>
              <a:t> </a:t>
            </a:r>
            <a:r>
              <a:rPr sz="1770" dirty="0">
                <a:latin typeface="Arial"/>
                <a:cs typeface="Arial"/>
              </a:rPr>
              <a:t>a  consequence of using </a:t>
            </a:r>
            <a:r>
              <a:rPr sz="1770" spc="-4" dirty="0">
                <a:latin typeface="Arial"/>
                <a:cs typeface="Arial"/>
              </a:rPr>
              <a:t>the</a:t>
            </a:r>
            <a:r>
              <a:rPr sz="1770" spc="-18" dirty="0">
                <a:latin typeface="Arial"/>
                <a:cs typeface="Arial"/>
              </a:rPr>
              <a:t> </a:t>
            </a:r>
            <a:r>
              <a:rPr sz="1770" spc="-4" dirty="0">
                <a:latin typeface="Arial"/>
                <a:cs typeface="Arial"/>
              </a:rPr>
              <a:t>software</a:t>
            </a:r>
            <a:endParaRPr sz="1770">
              <a:latin typeface="Arial"/>
              <a:cs typeface="Arial"/>
            </a:endParaRPr>
          </a:p>
          <a:p>
            <a:pPr marL="663280" marR="824042" indent="-247325">
              <a:spcBef>
                <a:spcPts val="26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the performance, constraints, interfaces, </a:t>
            </a:r>
            <a:r>
              <a:rPr sz="1770" dirty="0">
                <a:latin typeface="Arial"/>
                <a:cs typeface="Arial"/>
              </a:rPr>
              <a:t>and  </a:t>
            </a:r>
            <a:r>
              <a:rPr sz="1770" spc="-4" dirty="0">
                <a:latin typeface="Arial"/>
                <a:cs typeface="Arial"/>
              </a:rPr>
              <a:t>reliability that </a:t>
            </a:r>
            <a:r>
              <a:rPr sz="1770" i="1" dirty="0">
                <a:latin typeface="Arial"/>
                <a:cs typeface="Arial"/>
              </a:rPr>
              <a:t>bound </a:t>
            </a:r>
            <a:r>
              <a:rPr sz="1770" spc="-4" dirty="0">
                <a:latin typeface="Arial"/>
                <a:cs typeface="Arial"/>
              </a:rPr>
              <a:t>the system.</a:t>
            </a:r>
            <a:endParaRPr sz="1770">
              <a:latin typeface="Arial"/>
              <a:cs typeface="Arial"/>
            </a:endParaRPr>
          </a:p>
          <a:p>
            <a:pPr marL="11242">
              <a:spcBef>
                <a:spcPts val="266"/>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Scope is defined using one of </a:t>
            </a:r>
            <a:r>
              <a:rPr sz="2124" spc="-4" dirty="0">
                <a:latin typeface="Arial"/>
                <a:cs typeface="Arial"/>
              </a:rPr>
              <a:t>two</a:t>
            </a:r>
            <a:r>
              <a:rPr sz="2124" spc="-40" dirty="0">
                <a:latin typeface="Arial"/>
                <a:cs typeface="Arial"/>
              </a:rPr>
              <a:t> </a:t>
            </a:r>
            <a:r>
              <a:rPr sz="2124" spc="-4" dirty="0">
                <a:latin typeface="Arial"/>
                <a:cs typeface="Arial"/>
              </a:rPr>
              <a:t>techniques:</a:t>
            </a:r>
            <a:endParaRPr sz="2124">
              <a:latin typeface="Arial"/>
              <a:cs typeface="Arial"/>
            </a:endParaRPr>
          </a:p>
          <a:p>
            <a:pPr marL="663280" marR="4497" indent="-247325">
              <a:spcBef>
                <a:spcPts val="283"/>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A </a:t>
            </a:r>
            <a:r>
              <a:rPr sz="1770" spc="-4" dirty="0">
                <a:latin typeface="Arial"/>
                <a:cs typeface="Arial"/>
              </a:rPr>
              <a:t>narrative description </a:t>
            </a:r>
            <a:r>
              <a:rPr sz="1770" dirty="0">
                <a:latin typeface="Arial"/>
                <a:cs typeface="Arial"/>
              </a:rPr>
              <a:t>of </a:t>
            </a:r>
            <a:r>
              <a:rPr sz="1770" spc="-4" dirty="0">
                <a:latin typeface="Arial"/>
                <a:cs typeface="Arial"/>
              </a:rPr>
              <a:t>software </a:t>
            </a:r>
            <a:r>
              <a:rPr sz="1770" dirty="0">
                <a:latin typeface="Arial"/>
                <a:cs typeface="Arial"/>
              </a:rPr>
              <a:t>scope is  developed </a:t>
            </a:r>
            <a:r>
              <a:rPr sz="1770" spc="-4" dirty="0">
                <a:latin typeface="Arial"/>
                <a:cs typeface="Arial"/>
              </a:rPr>
              <a:t>after communication with </a:t>
            </a:r>
            <a:r>
              <a:rPr sz="1770" dirty="0">
                <a:latin typeface="Arial"/>
                <a:cs typeface="Arial"/>
              </a:rPr>
              <a:t>all</a:t>
            </a:r>
            <a:r>
              <a:rPr sz="1770" spc="49" dirty="0">
                <a:latin typeface="Arial"/>
                <a:cs typeface="Arial"/>
              </a:rPr>
              <a:t> </a:t>
            </a:r>
            <a:r>
              <a:rPr sz="1770" spc="-4" dirty="0">
                <a:latin typeface="Arial"/>
                <a:cs typeface="Arial"/>
              </a:rPr>
              <a:t>stakeholders.</a:t>
            </a:r>
            <a:endParaRPr sz="1770">
              <a:latin typeface="Arial"/>
              <a:cs typeface="Arial"/>
            </a:endParaRPr>
          </a:p>
          <a:p>
            <a:pPr marL="415955">
              <a:spcBef>
                <a:spcPts val="425"/>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A set of use-cases is developed by</a:t>
            </a:r>
            <a:r>
              <a:rPr sz="1770" spc="-58" dirty="0">
                <a:latin typeface="Arial"/>
                <a:cs typeface="Arial"/>
              </a:rPr>
              <a:t> </a:t>
            </a:r>
            <a:r>
              <a:rPr sz="1770" dirty="0">
                <a:latin typeface="Arial"/>
                <a:cs typeface="Arial"/>
              </a:rPr>
              <a:t>end-users.</a:t>
            </a:r>
            <a:endParaRPr sz="1770">
              <a:latin typeface="Arial"/>
              <a:cs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821904"/>
            <a:ext cx="2172488" cy="610747"/>
          </a:xfrm>
          <a:prstGeom prst="rect">
            <a:avLst/>
          </a:prstGeom>
        </p:spPr>
        <p:txBody>
          <a:bodyPr vert="horz" wrap="square" lIns="0" tIns="11242" rIns="0" bIns="0" rtlCol="0" anchor="ctr">
            <a:spAutoFit/>
          </a:bodyPr>
          <a:lstStyle/>
          <a:p>
            <a:pPr marL="11242">
              <a:spcBef>
                <a:spcPts val="89"/>
              </a:spcBef>
            </a:pPr>
            <a:r>
              <a:rPr dirty="0"/>
              <a:t>Resources</a:t>
            </a:r>
          </a:p>
        </p:txBody>
      </p:sp>
      <p:sp>
        <p:nvSpPr>
          <p:cNvPr id="906" name="object 906"/>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70</a:t>
            </a:fld>
            <a:endParaRPr dirty="0"/>
          </a:p>
        </p:txBody>
      </p:sp>
      <p:sp>
        <p:nvSpPr>
          <p:cNvPr id="3" name="object 3"/>
          <p:cNvSpPr/>
          <p:nvPr/>
        </p:nvSpPr>
        <p:spPr>
          <a:xfrm>
            <a:off x="3760417" y="3295628"/>
            <a:ext cx="930263" cy="963427"/>
          </a:xfrm>
          <a:custGeom>
            <a:avLst/>
            <a:gdLst/>
            <a:ahLst/>
            <a:cxnLst/>
            <a:rect l="l" t="t" r="r" b="b"/>
            <a:pathLst>
              <a:path w="1050925" h="1088389">
                <a:moveTo>
                  <a:pt x="0" y="0"/>
                </a:moveTo>
                <a:lnTo>
                  <a:pt x="1050925" y="0"/>
                </a:lnTo>
                <a:lnTo>
                  <a:pt x="1050925" y="1088212"/>
                </a:lnTo>
                <a:lnTo>
                  <a:pt x="0" y="1088212"/>
                </a:lnTo>
                <a:lnTo>
                  <a:pt x="0" y="0"/>
                </a:lnTo>
                <a:close/>
              </a:path>
            </a:pathLst>
          </a:custGeom>
          <a:solidFill>
            <a:srgbClr val="000000"/>
          </a:solidFill>
        </p:spPr>
        <p:txBody>
          <a:bodyPr wrap="square" lIns="0" tIns="0" rIns="0" bIns="0" rtlCol="0"/>
          <a:lstStyle/>
          <a:p>
            <a:endParaRPr sz="1593"/>
          </a:p>
        </p:txBody>
      </p:sp>
      <p:sp>
        <p:nvSpPr>
          <p:cNvPr id="4" name="object 4"/>
          <p:cNvSpPr/>
          <p:nvPr/>
        </p:nvSpPr>
        <p:spPr>
          <a:xfrm>
            <a:off x="4627252" y="3301573"/>
            <a:ext cx="74196" cy="0"/>
          </a:xfrm>
          <a:custGeom>
            <a:avLst/>
            <a:gdLst/>
            <a:ahLst/>
            <a:cxnLst/>
            <a:rect l="l" t="t" r="r" b="b"/>
            <a:pathLst>
              <a:path w="83820">
                <a:moveTo>
                  <a:pt x="0" y="0"/>
                </a:moveTo>
                <a:lnTo>
                  <a:pt x="83596" y="0"/>
                </a:lnTo>
              </a:path>
            </a:pathLst>
          </a:custGeom>
          <a:ln w="13434">
            <a:solidFill>
              <a:srgbClr val="000000"/>
            </a:solidFill>
          </a:ln>
        </p:spPr>
        <p:txBody>
          <a:bodyPr wrap="square" lIns="0" tIns="0" rIns="0" bIns="0" rtlCol="0"/>
          <a:lstStyle/>
          <a:p>
            <a:endParaRPr sz="1593"/>
          </a:p>
        </p:txBody>
      </p:sp>
      <p:sp>
        <p:nvSpPr>
          <p:cNvPr id="5" name="object 5"/>
          <p:cNvSpPr/>
          <p:nvPr/>
        </p:nvSpPr>
        <p:spPr>
          <a:xfrm>
            <a:off x="4695965" y="3295628"/>
            <a:ext cx="0" cy="975231"/>
          </a:xfrm>
          <a:custGeom>
            <a:avLst/>
            <a:gdLst/>
            <a:ahLst/>
            <a:cxnLst/>
            <a:rect l="l" t="t" r="r" b="b"/>
            <a:pathLst>
              <a:path h="1101725">
                <a:moveTo>
                  <a:pt x="0" y="1101646"/>
                </a:moveTo>
                <a:lnTo>
                  <a:pt x="0" y="0"/>
                </a:lnTo>
              </a:path>
            </a:pathLst>
          </a:custGeom>
          <a:ln w="11942">
            <a:solidFill>
              <a:srgbClr val="000000"/>
            </a:solidFill>
          </a:ln>
        </p:spPr>
        <p:txBody>
          <a:bodyPr wrap="square" lIns="0" tIns="0" rIns="0" bIns="0" rtlCol="0"/>
          <a:lstStyle/>
          <a:p>
            <a:endParaRPr sz="1593"/>
          </a:p>
        </p:txBody>
      </p:sp>
      <p:sp>
        <p:nvSpPr>
          <p:cNvPr id="6" name="object 6"/>
          <p:cNvSpPr/>
          <p:nvPr/>
        </p:nvSpPr>
        <p:spPr>
          <a:xfrm>
            <a:off x="3760417" y="4264842"/>
            <a:ext cx="940943" cy="0"/>
          </a:xfrm>
          <a:custGeom>
            <a:avLst/>
            <a:gdLst/>
            <a:ahLst/>
            <a:cxnLst/>
            <a:rect l="l" t="t" r="r" b="b"/>
            <a:pathLst>
              <a:path w="1062989">
                <a:moveTo>
                  <a:pt x="0" y="0"/>
                </a:moveTo>
                <a:lnTo>
                  <a:pt x="1062867" y="0"/>
                </a:lnTo>
              </a:path>
            </a:pathLst>
          </a:custGeom>
          <a:ln w="13434">
            <a:solidFill>
              <a:srgbClr val="000000"/>
            </a:solidFill>
          </a:ln>
        </p:spPr>
        <p:txBody>
          <a:bodyPr wrap="square" lIns="0" tIns="0" rIns="0" bIns="0" rtlCol="0"/>
          <a:lstStyle/>
          <a:p>
            <a:endParaRPr sz="1593"/>
          </a:p>
        </p:txBody>
      </p:sp>
      <p:sp>
        <p:nvSpPr>
          <p:cNvPr id="7" name="object 7"/>
          <p:cNvSpPr/>
          <p:nvPr/>
        </p:nvSpPr>
        <p:spPr>
          <a:xfrm>
            <a:off x="3765702" y="4223220"/>
            <a:ext cx="0" cy="47778"/>
          </a:xfrm>
          <a:custGeom>
            <a:avLst/>
            <a:gdLst/>
            <a:ahLst/>
            <a:cxnLst/>
            <a:rect l="l" t="t" r="r" b="b"/>
            <a:pathLst>
              <a:path h="53975">
                <a:moveTo>
                  <a:pt x="0" y="0"/>
                </a:moveTo>
                <a:lnTo>
                  <a:pt x="0" y="53738"/>
                </a:lnTo>
              </a:path>
            </a:pathLst>
          </a:custGeom>
          <a:ln w="11942">
            <a:solidFill>
              <a:srgbClr val="000000"/>
            </a:solidFill>
          </a:ln>
        </p:spPr>
        <p:txBody>
          <a:bodyPr wrap="square" lIns="0" tIns="0" rIns="0" bIns="0" rtlCol="0"/>
          <a:lstStyle/>
          <a:p>
            <a:endParaRPr sz="1593"/>
          </a:p>
        </p:txBody>
      </p:sp>
      <p:sp>
        <p:nvSpPr>
          <p:cNvPr id="8" name="object 8"/>
          <p:cNvSpPr/>
          <p:nvPr/>
        </p:nvSpPr>
        <p:spPr>
          <a:xfrm>
            <a:off x="3696989" y="3259950"/>
            <a:ext cx="930263" cy="963427"/>
          </a:xfrm>
          <a:custGeom>
            <a:avLst/>
            <a:gdLst/>
            <a:ahLst/>
            <a:cxnLst/>
            <a:rect l="l" t="t" r="r" b="b"/>
            <a:pathLst>
              <a:path w="1050925" h="1088389">
                <a:moveTo>
                  <a:pt x="0" y="0"/>
                </a:moveTo>
                <a:lnTo>
                  <a:pt x="1050925" y="0"/>
                </a:lnTo>
                <a:lnTo>
                  <a:pt x="1050925" y="1088212"/>
                </a:lnTo>
                <a:lnTo>
                  <a:pt x="0" y="1088212"/>
                </a:lnTo>
                <a:lnTo>
                  <a:pt x="0" y="0"/>
                </a:lnTo>
                <a:close/>
              </a:path>
            </a:pathLst>
          </a:custGeom>
          <a:solidFill>
            <a:srgbClr val="B6B6B6"/>
          </a:solidFill>
        </p:spPr>
        <p:txBody>
          <a:bodyPr wrap="square" lIns="0" tIns="0" rIns="0" bIns="0" rtlCol="0"/>
          <a:lstStyle/>
          <a:p>
            <a:endParaRPr sz="1593"/>
          </a:p>
        </p:txBody>
      </p:sp>
      <p:sp>
        <p:nvSpPr>
          <p:cNvPr id="9" name="object 9"/>
          <p:cNvSpPr/>
          <p:nvPr/>
        </p:nvSpPr>
        <p:spPr>
          <a:xfrm>
            <a:off x="3696990" y="3265896"/>
            <a:ext cx="940943" cy="0"/>
          </a:xfrm>
          <a:custGeom>
            <a:avLst/>
            <a:gdLst/>
            <a:ahLst/>
            <a:cxnLst/>
            <a:rect l="l" t="t" r="r" b="b"/>
            <a:pathLst>
              <a:path w="1062989">
                <a:moveTo>
                  <a:pt x="0" y="0"/>
                </a:moveTo>
                <a:lnTo>
                  <a:pt x="1062867" y="0"/>
                </a:lnTo>
              </a:path>
            </a:pathLst>
          </a:custGeom>
          <a:ln w="13434">
            <a:solidFill>
              <a:srgbClr val="000000"/>
            </a:solidFill>
          </a:ln>
        </p:spPr>
        <p:txBody>
          <a:bodyPr wrap="square" lIns="0" tIns="0" rIns="0" bIns="0" rtlCol="0"/>
          <a:lstStyle/>
          <a:p>
            <a:endParaRPr sz="1593"/>
          </a:p>
        </p:txBody>
      </p:sp>
      <p:sp>
        <p:nvSpPr>
          <p:cNvPr id="10" name="object 10"/>
          <p:cNvSpPr/>
          <p:nvPr/>
        </p:nvSpPr>
        <p:spPr>
          <a:xfrm>
            <a:off x="4632538" y="3259951"/>
            <a:ext cx="0" cy="975231"/>
          </a:xfrm>
          <a:custGeom>
            <a:avLst/>
            <a:gdLst/>
            <a:ahLst/>
            <a:cxnLst/>
            <a:rect l="l" t="t" r="r" b="b"/>
            <a:pathLst>
              <a:path h="1101725">
                <a:moveTo>
                  <a:pt x="0" y="1101646"/>
                </a:moveTo>
                <a:lnTo>
                  <a:pt x="0" y="0"/>
                </a:lnTo>
              </a:path>
            </a:pathLst>
          </a:custGeom>
          <a:ln w="11942">
            <a:solidFill>
              <a:srgbClr val="000000"/>
            </a:solidFill>
          </a:ln>
        </p:spPr>
        <p:txBody>
          <a:bodyPr wrap="square" lIns="0" tIns="0" rIns="0" bIns="0" rtlCol="0"/>
          <a:lstStyle/>
          <a:p>
            <a:endParaRPr sz="1593"/>
          </a:p>
        </p:txBody>
      </p:sp>
      <p:sp>
        <p:nvSpPr>
          <p:cNvPr id="11" name="object 11"/>
          <p:cNvSpPr/>
          <p:nvPr/>
        </p:nvSpPr>
        <p:spPr>
          <a:xfrm>
            <a:off x="3696990" y="4229165"/>
            <a:ext cx="940943" cy="0"/>
          </a:xfrm>
          <a:custGeom>
            <a:avLst/>
            <a:gdLst/>
            <a:ahLst/>
            <a:cxnLst/>
            <a:rect l="l" t="t" r="r" b="b"/>
            <a:pathLst>
              <a:path w="1062989">
                <a:moveTo>
                  <a:pt x="0" y="0"/>
                </a:moveTo>
                <a:lnTo>
                  <a:pt x="1062867" y="0"/>
                </a:lnTo>
              </a:path>
            </a:pathLst>
          </a:custGeom>
          <a:ln w="13434">
            <a:solidFill>
              <a:srgbClr val="000000"/>
            </a:solidFill>
          </a:ln>
        </p:spPr>
        <p:txBody>
          <a:bodyPr wrap="square" lIns="0" tIns="0" rIns="0" bIns="0" rtlCol="0"/>
          <a:lstStyle/>
          <a:p>
            <a:endParaRPr sz="1593"/>
          </a:p>
        </p:txBody>
      </p:sp>
      <p:sp>
        <p:nvSpPr>
          <p:cNvPr id="12" name="object 12"/>
          <p:cNvSpPr/>
          <p:nvPr/>
        </p:nvSpPr>
        <p:spPr>
          <a:xfrm>
            <a:off x="3702275" y="3259951"/>
            <a:ext cx="0" cy="975231"/>
          </a:xfrm>
          <a:custGeom>
            <a:avLst/>
            <a:gdLst/>
            <a:ahLst/>
            <a:cxnLst/>
            <a:rect l="l" t="t" r="r" b="b"/>
            <a:pathLst>
              <a:path h="1101725">
                <a:moveTo>
                  <a:pt x="0" y="1101646"/>
                </a:moveTo>
                <a:lnTo>
                  <a:pt x="0" y="0"/>
                </a:lnTo>
              </a:path>
            </a:pathLst>
          </a:custGeom>
          <a:ln w="11942">
            <a:solidFill>
              <a:srgbClr val="000000"/>
            </a:solidFill>
          </a:ln>
        </p:spPr>
        <p:txBody>
          <a:bodyPr wrap="square" lIns="0" tIns="0" rIns="0" bIns="0" rtlCol="0"/>
          <a:lstStyle/>
          <a:p>
            <a:endParaRPr sz="1593"/>
          </a:p>
        </p:txBody>
      </p:sp>
      <p:sp>
        <p:nvSpPr>
          <p:cNvPr id="13" name="object 13"/>
          <p:cNvSpPr txBox="1"/>
          <p:nvPr/>
        </p:nvSpPr>
        <p:spPr>
          <a:xfrm>
            <a:off x="3981741" y="3605475"/>
            <a:ext cx="458667" cy="183989"/>
          </a:xfrm>
          <a:prstGeom prst="rect">
            <a:avLst/>
          </a:prstGeom>
        </p:spPr>
        <p:txBody>
          <a:bodyPr vert="horz" wrap="square" lIns="0" tIns="13490" rIns="0" bIns="0" rtlCol="0">
            <a:spAutoFit/>
          </a:bodyPr>
          <a:lstStyle/>
          <a:p>
            <a:pPr marL="11242">
              <a:spcBef>
                <a:spcPts val="106"/>
              </a:spcBef>
            </a:pPr>
            <a:r>
              <a:rPr sz="1107" b="1" spc="-80" dirty="0">
                <a:latin typeface="Tahoma"/>
                <a:cs typeface="Tahoma"/>
              </a:rPr>
              <a:t>project</a:t>
            </a:r>
            <a:endParaRPr sz="1107">
              <a:latin typeface="Tahoma"/>
              <a:cs typeface="Tahoma"/>
            </a:endParaRPr>
          </a:p>
        </p:txBody>
      </p:sp>
      <p:sp>
        <p:nvSpPr>
          <p:cNvPr id="14" name="object 14"/>
          <p:cNvSpPr/>
          <p:nvPr/>
        </p:nvSpPr>
        <p:spPr>
          <a:xfrm>
            <a:off x="2830154" y="2165867"/>
            <a:ext cx="1237166" cy="1355767"/>
          </a:xfrm>
          <a:custGeom>
            <a:avLst/>
            <a:gdLst/>
            <a:ahLst/>
            <a:cxnLst/>
            <a:rect l="l" t="t" r="r" b="b"/>
            <a:pathLst>
              <a:path w="1397635" h="1531620">
                <a:moveTo>
                  <a:pt x="704597" y="0"/>
                </a:moveTo>
                <a:lnTo>
                  <a:pt x="561289" y="13435"/>
                </a:lnTo>
                <a:lnTo>
                  <a:pt x="429924" y="67174"/>
                </a:lnTo>
                <a:lnTo>
                  <a:pt x="310501" y="134348"/>
                </a:lnTo>
                <a:lnTo>
                  <a:pt x="214961" y="228390"/>
                </a:lnTo>
                <a:lnTo>
                  <a:pt x="119423" y="335868"/>
                </a:lnTo>
                <a:lnTo>
                  <a:pt x="59711" y="470214"/>
                </a:lnTo>
                <a:lnTo>
                  <a:pt x="23884" y="617997"/>
                </a:lnTo>
                <a:lnTo>
                  <a:pt x="0" y="765778"/>
                </a:lnTo>
                <a:lnTo>
                  <a:pt x="23884" y="913560"/>
                </a:lnTo>
                <a:lnTo>
                  <a:pt x="59711" y="1061342"/>
                </a:lnTo>
                <a:lnTo>
                  <a:pt x="119423" y="1195689"/>
                </a:lnTo>
                <a:lnTo>
                  <a:pt x="214961" y="1303167"/>
                </a:lnTo>
                <a:lnTo>
                  <a:pt x="310501" y="1397210"/>
                </a:lnTo>
                <a:lnTo>
                  <a:pt x="429924" y="1477818"/>
                </a:lnTo>
                <a:lnTo>
                  <a:pt x="561289" y="1518122"/>
                </a:lnTo>
                <a:lnTo>
                  <a:pt x="704597" y="1531557"/>
                </a:lnTo>
                <a:lnTo>
                  <a:pt x="835963" y="1518122"/>
                </a:lnTo>
                <a:lnTo>
                  <a:pt x="967328" y="1477818"/>
                </a:lnTo>
                <a:lnTo>
                  <a:pt x="1086751" y="1397210"/>
                </a:lnTo>
                <a:lnTo>
                  <a:pt x="1194233" y="1303167"/>
                </a:lnTo>
                <a:lnTo>
                  <a:pt x="1277829" y="1195689"/>
                </a:lnTo>
                <a:lnTo>
                  <a:pt x="1337541" y="1061342"/>
                </a:lnTo>
                <a:lnTo>
                  <a:pt x="1385309" y="913560"/>
                </a:lnTo>
                <a:lnTo>
                  <a:pt x="1397252" y="765778"/>
                </a:lnTo>
                <a:lnTo>
                  <a:pt x="1385309" y="617997"/>
                </a:lnTo>
                <a:lnTo>
                  <a:pt x="1337541" y="470214"/>
                </a:lnTo>
                <a:lnTo>
                  <a:pt x="1277829" y="335868"/>
                </a:lnTo>
                <a:lnTo>
                  <a:pt x="1194233" y="228390"/>
                </a:lnTo>
                <a:lnTo>
                  <a:pt x="1086751" y="134348"/>
                </a:lnTo>
                <a:lnTo>
                  <a:pt x="967328" y="67174"/>
                </a:lnTo>
                <a:lnTo>
                  <a:pt x="835963" y="13435"/>
                </a:lnTo>
                <a:lnTo>
                  <a:pt x="704597" y="0"/>
                </a:lnTo>
                <a:close/>
              </a:path>
            </a:pathLst>
          </a:custGeom>
          <a:solidFill>
            <a:srgbClr val="000000"/>
          </a:solidFill>
        </p:spPr>
        <p:txBody>
          <a:bodyPr wrap="square" lIns="0" tIns="0" rIns="0" bIns="0" rtlCol="0"/>
          <a:lstStyle/>
          <a:p>
            <a:endParaRPr sz="1593"/>
          </a:p>
        </p:txBody>
      </p:sp>
      <p:sp>
        <p:nvSpPr>
          <p:cNvPr id="15" name="object 15"/>
          <p:cNvSpPr/>
          <p:nvPr/>
        </p:nvSpPr>
        <p:spPr>
          <a:xfrm>
            <a:off x="4056409" y="2843723"/>
            <a:ext cx="21360" cy="142772"/>
          </a:xfrm>
          <a:custGeom>
            <a:avLst/>
            <a:gdLst/>
            <a:ahLst/>
            <a:cxnLst/>
            <a:rect l="l" t="t" r="r" b="b"/>
            <a:pathLst>
              <a:path w="24129" h="161289">
                <a:moveTo>
                  <a:pt x="23884" y="0"/>
                </a:moveTo>
                <a:lnTo>
                  <a:pt x="11943" y="0"/>
                </a:lnTo>
                <a:lnTo>
                  <a:pt x="0" y="147782"/>
                </a:lnTo>
                <a:lnTo>
                  <a:pt x="0" y="161217"/>
                </a:lnTo>
                <a:lnTo>
                  <a:pt x="11943" y="161217"/>
                </a:lnTo>
                <a:lnTo>
                  <a:pt x="23884" y="13435"/>
                </a:lnTo>
                <a:lnTo>
                  <a:pt x="23884" y="0"/>
                </a:lnTo>
                <a:close/>
              </a:path>
            </a:pathLst>
          </a:custGeom>
          <a:solidFill>
            <a:srgbClr val="000000"/>
          </a:solidFill>
        </p:spPr>
        <p:txBody>
          <a:bodyPr wrap="square" lIns="0" tIns="0" rIns="0" bIns="0" rtlCol="0"/>
          <a:lstStyle/>
          <a:p>
            <a:endParaRPr sz="1593"/>
          </a:p>
        </p:txBody>
      </p:sp>
      <p:sp>
        <p:nvSpPr>
          <p:cNvPr id="16" name="object 16"/>
          <p:cNvSpPr/>
          <p:nvPr/>
        </p:nvSpPr>
        <p:spPr>
          <a:xfrm>
            <a:off x="4061695" y="297453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7" name="object 17"/>
          <p:cNvSpPr/>
          <p:nvPr/>
        </p:nvSpPr>
        <p:spPr>
          <a:xfrm>
            <a:off x="4014125" y="2974537"/>
            <a:ext cx="53399" cy="142772"/>
          </a:xfrm>
          <a:custGeom>
            <a:avLst/>
            <a:gdLst/>
            <a:ahLst/>
            <a:cxnLst/>
            <a:rect l="l" t="t" r="r" b="b"/>
            <a:pathLst>
              <a:path w="60325" h="161289">
                <a:moveTo>
                  <a:pt x="59711" y="0"/>
                </a:moveTo>
                <a:lnTo>
                  <a:pt x="47768" y="0"/>
                </a:lnTo>
                <a:lnTo>
                  <a:pt x="0" y="147782"/>
                </a:lnTo>
                <a:lnTo>
                  <a:pt x="0" y="161216"/>
                </a:lnTo>
                <a:lnTo>
                  <a:pt x="11941" y="161216"/>
                </a:lnTo>
                <a:lnTo>
                  <a:pt x="59711" y="13435"/>
                </a:lnTo>
                <a:lnTo>
                  <a:pt x="59711" y="0"/>
                </a:lnTo>
                <a:close/>
              </a:path>
            </a:pathLst>
          </a:custGeom>
          <a:solidFill>
            <a:srgbClr val="000000"/>
          </a:solidFill>
        </p:spPr>
        <p:txBody>
          <a:bodyPr wrap="square" lIns="0" tIns="0" rIns="0" bIns="0" rtlCol="0"/>
          <a:lstStyle/>
          <a:p>
            <a:endParaRPr sz="1593"/>
          </a:p>
        </p:txBody>
      </p:sp>
      <p:sp>
        <p:nvSpPr>
          <p:cNvPr id="18" name="object 18"/>
          <p:cNvSpPr/>
          <p:nvPr/>
        </p:nvSpPr>
        <p:spPr>
          <a:xfrm>
            <a:off x="4019410" y="310535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9" name="object 19"/>
          <p:cNvSpPr/>
          <p:nvPr/>
        </p:nvSpPr>
        <p:spPr>
          <a:xfrm>
            <a:off x="3961269" y="3105352"/>
            <a:ext cx="63516" cy="130968"/>
          </a:xfrm>
          <a:custGeom>
            <a:avLst/>
            <a:gdLst/>
            <a:ahLst/>
            <a:cxnLst/>
            <a:rect l="l" t="t" r="r" b="b"/>
            <a:pathLst>
              <a:path w="71754" h="147954">
                <a:moveTo>
                  <a:pt x="71653" y="0"/>
                </a:moveTo>
                <a:lnTo>
                  <a:pt x="59711" y="0"/>
                </a:lnTo>
                <a:lnTo>
                  <a:pt x="0" y="134346"/>
                </a:lnTo>
                <a:lnTo>
                  <a:pt x="0" y="147782"/>
                </a:lnTo>
                <a:lnTo>
                  <a:pt x="11941" y="147782"/>
                </a:lnTo>
                <a:lnTo>
                  <a:pt x="71653" y="13434"/>
                </a:lnTo>
                <a:lnTo>
                  <a:pt x="71653" y="0"/>
                </a:lnTo>
                <a:close/>
              </a:path>
            </a:pathLst>
          </a:custGeom>
          <a:solidFill>
            <a:srgbClr val="000000"/>
          </a:solidFill>
        </p:spPr>
        <p:txBody>
          <a:bodyPr wrap="square" lIns="0" tIns="0" rIns="0" bIns="0" rtlCol="0"/>
          <a:lstStyle/>
          <a:p>
            <a:endParaRPr sz="1593"/>
          </a:p>
        </p:txBody>
      </p:sp>
      <p:sp>
        <p:nvSpPr>
          <p:cNvPr id="20" name="object 20"/>
          <p:cNvSpPr/>
          <p:nvPr/>
        </p:nvSpPr>
        <p:spPr>
          <a:xfrm>
            <a:off x="3966554" y="322427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1" name="object 21"/>
          <p:cNvSpPr/>
          <p:nvPr/>
        </p:nvSpPr>
        <p:spPr>
          <a:xfrm>
            <a:off x="3887271" y="3224274"/>
            <a:ext cx="84876" cy="107360"/>
          </a:xfrm>
          <a:custGeom>
            <a:avLst/>
            <a:gdLst/>
            <a:ahLst/>
            <a:cxnLst/>
            <a:rect l="l" t="t" r="r" b="b"/>
            <a:pathLst>
              <a:path w="95885" h="121285">
                <a:moveTo>
                  <a:pt x="95538" y="0"/>
                </a:moveTo>
                <a:lnTo>
                  <a:pt x="83596" y="0"/>
                </a:lnTo>
                <a:lnTo>
                  <a:pt x="0" y="107477"/>
                </a:lnTo>
                <a:lnTo>
                  <a:pt x="0" y="120912"/>
                </a:lnTo>
                <a:lnTo>
                  <a:pt x="11941" y="120912"/>
                </a:lnTo>
                <a:lnTo>
                  <a:pt x="95538" y="13435"/>
                </a:lnTo>
                <a:lnTo>
                  <a:pt x="95538" y="0"/>
                </a:lnTo>
                <a:close/>
              </a:path>
            </a:pathLst>
          </a:custGeom>
          <a:solidFill>
            <a:srgbClr val="000000"/>
          </a:solidFill>
        </p:spPr>
        <p:txBody>
          <a:bodyPr wrap="square" lIns="0" tIns="0" rIns="0" bIns="0" rtlCol="0"/>
          <a:lstStyle/>
          <a:p>
            <a:endParaRPr sz="1593"/>
          </a:p>
        </p:txBody>
      </p:sp>
      <p:sp>
        <p:nvSpPr>
          <p:cNvPr id="22" name="object 22"/>
          <p:cNvSpPr/>
          <p:nvPr/>
        </p:nvSpPr>
        <p:spPr>
          <a:xfrm>
            <a:off x="3892556" y="331941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3" name="object 23"/>
          <p:cNvSpPr/>
          <p:nvPr/>
        </p:nvSpPr>
        <p:spPr>
          <a:xfrm>
            <a:off x="3792130" y="3319412"/>
            <a:ext cx="106235" cy="95556"/>
          </a:xfrm>
          <a:custGeom>
            <a:avLst/>
            <a:gdLst/>
            <a:ahLst/>
            <a:cxnLst/>
            <a:rect l="l" t="t" r="r" b="b"/>
            <a:pathLst>
              <a:path w="120014" h="107950">
                <a:moveTo>
                  <a:pt x="119423" y="0"/>
                </a:moveTo>
                <a:lnTo>
                  <a:pt x="107481" y="0"/>
                </a:lnTo>
                <a:lnTo>
                  <a:pt x="0" y="94043"/>
                </a:lnTo>
                <a:lnTo>
                  <a:pt x="0" y="107477"/>
                </a:lnTo>
                <a:lnTo>
                  <a:pt x="11943" y="107477"/>
                </a:lnTo>
                <a:lnTo>
                  <a:pt x="119423" y="13435"/>
                </a:lnTo>
                <a:lnTo>
                  <a:pt x="119423" y="0"/>
                </a:lnTo>
                <a:close/>
              </a:path>
            </a:pathLst>
          </a:custGeom>
          <a:solidFill>
            <a:srgbClr val="000000"/>
          </a:solidFill>
        </p:spPr>
        <p:txBody>
          <a:bodyPr wrap="square" lIns="0" tIns="0" rIns="0" bIns="0" rtlCol="0"/>
          <a:lstStyle/>
          <a:p>
            <a:endParaRPr sz="1593"/>
          </a:p>
        </p:txBody>
      </p:sp>
      <p:sp>
        <p:nvSpPr>
          <p:cNvPr id="24" name="object 24"/>
          <p:cNvSpPr/>
          <p:nvPr/>
        </p:nvSpPr>
        <p:spPr>
          <a:xfrm>
            <a:off x="3797416" y="340265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5" name="object 25"/>
          <p:cNvSpPr/>
          <p:nvPr/>
        </p:nvSpPr>
        <p:spPr>
          <a:xfrm>
            <a:off x="3686419" y="3402658"/>
            <a:ext cx="116353" cy="83752"/>
          </a:xfrm>
          <a:custGeom>
            <a:avLst/>
            <a:gdLst/>
            <a:ahLst/>
            <a:cxnLst/>
            <a:rect l="l" t="t" r="r" b="b"/>
            <a:pathLst>
              <a:path w="131445" h="94614">
                <a:moveTo>
                  <a:pt x="131366" y="0"/>
                </a:moveTo>
                <a:lnTo>
                  <a:pt x="119423" y="0"/>
                </a:lnTo>
                <a:lnTo>
                  <a:pt x="0" y="80608"/>
                </a:lnTo>
                <a:lnTo>
                  <a:pt x="0" y="94042"/>
                </a:lnTo>
                <a:lnTo>
                  <a:pt x="11941" y="94042"/>
                </a:lnTo>
                <a:lnTo>
                  <a:pt x="131366" y="13434"/>
                </a:lnTo>
                <a:lnTo>
                  <a:pt x="131366" y="0"/>
                </a:lnTo>
                <a:close/>
              </a:path>
            </a:pathLst>
          </a:custGeom>
          <a:solidFill>
            <a:srgbClr val="000000"/>
          </a:solidFill>
        </p:spPr>
        <p:txBody>
          <a:bodyPr wrap="square" lIns="0" tIns="0" rIns="0" bIns="0" rtlCol="0"/>
          <a:lstStyle/>
          <a:p>
            <a:endParaRPr sz="1593"/>
          </a:p>
        </p:txBody>
      </p:sp>
      <p:sp>
        <p:nvSpPr>
          <p:cNvPr id="26" name="object 26"/>
          <p:cNvSpPr/>
          <p:nvPr/>
        </p:nvSpPr>
        <p:spPr>
          <a:xfrm>
            <a:off x="3691704" y="34740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7" name="object 27"/>
          <p:cNvSpPr/>
          <p:nvPr/>
        </p:nvSpPr>
        <p:spPr>
          <a:xfrm>
            <a:off x="3570136" y="3474011"/>
            <a:ext cx="127033" cy="47778"/>
          </a:xfrm>
          <a:custGeom>
            <a:avLst/>
            <a:gdLst/>
            <a:ahLst/>
            <a:cxnLst/>
            <a:rect l="l" t="t" r="r" b="b"/>
            <a:pathLst>
              <a:path w="143510" h="53975">
                <a:moveTo>
                  <a:pt x="143306" y="0"/>
                </a:moveTo>
                <a:lnTo>
                  <a:pt x="131364" y="0"/>
                </a:lnTo>
                <a:lnTo>
                  <a:pt x="0" y="40303"/>
                </a:lnTo>
                <a:lnTo>
                  <a:pt x="0" y="53738"/>
                </a:lnTo>
                <a:lnTo>
                  <a:pt x="11941" y="53738"/>
                </a:lnTo>
                <a:lnTo>
                  <a:pt x="143306" y="13434"/>
                </a:lnTo>
                <a:lnTo>
                  <a:pt x="143306" y="0"/>
                </a:lnTo>
                <a:close/>
              </a:path>
            </a:pathLst>
          </a:custGeom>
          <a:solidFill>
            <a:srgbClr val="000000"/>
          </a:solidFill>
        </p:spPr>
        <p:txBody>
          <a:bodyPr wrap="square" lIns="0" tIns="0" rIns="0" bIns="0" rtlCol="0"/>
          <a:lstStyle/>
          <a:p>
            <a:endParaRPr sz="1593"/>
          </a:p>
        </p:txBody>
      </p:sp>
      <p:sp>
        <p:nvSpPr>
          <p:cNvPr id="28" name="object 28"/>
          <p:cNvSpPr/>
          <p:nvPr/>
        </p:nvSpPr>
        <p:spPr>
          <a:xfrm>
            <a:off x="3575421" y="350968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9" name="object 29"/>
          <p:cNvSpPr/>
          <p:nvPr/>
        </p:nvSpPr>
        <p:spPr>
          <a:xfrm>
            <a:off x="3453852" y="3509687"/>
            <a:ext cx="127033" cy="24170"/>
          </a:xfrm>
          <a:custGeom>
            <a:avLst/>
            <a:gdLst/>
            <a:ahLst/>
            <a:cxnLst/>
            <a:rect l="l" t="t" r="r" b="b"/>
            <a:pathLst>
              <a:path w="143510" h="27304">
                <a:moveTo>
                  <a:pt x="143308" y="0"/>
                </a:moveTo>
                <a:lnTo>
                  <a:pt x="131366" y="0"/>
                </a:lnTo>
                <a:lnTo>
                  <a:pt x="0" y="13435"/>
                </a:lnTo>
                <a:lnTo>
                  <a:pt x="0" y="26869"/>
                </a:lnTo>
                <a:lnTo>
                  <a:pt x="11941" y="26869"/>
                </a:lnTo>
                <a:lnTo>
                  <a:pt x="143308" y="13435"/>
                </a:lnTo>
                <a:lnTo>
                  <a:pt x="143308" y="0"/>
                </a:lnTo>
                <a:close/>
              </a:path>
            </a:pathLst>
          </a:custGeom>
          <a:solidFill>
            <a:srgbClr val="000000"/>
          </a:solidFill>
        </p:spPr>
        <p:txBody>
          <a:bodyPr wrap="square" lIns="0" tIns="0" rIns="0" bIns="0" rtlCol="0"/>
          <a:lstStyle/>
          <a:p>
            <a:endParaRPr sz="1593"/>
          </a:p>
        </p:txBody>
      </p:sp>
      <p:sp>
        <p:nvSpPr>
          <p:cNvPr id="30" name="object 30"/>
          <p:cNvSpPr/>
          <p:nvPr/>
        </p:nvSpPr>
        <p:spPr>
          <a:xfrm>
            <a:off x="3453853" y="3521579"/>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1" name="object 31"/>
          <p:cNvSpPr/>
          <p:nvPr/>
        </p:nvSpPr>
        <p:spPr>
          <a:xfrm>
            <a:off x="3453853" y="3521579"/>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2" name="object 32"/>
          <p:cNvSpPr/>
          <p:nvPr/>
        </p:nvSpPr>
        <p:spPr>
          <a:xfrm>
            <a:off x="3453853" y="3521579"/>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3" name="object 33"/>
          <p:cNvSpPr/>
          <p:nvPr/>
        </p:nvSpPr>
        <p:spPr>
          <a:xfrm>
            <a:off x="3326998" y="3509687"/>
            <a:ext cx="137713" cy="24170"/>
          </a:xfrm>
          <a:custGeom>
            <a:avLst/>
            <a:gdLst/>
            <a:ahLst/>
            <a:cxnLst/>
            <a:rect l="l" t="t" r="r" b="b"/>
            <a:pathLst>
              <a:path w="155575" h="27304">
                <a:moveTo>
                  <a:pt x="11943" y="0"/>
                </a:moveTo>
                <a:lnTo>
                  <a:pt x="0" y="0"/>
                </a:lnTo>
                <a:lnTo>
                  <a:pt x="0" y="13435"/>
                </a:lnTo>
                <a:lnTo>
                  <a:pt x="143308" y="26869"/>
                </a:lnTo>
                <a:lnTo>
                  <a:pt x="155249" y="26869"/>
                </a:lnTo>
                <a:lnTo>
                  <a:pt x="155249" y="13435"/>
                </a:lnTo>
                <a:lnTo>
                  <a:pt x="11943" y="0"/>
                </a:lnTo>
                <a:close/>
              </a:path>
            </a:pathLst>
          </a:custGeom>
          <a:solidFill>
            <a:srgbClr val="000000"/>
          </a:solidFill>
        </p:spPr>
        <p:txBody>
          <a:bodyPr wrap="square" lIns="0" tIns="0" rIns="0" bIns="0" rtlCol="0"/>
          <a:lstStyle/>
          <a:p>
            <a:endParaRPr sz="1593"/>
          </a:p>
        </p:txBody>
      </p:sp>
      <p:sp>
        <p:nvSpPr>
          <p:cNvPr id="34" name="object 34"/>
          <p:cNvSpPr/>
          <p:nvPr/>
        </p:nvSpPr>
        <p:spPr>
          <a:xfrm>
            <a:off x="3332284" y="350968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5" name="object 35"/>
          <p:cNvSpPr/>
          <p:nvPr/>
        </p:nvSpPr>
        <p:spPr>
          <a:xfrm>
            <a:off x="3210716" y="3474011"/>
            <a:ext cx="127033" cy="47778"/>
          </a:xfrm>
          <a:custGeom>
            <a:avLst/>
            <a:gdLst/>
            <a:ahLst/>
            <a:cxnLst/>
            <a:rect l="l" t="t" r="r" b="b"/>
            <a:pathLst>
              <a:path w="143510" h="53975">
                <a:moveTo>
                  <a:pt x="11941" y="0"/>
                </a:moveTo>
                <a:lnTo>
                  <a:pt x="0" y="0"/>
                </a:lnTo>
                <a:lnTo>
                  <a:pt x="0" y="13434"/>
                </a:lnTo>
                <a:lnTo>
                  <a:pt x="131364" y="53738"/>
                </a:lnTo>
                <a:lnTo>
                  <a:pt x="143308" y="53738"/>
                </a:lnTo>
                <a:lnTo>
                  <a:pt x="143308" y="40303"/>
                </a:lnTo>
                <a:lnTo>
                  <a:pt x="11941" y="0"/>
                </a:lnTo>
                <a:close/>
              </a:path>
            </a:pathLst>
          </a:custGeom>
          <a:solidFill>
            <a:srgbClr val="000000"/>
          </a:solidFill>
        </p:spPr>
        <p:txBody>
          <a:bodyPr wrap="square" lIns="0" tIns="0" rIns="0" bIns="0" rtlCol="0"/>
          <a:lstStyle/>
          <a:p>
            <a:endParaRPr sz="1593"/>
          </a:p>
        </p:txBody>
      </p:sp>
      <p:sp>
        <p:nvSpPr>
          <p:cNvPr id="36" name="object 36"/>
          <p:cNvSpPr/>
          <p:nvPr/>
        </p:nvSpPr>
        <p:spPr>
          <a:xfrm>
            <a:off x="3216001" y="34740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7" name="object 37"/>
          <p:cNvSpPr/>
          <p:nvPr/>
        </p:nvSpPr>
        <p:spPr>
          <a:xfrm>
            <a:off x="3105005" y="3402658"/>
            <a:ext cx="116353" cy="83752"/>
          </a:xfrm>
          <a:custGeom>
            <a:avLst/>
            <a:gdLst/>
            <a:ahLst/>
            <a:cxnLst/>
            <a:rect l="l" t="t" r="r" b="b"/>
            <a:pathLst>
              <a:path w="131445" h="94614">
                <a:moveTo>
                  <a:pt x="11941" y="0"/>
                </a:moveTo>
                <a:lnTo>
                  <a:pt x="0" y="0"/>
                </a:lnTo>
                <a:lnTo>
                  <a:pt x="0" y="13434"/>
                </a:lnTo>
                <a:lnTo>
                  <a:pt x="119423" y="94042"/>
                </a:lnTo>
                <a:lnTo>
                  <a:pt x="131364" y="94042"/>
                </a:lnTo>
                <a:lnTo>
                  <a:pt x="131364" y="80608"/>
                </a:lnTo>
                <a:lnTo>
                  <a:pt x="11941" y="0"/>
                </a:lnTo>
                <a:close/>
              </a:path>
            </a:pathLst>
          </a:custGeom>
          <a:solidFill>
            <a:srgbClr val="000000"/>
          </a:solidFill>
        </p:spPr>
        <p:txBody>
          <a:bodyPr wrap="square" lIns="0" tIns="0" rIns="0" bIns="0" rtlCol="0"/>
          <a:lstStyle/>
          <a:p>
            <a:endParaRPr sz="1593"/>
          </a:p>
        </p:txBody>
      </p:sp>
      <p:sp>
        <p:nvSpPr>
          <p:cNvPr id="38" name="object 38"/>
          <p:cNvSpPr/>
          <p:nvPr/>
        </p:nvSpPr>
        <p:spPr>
          <a:xfrm>
            <a:off x="3110290" y="340265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9" name="object 39"/>
          <p:cNvSpPr/>
          <p:nvPr/>
        </p:nvSpPr>
        <p:spPr>
          <a:xfrm>
            <a:off x="3020434" y="3319412"/>
            <a:ext cx="95556" cy="95556"/>
          </a:xfrm>
          <a:custGeom>
            <a:avLst/>
            <a:gdLst/>
            <a:ahLst/>
            <a:cxnLst/>
            <a:rect l="l" t="t" r="r" b="b"/>
            <a:pathLst>
              <a:path w="107950" h="107950">
                <a:moveTo>
                  <a:pt x="11943" y="0"/>
                </a:moveTo>
                <a:lnTo>
                  <a:pt x="0" y="0"/>
                </a:lnTo>
                <a:lnTo>
                  <a:pt x="0" y="13435"/>
                </a:lnTo>
                <a:lnTo>
                  <a:pt x="95539" y="107477"/>
                </a:lnTo>
                <a:lnTo>
                  <a:pt x="107481" y="107477"/>
                </a:lnTo>
                <a:lnTo>
                  <a:pt x="107481" y="94043"/>
                </a:lnTo>
                <a:lnTo>
                  <a:pt x="11943" y="0"/>
                </a:lnTo>
                <a:close/>
              </a:path>
            </a:pathLst>
          </a:custGeom>
          <a:solidFill>
            <a:srgbClr val="000000"/>
          </a:solidFill>
        </p:spPr>
        <p:txBody>
          <a:bodyPr wrap="square" lIns="0" tIns="0" rIns="0" bIns="0" rtlCol="0"/>
          <a:lstStyle/>
          <a:p>
            <a:endParaRPr sz="1593"/>
          </a:p>
        </p:txBody>
      </p:sp>
      <p:sp>
        <p:nvSpPr>
          <p:cNvPr id="40" name="object 40"/>
          <p:cNvSpPr/>
          <p:nvPr/>
        </p:nvSpPr>
        <p:spPr>
          <a:xfrm>
            <a:off x="3025720" y="331941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1" name="object 41"/>
          <p:cNvSpPr/>
          <p:nvPr/>
        </p:nvSpPr>
        <p:spPr>
          <a:xfrm>
            <a:off x="2935865" y="3224274"/>
            <a:ext cx="95556" cy="107360"/>
          </a:xfrm>
          <a:custGeom>
            <a:avLst/>
            <a:gdLst/>
            <a:ahLst/>
            <a:cxnLst/>
            <a:rect l="l" t="t" r="r" b="b"/>
            <a:pathLst>
              <a:path w="107950" h="121285">
                <a:moveTo>
                  <a:pt x="11943" y="0"/>
                </a:moveTo>
                <a:lnTo>
                  <a:pt x="0" y="0"/>
                </a:lnTo>
                <a:lnTo>
                  <a:pt x="0" y="13435"/>
                </a:lnTo>
                <a:lnTo>
                  <a:pt x="95538" y="120912"/>
                </a:lnTo>
                <a:lnTo>
                  <a:pt x="107481" y="120912"/>
                </a:lnTo>
                <a:lnTo>
                  <a:pt x="107481" y="107477"/>
                </a:lnTo>
                <a:lnTo>
                  <a:pt x="11943" y="0"/>
                </a:lnTo>
                <a:close/>
              </a:path>
            </a:pathLst>
          </a:custGeom>
          <a:solidFill>
            <a:srgbClr val="000000"/>
          </a:solidFill>
        </p:spPr>
        <p:txBody>
          <a:bodyPr wrap="square" lIns="0" tIns="0" rIns="0" bIns="0" rtlCol="0"/>
          <a:lstStyle/>
          <a:p>
            <a:endParaRPr sz="1593"/>
          </a:p>
        </p:txBody>
      </p:sp>
      <p:sp>
        <p:nvSpPr>
          <p:cNvPr id="42" name="object 42"/>
          <p:cNvSpPr/>
          <p:nvPr/>
        </p:nvSpPr>
        <p:spPr>
          <a:xfrm>
            <a:off x="2941150" y="322427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3" name="object 43"/>
          <p:cNvSpPr/>
          <p:nvPr/>
        </p:nvSpPr>
        <p:spPr>
          <a:xfrm>
            <a:off x="2883009" y="3105352"/>
            <a:ext cx="63516" cy="130968"/>
          </a:xfrm>
          <a:custGeom>
            <a:avLst/>
            <a:gdLst/>
            <a:ahLst/>
            <a:cxnLst/>
            <a:rect l="l" t="t" r="r" b="b"/>
            <a:pathLst>
              <a:path w="71754" h="147954">
                <a:moveTo>
                  <a:pt x="11941" y="0"/>
                </a:moveTo>
                <a:lnTo>
                  <a:pt x="0" y="0"/>
                </a:lnTo>
                <a:lnTo>
                  <a:pt x="0" y="13434"/>
                </a:lnTo>
                <a:lnTo>
                  <a:pt x="59711" y="147782"/>
                </a:lnTo>
                <a:lnTo>
                  <a:pt x="71654" y="147782"/>
                </a:lnTo>
                <a:lnTo>
                  <a:pt x="71654" y="134346"/>
                </a:lnTo>
                <a:lnTo>
                  <a:pt x="11941" y="0"/>
                </a:lnTo>
                <a:close/>
              </a:path>
            </a:pathLst>
          </a:custGeom>
          <a:solidFill>
            <a:srgbClr val="000000"/>
          </a:solidFill>
        </p:spPr>
        <p:txBody>
          <a:bodyPr wrap="square" lIns="0" tIns="0" rIns="0" bIns="0" rtlCol="0"/>
          <a:lstStyle/>
          <a:p>
            <a:endParaRPr sz="1593"/>
          </a:p>
        </p:txBody>
      </p:sp>
      <p:sp>
        <p:nvSpPr>
          <p:cNvPr id="44" name="object 44"/>
          <p:cNvSpPr/>
          <p:nvPr/>
        </p:nvSpPr>
        <p:spPr>
          <a:xfrm>
            <a:off x="2888295" y="310535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5" name="object 45"/>
          <p:cNvSpPr/>
          <p:nvPr/>
        </p:nvSpPr>
        <p:spPr>
          <a:xfrm>
            <a:off x="2851296" y="2974537"/>
            <a:ext cx="42719" cy="142772"/>
          </a:xfrm>
          <a:custGeom>
            <a:avLst/>
            <a:gdLst/>
            <a:ahLst/>
            <a:cxnLst/>
            <a:rect l="l" t="t" r="r" b="b"/>
            <a:pathLst>
              <a:path w="48260" h="161289">
                <a:moveTo>
                  <a:pt x="11941" y="0"/>
                </a:moveTo>
                <a:lnTo>
                  <a:pt x="0" y="0"/>
                </a:lnTo>
                <a:lnTo>
                  <a:pt x="0" y="13435"/>
                </a:lnTo>
                <a:lnTo>
                  <a:pt x="35826" y="161216"/>
                </a:lnTo>
                <a:lnTo>
                  <a:pt x="47768" y="161216"/>
                </a:lnTo>
                <a:lnTo>
                  <a:pt x="47768" y="147782"/>
                </a:lnTo>
                <a:lnTo>
                  <a:pt x="11941" y="0"/>
                </a:lnTo>
                <a:close/>
              </a:path>
            </a:pathLst>
          </a:custGeom>
          <a:solidFill>
            <a:srgbClr val="000000"/>
          </a:solidFill>
        </p:spPr>
        <p:txBody>
          <a:bodyPr wrap="square" lIns="0" tIns="0" rIns="0" bIns="0" rtlCol="0"/>
          <a:lstStyle/>
          <a:p>
            <a:endParaRPr sz="1593"/>
          </a:p>
        </p:txBody>
      </p:sp>
      <p:sp>
        <p:nvSpPr>
          <p:cNvPr id="46" name="object 46"/>
          <p:cNvSpPr/>
          <p:nvPr/>
        </p:nvSpPr>
        <p:spPr>
          <a:xfrm>
            <a:off x="2856581" y="297453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7" name="object 47"/>
          <p:cNvSpPr/>
          <p:nvPr/>
        </p:nvSpPr>
        <p:spPr>
          <a:xfrm>
            <a:off x="2830154" y="2843723"/>
            <a:ext cx="32039" cy="142772"/>
          </a:xfrm>
          <a:custGeom>
            <a:avLst/>
            <a:gdLst/>
            <a:ahLst/>
            <a:cxnLst/>
            <a:rect l="l" t="t" r="r" b="b"/>
            <a:pathLst>
              <a:path w="36194" h="161289">
                <a:moveTo>
                  <a:pt x="11941" y="0"/>
                </a:moveTo>
                <a:lnTo>
                  <a:pt x="0" y="0"/>
                </a:lnTo>
                <a:lnTo>
                  <a:pt x="0" y="13435"/>
                </a:lnTo>
                <a:lnTo>
                  <a:pt x="23884" y="161217"/>
                </a:lnTo>
                <a:lnTo>
                  <a:pt x="35826" y="161217"/>
                </a:lnTo>
                <a:lnTo>
                  <a:pt x="35826" y="147782"/>
                </a:lnTo>
                <a:lnTo>
                  <a:pt x="11941" y="0"/>
                </a:lnTo>
                <a:close/>
              </a:path>
            </a:pathLst>
          </a:custGeom>
          <a:solidFill>
            <a:srgbClr val="000000"/>
          </a:solidFill>
        </p:spPr>
        <p:txBody>
          <a:bodyPr wrap="square" lIns="0" tIns="0" rIns="0" bIns="0" rtlCol="0"/>
          <a:lstStyle/>
          <a:p>
            <a:endParaRPr sz="1593"/>
          </a:p>
        </p:txBody>
      </p:sp>
      <p:sp>
        <p:nvSpPr>
          <p:cNvPr id="48" name="object 48"/>
          <p:cNvSpPr/>
          <p:nvPr/>
        </p:nvSpPr>
        <p:spPr>
          <a:xfrm>
            <a:off x="2830154" y="284372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9" name="object 49"/>
          <p:cNvSpPr/>
          <p:nvPr/>
        </p:nvSpPr>
        <p:spPr>
          <a:xfrm>
            <a:off x="2830154" y="284372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0" name="object 50"/>
          <p:cNvSpPr/>
          <p:nvPr/>
        </p:nvSpPr>
        <p:spPr>
          <a:xfrm>
            <a:off x="2830154" y="284372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1" name="object 51"/>
          <p:cNvSpPr/>
          <p:nvPr/>
        </p:nvSpPr>
        <p:spPr>
          <a:xfrm>
            <a:off x="2830154" y="2712909"/>
            <a:ext cx="32039" cy="142772"/>
          </a:xfrm>
          <a:custGeom>
            <a:avLst/>
            <a:gdLst/>
            <a:ahLst/>
            <a:cxnLst/>
            <a:rect l="l" t="t" r="r" b="b"/>
            <a:pathLst>
              <a:path w="36194" h="161289">
                <a:moveTo>
                  <a:pt x="35826" y="0"/>
                </a:moveTo>
                <a:lnTo>
                  <a:pt x="23884" y="0"/>
                </a:lnTo>
                <a:lnTo>
                  <a:pt x="0" y="147781"/>
                </a:lnTo>
                <a:lnTo>
                  <a:pt x="0" y="161216"/>
                </a:lnTo>
                <a:lnTo>
                  <a:pt x="11941" y="161216"/>
                </a:lnTo>
                <a:lnTo>
                  <a:pt x="35826" y="13435"/>
                </a:lnTo>
                <a:lnTo>
                  <a:pt x="35826" y="0"/>
                </a:lnTo>
                <a:close/>
              </a:path>
            </a:pathLst>
          </a:custGeom>
          <a:solidFill>
            <a:srgbClr val="000000"/>
          </a:solidFill>
        </p:spPr>
        <p:txBody>
          <a:bodyPr wrap="square" lIns="0" tIns="0" rIns="0" bIns="0" rtlCol="0"/>
          <a:lstStyle/>
          <a:p>
            <a:endParaRPr sz="1593"/>
          </a:p>
        </p:txBody>
      </p:sp>
      <p:sp>
        <p:nvSpPr>
          <p:cNvPr id="52" name="object 52"/>
          <p:cNvSpPr/>
          <p:nvPr/>
        </p:nvSpPr>
        <p:spPr>
          <a:xfrm>
            <a:off x="2856581" y="271290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53" name="object 53"/>
          <p:cNvSpPr/>
          <p:nvPr/>
        </p:nvSpPr>
        <p:spPr>
          <a:xfrm>
            <a:off x="2851296" y="2582094"/>
            <a:ext cx="42719" cy="142772"/>
          </a:xfrm>
          <a:custGeom>
            <a:avLst/>
            <a:gdLst/>
            <a:ahLst/>
            <a:cxnLst/>
            <a:rect l="l" t="t" r="r" b="b"/>
            <a:pathLst>
              <a:path w="48260" h="161289">
                <a:moveTo>
                  <a:pt x="47768" y="0"/>
                </a:moveTo>
                <a:lnTo>
                  <a:pt x="35826" y="0"/>
                </a:lnTo>
                <a:lnTo>
                  <a:pt x="0" y="147782"/>
                </a:lnTo>
                <a:lnTo>
                  <a:pt x="0" y="161217"/>
                </a:lnTo>
                <a:lnTo>
                  <a:pt x="11941" y="161217"/>
                </a:lnTo>
                <a:lnTo>
                  <a:pt x="47768" y="13435"/>
                </a:lnTo>
                <a:lnTo>
                  <a:pt x="47768" y="0"/>
                </a:lnTo>
                <a:close/>
              </a:path>
            </a:pathLst>
          </a:custGeom>
          <a:solidFill>
            <a:srgbClr val="000000"/>
          </a:solidFill>
        </p:spPr>
        <p:txBody>
          <a:bodyPr wrap="square" lIns="0" tIns="0" rIns="0" bIns="0" rtlCol="0"/>
          <a:lstStyle/>
          <a:p>
            <a:endParaRPr sz="1593"/>
          </a:p>
        </p:txBody>
      </p:sp>
      <p:sp>
        <p:nvSpPr>
          <p:cNvPr id="54" name="object 54"/>
          <p:cNvSpPr/>
          <p:nvPr/>
        </p:nvSpPr>
        <p:spPr>
          <a:xfrm>
            <a:off x="2888295" y="258209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55" name="object 55"/>
          <p:cNvSpPr/>
          <p:nvPr/>
        </p:nvSpPr>
        <p:spPr>
          <a:xfrm>
            <a:off x="2883009" y="2463173"/>
            <a:ext cx="63516" cy="130968"/>
          </a:xfrm>
          <a:custGeom>
            <a:avLst/>
            <a:gdLst/>
            <a:ahLst/>
            <a:cxnLst/>
            <a:rect l="l" t="t" r="r" b="b"/>
            <a:pathLst>
              <a:path w="71754" h="147955">
                <a:moveTo>
                  <a:pt x="71654" y="0"/>
                </a:moveTo>
                <a:lnTo>
                  <a:pt x="59711" y="0"/>
                </a:lnTo>
                <a:lnTo>
                  <a:pt x="0" y="134346"/>
                </a:lnTo>
                <a:lnTo>
                  <a:pt x="0" y="147782"/>
                </a:lnTo>
                <a:lnTo>
                  <a:pt x="11941" y="147782"/>
                </a:lnTo>
                <a:lnTo>
                  <a:pt x="71654" y="13435"/>
                </a:lnTo>
                <a:lnTo>
                  <a:pt x="71654" y="0"/>
                </a:lnTo>
                <a:close/>
              </a:path>
            </a:pathLst>
          </a:custGeom>
          <a:solidFill>
            <a:srgbClr val="000000"/>
          </a:solidFill>
        </p:spPr>
        <p:txBody>
          <a:bodyPr wrap="square" lIns="0" tIns="0" rIns="0" bIns="0" rtlCol="0"/>
          <a:lstStyle/>
          <a:p>
            <a:endParaRPr sz="1593"/>
          </a:p>
        </p:txBody>
      </p:sp>
      <p:sp>
        <p:nvSpPr>
          <p:cNvPr id="56" name="object 56"/>
          <p:cNvSpPr/>
          <p:nvPr/>
        </p:nvSpPr>
        <p:spPr>
          <a:xfrm>
            <a:off x="2941150" y="246317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57" name="object 57"/>
          <p:cNvSpPr/>
          <p:nvPr/>
        </p:nvSpPr>
        <p:spPr>
          <a:xfrm>
            <a:off x="2935865" y="2368035"/>
            <a:ext cx="95556" cy="107360"/>
          </a:xfrm>
          <a:custGeom>
            <a:avLst/>
            <a:gdLst/>
            <a:ahLst/>
            <a:cxnLst/>
            <a:rect l="l" t="t" r="r" b="b"/>
            <a:pathLst>
              <a:path w="107950" h="121285">
                <a:moveTo>
                  <a:pt x="107481" y="0"/>
                </a:moveTo>
                <a:lnTo>
                  <a:pt x="95538" y="0"/>
                </a:lnTo>
                <a:lnTo>
                  <a:pt x="0" y="107477"/>
                </a:lnTo>
                <a:lnTo>
                  <a:pt x="0" y="120912"/>
                </a:lnTo>
                <a:lnTo>
                  <a:pt x="11943" y="120912"/>
                </a:lnTo>
                <a:lnTo>
                  <a:pt x="107481" y="13435"/>
                </a:lnTo>
                <a:lnTo>
                  <a:pt x="107481" y="0"/>
                </a:lnTo>
                <a:close/>
              </a:path>
            </a:pathLst>
          </a:custGeom>
          <a:solidFill>
            <a:srgbClr val="000000"/>
          </a:solidFill>
        </p:spPr>
        <p:txBody>
          <a:bodyPr wrap="square" lIns="0" tIns="0" rIns="0" bIns="0" rtlCol="0"/>
          <a:lstStyle/>
          <a:p>
            <a:endParaRPr sz="1593"/>
          </a:p>
        </p:txBody>
      </p:sp>
      <p:sp>
        <p:nvSpPr>
          <p:cNvPr id="58" name="object 58"/>
          <p:cNvSpPr/>
          <p:nvPr/>
        </p:nvSpPr>
        <p:spPr>
          <a:xfrm>
            <a:off x="3025720" y="236803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59" name="object 59"/>
          <p:cNvSpPr/>
          <p:nvPr/>
        </p:nvSpPr>
        <p:spPr>
          <a:xfrm>
            <a:off x="3020434" y="2284790"/>
            <a:ext cx="95556" cy="95556"/>
          </a:xfrm>
          <a:custGeom>
            <a:avLst/>
            <a:gdLst/>
            <a:ahLst/>
            <a:cxnLst/>
            <a:rect l="l" t="t" r="r" b="b"/>
            <a:pathLst>
              <a:path w="107950" h="107950">
                <a:moveTo>
                  <a:pt x="107481" y="0"/>
                </a:moveTo>
                <a:lnTo>
                  <a:pt x="95539" y="0"/>
                </a:lnTo>
                <a:lnTo>
                  <a:pt x="0" y="94042"/>
                </a:lnTo>
                <a:lnTo>
                  <a:pt x="0" y="107477"/>
                </a:lnTo>
                <a:lnTo>
                  <a:pt x="11943" y="107477"/>
                </a:lnTo>
                <a:lnTo>
                  <a:pt x="107481" y="13434"/>
                </a:lnTo>
                <a:lnTo>
                  <a:pt x="107481" y="0"/>
                </a:lnTo>
                <a:close/>
              </a:path>
            </a:pathLst>
          </a:custGeom>
          <a:solidFill>
            <a:srgbClr val="000000"/>
          </a:solidFill>
        </p:spPr>
        <p:txBody>
          <a:bodyPr wrap="square" lIns="0" tIns="0" rIns="0" bIns="0" rtlCol="0"/>
          <a:lstStyle/>
          <a:p>
            <a:endParaRPr sz="1593"/>
          </a:p>
        </p:txBody>
      </p:sp>
      <p:sp>
        <p:nvSpPr>
          <p:cNvPr id="60" name="object 60"/>
          <p:cNvSpPr/>
          <p:nvPr/>
        </p:nvSpPr>
        <p:spPr>
          <a:xfrm>
            <a:off x="3110290" y="2284790"/>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1" name="object 61"/>
          <p:cNvSpPr/>
          <p:nvPr/>
        </p:nvSpPr>
        <p:spPr>
          <a:xfrm>
            <a:off x="3105005" y="2225328"/>
            <a:ext cx="116353" cy="71386"/>
          </a:xfrm>
          <a:custGeom>
            <a:avLst/>
            <a:gdLst/>
            <a:ahLst/>
            <a:cxnLst/>
            <a:rect l="l" t="t" r="r" b="b"/>
            <a:pathLst>
              <a:path w="131445" h="80644">
                <a:moveTo>
                  <a:pt x="131364" y="0"/>
                </a:moveTo>
                <a:lnTo>
                  <a:pt x="119423" y="0"/>
                </a:lnTo>
                <a:lnTo>
                  <a:pt x="0" y="67174"/>
                </a:lnTo>
                <a:lnTo>
                  <a:pt x="0" y="80608"/>
                </a:lnTo>
                <a:lnTo>
                  <a:pt x="11941" y="80608"/>
                </a:lnTo>
                <a:lnTo>
                  <a:pt x="131364" y="13434"/>
                </a:lnTo>
                <a:lnTo>
                  <a:pt x="131364" y="0"/>
                </a:lnTo>
                <a:close/>
              </a:path>
            </a:pathLst>
          </a:custGeom>
          <a:solidFill>
            <a:srgbClr val="000000"/>
          </a:solidFill>
        </p:spPr>
        <p:txBody>
          <a:bodyPr wrap="square" lIns="0" tIns="0" rIns="0" bIns="0" rtlCol="0"/>
          <a:lstStyle/>
          <a:p>
            <a:endParaRPr sz="1593"/>
          </a:p>
        </p:txBody>
      </p:sp>
      <p:sp>
        <p:nvSpPr>
          <p:cNvPr id="62" name="object 62"/>
          <p:cNvSpPr/>
          <p:nvPr/>
        </p:nvSpPr>
        <p:spPr>
          <a:xfrm>
            <a:off x="3216001" y="222532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3" name="object 63"/>
          <p:cNvSpPr/>
          <p:nvPr/>
        </p:nvSpPr>
        <p:spPr>
          <a:xfrm>
            <a:off x="3210716" y="2177760"/>
            <a:ext cx="127033" cy="59582"/>
          </a:xfrm>
          <a:custGeom>
            <a:avLst/>
            <a:gdLst/>
            <a:ahLst/>
            <a:cxnLst/>
            <a:rect l="l" t="t" r="r" b="b"/>
            <a:pathLst>
              <a:path w="143510" h="67310">
                <a:moveTo>
                  <a:pt x="143308" y="0"/>
                </a:moveTo>
                <a:lnTo>
                  <a:pt x="131364" y="0"/>
                </a:lnTo>
                <a:lnTo>
                  <a:pt x="0" y="53738"/>
                </a:lnTo>
                <a:lnTo>
                  <a:pt x="0" y="67172"/>
                </a:lnTo>
                <a:lnTo>
                  <a:pt x="11941" y="67172"/>
                </a:lnTo>
                <a:lnTo>
                  <a:pt x="143308" y="13435"/>
                </a:lnTo>
                <a:lnTo>
                  <a:pt x="143308" y="0"/>
                </a:lnTo>
                <a:close/>
              </a:path>
            </a:pathLst>
          </a:custGeom>
          <a:solidFill>
            <a:srgbClr val="000000"/>
          </a:solidFill>
        </p:spPr>
        <p:txBody>
          <a:bodyPr wrap="square" lIns="0" tIns="0" rIns="0" bIns="0" rtlCol="0"/>
          <a:lstStyle/>
          <a:p>
            <a:endParaRPr sz="1593"/>
          </a:p>
        </p:txBody>
      </p:sp>
      <p:sp>
        <p:nvSpPr>
          <p:cNvPr id="64" name="object 64"/>
          <p:cNvSpPr/>
          <p:nvPr/>
        </p:nvSpPr>
        <p:spPr>
          <a:xfrm>
            <a:off x="3332284" y="2177760"/>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5" name="object 65"/>
          <p:cNvSpPr/>
          <p:nvPr/>
        </p:nvSpPr>
        <p:spPr>
          <a:xfrm>
            <a:off x="3326998" y="2165867"/>
            <a:ext cx="137713" cy="24170"/>
          </a:xfrm>
          <a:custGeom>
            <a:avLst/>
            <a:gdLst/>
            <a:ahLst/>
            <a:cxnLst/>
            <a:rect l="l" t="t" r="r" b="b"/>
            <a:pathLst>
              <a:path w="155575" h="27305">
                <a:moveTo>
                  <a:pt x="155249" y="0"/>
                </a:moveTo>
                <a:lnTo>
                  <a:pt x="143308" y="0"/>
                </a:lnTo>
                <a:lnTo>
                  <a:pt x="0" y="13435"/>
                </a:lnTo>
                <a:lnTo>
                  <a:pt x="0" y="26870"/>
                </a:lnTo>
                <a:lnTo>
                  <a:pt x="11943" y="26870"/>
                </a:lnTo>
                <a:lnTo>
                  <a:pt x="155249" y="13435"/>
                </a:lnTo>
                <a:lnTo>
                  <a:pt x="155249" y="0"/>
                </a:lnTo>
                <a:close/>
              </a:path>
            </a:pathLst>
          </a:custGeom>
          <a:solidFill>
            <a:srgbClr val="000000"/>
          </a:solidFill>
        </p:spPr>
        <p:txBody>
          <a:bodyPr wrap="square" lIns="0" tIns="0" rIns="0" bIns="0" rtlCol="0"/>
          <a:lstStyle/>
          <a:p>
            <a:endParaRPr sz="1593"/>
          </a:p>
        </p:txBody>
      </p:sp>
      <p:sp>
        <p:nvSpPr>
          <p:cNvPr id="66" name="object 66"/>
          <p:cNvSpPr/>
          <p:nvPr/>
        </p:nvSpPr>
        <p:spPr>
          <a:xfrm>
            <a:off x="3453853" y="2165868"/>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7" name="object 67"/>
          <p:cNvSpPr/>
          <p:nvPr/>
        </p:nvSpPr>
        <p:spPr>
          <a:xfrm>
            <a:off x="3453853" y="2165868"/>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8" name="object 68"/>
          <p:cNvSpPr/>
          <p:nvPr/>
        </p:nvSpPr>
        <p:spPr>
          <a:xfrm>
            <a:off x="3453853" y="2165868"/>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9" name="object 69"/>
          <p:cNvSpPr/>
          <p:nvPr/>
        </p:nvSpPr>
        <p:spPr>
          <a:xfrm>
            <a:off x="3453852" y="2165867"/>
            <a:ext cx="127033" cy="24170"/>
          </a:xfrm>
          <a:custGeom>
            <a:avLst/>
            <a:gdLst/>
            <a:ahLst/>
            <a:cxnLst/>
            <a:rect l="l" t="t" r="r" b="b"/>
            <a:pathLst>
              <a:path w="143510" h="27305">
                <a:moveTo>
                  <a:pt x="11941" y="0"/>
                </a:moveTo>
                <a:lnTo>
                  <a:pt x="0" y="0"/>
                </a:lnTo>
                <a:lnTo>
                  <a:pt x="0" y="13435"/>
                </a:lnTo>
                <a:lnTo>
                  <a:pt x="131366" y="26870"/>
                </a:lnTo>
                <a:lnTo>
                  <a:pt x="143308" y="26870"/>
                </a:lnTo>
                <a:lnTo>
                  <a:pt x="143308" y="13435"/>
                </a:lnTo>
                <a:lnTo>
                  <a:pt x="11941" y="0"/>
                </a:lnTo>
                <a:close/>
              </a:path>
            </a:pathLst>
          </a:custGeom>
          <a:solidFill>
            <a:srgbClr val="000000"/>
          </a:solidFill>
        </p:spPr>
        <p:txBody>
          <a:bodyPr wrap="square" lIns="0" tIns="0" rIns="0" bIns="0" rtlCol="0"/>
          <a:lstStyle/>
          <a:p>
            <a:endParaRPr sz="1593"/>
          </a:p>
        </p:txBody>
      </p:sp>
      <p:sp>
        <p:nvSpPr>
          <p:cNvPr id="70" name="object 70"/>
          <p:cNvSpPr/>
          <p:nvPr/>
        </p:nvSpPr>
        <p:spPr>
          <a:xfrm>
            <a:off x="3575421" y="2177760"/>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1" name="object 71"/>
          <p:cNvSpPr/>
          <p:nvPr/>
        </p:nvSpPr>
        <p:spPr>
          <a:xfrm>
            <a:off x="3570136" y="2177760"/>
            <a:ext cx="127033" cy="59582"/>
          </a:xfrm>
          <a:custGeom>
            <a:avLst/>
            <a:gdLst/>
            <a:ahLst/>
            <a:cxnLst/>
            <a:rect l="l" t="t" r="r" b="b"/>
            <a:pathLst>
              <a:path w="143510" h="67310">
                <a:moveTo>
                  <a:pt x="11941" y="0"/>
                </a:moveTo>
                <a:lnTo>
                  <a:pt x="0" y="0"/>
                </a:lnTo>
                <a:lnTo>
                  <a:pt x="0" y="13435"/>
                </a:lnTo>
                <a:lnTo>
                  <a:pt x="131364" y="67172"/>
                </a:lnTo>
                <a:lnTo>
                  <a:pt x="143306" y="67172"/>
                </a:lnTo>
                <a:lnTo>
                  <a:pt x="143306" y="53738"/>
                </a:lnTo>
                <a:lnTo>
                  <a:pt x="11941" y="0"/>
                </a:lnTo>
                <a:close/>
              </a:path>
            </a:pathLst>
          </a:custGeom>
          <a:solidFill>
            <a:srgbClr val="000000"/>
          </a:solidFill>
        </p:spPr>
        <p:txBody>
          <a:bodyPr wrap="square" lIns="0" tIns="0" rIns="0" bIns="0" rtlCol="0"/>
          <a:lstStyle/>
          <a:p>
            <a:endParaRPr sz="1593"/>
          </a:p>
        </p:txBody>
      </p:sp>
      <p:sp>
        <p:nvSpPr>
          <p:cNvPr id="72" name="object 72"/>
          <p:cNvSpPr/>
          <p:nvPr/>
        </p:nvSpPr>
        <p:spPr>
          <a:xfrm>
            <a:off x="3691704" y="222532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3" name="object 73"/>
          <p:cNvSpPr/>
          <p:nvPr/>
        </p:nvSpPr>
        <p:spPr>
          <a:xfrm>
            <a:off x="3686419" y="2225328"/>
            <a:ext cx="116353" cy="71386"/>
          </a:xfrm>
          <a:custGeom>
            <a:avLst/>
            <a:gdLst/>
            <a:ahLst/>
            <a:cxnLst/>
            <a:rect l="l" t="t" r="r" b="b"/>
            <a:pathLst>
              <a:path w="131445" h="80644">
                <a:moveTo>
                  <a:pt x="11941" y="0"/>
                </a:moveTo>
                <a:lnTo>
                  <a:pt x="0" y="0"/>
                </a:lnTo>
                <a:lnTo>
                  <a:pt x="0" y="13434"/>
                </a:lnTo>
                <a:lnTo>
                  <a:pt x="119423" y="80608"/>
                </a:lnTo>
                <a:lnTo>
                  <a:pt x="131366" y="80608"/>
                </a:lnTo>
                <a:lnTo>
                  <a:pt x="131366" y="67174"/>
                </a:lnTo>
                <a:lnTo>
                  <a:pt x="11941" y="0"/>
                </a:lnTo>
                <a:close/>
              </a:path>
            </a:pathLst>
          </a:custGeom>
          <a:solidFill>
            <a:srgbClr val="000000"/>
          </a:solidFill>
        </p:spPr>
        <p:txBody>
          <a:bodyPr wrap="square" lIns="0" tIns="0" rIns="0" bIns="0" rtlCol="0"/>
          <a:lstStyle/>
          <a:p>
            <a:endParaRPr sz="1593"/>
          </a:p>
        </p:txBody>
      </p:sp>
      <p:sp>
        <p:nvSpPr>
          <p:cNvPr id="74" name="object 74"/>
          <p:cNvSpPr/>
          <p:nvPr/>
        </p:nvSpPr>
        <p:spPr>
          <a:xfrm>
            <a:off x="3797416" y="2284790"/>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5" name="object 75"/>
          <p:cNvSpPr/>
          <p:nvPr/>
        </p:nvSpPr>
        <p:spPr>
          <a:xfrm>
            <a:off x="3792130" y="2284790"/>
            <a:ext cx="106235" cy="95556"/>
          </a:xfrm>
          <a:custGeom>
            <a:avLst/>
            <a:gdLst/>
            <a:ahLst/>
            <a:cxnLst/>
            <a:rect l="l" t="t" r="r" b="b"/>
            <a:pathLst>
              <a:path w="120014" h="107950">
                <a:moveTo>
                  <a:pt x="11943" y="0"/>
                </a:moveTo>
                <a:lnTo>
                  <a:pt x="0" y="0"/>
                </a:lnTo>
                <a:lnTo>
                  <a:pt x="0" y="13434"/>
                </a:lnTo>
                <a:lnTo>
                  <a:pt x="107481" y="107477"/>
                </a:lnTo>
                <a:lnTo>
                  <a:pt x="119423" y="107477"/>
                </a:lnTo>
                <a:lnTo>
                  <a:pt x="119423" y="94042"/>
                </a:lnTo>
                <a:lnTo>
                  <a:pt x="11943" y="0"/>
                </a:lnTo>
                <a:close/>
              </a:path>
            </a:pathLst>
          </a:custGeom>
          <a:solidFill>
            <a:srgbClr val="000000"/>
          </a:solidFill>
        </p:spPr>
        <p:txBody>
          <a:bodyPr wrap="square" lIns="0" tIns="0" rIns="0" bIns="0" rtlCol="0"/>
          <a:lstStyle/>
          <a:p>
            <a:endParaRPr sz="1593"/>
          </a:p>
        </p:txBody>
      </p:sp>
      <p:sp>
        <p:nvSpPr>
          <p:cNvPr id="76" name="object 76"/>
          <p:cNvSpPr/>
          <p:nvPr/>
        </p:nvSpPr>
        <p:spPr>
          <a:xfrm>
            <a:off x="3892556" y="236803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7" name="object 77"/>
          <p:cNvSpPr/>
          <p:nvPr/>
        </p:nvSpPr>
        <p:spPr>
          <a:xfrm>
            <a:off x="3887271" y="2368035"/>
            <a:ext cx="84876" cy="107360"/>
          </a:xfrm>
          <a:custGeom>
            <a:avLst/>
            <a:gdLst/>
            <a:ahLst/>
            <a:cxnLst/>
            <a:rect l="l" t="t" r="r" b="b"/>
            <a:pathLst>
              <a:path w="95885" h="121285">
                <a:moveTo>
                  <a:pt x="11941" y="0"/>
                </a:moveTo>
                <a:lnTo>
                  <a:pt x="0" y="0"/>
                </a:lnTo>
                <a:lnTo>
                  <a:pt x="0" y="13435"/>
                </a:lnTo>
                <a:lnTo>
                  <a:pt x="83596" y="120912"/>
                </a:lnTo>
                <a:lnTo>
                  <a:pt x="95538" y="120912"/>
                </a:lnTo>
                <a:lnTo>
                  <a:pt x="95538" y="107477"/>
                </a:lnTo>
                <a:lnTo>
                  <a:pt x="11941" y="0"/>
                </a:lnTo>
                <a:close/>
              </a:path>
            </a:pathLst>
          </a:custGeom>
          <a:solidFill>
            <a:srgbClr val="000000"/>
          </a:solidFill>
        </p:spPr>
        <p:txBody>
          <a:bodyPr wrap="square" lIns="0" tIns="0" rIns="0" bIns="0" rtlCol="0"/>
          <a:lstStyle/>
          <a:p>
            <a:endParaRPr sz="1593"/>
          </a:p>
        </p:txBody>
      </p:sp>
      <p:sp>
        <p:nvSpPr>
          <p:cNvPr id="78" name="object 78"/>
          <p:cNvSpPr/>
          <p:nvPr/>
        </p:nvSpPr>
        <p:spPr>
          <a:xfrm>
            <a:off x="3966554" y="246317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9" name="object 79"/>
          <p:cNvSpPr/>
          <p:nvPr/>
        </p:nvSpPr>
        <p:spPr>
          <a:xfrm>
            <a:off x="3961269" y="2463173"/>
            <a:ext cx="63516" cy="130968"/>
          </a:xfrm>
          <a:custGeom>
            <a:avLst/>
            <a:gdLst/>
            <a:ahLst/>
            <a:cxnLst/>
            <a:rect l="l" t="t" r="r" b="b"/>
            <a:pathLst>
              <a:path w="71754" h="147955">
                <a:moveTo>
                  <a:pt x="11941" y="0"/>
                </a:moveTo>
                <a:lnTo>
                  <a:pt x="0" y="0"/>
                </a:lnTo>
                <a:lnTo>
                  <a:pt x="0" y="13435"/>
                </a:lnTo>
                <a:lnTo>
                  <a:pt x="59711" y="147782"/>
                </a:lnTo>
                <a:lnTo>
                  <a:pt x="71653" y="147782"/>
                </a:lnTo>
                <a:lnTo>
                  <a:pt x="71653" y="134346"/>
                </a:lnTo>
                <a:lnTo>
                  <a:pt x="11941" y="0"/>
                </a:lnTo>
                <a:close/>
              </a:path>
            </a:pathLst>
          </a:custGeom>
          <a:solidFill>
            <a:srgbClr val="000000"/>
          </a:solidFill>
        </p:spPr>
        <p:txBody>
          <a:bodyPr wrap="square" lIns="0" tIns="0" rIns="0" bIns="0" rtlCol="0"/>
          <a:lstStyle/>
          <a:p>
            <a:endParaRPr sz="1593"/>
          </a:p>
        </p:txBody>
      </p:sp>
      <p:sp>
        <p:nvSpPr>
          <p:cNvPr id="80" name="object 80"/>
          <p:cNvSpPr/>
          <p:nvPr/>
        </p:nvSpPr>
        <p:spPr>
          <a:xfrm>
            <a:off x="4019410" y="258209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1" name="object 81"/>
          <p:cNvSpPr/>
          <p:nvPr/>
        </p:nvSpPr>
        <p:spPr>
          <a:xfrm>
            <a:off x="4014125" y="2582094"/>
            <a:ext cx="53399" cy="142772"/>
          </a:xfrm>
          <a:custGeom>
            <a:avLst/>
            <a:gdLst/>
            <a:ahLst/>
            <a:cxnLst/>
            <a:rect l="l" t="t" r="r" b="b"/>
            <a:pathLst>
              <a:path w="60325" h="161289">
                <a:moveTo>
                  <a:pt x="11941" y="0"/>
                </a:moveTo>
                <a:lnTo>
                  <a:pt x="0" y="0"/>
                </a:lnTo>
                <a:lnTo>
                  <a:pt x="0" y="13435"/>
                </a:lnTo>
                <a:lnTo>
                  <a:pt x="47768" y="161217"/>
                </a:lnTo>
                <a:lnTo>
                  <a:pt x="59711" y="161217"/>
                </a:lnTo>
                <a:lnTo>
                  <a:pt x="59711" y="147782"/>
                </a:lnTo>
                <a:lnTo>
                  <a:pt x="11941" y="0"/>
                </a:lnTo>
                <a:close/>
              </a:path>
            </a:pathLst>
          </a:custGeom>
          <a:solidFill>
            <a:srgbClr val="000000"/>
          </a:solidFill>
        </p:spPr>
        <p:txBody>
          <a:bodyPr wrap="square" lIns="0" tIns="0" rIns="0" bIns="0" rtlCol="0"/>
          <a:lstStyle/>
          <a:p>
            <a:endParaRPr sz="1593"/>
          </a:p>
        </p:txBody>
      </p:sp>
      <p:sp>
        <p:nvSpPr>
          <p:cNvPr id="82" name="object 82"/>
          <p:cNvSpPr/>
          <p:nvPr/>
        </p:nvSpPr>
        <p:spPr>
          <a:xfrm>
            <a:off x="4061695" y="271290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3" name="object 83"/>
          <p:cNvSpPr/>
          <p:nvPr/>
        </p:nvSpPr>
        <p:spPr>
          <a:xfrm>
            <a:off x="4056409" y="2712909"/>
            <a:ext cx="21360" cy="142772"/>
          </a:xfrm>
          <a:custGeom>
            <a:avLst/>
            <a:gdLst/>
            <a:ahLst/>
            <a:cxnLst/>
            <a:rect l="l" t="t" r="r" b="b"/>
            <a:pathLst>
              <a:path w="24129" h="161289">
                <a:moveTo>
                  <a:pt x="11943" y="0"/>
                </a:moveTo>
                <a:lnTo>
                  <a:pt x="0" y="0"/>
                </a:lnTo>
                <a:lnTo>
                  <a:pt x="0" y="13435"/>
                </a:lnTo>
                <a:lnTo>
                  <a:pt x="11943" y="161216"/>
                </a:lnTo>
                <a:lnTo>
                  <a:pt x="23884" y="161216"/>
                </a:lnTo>
                <a:lnTo>
                  <a:pt x="23884" y="147781"/>
                </a:lnTo>
                <a:lnTo>
                  <a:pt x="11943" y="0"/>
                </a:lnTo>
                <a:close/>
              </a:path>
            </a:pathLst>
          </a:custGeom>
          <a:solidFill>
            <a:srgbClr val="000000"/>
          </a:solidFill>
        </p:spPr>
        <p:txBody>
          <a:bodyPr wrap="square" lIns="0" tIns="0" rIns="0" bIns="0" rtlCol="0"/>
          <a:lstStyle/>
          <a:p>
            <a:endParaRPr sz="1593"/>
          </a:p>
        </p:txBody>
      </p:sp>
      <p:sp>
        <p:nvSpPr>
          <p:cNvPr id="84" name="object 84"/>
          <p:cNvSpPr/>
          <p:nvPr/>
        </p:nvSpPr>
        <p:spPr>
          <a:xfrm>
            <a:off x="4072266" y="284372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5" name="object 85"/>
          <p:cNvSpPr/>
          <p:nvPr/>
        </p:nvSpPr>
        <p:spPr>
          <a:xfrm>
            <a:off x="2787868" y="2130191"/>
            <a:ext cx="1226486" cy="1355767"/>
          </a:xfrm>
          <a:custGeom>
            <a:avLst/>
            <a:gdLst/>
            <a:ahLst/>
            <a:cxnLst/>
            <a:rect l="l" t="t" r="r" b="b"/>
            <a:pathLst>
              <a:path w="1385570" h="1531620">
                <a:moveTo>
                  <a:pt x="692655" y="0"/>
                </a:moveTo>
                <a:lnTo>
                  <a:pt x="549347" y="13434"/>
                </a:lnTo>
                <a:lnTo>
                  <a:pt x="417982" y="67174"/>
                </a:lnTo>
                <a:lnTo>
                  <a:pt x="298559" y="134346"/>
                </a:lnTo>
                <a:lnTo>
                  <a:pt x="203019" y="228390"/>
                </a:lnTo>
                <a:lnTo>
                  <a:pt x="119423" y="335868"/>
                </a:lnTo>
                <a:lnTo>
                  <a:pt x="47769" y="470214"/>
                </a:lnTo>
                <a:lnTo>
                  <a:pt x="11943" y="617995"/>
                </a:lnTo>
                <a:lnTo>
                  <a:pt x="0" y="765778"/>
                </a:lnTo>
                <a:lnTo>
                  <a:pt x="11943" y="926994"/>
                </a:lnTo>
                <a:lnTo>
                  <a:pt x="47769" y="1061341"/>
                </a:lnTo>
                <a:lnTo>
                  <a:pt x="119423" y="1195689"/>
                </a:lnTo>
                <a:lnTo>
                  <a:pt x="203019" y="1303167"/>
                </a:lnTo>
                <a:lnTo>
                  <a:pt x="298559" y="1397209"/>
                </a:lnTo>
                <a:lnTo>
                  <a:pt x="417982" y="1477817"/>
                </a:lnTo>
                <a:lnTo>
                  <a:pt x="549347" y="1518122"/>
                </a:lnTo>
                <a:lnTo>
                  <a:pt x="692655" y="1531556"/>
                </a:lnTo>
                <a:lnTo>
                  <a:pt x="835963" y="1518122"/>
                </a:lnTo>
                <a:lnTo>
                  <a:pt x="967328" y="1477817"/>
                </a:lnTo>
                <a:lnTo>
                  <a:pt x="1074809" y="1397209"/>
                </a:lnTo>
                <a:lnTo>
                  <a:pt x="1182291" y="1303167"/>
                </a:lnTo>
                <a:lnTo>
                  <a:pt x="1265887" y="1195689"/>
                </a:lnTo>
                <a:lnTo>
                  <a:pt x="1337541" y="1061341"/>
                </a:lnTo>
                <a:lnTo>
                  <a:pt x="1373367" y="926994"/>
                </a:lnTo>
                <a:lnTo>
                  <a:pt x="1385310" y="765778"/>
                </a:lnTo>
                <a:lnTo>
                  <a:pt x="1373367" y="617995"/>
                </a:lnTo>
                <a:lnTo>
                  <a:pt x="1337541" y="470214"/>
                </a:lnTo>
                <a:lnTo>
                  <a:pt x="1265887" y="335868"/>
                </a:lnTo>
                <a:lnTo>
                  <a:pt x="1182291" y="228390"/>
                </a:lnTo>
                <a:lnTo>
                  <a:pt x="1074809" y="134346"/>
                </a:lnTo>
                <a:lnTo>
                  <a:pt x="967328" y="67174"/>
                </a:lnTo>
                <a:lnTo>
                  <a:pt x="835963" y="13434"/>
                </a:lnTo>
                <a:lnTo>
                  <a:pt x="692655" y="0"/>
                </a:lnTo>
                <a:close/>
              </a:path>
            </a:pathLst>
          </a:custGeom>
          <a:solidFill>
            <a:srgbClr val="DBDBDB"/>
          </a:solidFill>
        </p:spPr>
        <p:txBody>
          <a:bodyPr wrap="square" lIns="0" tIns="0" rIns="0" bIns="0" rtlCol="0"/>
          <a:lstStyle/>
          <a:p>
            <a:endParaRPr sz="1593"/>
          </a:p>
        </p:txBody>
      </p:sp>
      <p:sp>
        <p:nvSpPr>
          <p:cNvPr id="86" name="object 86"/>
          <p:cNvSpPr/>
          <p:nvPr/>
        </p:nvSpPr>
        <p:spPr>
          <a:xfrm>
            <a:off x="4003553" y="2808046"/>
            <a:ext cx="21360" cy="155138"/>
          </a:xfrm>
          <a:custGeom>
            <a:avLst/>
            <a:gdLst/>
            <a:ahLst/>
            <a:cxnLst/>
            <a:rect l="l" t="t" r="r" b="b"/>
            <a:pathLst>
              <a:path w="24129" h="175260">
                <a:moveTo>
                  <a:pt x="23884" y="0"/>
                </a:moveTo>
                <a:lnTo>
                  <a:pt x="11943" y="0"/>
                </a:lnTo>
                <a:lnTo>
                  <a:pt x="0" y="161216"/>
                </a:lnTo>
                <a:lnTo>
                  <a:pt x="0" y="174651"/>
                </a:lnTo>
                <a:lnTo>
                  <a:pt x="11943" y="174651"/>
                </a:lnTo>
                <a:lnTo>
                  <a:pt x="23884" y="13435"/>
                </a:lnTo>
                <a:lnTo>
                  <a:pt x="23884" y="0"/>
                </a:lnTo>
                <a:close/>
              </a:path>
            </a:pathLst>
          </a:custGeom>
          <a:solidFill>
            <a:srgbClr val="000000"/>
          </a:solidFill>
        </p:spPr>
        <p:txBody>
          <a:bodyPr wrap="square" lIns="0" tIns="0" rIns="0" bIns="0" rtlCol="0"/>
          <a:lstStyle/>
          <a:p>
            <a:endParaRPr sz="1593"/>
          </a:p>
        </p:txBody>
      </p:sp>
      <p:sp>
        <p:nvSpPr>
          <p:cNvPr id="87" name="object 87"/>
          <p:cNvSpPr/>
          <p:nvPr/>
        </p:nvSpPr>
        <p:spPr>
          <a:xfrm>
            <a:off x="4008839" y="295075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88" name="object 88"/>
          <p:cNvSpPr/>
          <p:nvPr/>
        </p:nvSpPr>
        <p:spPr>
          <a:xfrm>
            <a:off x="3971840" y="2950754"/>
            <a:ext cx="42719" cy="130968"/>
          </a:xfrm>
          <a:custGeom>
            <a:avLst/>
            <a:gdLst/>
            <a:ahLst/>
            <a:cxnLst/>
            <a:rect l="l" t="t" r="r" b="b"/>
            <a:pathLst>
              <a:path w="48260" h="147954">
                <a:moveTo>
                  <a:pt x="47769" y="0"/>
                </a:moveTo>
                <a:lnTo>
                  <a:pt x="35826" y="0"/>
                </a:lnTo>
                <a:lnTo>
                  <a:pt x="0" y="134346"/>
                </a:lnTo>
                <a:lnTo>
                  <a:pt x="0" y="147782"/>
                </a:lnTo>
                <a:lnTo>
                  <a:pt x="11943" y="147782"/>
                </a:lnTo>
                <a:lnTo>
                  <a:pt x="47769" y="13435"/>
                </a:lnTo>
                <a:lnTo>
                  <a:pt x="47769" y="0"/>
                </a:lnTo>
                <a:close/>
              </a:path>
            </a:pathLst>
          </a:custGeom>
          <a:solidFill>
            <a:srgbClr val="000000"/>
          </a:solidFill>
        </p:spPr>
        <p:txBody>
          <a:bodyPr wrap="square" lIns="0" tIns="0" rIns="0" bIns="0" rtlCol="0"/>
          <a:lstStyle/>
          <a:p>
            <a:endParaRPr sz="1593"/>
          </a:p>
        </p:txBody>
      </p:sp>
      <p:sp>
        <p:nvSpPr>
          <p:cNvPr id="89" name="object 89"/>
          <p:cNvSpPr/>
          <p:nvPr/>
        </p:nvSpPr>
        <p:spPr>
          <a:xfrm>
            <a:off x="3977126" y="306967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90" name="object 90"/>
          <p:cNvSpPr/>
          <p:nvPr/>
        </p:nvSpPr>
        <p:spPr>
          <a:xfrm>
            <a:off x="3908414" y="3069676"/>
            <a:ext cx="74196" cy="130968"/>
          </a:xfrm>
          <a:custGeom>
            <a:avLst/>
            <a:gdLst/>
            <a:ahLst/>
            <a:cxnLst/>
            <a:rect l="l" t="t" r="r" b="b"/>
            <a:pathLst>
              <a:path w="83820" h="147954">
                <a:moveTo>
                  <a:pt x="83596" y="0"/>
                </a:moveTo>
                <a:lnTo>
                  <a:pt x="71653" y="0"/>
                </a:lnTo>
                <a:lnTo>
                  <a:pt x="0" y="134348"/>
                </a:lnTo>
                <a:lnTo>
                  <a:pt x="0" y="147782"/>
                </a:lnTo>
                <a:lnTo>
                  <a:pt x="11941" y="147782"/>
                </a:lnTo>
                <a:lnTo>
                  <a:pt x="83596" y="13435"/>
                </a:lnTo>
                <a:lnTo>
                  <a:pt x="83596" y="0"/>
                </a:lnTo>
                <a:close/>
              </a:path>
            </a:pathLst>
          </a:custGeom>
          <a:solidFill>
            <a:srgbClr val="000000"/>
          </a:solidFill>
        </p:spPr>
        <p:txBody>
          <a:bodyPr wrap="square" lIns="0" tIns="0" rIns="0" bIns="0" rtlCol="0"/>
          <a:lstStyle/>
          <a:p>
            <a:endParaRPr sz="1593"/>
          </a:p>
        </p:txBody>
      </p:sp>
      <p:sp>
        <p:nvSpPr>
          <p:cNvPr id="91" name="object 91"/>
          <p:cNvSpPr/>
          <p:nvPr/>
        </p:nvSpPr>
        <p:spPr>
          <a:xfrm>
            <a:off x="3913699" y="318859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92" name="object 92"/>
          <p:cNvSpPr/>
          <p:nvPr/>
        </p:nvSpPr>
        <p:spPr>
          <a:xfrm>
            <a:off x="3834415" y="3188598"/>
            <a:ext cx="84876" cy="107360"/>
          </a:xfrm>
          <a:custGeom>
            <a:avLst/>
            <a:gdLst/>
            <a:ahLst/>
            <a:cxnLst/>
            <a:rect l="l" t="t" r="r" b="b"/>
            <a:pathLst>
              <a:path w="95885" h="121285">
                <a:moveTo>
                  <a:pt x="95538" y="0"/>
                </a:moveTo>
                <a:lnTo>
                  <a:pt x="83596" y="0"/>
                </a:lnTo>
                <a:lnTo>
                  <a:pt x="0" y="107477"/>
                </a:lnTo>
                <a:lnTo>
                  <a:pt x="0" y="120911"/>
                </a:lnTo>
                <a:lnTo>
                  <a:pt x="11941" y="120911"/>
                </a:lnTo>
                <a:lnTo>
                  <a:pt x="95538" y="13434"/>
                </a:lnTo>
                <a:lnTo>
                  <a:pt x="95538" y="0"/>
                </a:lnTo>
                <a:close/>
              </a:path>
            </a:pathLst>
          </a:custGeom>
          <a:solidFill>
            <a:srgbClr val="000000"/>
          </a:solidFill>
        </p:spPr>
        <p:txBody>
          <a:bodyPr wrap="square" lIns="0" tIns="0" rIns="0" bIns="0" rtlCol="0"/>
          <a:lstStyle/>
          <a:p>
            <a:endParaRPr sz="1593"/>
          </a:p>
        </p:txBody>
      </p:sp>
      <p:sp>
        <p:nvSpPr>
          <p:cNvPr id="93" name="object 93"/>
          <p:cNvSpPr/>
          <p:nvPr/>
        </p:nvSpPr>
        <p:spPr>
          <a:xfrm>
            <a:off x="3839700" y="328373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94" name="object 94"/>
          <p:cNvSpPr/>
          <p:nvPr/>
        </p:nvSpPr>
        <p:spPr>
          <a:xfrm>
            <a:off x="3739274" y="3283736"/>
            <a:ext cx="106235" cy="95556"/>
          </a:xfrm>
          <a:custGeom>
            <a:avLst/>
            <a:gdLst/>
            <a:ahLst/>
            <a:cxnLst/>
            <a:rect l="l" t="t" r="r" b="b"/>
            <a:pathLst>
              <a:path w="120014" h="107950">
                <a:moveTo>
                  <a:pt x="119423" y="0"/>
                </a:moveTo>
                <a:lnTo>
                  <a:pt x="107481" y="0"/>
                </a:lnTo>
                <a:lnTo>
                  <a:pt x="0" y="94042"/>
                </a:lnTo>
                <a:lnTo>
                  <a:pt x="0" y="107477"/>
                </a:lnTo>
                <a:lnTo>
                  <a:pt x="11943" y="107477"/>
                </a:lnTo>
                <a:lnTo>
                  <a:pt x="119423" y="13434"/>
                </a:lnTo>
                <a:lnTo>
                  <a:pt x="119423" y="0"/>
                </a:lnTo>
                <a:close/>
              </a:path>
            </a:pathLst>
          </a:custGeom>
          <a:solidFill>
            <a:srgbClr val="000000"/>
          </a:solidFill>
        </p:spPr>
        <p:txBody>
          <a:bodyPr wrap="square" lIns="0" tIns="0" rIns="0" bIns="0" rtlCol="0"/>
          <a:lstStyle/>
          <a:p>
            <a:endParaRPr sz="1593"/>
          </a:p>
        </p:txBody>
      </p:sp>
      <p:sp>
        <p:nvSpPr>
          <p:cNvPr id="95" name="object 95"/>
          <p:cNvSpPr/>
          <p:nvPr/>
        </p:nvSpPr>
        <p:spPr>
          <a:xfrm>
            <a:off x="3744559" y="336698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96" name="object 96"/>
          <p:cNvSpPr/>
          <p:nvPr/>
        </p:nvSpPr>
        <p:spPr>
          <a:xfrm>
            <a:off x="3644133" y="3366980"/>
            <a:ext cx="106235" cy="83752"/>
          </a:xfrm>
          <a:custGeom>
            <a:avLst/>
            <a:gdLst/>
            <a:ahLst/>
            <a:cxnLst/>
            <a:rect l="l" t="t" r="r" b="b"/>
            <a:pathLst>
              <a:path w="120014" h="94614">
                <a:moveTo>
                  <a:pt x="119424" y="0"/>
                </a:moveTo>
                <a:lnTo>
                  <a:pt x="107481" y="0"/>
                </a:lnTo>
                <a:lnTo>
                  <a:pt x="0" y="80608"/>
                </a:lnTo>
                <a:lnTo>
                  <a:pt x="0" y="94043"/>
                </a:lnTo>
                <a:lnTo>
                  <a:pt x="11943" y="94043"/>
                </a:lnTo>
                <a:lnTo>
                  <a:pt x="119424" y="13435"/>
                </a:lnTo>
                <a:lnTo>
                  <a:pt x="119424" y="0"/>
                </a:lnTo>
                <a:close/>
              </a:path>
            </a:pathLst>
          </a:custGeom>
          <a:solidFill>
            <a:srgbClr val="000000"/>
          </a:solidFill>
        </p:spPr>
        <p:txBody>
          <a:bodyPr wrap="square" lIns="0" tIns="0" rIns="0" bIns="0" rtlCol="0"/>
          <a:lstStyle/>
          <a:p>
            <a:endParaRPr sz="1593"/>
          </a:p>
        </p:txBody>
      </p:sp>
      <p:sp>
        <p:nvSpPr>
          <p:cNvPr id="97" name="object 97"/>
          <p:cNvSpPr/>
          <p:nvPr/>
        </p:nvSpPr>
        <p:spPr>
          <a:xfrm>
            <a:off x="3649419" y="343833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98" name="object 98"/>
          <p:cNvSpPr/>
          <p:nvPr/>
        </p:nvSpPr>
        <p:spPr>
          <a:xfrm>
            <a:off x="3527851" y="3438334"/>
            <a:ext cx="127033" cy="47778"/>
          </a:xfrm>
          <a:custGeom>
            <a:avLst/>
            <a:gdLst/>
            <a:ahLst/>
            <a:cxnLst/>
            <a:rect l="l" t="t" r="r" b="b"/>
            <a:pathLst>
              <a:path w="143510" h="53975">
                <a:moveTo>
                  <a:pt x="143308" y="0"/>
                </a:moveTo>
                <a:lnTo>
                  <a:pt x="131364" y="0"/>
                </a:lnTo>
                <a:lnTo>
                  <a:pt x="0" y="40304"/>
                </a:lnTo>
                <a:lnTo>
                  <a:pt x="0" y="53738"/>
                </a:lnTo>
                <a:lnTo>
                  <a:pt x="11941" y="53738"/>
                </a:lnTo>
                <a:lnTo>
                  <a:pt x="143308" y="13435"/>
                </a:lnTo>
                <a:lnTo>
                  <a:pt x="143308" y="0"/>
                </a:lnTo>
                <a:close/>
              </a:path>
            </a:pathLst>
          </a:custGeom>
          <a:solidFill>
            <a:srgbClr val="000000"/>
          </a:solidFill>
        </p:spPr>
        <p:txBody>
          <a:bodyPr wrap="square" lIns="0" tIns="0" rIns="0" bIns="0" rtlCol="0"/>
          <a:lstStyle/>
          <a:p>
            <a:endParaRPr sz="1593"/>
          </a:p>
        </p:txBody>
      </p:sp>
      <p:sp>
        <p:nvSpPr>
          <p:cNvPr id="99" name="object 99"/>
          <p:cNvSpPr/>
          <p:nvPr/>
        </p:nvSpPr>
        <p:spPr>
          <a:xfrm>
            <a:off x="3533136" y="34740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00" name="object 100"/>
          <p:cNvSpPr/>
          <p:nvPr/>
        </p:nvSpPr>
        <p:spPr>
          <a:xfrm>
            <a:off x="3400997" y="3474011"/>
            <a:ext cx="137713" cy="24170"/>
          </a:xfrm>
          <a:custGeom>
            <a:avLst/>
            <a:gdLst/>
            <a:ahLst/>
            <a:cxnLst/>
            <a:rect l="l" t="t" r="r" b="b"/>
            <a:pathLst>
              <a:path w="155575" h="27304">
                <a:moveTo>
                  <a:pt x="155249" y="0"/>
                </a:moveTo>
                <a:lnTo>
                  <a:pt x="143308" y="0"/>
                </a:lnTo>
                <a:lnTo>
                  <a:pt x="0" y="13434"/>
                </a:lnTo>
                <a:lnTo>
                  <a:pt x="0" y="26869"/>
                </a:lnTo>
                <a:lnTo>
                  <a:pt x="11943" y="26869"/>
                </a:lnTo>
                <a:lnTo>
                  <a:pt x="155249" y="13434"/>
                </a:lnTo>
                <a:lnTo>
                  <a:pt x="155249" y="0"/>
                </a:lnTo>
                <a:close/>
              </a:path>
            </a:pathLst>
          </a:custGeom>
          <a:solidFill>
            <a:srgbClr val="000000"/>
          </a:solidFill>
        </p:spPr>
        <p:txBody>
          <a:bodyPr wrap="square" lIns="0" tIns="0" rIns="0" bIns="0" rtlCol="0"/>
          <a:lstStyle/>
          <a:p>
            <a:endParaRPr sz="1593"/>
          </a:p>
        </p:txBody>
      </p:sp>
      <p:sp>
        <p:nvSpPr>
          <p:cNvPr id="101" name="object 101"/>
          <p:cNvSpPr/>
          <p:nvPr/>
        </p:nvSpPr>
        <p:spPr>
          <a:xfrm>
            <a:off x="3400996" y="3485903"/>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02" name="object 102"/>
          <p:cNvSpPr/>
          <p:nvPr/>
        </p:nvSpPr>
        <p:spPr>
          <a:xfrm>
            <a:off x="3400996" y="3485903"/>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03" name="object 103"/>
          <p:cNvSpPr/>
          <p:nvPr/>
        </p:nvSpPr>
        <p:spPr>
          <a:xfrm>
            <a:off x="3400996" y="3485903"/>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04" name="object 104"/>
          <p:cNvSpPr/>
          <p:nvPr/>
        </p:nvSpPr>
        <p:spPr>
          <a:xfrm>
            <a:off x="3274143" y="3474011"/>
            <a:ext cx="137713" cy="24170"/>
          </a:xfrm>
          <a:custGeom>
            <a:avLst/>
            <a:gdLst/>
            <a:ahLst/>
            <a:cxnLst/>
            <a:rect l="l" t="t" r="r" b="b"/>
            <a:pathLst>
              <a:path w="155575" h="27304">
                <a:moveTo>
                  <a:pt x="11943" y="0"/>
                </a:moveTo>
                <a:lnTo>
                  <a:pt x="0" y="0"/>
                </a:lnTo>
                <a:lnTo>
                  <a:pt x="0" y="13434"/>
                </a:lnTo>
                <a:lnTo>
                  <a:pt x="143308" y="26869"/>
                </a:lnTo>
                <a:lnTo>
                  <a:pt x="155251" y="26869"/>
                </a:lnTo>
                <a:lnTo>
                  <a:pt x="155251" y="13434"/>
                </a:lnTo>
                <a:lnTo>
                  <a:pt x="11943" y="0"/>
                </a:lnTo>
                <a:close/>
              </a:path>
            </a:pathLst>
          </a:custGeom>
          <a:solidFill>
            <a:srgbClr val="000000"/>
          </a:solidFill>
        </p:spPr>
        <p:txBody>
          <a:bodyPr wrap="square" lIns="0" tIns="0" rIns="0" bIns="0" rtlCol="0"/>
          <a:lstStyle/>
          <a:p>
            <a:endParaRPr sz="1593"/>
          </a:p>
        </p:txBody>
      </p:sp>
      <p:sp>
        <p:nvSpPr>
          <p:cNvPr id="105" name="object 105"/>
          <p:cNvSpPr/>
          <p:nvPr/>
        </p:nvSpPr>
        <p:spPr>
          <a:xfrm>
            <a:off x="3279428" y="34740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06" name="object 106"/>
          <p:cNvSpPr/>
          <p:nvPr/>
        </p:nvSpPr>
        <p:spPr>
          <a:xfrm>
            <a:off x="3157860" y="3438334"/>
            <a:ext cx="127033" cy="47778"/>
          </a:xfrm>
          <a:custGeom>
            <a:avLst/>
            <a:gdLst/>
            <a:ahLst/>
            <a:cxnLst/>
            <a:rect l="l" t="t" r="r" b="b"/>
            <a:pathLst>
              <a:path w="143510" h="53975">
                <a:moveTo>
                  <a:pt x="11941" y="0"/>
                </a:moveTo>
                <a:lnTo>
                  <a:pt x="0" y="0"/>
                </a:lnTo>
                <a:lnTo>
                  <a:pt x="0" y="13435"/>
                </a:lnTo>
                <a:lnTo>
                  <a:pt x="131364" y="53738"/>
                </a:lnTo>
                <a:lnTo>
                  <a:pt x="143308" y="53738"/>
                </a:lnTo>
                <a:lnTo>
                  <a:pt x="143308" y="40304"/>
                </a:lnTo>
                <a:lnTo>
                  <a:pt x="11941" y="0"/>
                </a:lnTo>
                <a:close/>
              </a:path>
            </a:pathLst>
          </a:custGeom>
          <a:solidFill>
            <a:srgbClr val="000000"/>
          </a:solidFill>
        </p:spPr>
        <p:txBody>
          <a:bodyPr wrap="square" lIns="0" tIns="0" rIns="0" bIns="0" rtlCol="0"/>
          <a:lstStyle/>
          <a:p>
            <a:endParaRPr sz="1593"/>
          </a:p>
        </p:txBody>
      </p:sp>
      <p:sp>
        <p:nvSpPr>
          <p:cNvPr id="107" name="object 107"/>
          <p:cNvSpPr/>
          <p:nvPr/>
        </p:nvSpPr>
        <p:spPr>
          <a:xfrm>
            <a:off x="3163145" y="343833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08" name="object 108"/>
          <p:cNvSpPr/>
          <p:nvPr/>
        </p:nvSpPr>
        <p:spPr>
          <a:xfrm>
            <a:off x="3052149" y="3366980"/>
            <a:ext cx="116353" cy="83752"/>
          </a:xfrm>
          <a:custGeom>
            <a:avLst/>
            <a:gdLst/>
            <a:ahLst/>
            <a:cxnLst/>
            <a:rect l="l" t="t" r="r" b="b"/>
            <a:pathLst>
              <a:path w="131445" h="94614">
                <a:moveTo>
                  <a:pt x="11941" y="0"/>
                </a:moveTo>
                <a:lnTo>
                  <a:pt x="0" y="0"/>
                </a:lnTo>
                <a:lnTo>
                  <a:pt x="0" y="13435"/>
                </a:lnTo>
                <a:lnTo>
                  <a:pt x="119423" y="94043"/>
                </a:lnTo>
                <a:lnTo>
                  <a:pt x="131364" y="94043"/>
                </a:lnTo>
                <a:lnTo>
                  <a:pt x="131364" y="80608"/>
                </a:lnTo>
                <a:lnTo>
                  <a:pt x="11941" y="0"/>
                </a:lnTo>
                <a:close/>
              </a:path>
            </a:pathLst>
          </a:custGeom>
          <a:solidFill>
            <a:srgbClr val="000000"/>
          </a:solidFill>
        </p:spPr>
        <p:txBody>
          <a:bodyPr wrap="square" lIns="0" tIns="0" rIns="0" bIns="0" rtlCol="0"/>
          <a:lstStyle/>
          <a:p>
            <a:endParaRPr sz="1593"/>
          </a:p>
        </p:txBody>
      </p:sp>
      <p:sp>
        <p:nvSpPr>
          <p:cNvPr id="109" name="object 109"/>
          <p:cNvSpPr/>
          <p:nvPr/>
        </p:nvSpPr>
        <p:spPr>
          <a:xfrm>
            <a:off x="3057434" y="336698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10" name="object 110"/>
          <p:cNvSpPr/>
          <p:nvPr/>
        </p:nvSpPr>
        <p:spPr>
          <a:xfrm>
            <a:off x="2967578" y="3283736"/>
            <a:ext cx="95556" cy="95556"/>
          </a:xfrm>
          <a:custGeom>
            <a:avLst/>
            <a:gdLst/>
            <a:ahLst/>
            <a:cxnLst/>
            <a:rect l="l" t="t" r="r" b="b"/>
            <a:pathLst>
              <a:path w="107950" h="107950">
                <a:moveTo>
                  <a:pt x="11943" y="0"/>
                </a:moveTo>
                <a:lnTo>
                  <a:pt x="0" y="0"/>
                </a:lnTo>
                <a:lnTo>
                  <a:pt x="0" y="13434"/>
                </a:lnTo>
                <a:lnTo>
                  <a:pt x="95539" y="107477"/>
                </a:lnTo>
                <a:lnTo>
                  <a:pt x="107481" y="107477"/>
                </a:lnTo>
                <a:lnTo>
                  <a:pt x="107481" y="94042"/>
                </a:lnTo>
                <a:lnTo>
                  <a:pt x="11943" y="0"/>
                </a:lnTo>
                <a:close/>
              </a:path>
            </a:pathLst>
          </a:custGeom>
          <a:solidFill>
            <a:srgbClr val="000000"/>
          </a:solidFill>
        </p:spPr>
        <p:txBody>
          <a:bodyPr wrap="square" lIns="0" tIns="0" rIns="0" bIns="0" rtlCol="0"/>
          <a:lstStyle/>
          <a:p>
            <a:endParaRPr sz="1593"/>
          </a:p>
        </p:txBody>
      </p:sp>
      <p:sp>
        <p:nvSpPr>
          <p:cNvPr id="111" name="object 111"/>
          <p:cNvSpPr/>
          <p:nvPr/>
        </p:nvSpPr>
        <p:spPr>
          <a:xfrm>
            <a:off x="2972865" y="328373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12" name="object 112"/>
          <p:cNvSpPr/>
          <p:nvPr/>
        </p:nvSpPr>
        <p:spPr>
          <a:xfrm>
            <a:off x="2893580" y="3188598"/>
            <a:ext cx="84876" cy="107360"/>
          </a:xfrm>
          <a:custGeom>
            <a:avLst/>
            <a:gdLst/>
            <a:ahLst/>
            <a:cxnLst/>
            <a:rect l="l" t="t" r="r" b="b"/>
            <a:pathLst>
              <a:path w="95885" h="121285">
                <a:moveTo>
                  <a:pt x="11943" y="0"/>
                </a:moveTo>
                <a:lnTo>
                  <a:pt x="0" y="0"/>
                </a:lnTo>
                <a:lnTo>
                  <a:pt x="0" y="13434"/>
                </a:lnTo>
                <a:lnTo>
                  <a:pt x="83596" y="120911"/>
                </a:lnTo>
                <a:lnTo>
                  <a:pt x="95539" y="120911"/>
                </a:lnTo>
                <a:lnTo>
                  <a:pt x="95539" y="107477"/>
                </a:lnTo>
                <a:lnTo>
                  <a:pt x="11943" y="0"/>
                </a:lnTo>
                <a:close/>
              </a:path>
            </a:pathLst>
          </a:custGeom>
          <a:solidFill>
            <a:srgbClr val="000000"/>
          </a:solidFill>
        </p:spPr>
        <p:txBody>
          <a:bodyPr wrap="square" lIns="0" tIns="0" rIns="0" bIns="0" rtlCol="0"/>
          <a:lstStyle/>
          <a:p>
            <a:endParaRPr sz="1593"/>
          </a:p>
        </p:txBody>
      </p:sp>
      <p:sp>
        <p:nvSpPr>
          <p:cNvPr id="113" name="object 113"/>
          <p:cNvSpPr/>
          <p:nvPr/>
        </p:nvSpPr>
        <p:spPr>
          <a:xfrm>
            <a:off x="2898866" y="318859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14" name="object 114"/>
          <p:cNvSpPr/>
          <p:nvPr/>
        </p:nvSpPr>
        <p:spPr>
          <a:xfrm>
            <a:off x="2830154" y="3069676"/>
            <a:ext cx="74196" cy="130968"/>
          </a:xfrm>
          <a:custGeom>
            <a:avLst/>
            <a:gdLst/>
            <a:ahLst/>
            <a:cxnLst/>
            <a:rect l="l" t="t" r="r" b="b"/>
            <a:pathLst>
              <a:path w="83820" h="147954">
                <a:moveTo>
                  <a:pt x="11941" y="0"/>
                </a:moveTo>
                <a:lnTo>
                  <a:pt x="0" y="0"/>
                </a:lnTo>
                <a:lnTo>
                  <a:pt x="0" y="13435"/>
                </a:lnTo>
                <a:lnTo>
                  <a:pt x="71653" y="147782"/>
                </a:lnTo>
                <a:lnTo>
                  <a:pt x="83596" y="147782"/>
                </a:lnTo>
                <a:lnTo>
                  <a:pt x="83596" y="134348"/>
                </a:lnTo>
                <a:lnTo>
                  <a:pt x="11941" y="0"/>
                </a:lnTo>
                <a:close/>
              </a:path>
            </a:pathLst>
          </a:custGeom>
          <a:solidFill>
            <a:srgbClr val="000000"/>
          </a:solidFill>
        </p:spPr>
        <p:txBody>
          <a:bodyPr wrap="square" lIns="0" tIns="0" rIns="0" bIns="0" rtlCol="0"/>
          <a:lstStyle/>
          <a:p>
            <a:endParaRPr sz="1593"/>
          </a:p>
        </p:txBody>
      </p:sp>
      <p:sp>
        <p:nvSpPr>
          <p:cNvPr id="115" name="object 115"/>
          <p:cNvSpPr/>
          <p:nvPr/>
        </p:nvSpPr>
        <p:spPr>
          <a:xfrm>
            <a:off x="2835439" y="306967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16" name="object 116"/>
          <p:cNvSpPr/>
          <p:nvPr/>
        </p:nvSpPr>
        <p:spPr>
          <a:xfrm>
            <a:off x="2798440" y="2950754"/>
            <a:ext cx="42719" cy="130968"/>
          </a:xfrm>
          <a:custGeom>
            <a:avLst/>
            <a:gdLst/>
            <a:ahLst/>
            <a:cxnLst/>
            <a:rect l="l" t="t" r="r" b="b"/>
            <a:pathLst>
              <a:path w="48260" h="147954">
                <a:moveTo>
                  <a:pt x="11941" y="0"/>
                </a:moveTo>
                <a:lnTo>
                  <a:pt x="0" y="0"/>
                </a:lnTo>
                <a:lnTo>
                  <a:pt x="0" y="13435"/>
                </a:lnTo>
                <a:lnTo>
                  <a:pt x="35826" y="147782"/>
                </a:lnTo>
                <a:lnTo>
                  <a:pt x="47768" y="147782"/>
                </a:lnTo>
                <a:lnTo>
                  <a:pt x="47768" y="134346"/>
                </a:lnTo>
                <a:lnTo>
                  <a:pt x="11941" y="0"/>
                </a:lnTo>
                <a:close/>
              </a:path>
            </a:pathLst>
          </a:custGeom>
          <a:solidFill>
            <a:srgbClr val="000000"/>
          </a:solidFill>
        </p:spPr>
        <p:txBody>
          <a:bodyPr wrap="square" lIns="0" tIns="0" rIns="0" bIns="0" rtlCol="0"/>
          <a:lstStyle/>
          <a:p>
            <a:endParaRPr sz="1593"/>
          </a:p>
        </p:txBody>
      </p:sp>
      <p:sp>
        <p:nvSpPr>
          <p:cNvPr id="117" name="object 117"/>
          <p:cNvSpPr/>
          <p:nvPr/>
        </p:nvSpPr>
        <p:spPr>
          <a:xfrm>
            <a:off x="2803725" y="295075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118" name="object 118"/>
          <p:cNvSpPr/>
          <p:nvPr/>
        </p:nvSpPr>
        <p:spPr>
          <a:xfrm>
            <a:off x="2787868" y="2808046"/>
            <a:ext cx="21360" cy="155138"/>
          </a:xfrm>
          <a:custGeom>
            <a:avLst/>
            <a:gdLst/>
            <a:ahLst/>
            <a:cxnLst/>
            <a:rect l="l" t="t" r="r" b="b"/>
            <a:pathLst>
              <a:path w="24130" h="175260">
                <a:moveTo>
                  <a:pt x="11943" y="0"/>
                </a:moveTo>
                <a:lnTo>
                  <a:pt x="0" y="0"/>
                </a:lnTo>
                <a:lnTo>
                  <a:pt x="0" y="13435"/>
                </a:lnTo>
                <a:lnTo>
                  <a:pt x="11943" y="174651"/>
                </a:lnTo>
                <a:lnTo>
                  <a:pt x="23884" y="174651"/>
                </a:lnTo>
                <a:lnTo>
                  <a:pt x="23884" y="161216"/>
                </a:lnTo>
                <a:lnTo>
                  <a:pt x="11943" y="0"/>
                </a:lnTo>
                <a:close/>
              </a:path>
            </a:pathLst>
          </a:custGeom>
          <a:solidFill>
            <a:srgbClr val="000000"/>
          </a:solidFill>
        </p:spPr>
        <p:txBody>
          <a:bodyPr wrap="square" lIns="0" tIns="0" rIns="0" bIns="0" rtlCol="0"/>
          <a:lstStyle/>
          <a:p>
            <a:endParaRPr sz="1593"/>
          </a:p>
        </p:txBody>
      </p:sp>
      <p:sp>
        <p:nvSpPr>
          <p:cNvPr id="119" name="object 119"/>
          <p:cNvSpPr/>
          <p:nvPr/>
        </p:nvSpPr>
        <p:spPr>
          <a:xfrm>
            <a:off x="2787869" y="2808046"/>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20" name="object 120"/>
          <p:cNvSpPr/>
          <p:nvPr/>
        </p:nvSpPr>
        <p:spPr>
          <a:xfrm>
            <a:off x="2787869" y="2808046"/>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21" name="object 121"/>
          <p:cNvSpPr/>
          <p:nvPr/>
        </p:nvSpPr>
        <p:spPr>
          <a:xfrm>
            <a:off x="2787869" y="2808046"/>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22" name="object 122"/>
          <p:cNvSpPr/>
          <p:nvPr/>
        </p:nvSpPr>
        <p:spPr>
          <a:xfrm>
            <a:off x="2787868" y="2677232"/>
            <a:ext cx="21360" cy="142772"/>
          </a:xfrm>
          <a:custGeom>
            <a:avLst/>
            <a:gdLst/>
            <a:ahLst/>
            <a:cxnLst/>
            <a:rect l="l" t="t" r="r" b="b"/>
            <a:pathLst>
              <a:path w="24130" h="161289">
                <a:moveTo>
                  <a:pt x="23884" y="0"/>
                </a:moveTo>
                <a:lnTo>
                  <a:pt x="11943" y="0"/>
                </a:lnTo>
                <a:lnTo>
                  <a:pt x="0" y="147782"/>
                </a:lnTo>
                <a:lnTo>
                  <a:pt x="0" y="161217"/>
                </a:lnTo>
                <a:lnTo>
                  <a:pt x="11943" y="161217"/>
                </a:lnTo>
                <a:lnTo>
                  <a:pt x="23884" y="13435"/>
                </a:lnTo>
                <a:lnTo>
                  <a:pt x="23884" y="0"/>
                </a:lnTo>
                <a:close/>
              </a:path>
            </a:pathLst>
          </a:custGeom>
          <a:solidFill>
            <a:srgbClr val="000000"/>
          </a:solidFill>
        </p:spPr>
        <p:txBody>
          <a:bodyPr wrap="square" lIns="0" tIns="0" rIns="0" bIns="0" rtlCol="0"/>
          <a:lstStyle/>
          <a:p>
            <a:endParaRPr sz="1593"/>
          </a:p>
        </p:txBody>
      </p:sp>
      <p:sp>
        <p:nvSpPr>
          <p:cNvPr id="123" name="object 123"/>
          <p:cNvSpPr/>
          <p:nvPr/>
        </p:nvSpPr>
        <p:spPr>
          <a:xfrm>
            <a:off x="2803725" y="267723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24" name="object 124"/>
          <p:cNvSpPr/>
          <p:nvPr/>
        </p:nvSpPr>
        <p:spPr>
          <a:xfrm>
            <a:off x="2798440" y="2546418"/>
            <a:ext cx="42719" cy="142772"/>
          </a:xfrm>
          <a:custGeom>
            <a:avLst/>
            <a:gdLst/>
            <a:ahLst/>
            <a:cxnLst/>
            <a:rect l="l" t="t" r="r" b="b"/>
            <a:pathLst>
              <a:path w="48260" h="161289">
                <a:moveTo>
                  <a:pt x="47768" y="0"/>
                </a:moveTo>
                <a:lnTo>
                  <a:pt x="35826" y="0"/>
                </a:lnTo>
                <a:lnTo>
                  <a:pt x="0" y="147781"/>
                </a:lnTo>
                <a:lnTo>
                  <a:pt x="0" y="161216"/>
                </a:lnTo>
                <a:lnTo>
                  <a:pt x="11941" y="161216"/>
                </a:lnTo>
                <a:lnTo>
                  <a:pt x="47768" y="13434"/>
                </a:lnTo>
                <a:lnTo>
                  <a:pt x="47768" y="0"/>
                </a:lnTo>
                <a:close/>
              </a:path>
            </a:pathLst>
          </a:custGeom>
          <a:solidFill>
            <a:srgbClr val="000000"/>
          </a:solidFill>
        </p:spPr>
        <p:txBody>
          <a:bodyPr wrap="square" lIns="0" tIns="0" rIns="0" bIns="0" rtlCol="0"/>
          <a:lstStyle/>
          <a:p>
            <a:endParaRPr sz="1593"/>
          </a:p>
        </p:txBody>
      </p:sp>
      <p:sp>
        <p:nvSpPr>
          <p:cNvPr id="125" name="object 125"/>
          <p:cNvSpPr/>
          <p:nvPr/>
        </p:nvSpPr>
        <p:spPr>
          <a:xfrm>
            <a:off x="2835439" y="254641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26" name="object 126"/>
          <p:cNvSpPr/>
          <p:nvPr/>
        </p:nvSpPr>
        <p:spPr>
          <a:xfrm>
            <a:off x="2830154" y="2427497"/>
            <a:ext cx="74196" cy="130968"/>
          </a:xfrm>
          <a:custGeom>
            <a:avLst/>
            <a:gdLst/>
            <a:ahLst/>
            <a:cxnLst/>
            <a:rect l="l" t="t" r="r" b="b"/>
            <a:pathLst>
              <a:path w="83820" h="147955">
                <a:moveTo>
                  <a:pt x="83596" y="0"/>
                </a:moveTo>
                <a:lnTo>
                  <a:pt x="71653" y="0"/>
                </a:lnTo>
                <a:lnTo>
                  <a:pt x="0" y="134346"/>
                </a:lnTo>
                <a:lnTo>
                  <a:pt x="0" y="147781"/>
                </a:lnTo>
                <a:lnTo>
                  <a:pt x="11941" y="147781"/>
                </a:lnTo>
                <a:lnTo>
                  <a:pt x="83596" y="13434"/>
                </a:lnTo>
                <a:lnTo>
                  <a:pt x="83596" y="0"/>
                </a:lnTo>
                <a:close/>
              </a:path>
            </a:pathLst>
          </a:custGeom>
          <a:solidFill>
            <a:srgbClr val="000000"/>
          </a:solidFill>
        </p:spPr>
        <p:txBody>
          <a:bodyPr wrap="square" lIns="0" tIns="0" rIns="0" bIns="0" rtlCol="0"/>
          <a:lstStyle/>
          <a:p>
            <a:endParaRPr sz="1593"/>
          </a:p>
        </p:txBody>
      </p:sp>
      <p:sp>
        <p:nvSpPr>
          <p:cNvPr id="127" name="object 127"/>
          <p:cNvSpPr/>
          <p:nvPr/>
        </p:nvSpPr>
        <p:spPr>
          <a:xfrm>
            <a:off x="2898866" y="242749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28" name="object 128"/>
          <p:cNvSpPr/>
          <p:nvPr/>
        </p:nvSpPr>
        <p:spPr>
          <a:xfrm>
            <a:off x="2893580" y="2332359"/>
            <a:ext cx="84876" cy="107360"/>
          </a:xfrm>
          <a:custGeom>
            <a:avLst/>
            <a:gdLst/>
            <a:ahLst/>
            <a:cxnLst/>
            <a:rect l="l" t="t" r="r" b="b"/>
            <a:pathLst>
              <a:path w="95885" h="121285">
                <a:moveTo>
                  <a:pt x="95539" y="0"/>
                </a:moveTo>
                <a:lnTo>
                  <a:pt x="83596" y="0"/>
                </a:lnTo>
                <a:lnTo>
                  <a:pt x="0" y="107477"/>
                </a:lnTo>
                <a:lnTo>
                  <a:pt x="0" y="120911"/>
                </a:lnTo>
                <a:lnTo>
                  <a:pt x="11943" y="120911"/>
                </a:lnTo>
                <a:lnTo>
                  <a:pt x="95539" y="13434"/>
                </a:lnTo>
                <a:lnTo>
                  <a:pt x="95539" y="0"/>
                </a:lnTo>
                <a:close/>
              </a:path>
            </a:pathLst>
          </a:custGeom>
          <a:solidFill>
            <a:srgbClr val="000000"/>
          </a:solidFill>
        </p:spPr>
        <p:txBody>
          <a:bodyPr wrap="square" lIns="0" tIns="0" rIns="0" bIns="0" rtlCol="0"/>
          <a:lstStyle/>
          <a:p>
            <a:endParaRPr sz="1593"/>
          </a:p>
        </p:txBody>
      </p:sp>
      <p:sp>
        <p:nvSpPr>
          <p:cNvPr id="129" name="object 129"/>
          <p:cNvSpPr/>
          <p:nvPr/>
        </p:nvSpPr>
        <p:spPr>
          <a:xfrm>
            <a:off x="2972865" y="233235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30" name="object 130"/>
          <p:cNvSpPr/>
          <p:nvPr/>
        </p:nvSpPr>
        <p:spPr>
          <a:xfrm>
            <a:off x="2967578" y="2249113"/>
            <a:ext cx="95556" cy="95556"/>
          </a:xfrm>
          <a:custGeom>
            <a:avLst/>
            <a:gdLst/>
            <a:ahLst/>
            <a:cxnLst/>
            <a:rect l="l" t="t" r="r" b="b"/>
            <a:pathLst>
              <a:path w="107950" h="107950">
                <a:moveTo>
                  <a:pt x="107481" y="0"/>
                </a:moveTo>
                <a:lnTo>
                  <a:pt x="95539" y="0"/>
                </a:lnTo>
                <a:lnTo>
                  <a:pt x="0" y="94043"/>
                </a:lnTo>
                <a:lnTo>
                  <a:pt x="0" y="107477"/>
                </a:lnTo>
                <a:lnTo>
                  <a:pt x="11943" y="107477"/>
                </a:lnTo>
                <a:lnTo>
                  <a:pt x="107481" y="13435"/>
                </a:lnTo>
                <a:lnTo>
                  <a:pt x="107481" y="0"/>
                </a:lnTo>
                <a:close/>
              </a:path>
            </a:pathLst>
          </a:custGeom>
          <a:solidFill>
            <a:srgbClr val="000000"/>
          </a:solidFill>
        </p:spPr>
        <p:txBody>
          <a:bodyPr wrap="square" lIns="0" tIns="0" rIns="0" bIns="0" rtlCol="0"/>
          <a:lstStyle/>
          <a:p>
            <a:endParaRPr sz="1593"/>
          </a:p>
        </p:txBody>
      </p:sp>
      <p:sp>
        <p:nvSpPr>
          <p:cNvPr id="131" name="object 131"/>
          <p:cNvSpPr/>
          <p:nvPr/>
        </p:nvSpPr>
        <p:spPr>
          <a:xfrm>
            <a:off x="3057434" y="224911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32" name="object 132"/>
          <p:cNvSpPr/>
          <p:nvPr/>
        </p:nvSpPr>
        <p:spPr>
          <a:xfrm>
            <a:off x="3052149" y="2189653"/>
            <a:ext cx="116353" cy="71386"/>
          </a:xfrm>
          <a:custGeom>
            <a:avLst/>
            <a:gdLst/>
            <a:ahLst/>
            <a:cxnLst/>
            <a:rect l="l" t="t" r="r" b="b"/>
            <a:pathLst>
              <a:path w="131445" h="80644">
                <a:moveTo>
                  <a:pt x="131364" y="0"/>
                </a:moveTo>
                <a:lnTo>
                  <a:pt x="119423" y="0"/>
                </a:lnTo>
                <a:lnTo>
                  <a:pt x="0" y="67172"/>
                </a:lnTo>
                <a:lnTo>
                  <a:pt x="0" y="80608"/>
                </a:lnTo>
                <a:lnTo>
                  <a:pt x="11941" y="80608"/>
                </a:lnTo>
                <a:lnTo>
                  <a:pt x="131364" y="13434"/>
                </a:lnTo>
                <a:lnTo>
                  <a:pt x="131364" y="0"/>
                </a:lnTo>
                <a:close/>
              </a:path>
            </a:pathLst>
          </a:custGeom>
          <a:solidFill>
            <a:srgbClr val="000000"/>
          </a:solidFill>
        </p:spPr>
        <p:txBody>
          <a:bodyPr wrap="square" lIns="0" tIns="0" rIns="0" bIns="0" rtlCol="0"/>
          <a:lstStyle/>
          <a:p>
            <a:endParaRPr sz="1593"/>
          </a:p>
        </p:txBody>
      </p:sp>
      <p:sp>
        <p:nvSpPr>
          <p:cNvPr id="133" name="object 133"/>
          <p:cNvSpPr/>
          <p:nvPr/>
        </p:nvSpPr>
        <p:spPr>
          <a:xfrm>
            <a:off x="3163145" y="21896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34" name="object 134"/>
          <p:cNvSpPr/>
          <p:nvPr/>
        </p:nvSpPr>
        <p:spPr>
          <a:xfrm>
            <a:off x="3157860" y="2142083"/>
            <a:ext cx="127033" cy="59582"/>
          </a:xfrm>
          <a:custGeom>
            <a:avLst/>
            <a:gdLst/>
            <a:ahLst/>
            <a:cxnLst/>
            <a:rect l="l" t="t" r="r" b="b"/>
            <a:pathLst>
              <a:path w="143510" h="67310">
                <a:moveTo>
                  <a:pt x="143308" y="0"/>
                </a:moveTo>
                <a:lnTo>
                  <a:pt x="131364" y="0"/>
                </a:lnTo>
                <a:lnTo>
                  <a:pt x="0" y="53740"/>
                </a:lnTo>
                <a:lnTo>
                  <a:pt x="0" y="67174"/>
                </a:lnTo>
                <a:lnTo>
                  <a:pt x="11941" y="67174"/>
                </a:lnTo>
                <a:lnTo>
                  <a:pt x="143308" y="13435"/>
                </a:lnTo>
                <a:lnTo>
                  <a:pt x="143308" y="0"/>
                </a:lnTo>
                <a:close/>
              </a:path>
            </a:pathLst>
          </a:custGeom>
          <a:solidFill>
            <a:srgbClr val="000000"/>
          </a:solidFill>
        </p:spPr>
        <p:txBody>
          <a:bodyPr wrap="square" lIns="0" tIns="0" rIns="0" bIns="0" rtlCol="0"/>
          <a:lstStyle/>
          <a:p>
            <a:endParaRPr sz="1593"/>
          </a:p>
        </p:txBody>
      </p:sp>
      <p:sp>
        <p:nvSpPr>
          <p:cNvPr id="135" name="object 135"/>
          <p:cNvSpPr/>
          <p:nvPr/>
        </p:nvSpPr>
        <p:spPr>
          <a:xfrm>
            <a:off x="3279428" y="214208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36" name="object 136"/>
          <p:cNvSpPr/>
          <p:nvPr/>
        </p:nvSpPr>
        <p:spPr>
          <a:xfrm>
            <a:off x="3274143" y="2130192"/>
            <a:ext cx="137713" cy="24170"/>
          </a:xfrm>
          <a:custGeom>
            <a:avLst/>
            <a:gdLst/>
            <a:ahLst/>
            <a:cxnLst/>
            <a:rect l="l" t="t" r="r" b="b"/>
            <a:pathLst>
              <a:path w="155575" h="27305">
                <a:moveTo>
                  <a:pt x="155251" y="0"/>
                </a:moveTo>
                <a:lnTo>
                  <a:pt x="143308" y="0"/>
                </a:lnTo>
                <a:lnTo>
                  <a:pt x="0" y="13434"/>
                </a:lnTo>
                <a:lnTo>
                  <a:pt x="0" y="26869"/>
                </a:lnTo>
                <a:lnTo>
                  <a:pt x="11943" y="26869"/>
                </a:lnTo>
                <a:lnTo>
                  <a:pt x="155251" y="13434"/>
                </a:lnTo>
                <a:lnTo>
                  <a:pt x="155251" y="0"/>
                </a:lnTo>
                <a:close/>
              </a:path>
            </a:pathLst>
          </a:custGeom>
          <a:solidFill>
            <a:srgbClr val="000000"/>
          </a:solidFill>
        </p:spPr>
        <p:txBody>
          <a:bodyPr wrap="square" lIns="0" tIns="0" rIns="0" bIns="0" rtlCol="0"/>
          <a:lstStyle/>
          <a:p>
            <a:endParaRPr sz="1593"/>
          </a:p>
        </p:txBody>
      </p:sp>
      <p:sp>
        <p:nvSpPr>
          <p:cNvPr id="137" name="object 137"/>
          <p:cNvSpPr/>
          <p:nvPr/>
        </p:nvSpPr>
        <p:spPr>
          <a:xfrm>
            <a:off x="3400996" y="213019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38" name="object 138"/>
          <p:cNvSpPr/>
          <p:nvPr/>
        </p:nvSpPr>
        <p:spPr>
          <a:xfrm>
            <a:off x="3400996" y="213019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39" name="object 139"/>
          <p:cNvSpPr/>
          <p:nvPr/>
        </p:nvSpPr>
        <p:spPr>
          <a:xfrm>
            <a:off x="3400996" y="213019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40" name="object 140"/>
          <p:cNvSpPr/>
          <p:nvPr/>
        </p:nvSpPr>
        <p:spPr>
          <a:xfrm>
            <a:off x="3400997" y="2130192"/>
            <a:ext cx="137713" cy="24170"/>
          </a:xfrm>
          <a:custGeom>
            <a:avLst/>
            <a:gdLst/>
            <a:ahLst/>
            <a:cxnLst/>
            <a:rect l="l" t="t" r="r" b="b"/>
            <a:pathLst>
              <a:path w="155575" h="27305">
                <a:moveTo>
                  <a:pt x="11943" y="0"/>
                </a:moveTo>
                <a:lnTo>
                  <a:pt x="0" y="0"/>
                </a:lnTo>
                <a:lnTo>
                  <a:pt x="0" y="13434"/>
                </a:lnTo>
                <a:lnTo>
                  <a:pt x="143308" y="26869"/>
                </a:lnTo>
                <a:lnTo>
                  <a:pt x="155249" y="26869"/>
                </a:lnTo>
                <a:lnTo>
                  <a:pt x="155249" y="13434"/>
                </a:lnTo>
                <a:lnTo>
                  <a:pt x="11943" y="0"/>
                </a:lnTo>
                <a:close/>
              </a:path>
            </a:pathLst>
          </a:custGeom>
          <a:solidFill>
            <a:srgbClr val="000000"/>
          </a:solidFill>
        </p:spPr>
        <p:txBody>
          <a:bodyPr wrap="square" lIns="0" tIns="0" rIns="0" bIns="0" rtlCol="0"/>
          <a:lstStyle/>
          <a:p>
            <a:endParaRPr sz="1593"/>
          </a:p>
        </p:txBody>
      </p:sp>
      <p:sp>
        <p:nvSpPr>
          <p:cNvPr id="141" name="object 141"/>
          <p:cNvSpPr/>
          <p:nvPr/>
        </p:nvSpPr>
        <p:spPr>
          <a:xfrm>
            <a:off x="3533136" y="214208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42" name="object 142"/>
          <p:cNvSpPr/>
          <p:nvPr/>
        </p:nvSpPr>
        <p:spPr>
          <a:xfrm>
            <a:off x="3527851" y="2142083"/>
            <a:ext cx="127033" cy="59582"/>
          </a:xfrm>
          <a:custGeom>
            <a:avLst/>
            <a:gdLst/>
            <a:ahLst/>
            <a:cxnLst/>
            <a:rect l="l" t="t" r="r" b="b"/>
            <a:pathLst>
              <a:path w="143510" h="67310">
                <a:moveTo>
                  <a:pt x="11941" y="0"/>
                </a:moveTo>
                <a:lnTo>
                  <a:pt x="0" y="0"/>
                </a:lnTo>
                <a:lnTo>
                  <a:pt x="0" y="13435"/>
                </a:lnTo>
                <a:lnTo>
                  <a:pt x="131364" y="67174"/>
                </a:lnTo>
                <a:lnTo>
                  <a:pt x="143308" y="67174"/>
                </a:lnTo>
                <a:lnTo>
                  <a:pt x="143308" y="53740"/>
                </a:lnTo>
                <a:lnTo>
                  <a:pt x="11941" y="0"/>
                </a:lnTo>
                <a:close/>
              </a:path>
            </a:pathLst>
          </a:custGeom>
          <a:solidFill>
            <a:srgbClr val="000000"/>
          </a:solidFill>
        </p:spPr>
        <p:txBody>
          <a:bodyPr wrap="square" lIns="0" tIns="0" rIns="0" bIns="0" rtlCol="0"/>
          <a:lstStyle/>
          <a:p>
            <a:endParaRPr sz="1593"/>
          </a:p>
        </p:txBody>
      </p:sp>
      <p:sp>
        <p:nvSpPr>
          <p:cNvPr id="143" name="object 143"/>
          <p:cNvSpPr/>
          <p:nvPr/>
        </p:nvSpPr>
        <p:spPr>
          <a:xfrm>
            <a:off x="3649419" y="21896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44" name="object 144"/>
          <p:cNvSpPr/>
          <p:nvPr/>
        </p:nvSpPr>
        <p:spPr>
          <a:xfrm>
            <a:off x="3644133" y="2189653"/>
            <a:ext cx="106235" cy="71386"/>
          </a:xfrm>
          <a:custGeom>
            <a:avLst/>
            <a:gdLst/>
            <a:ahLst/>
            <a:cxnLst/>
            <a:rect l="l" t="t" r="r" b="b"/>
            <a:pathLst>
              <a:path w="120014" h="80644">
                <a:moveTo>
                  <a:pt x="11943" y="0"/>
                </a:moveTo>
                <a:lnTo>
                  <a:pt x="0" y="0"/>
                </a:lnTo>
                <a:lnTo>
                  <a:pt x="0" y="13434"/>
                </a:lnTo>
                <a:lnTo>
                  <a:pt x="107481" y="80608"/>
                </a:lnTo>
                <a:lnTo>
                  <a:pt x="119424" y="80608"/>
                </a:lnTo>
                <a:lnTo>
                  <a:pt x="119424" y="67172"/>
                </a:lnTo>
                <a:lnTo>
                  <a:pt x="11943" y="0"/>
                </a:lnTo>
                <a:close/>
              </a:path>
            </a:pathLst>
          </a:custGeom>
          <a:solidFill>
            <a:srgbClr val="000000"/>
          </a:solidFill>
        </p:spPr>
        <p:txBody>
          <a:bodyPr wrap="square" lIns="0" tIns="0" rIns="0" bIns="0" rtlCol="0"/>
          <a:lstStyle/>
          <a:p>
            <a:endParaRPr sz="1593"/>
          </a:p>
        </p:txBody>
      </p:sp>
      <p:sp>
        <p:nvSpPr>
          <p:cNvPr id="145" name="object 145"/>
          <p:cNvSpPr/>
          <p:nvPr/>
        </p:nvSpPr>
        <p:spPr>
          <a:xfrm>
            <a:off x="3744559" y="224911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46" name="object 146"/>
          <p:cNvSpPr/>
          <p:nvPr/>
        </p:nvSpPr>
        <p:spPr>
          <a:xfrm>
            <a:off x="3739274" y="2249113"/>
            <a:ext cx="106235" cy="95556"/>
          </a:xfrm>
          <a:custGeom>
            <a:avLst/>
            <a:gdLst/>
            <a:ahLst/>
            <a:cxnLst/>
            <a:rect l="l" t="t" r="r" b="b"/>
            <a:pathLst>
              <a:path w="120014" h="107950">
                <a:moveTo>
                  <a:pt x="11943" y="0"/>
                </a:moveTo>
                <a:lnTo>
                  <a:pt x="0" y="0"/>
                </a:lnTo>
                <a:lnTo>
                  <a:pt x="0" y="13435"/>
                </a:lnTo>
                <a:lnTo>
                  <a:pt x="107481" y="107477"/>
                </a:lnTo>
                <a:lnTo>
                  <a:pt x="119423" y="107477"/>
                </a:lnTo>
                <a:lnTo>
                  <a:pt x="119423" y="94043"/>
                </a:lnTo>
                <a:lnTo>
                  <a:pt x="11943" y="0"/>
                </a:lnTo>
                <a:close/>
              </a:path>
            </a:pathLst>
          </a:custGeom>
          <a:solidFill>
            <a:srgbClr val="000000"/>
          </a:solidFill>
        </p:spPr>
        <p:txBody>
          <a:bodyPr wrap="square" lIns="0" tIns="0" rIns="0" bIns="0" rtlCol="0"/>
          <a:lstStyle/>
          <a:p>
            <a:endParaRPr sz="1593"/>
          </a:p>
        </p:txBody>
      </p:sp>
      <p:sp>
        <p:nvSpPr>
          <p:cNvPr id="147" name="object 147"/>
          <p:cNvSpPr/>
          <p:nvPr/>
        </p:nvSpPr>
        <p:spPr>
          <a:xfrm>
            <a:off x="3839700" y="233235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48" name="object 148"/>
          <p:cNvSpPr/>
          <p:nvPr/>
        </p:nvSpPr>
        <p:spPr>
          <a:xfrm>
            <a:off x="3834415" y="2332359"/>
            <a:ext cx="84876" cy="107360"/>
          </a:xfrm>
          <a:custGeom>
            <a:avLst/>
            <a:gdLst/>
            <a:ahLst/>
            <a:cxnLst/>
            <a:rect l="l" t="t" r="r" b="b"/>
            <a:pathLst>
              <a:path w="95885" h="121285">
                <a:moveTo>
                  <a:pt x="11941" y="0"/>
                </a:moveTo>
                <a:lnTo>
                  <a:pt x="0" y="0"/>
                </a:lnTo>
                <a:lnTo>
                  <a:pt x="0" y="13434"/>
                </a:lnTo>
                <a:lnTo>
                  <a:pt x="83596" y="120911"/>
                </a:lnTo>
                <a:lnTo>
                  <a:pt x="95538" y="120911"/>
                </a:lnTo>
                <a:lnTo>
                  <a:pt x="95538" y="107477"/>
                </a:lnTo>
                <a:lnTo>
                  <a:pt x="11941" y="0"/>
                </a:lnTo>
                <a:close/>
              </a:path>
            </a:pathLst>
          </a:custGeom>
          <a:solidFill>
            <a:srgbClr val="000000"/>
          </a:solidFill>
        </p:spPr>
        <p:txBody>
          <a:bodyPr wrap="square" lIns="0" tIns="0" rIns="0" bIns="0" rtlCol="0"/>
          <a:lstStyle/>
          <a:p>
            <a:endParaRPr sz="1593"/>
          </a:p>
        </p:txBody>
      </p:sp>
      <p:sp>
        <p:nvSpPr>
          <p:cNvPr id="149" name="object 149"/>
          <p:cNvSpPr/>
          <p:nvPr/>
        </p:nvSpPr>
        <p:spPr>
          <a:xfrm>
            <a:off x="3913699" y="242749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50" name="object 150"/>
          <p:cNvSpPr/>
          <p:nvPr/>
        </p:nvSpPr>
        <p:spPr>
          <a:xfrm>
            <a:off x="3908414" y="2427497"/>
            <a:ext cx="74196" cy="130968"/>
          </a:xfrm>
          <a:custGeom>
            <a:avLst/>
            <a:gdLst/>
            <a:ahLst/>
            <a:cxnLst/>
            <a:rect l="l" t="t" r="r" b="b"/>
            <a:pathLst>
              <a:path w="83820" h="147955">
                <a:moveTo>
                  <a:pt x="11941" y="0"/>
                </a:moveTo>
                <a:lnTo>
                  <a:pt x="0" y="0"/>
                </a:lnTo>
                <a:lnTo>
                  <a:pt x="0" y="13434"/>
                </a:lnTo>
                <a:lnTo>
                  <a:pt x="71653" y="147781"/>
                </a:lnTo>
                <a:lnTo>
                  <a:pt x="83596" y="147781"/>
                </a:lnTo>
                <a:lnTo>
                  <a:pt x="83596" y="134346"/>
                </a:lnTo>
                <a:lnTo>
                  <a:pt x="11941" y="0"/>
                </a:lnTo>
                <a:close/>
              </a:path>
            </a:pathLst>
          </a:custGeom>
          <a:solidFill>
            <a:srgbClr val="000000"/>
          </a:solidFill>
        </p:spPr>
        <p:txBody>
          <a:bodyPr wrap="square" lIns="0" tIns="0" rIns="0" bIns="0" rtlCol="0"/>
          <a:lstStyle/>
          <a:p>
            <a:endParaRPr sz="1593"/>
          </a:p>
        </p:txBody>
      </p:sp>
      <p:sp>
        <p:nvSpPr>
          <p:cNvPr id="151" name="object 151"/>
          <p:cNvSpPr/>
          <p:nvPr/>
        </p:nvSpPr>
        <p:spPr>
          <a:xfrm>
            <a:off x="3977126" y="254641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52" name="object 152"/>
          <p:cNvSpPr/>
          <p:nvPr/>
        </p:nvSpPr>
        <p:spPr>
          <a:xfrm>
            <a:off x="3971840" y="2546418"/>
            <a:ext cx="42719" cy="142772"/>
          </a:xfrm>
          <a:custGeom>
            <a:avLst/>
            <a:gdLst/>
            <a:ahLst/>
            <a:cxnLst/>
            <a:rect l="l" t="t" r="r" b="b"/>
            <a:pathLst>
              <a:path w="48260" h="161289">
                <a:moveTo>
                  <a:pt x="11943" y="0"/>
                </a:moveTo>
                <a:lnTo>
                  <a:pt x="0" y="0"/>
                </a:lnTo>
                <a:lnTo>
                  <a:pt x="0" y="13434"/>
                </a:lnTo>
                <a:lnTo>
                  <a:pt x="35826" y="161216"/>
                </a:lnTo>
                <a:lnTo>
                  <a:pt x="47769" y="161216"/>
                </a:lnTo>
                <a:lnTo>
                  <a:pt x="47769" y="147781"/>
                </a:lnTo>
                <a:lnTo>
                  <a:pt x="11943" y="0"/>
                </a:lnTo>
                <a:close/>
              </a:path>
            </a:pathLst>
          </a:custGeom>
          <a:solidFill>
            <a:srgbClr val="000000"/>
          </a:solidFill>
        </p:spPr>
        <p:txBody>
          <a:bodyPr wrap="square" lIns="0" tIns="0" rIns="0" bIns="0" rtlCol="0"/>
          <a:lstStyle/>
          <a:p>
            <a:endParaRPr sz="1593"/>
          </a:p>
        </p:txBody>
      </p:sp>
      <p:sp>
        <p:nvSpPr>
          <p:cNvPr id="153" name="object 153"/>
          <p:cNvSpPr/>
          <p:nvPr/>
        </p:nvSpPr>
        <p:spPr>
          <a:xfrm>
            <a:off x="4008839" y="267723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54" name="object 154"/>
          <p:cNvSpPr/>
          <p:nvPr/>
        </p:nvSpPr>
        <p:spPr>
          <a:xfrm>
            <a:off x="4003553" y="2677232"/>
            <a:ext cx="21360" cy="142772"/>
          </a:xfrm>
          <a:custGeom>
            <a:avLst/>
            <a:gdLst/>
            <a:ahLst/>
            <a:cxnLst/>
            <a:rect l="l" t="t" r="r" b="b"/>
            <a:pathLst>
              <a:path w="24129" h="161289">
                <a:moveTo>
                  <a:pt x="11943" y="0"/>
                </a:moveTo>
                <a:lnTo>
                  <a:pt x="0" y="0"/>
                </a:lnTo>
                <a:lnTo>
                  <a:pt x="0" y="13435"/>
                </a:lnTo>
                <a:lnTo>
                  <a:pt x="11943" y="161217"/>
                </a:lnTo>
                <a:lnTo>
                  <a:pt x="23884" y="161217"/>
                </a:lnTo>
                <a:lnTo>
                  <a:pt x="23884" y="147782"/>
                </a:lnTo>
                <a:lnTo>
                  <a:pt x="11943" y="0"/>
                </a:lnTo>
                <a:close/>
              </a:path>
            </a:pathLst>
          </a:custGeom>
          <a:solidFill>
            <a:srgbClr val="000000"/>
          </a:solidFill>
        </p:spPr>
        <p:txBody>
          <a:bodyPr wrap="square" lIns="0" tIns="0" rIns="0" bIns="0" rtlCol="0"/>
          <a:lstStyle/>
          <a:p>
            <a:endParaRPr sz="1593"/>
          </a:p>
        </p:txBody>
      </p:sp>
      <p:sp>
        <p:nvSpPr>
          <p:cNvPr id="155" name="object 155"/>
          <p:cNvSpPr/>
          <p:nvPr/>
        </p:nvSpPr>
        <p:spPr>
          <a:xfrm>
            <a:off x="4019410" y="280804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56" name="object 156"/>
          <p:cNvSpPr txBox="1"/>
          <p:nvPr/>
        </p:nvSpPr>
        <p:spPr>
          <a:xfrm>
            <a:off x="3199474" y="2665991"/>
            <a:ext cx="428315" cy="183989"/>
          </a:xfrm>
          <a:prstGeom prst="rect">
            <a:avLst/>
          </a:prstGeom>
        </p:spPr>
        <p:txBody>
          <a:bodyPr vert="horz" wrap="square" lIns="0" tIns="13490" rIns="0" bIns="0" rtlCol="0">
            <a:spAutoFit/>
          </a:bodyPr>
          <a:lstStyle/>
          <a:p>
            <a:pPr marL="11242">
              <a:spcBef>
                <a:spcPts val="106"/>
              </a:spcBef>
            </a:pPr>
            <a:r>
              <a:rPr sz="1107" spc="-89" dirty="0">
                <a:latin typeface="Verdana"/>
                <a:cs typeface="Verdana"/>
              </a:rPr>
              <a:t>pe</a:t>
            </a:r>
            <a:r>
              <a:rPr sz="1107" spc="-80" dirty="0">
                <a:latin typeface="Verdana"/>
                <a:cs typeface="Verdana"/>
              </a:rPr>
              <a:t>op</a:t>
            </a:r>
            <a:r>
              <a:rPr sz="1107" spc="-71" dirty="0">
                <a:latin typeface="Verdana"/>
                <a:cs typeface="Verdana"/>
              </a:rPr>
              <a:t>l</a:t>
            </a:r>
            <a:r>
              <a:rPr sz="1107" spc="-84" dirty="0">
                <a:latin typeface="Verdana"/>
                <a:cs typeface="Verdana"/>
              </a:rPr>
              <a:t>e</a:t>
            </a:r>
            <a:endParaRPr sz="1107">
              <a:latin typeface="Verdana"/>
              <a:cs typeface="Verdana"/>
            </a:endParaRPr>
          </a:p>
        </p:txBody>
      </p:sp>
      <p:sp>
        <p:nvSpPr>
          <p:cNvPr id="157" name="object 157"/>
          <p:cNvSpPr/>
          <p:nvPr/>
        </p:nvSpPr>
        <p:spPr>
          <a:xfrm>
            <a:off x="2534161" y="2011270"/>
            <a:ext cx="581766" cy="618864"/>
          </a:xfrm>
          <a:custGeom>
            <a:avLst/>
            <a:gdLst/>
            <a:ahLst/>
            <a:cxnLst/>
            <a:rect l="l" t="t" r="r" b="b"/>
            <a:pathLst>
              <a:path w="657225" h="699135">
                <a:moveTo>
                  <a:pt x="334384" y="0"/>
                </a:moveTo>
                <a:lnTo>
                  <a:pt x="203018" y="26869"/>
                </a:lnTo>
                <a:lnTo>
                  <a:pt x="95538" y="107477"/>
                </a:lnTo>
                <a:lnTo>
                  <a:pt x="23883" y="214955"/>
                </a:lnTo>
                <a:lnTo>
                  <a:pt x="0" y="349302"/>
                </a:lnTo>
                <a:lnTo>
                  <a:pt x="23883" y="483649"/>
                </a:lnTo>
                <a:lnTo>
                  <a:pt x="95538" y="604561"/>
                </a:lnTo>
                <a:lnTo>
                  <a:pt x="203018" y="671734"/>
                </a:lnTo>
                <a:lnTo>
                  <a:pt x="334384" y="698604"/>
                </a:lnTo>
                <a:lnTo>
                  <a:pt x="453807" y="671734"/>
                </a:lnTo>
                <a:lnTo>
                  <a:pt x="561289" y="604561"/>
                </a:lnTo>
                <a:lnTo>
                  <a:pt x="632942" y="483649"/>
                </a:lnTo>
                <a:lnTo>
                  <a:pt x="656827" y="349302"/>
                </a:lnTo>
                <a:lnTo>
                  <a:pt x="632942" y="214955"/>
                </a:lnTo>
                <a:lnTo>
                  <a:pt x="561289" y="107477"/>
                </a:lnTo>
                <a:lnTo>
                  <a:pt x="453807" y="26869"/>
                </a:lnTo>
                <a:lnTo>
                  <a:pt x="334384" y="0"/>
                </a:lnTo>
                <a:close/>
              </a:path>
            </a:pathLst>
          </a:custGeom>
          <a:solidFill>
            <a:srgbClr val="FFFFFF"/>
          </a:solidFill>
        </p:spPr>
        <p:txBody>
          <a:bodyPr wrap="square" lIns="0" tIns="0" rIns="0" bIns="0" rtlCol="0"/>
          <a:lstStyle/>
          <a:p>
            <a:endParaRPr sz="1593"/>
          </a:p>
        </p:txBody>
      </p:sp>
      <p:sp>
        <p:nvSpPr>
          <p:cNvPr id="158" name="object 158"/>
          <p:cNvSpPr/>
          <p:nvPr/>
        </p:nvSpPr>
        <p:spPr>
          <a:xfrm>
            <a:off x="3094433" y="2320466"/>
            <a:ext cx="32039" cy="130968"/>
          </a:xfrm>
          <a:custGeom>
            <a:avLst/>
            <a:gdLst/>
            <a:ahLst/>
            <a:cxnLst/>
            <a:rect l="l" t="t" r="r" b="b"/>
            <a:pathLst>
              <a:path w="36195" h="147955">
                <a:moveTo>
                  <a:pt x="35826" y="0"/>
                </a:moveTo>
                <a:lnTo>
                  <a:pt x="23884" y="0"/>
                </a:lnTo>
                <a:lnTo>
                  <a:pt x="0" y="134346"/>
                </a:lnTo>
                <a:lnTo>
                  <a:pt x="0" y="147782"/>
                </a:lnTo>
                <a:lnTo>
                  <a:pt x="11943" y="147782"/>
                </a:lnTo>
                <a:lnTo>
                  <a:pt x="35826" y="13435"/>
                </a:lnTo>
                <a:lnTo>
                  <a:pt x="35826" y="0"/>
                </a:lnTo>
                <a:close/>
              </a:path>
            </a:pathLst>
          </a:custGeom>
          <a:solidFill>
            <a:srgbClr val="000000"/>
          </a:solidFill>
        </p:spPr>
        <p:txBody>
          <a:bodyPr wrap="square" lIns="0" tIns="0" rIns="0" bIns="0" rtlCol="0"/>
          <a:lstStyle/>
          <a:p>
            <a:endParaRPr sz="1593"/>
          </a:p>
        </p:txBody>
      </p:sp>
      <p:sp>
        <p:nvSpPr>
          <p:cNvPr id="159" name="object 159"/>
          <p:cNvSpPr/>
          <p:nvPr/>
        </p:nvSpPr>
        <p:spPr>
          <a:xfrm>
            <a:off x="3099718" y="243938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60" name="object 160"/>
          <p:cNvSpPr/>
          <p:nvPr/>
        </p:nvSpPr>
        <p:spPr>
          <a:xfrm>
            <a:off x="3031006" y="2439388"/>
            <a:ext cx="74196" cy="119164"/>
          </a:xfrm>
          <a:custGeom>
            <a:avLst/>
            <a:gdLst/>
            <a:ahLst/>
            <a:cxnLst/>
            <a:rect l="l" t="t" r="r" b="b"/>
            <a:pathLst>
              <a:path w="83820" h="134619">
                <a:moveTo>
                  <a:pt x="83596" y="0"/>
                </a:moveTo>
                <a:lnTo>
                  <a:pt x="71653" y="0"/>
                </a:lnTo>
                <a:lnTo>
                  <a:pt x="0" y="120912"/>
                </a:lnTo>
                <a:lnTo>
                  <a:pt x="0" y="134346"/>
                </a:lnTo>
                <a:lnTo>
                  <a:pt x="11941" y="134346"/>
                </a:lnTo>
                <a:lnTo>
                  <a:pt x="83596" y="13435"/>
                </a:lnTo>
                <a:lnTo>
                  <a:pt x="83596" y="0"/>
                </a:lnTo>
                <a:close/>
              </a:path>
            </a:pathLst>
          </a:custGeom>
          <a:solidFill>
            <a:srgbClr val="000000"/>
          </a:solidFill>
        </p:spPr>
        <p:txBody>
          <a:bodyPr wrap="square" lIns="0" tIns="0" rIns="0" bIns="0" rtlCol="0"/>
          <a:lstStyle/>
          <a:p>
            <a:endParaRPr sz="1593"/>
          </a:p>
        </p:txBody>
      </p:sp>
      <p:sp>
        <p:nvSpPr>
          <p:cNvPr id="161" name="object 161"/>
          <p:cNvSpPr/>
          <p:nvPr/>
        </p:nvSpPr>
        <p:spPr>
          <a:xfrm>
            <a:off x="3036291" y="254641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62" name="object 162"/>
          <p:cNvSpPr/>
          <p:nvPr/>
        </p:nvSpPr>
        <p:spPr>
          <a:xfrm>
            <a:off x="2935865" y="2546419"/>
            <a:ext cx="106235" cy="71386"/>
          </a:xfrm>
          <a:custGeom>
            <a:avLst/>
            <a:gdLst/>
            <a:ahLst/>
            <a:cxnLst/>
            <a:rect l="l" t="t" r="r" b="b"/>
            <a:pathLst>
              <a:path w="120014" h="80644">
                <a:moveTo>
                  <a:pt x="119423" y="0"/>
                </a:moveTo>
                <a:lnTo>
                  <a:pt x="107481" y="0"/>
                </a:lnTo>
                <a:lnTo>
                  <a:pt x="0" y="67172"/>
                </a:lnTo>
                <a:lnTo>
                  <a:pt x="0" y="80608"/>
                </a:lnTo>
                <a:lnTo>
                  <a:pt x="11943" y="80608"/>
                </a:lnTo>
                <a:lnTo>
                  <a:pt x="119423" y="13434"/>
                </a:lnTo>
                <a:lnTo>
                  <a:pt x="119423" y="0"/>
                </a:lnTo>
                <a:close/>
              </a:path>
            </a:pathLst>
          </a:custGeom>
          <a:solidFill>
            <a:srgbClr val="000000"/>
          </a:solidFill>
        </p:spPr>
        <p:txBody>
          <a:bodyPr wrap="square" lIns="0" tIns="0" rIns="0" bIns="0" rtlCol="0"/>
          <a:lstStyle/>
          <a:p>
            <a:endParaRPr sz="1593"/>
          </a:p>
        </p:txBody>
      </p:sp>
      <p:sp>
        <p:nvSpPr>
          <p:cNvPr id="163" name="object 163"/>
          <p:cNvSpPr/>
          <p:nvPr/>
        </p:nvSpPr>
        <p:spPr>
          <a:xfrm>
            <a:off x="2941150" y="260587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64" name="object 164"/>
          <p:cNvSpPr/>
          <p:nvPr/>
        </p:nvSpPr>
        <p:spPr>
          <a:xfrm>
            <a:off x="2830154" y="2605879"/>
            <a:ext cx="116353" cy="35974"/>
          </a:xfrm>
          <a:custGeom>
            <a:avLst/>
            <a:gdLst/>
            <a:ahLst/>
            <a:cxnLst/>
            <a:rect l="l" t="t" r="r" b="b"/>
            <a:pathLst>
              <a:path w="131445" h="40639">
                <a:moveTo>
                  <a:pt x="131366" y="0"/>
                </a:moveTo>
                <a:lnTo>
                  <a:pt x="119423" y="0"/>
                </a:lnTo>
                <a:lnTo>
                  <a:pt x="0" y="26869"/>
                </a:lnTo>
                <a:lnTo>
                  <a:pt x="0" y="40304"/>
                </a:lnTo>
                <a:lnTo>
                  <a:pt x="11941" y="40304"/>
                </a:lnTo>
                <a:lnTo>
                  <a:pt x="131366" y="13435"/>
                </a:lnTo>
                <a:lnTo>
                  <a:pt x="131366" y="0"/>
                </a:lnTo>
                <a:close/>
              </a:path>
            </a:pathLst>
          </a:custGeom>
          <a:solidFill>
            <a:srgbClr val="000000"/>
          </a:solidFill>
        </p:spPr>
        <p:txBody>
          <a:bodyPr wrap="square" lIns="0" tIns="0" rIns="0" bIns="0" rtlCol="0"/>
          <a:lstStyle/>
          <a:p>
            <a:endParaRPr sz="1593"/>
          </a:p>
        </p:txBody>
      </p:sp>
      <p:sp>
        <p:nvSpPr>
          <p:cNvPr id="165" name="object 165"/>
          <p:cNvSpPr/>
          <p:nvPr/>
        </p:nvSpPr>
        <p:spPr>
          <a:xfrm>
            <a:off x="2830154" y="262966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66" name="object 166"/>
          <p:cNvSpPr/>
          <p:nvPr/>
        </p:nvSpPr>
        <p:spPr>
          <a:xfrm>
            <a:off x="2830154" y="262966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67" name="object 167"/>
          <p:cNvSpPr/>
          <p:nvPr/>
        </p:nvSpPr>
        <p:spPr>
          <a:xfrm>
            <a:off x="2830154" y="262966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68" name="object 168"/>
          <p:cNvSpPr/>
          <p:nvPr/>
        </p:nvSpPr>
        <p:spPr>
          <a:xfrm>
            <a:off x="2713870" y="2605879"/>
            <a:ext cx="127033" cy="35974"/>
          </a:xfrm>
          <a:custGeom>
            <a:avLst/>
            <a:gdLst/>
            <a:ahLst/>
            <a:cxnLst/>
            <a:rect l="l" t="t" r="r" b="b"/>
            <a:pathLst>
              <a:path w="143510" h="40639">
                <a:moveTo>
                  <a:pt x="11943" y="0"/>
                </a:moveTo>
                <a:lnTo>
                  <a:pt x="0" y="0"/>
                </a:lnTo>
                <a:lnTo>
                  <a:pt x="0" y="13435"/>
                </a:lnTo>
                <a:lnTo>
                  <a:pt x="131366" y="40304"/>
                </a:lnTo>
                <a:lnTo>
                  <a:pt x="143308" y="40304"/>
                </a:lnTo>
                <a:lnTo>
                  <a:pt x="143308" y="26869"/>
                </a:lnTo>
                <a:lnTo>
                  <a:pt x="11943" y="0"/>
                </a:lnTo>
                <a:close/>
              </a:path>
            </a:pathLst>
          </a:custGeom>
          <a:solidFill>
            <a:srgbClr val="000000"/>
          </a:solidFill>
        </p:spPr>
        <p:txBody>
          <a:bodyPr wrap="square" lIns="0" tIns="0" rIns="0" bIns="0" rtlCol="0"/>
          <a:lstStyle/>
          <a:p>
            <a:endParaRPr sz="1593"/>
          </a:p>
        </p:txBody>
      </p:sp>
      <p:sp>
        <p:nvSpPr>
          <p:cNvPr id="169" name="object 169"/>
          <p:cNvSpPr/>
          <p:nvPr/>
        </p:nvSpPr>
        <p:spPr>
          <a:xfrm>
            <a:off x="2719156" y="260587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70" name="object 170"/>
          <p:cNvSpPr/>
          <p:nvPr/>
        </p:nvSpPr>
        <p:spPr>
          <a:xfrm>
            <a:off x="2618730" y="2546419"/>
            <a:ext cx="106235" cy="71386"/>
          </a:xfrm>
          <a:custGeom>
            <a:avLst/>
            <a:gdLst/>
            <a:ahLst/>
            <a:cxnLst/>
            <a:rect l="l" t="t" r="r" b="b"/>
            <a:pathLst>
              <a:path w="120014" h="80644">
                <a:moveTo>
                  <a:pt x="11941" y="0"/>
                </a:moveTo>
                <a:lnTo>
                  <a:pt x="0" y="0"/>
                </a:lnTo>
                <a:lnTo>
                  <a:pt x="0" y="13434"/>
                </a:lnTo>
                <a:lnTo>
                  <a:pt x="107480" y="80608"/>
                </a:lnTo>
                <a:lnTo>
                  <a:pt x="119423" y="80608"/>
                </a:lnTo>
                <a:lnTo>
                  <a:pt x="119423" y="67172"/>
                </a:lnTo>
                <a:lnTo>
                  <a:pt x="11941" y="0"/>
                </a:lnTo>
                <a:close/>
              </a:path>
            </a:pathLst>
          </a:custGeom>
          <a:solidFill>
            <a:srgbClr val="000000"/>
          </a:solidFill>
        </p:spPr>
        <p:txBody>
          <a:bodyPr wrap="square" lIns="0" tIns="0" rIns="0" bIns="0" rtlCol="0"/>
          <a:lstStyle/>
          <a:p>
            <a:endParaRPr sz="1593"/>
          </a:p>
        </p:txBody>
      </p:sp>
      <p:sp>
        <p:nvSpPr>
          <p:cNvPr id="171" name="object 171"/>
          <p:cNvSpPr/>
          <p:nvPr/>
        </p:nvSpPr>
        <p:spPr>
          <a:xfrm>
            <a:off x="2624015" y="254641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72" name="object 172"/>
          <p:cNvSpPr/>
          <p:nvPr/>
        </p:nvSpPr>
        <p:spPr>
          <a:xfrm>
            <a:off x="2555303" y="2439388"/>
            <a:ext cx="74196" cy="119164"/>
          </a:xfrm>
          <a:custGeom>
            <a:avLst/>
            <a:gdLst/>
            <a:ahLst/>
            <a:cxnLst/>
            <a:rect l="l" t="t" r="r" b="b"/>
            <a:pathLst>
              <a:path w="83819" h="134619">
                <a:moveTo>
                  <a:pt x="11943" y="0"/>
                </a:moveTo>
                <a:lnTo>
                  <a:pt x="0" y="0"/>
                </a:lnTo>
                <a:lnTo>
                  <a:pt x="0" y="13435"/>
                </a:lnTo>
                <a:lnTo>
                  <a:pt x="71654" y="134346"/>
                </a:lnTo>
                <a:lnTo>
                  <a:pt x="83596" y="134346"/>
                </a:lnTo>
                <a:lnTo>
                  <a:pt x="83596" y="120912"/>
                </a:lnTo>
                <a:lnTo>
                  <a:pt x="11943" y="0"/>
                </a:lnTo>
                <a:close/>
              </a:path>
            </a:pathLst>
          </a:custGeom>
          <a:solidFill>
            <a:srgbClr val="000000"/>
          </a:solidFill>
        </p:spPr>
        <p:txBody>
          <a:bodyPr wrap="square" lIns="0" tIns="0" rIns="0" bIns="0" rtlCol="0"/>
          <a:lstStyle/>
          <a:p>
            <a:endParaRPr sz="1593"/>
          </a:p>
        </p:txBody>
      </p:sp>
      <p:sp>
        <p:nvSpPr>
          <p:cNvPr id="173" name="object 173"/>
          <p:cNvSpPr/>
          <p:nvPr/>
        </p:nvSpPr>
        <p:spPr>
          <a:xfrm>
            <a:off x="2560589" y="243938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74" name="object 174"/>
          <p:cNvSpPr/>
          <p:nvPr/>
        </p:nvSpPr>
        <p:spPr>
          <a:xfrm>
            <a:off x="2534161" y="2320466"/>
            <a:ext cx="32039" cy="130968"/>
          </a:xfrm>
          <a:custGeom>
            <a:avLst/>
            <a:gdLst/>
            <a:ahLst/>
            <a:cxnLst/>
            <a:rect l="l" t="t" r="r" b="b"/>
            <a:pathLst>
              <a:path w="36194" h="147955">
                <a:moveTo>
                  <a:pt x="11941" y="0"/>
                </a:moveTo>
                <a:lnTo>
                  <a:pt x="0" y="0"/>
                </a:lnTo>
                <a:lnTo>
                  <a:pt x="0" y="13435"/>
                </a:lnTo>
                <a:lnTo>
                  <a:pt x="23883" y="147782"/>
                </a:lnTo>
                <a:lnTo>
                  <a:pt x="35826" y="147782"/>
                </a:lnTo>
                <a:lnTo>
                  <a:pt x="35826" y="134346"/>
                </a:lnTo>
                <a:lnTo>
                  <a:pt x="11941" y="0"/>
                </a:lnTo>
                <a:close/>
              </a:path>
            </a:pathLst>
          </a:custGeom>
          <a:solidFill>
            <a:srgbClr val="000000"/>
          </a:solidFill>
        </p:spPr>
        <p:txBody>
          <a:bodyPr wrap="square" lIns="0" tIns="0" rIns="0" bIns="0" rtlCol="0"/>
          <a:lstStyle/>
          <a:p>
            <a:endParaRPr sz="1593"/>
          </a:p>
        </p:txBody>
      </p:sp>
      <p:sp>
        <p:nvSpPr>
          <p:cNvPr id="175" name="object 175"/>
          <p:cNvSpPr/>
          <p:nvPr/>
        </p:nvSpPr>
        <p:spPr>
          <a:xfrm>
            <a:off x="2534161" y="2320466"/>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76" name="object 176"/>
          <p:cNvSpPr/>
          <p:nvPr/>
        </p:nvSpPr>
        <p:spPr>
          <a:xfrm>
            <a:off x="2534161" y="2320466"/>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77" name="object 177"/>
          <p:cNvSpPr/>
          <p:nvPr/>
        </p:nvSpPr>
        <p:spPr>
          <a:xfrm>
            <a:off x="2534161" y="2320466"/>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78" name="object 178"/>
          <p:cNvSpPr/>
          <p:nvPr/>
        </p:nvSpPr>
        <p:spPr>
          <a:xfrm>
            <a:off x="2534161" y="2201544"/>
            <a:ext cx="32039" cy="130968"/>
          </a:xfrm>
          <a:custGeom>
            <a:avLst/>
            <a:gdLst/>
            <a:ahLst/>
            <a:cxnLst/>
            <a:rect l="l" t="t" r="r" b="b"/>
            <a:pathLst>
              <a:path w="36194" h="147955">
                <a:moveTo>
                  <a:pt x="35826" y="0"/>
                </a:moveTo>
                <a:lnTo>
                  <a:pt x="23883" y="0"/>
                </a:lnTo>
                <a:lnTo>
                  <a:pt x="0" y="134346"/>
                </a:lnTo>
                <a:lnTo>
                  <a:pt x="0" y="147782"/>
                </a:lnTo>
                <a:lnTo>
                  <a:pt x="11941" y="147782"/>
                </a:lnTo>
                <a:lnTo>
                  <a:pt x="35826" y="13434"/>
                </a:lnTo>
                <a:lnTo>
                  <a:pt x="35826" y="0"/>
                </a:lnTo>
                <a:close/>
              </a:path>
            </a:pathLst>
          </a:custGeom>
          <a:solidFill>
            <a:srgbClr val="000000"/>
          </a:solidFill>
        </p:spPr>
        <p:txBody>
          <a:bodyPr wrap="square" lIns="0" tIns="0" rIns="0" bIns="0" rtlCol="0"/>
          <a:lstStyle/>
          <a:p>
            <a:endParaRPr sz="1593"/>
          </a:p>
        </p:txBody>
      </p:sp>
      <p:sp>
        <p:nvSpPr>
          <p:cNvPr id="179" name="object 179"/>
          <p:cNvSpPr/>
          <p:nvPr/>
        </p:nvSpPr>
        <p:spPr>
          <a:xfrm>
            <a:off x="2560589" y="220154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80" name="object 180"/>
          <p:cNvSpPr/>
          <p:nvPr/>
        </p:nvSpPr>
        <p:spPr>
          <a:xfrm>
            <a:off x="2555303" y="2106407"/>
            <a:ext cx="74196" cy="107360"/>
          </a:xfrm>
          <a:custGeom>
            <a:avLst/>
            <a:gdLst/>
            <a:ahLst/>
            <a:cxnLst/>
            <a:rect l="l" t="t" r="r" b="b"/>
            <a:pathLst>
              <a:path w="83819" h="121285">
                <a:moveTo>
                  <a:pt x="83596" y="0"/>
                </a:moveTo>
                <a:lnTo>
                  <a:pt x="71654" y="0"/>
                </a:lnTo>
                <a:lnTo>
                  <a:pt x="0" y="107477"/>
                </a:lnTo>
                <a:lnTo>
                  <a:pt x="0" y="120911"/>
                </a:lnTo>
                <a:lnTo>
                  <a:pt x="11943" y="120911"/>
                </a:lnTo>
                <a:lnTo>
                  <a:pt x="83596" y="13434"/>
                </a:lnTo>
                <a:lnTo>
                  <a:pt x="83596" y="0"/>
                </a:lnTo>
                <a:close/>
              </a:path>
            </a:pathLst>
          </a:custGeom>
          <a:solidFill>
            <a:srgbClr val="000000"/>
          </a:solidFill>
        </p:spPr>
        <p:txBody>
          <a:bodyPr wrap="square" lIns="0" tIns="0" rIns="0" bIns="0" rtlCol="0"/>
          <a:lstStyle/>
          <a:p>
            <a:endParaRPr sz="1593"/>
          </a:p>
        </p:txBody>
      </p:sp>
      <p:sp>
        <p:nvSpPr>
          <p:cNvPr id="181" name="object 181"/>
          <p:cNvSpPr/>
          <p:nvPr/>
        </p:nvSpPr>
        <p:spPr>
          <a:xfrm>
            <a:off x="2624015" y="210640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82" name="object 182"/>
          <p:cNvSpPr/>
          <p:nvPr/>
        </p:nvSpPr>
        <p:spPr>
          <a:xfrm>
            <a:off x="2618730" y="2035053"/>
            <a:ext cx="106235" cy="83752"/>
          </a:xfrm>
          <a:custGeom>
            <a:avLst/>
            <a:gdLst/>
            <a:ahLst/>
            <a:cxnLst/>
            <a:rect l="l" t="t" r="r" b="b"/>
            <a:pathLst>
              <a:path w="120014" h="94614">
                <a:moveTo>
                  <a:pt x="119423" y="0"/>
                </a:moveTo>
                <a:lnTo>
                  <a:pt x="107480" y="0"/>
                </a:lnTo>
                <a:lnTo>
                  <a:pt x="0" y="80608"/>
                </a:lnTo>
                <a:lnTo>
                  <a:pt x="0" y="94042"/>
                </a:lnTo>
                <a:lnTo>
                  <a:pt x="11941" y="94042"/>
                </a:lnTo>
                <a:lnTo>
                  <a:pt x="119423" y="13434"/>
                </a:lnTo>
                <a:lnTo>
                  <a:pt x="119423" y="0"/>
                </a:lnTo>
                <a:close/>
              </a:path>
            </a:pathLst>
          </a:custGeom>
          <a:solidFill>
            <a:srgbClr val="000000"/>
          </a:solidFill>
        </p:spPr>
        <p:txBody>
          <a:bodyPr wrap="square" lIns="0" tIns="0" rIns="0" bIns="0" rtlCol="0"/>
          <a:lstStyle/>
          <a:p>
            <a:endParaRPr sz="1593"/>
          </a:p>
        </p:txBody>
      </p:sp>
      <p:sp>
        <p:nvSpPr>
          <p:cNvPr id="183" name="object 183"/>
          <p:cNvSpPr/>
          <p:nvPr/>
        </p:nvSpPr>
        <p:spPr>
          <a:xfrm>
            <a:off x="2719156" y="20350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84" name="object 184"/>
          <p:cNvSpPr/>
          <p:nvPr/>
        </p:nvSpPr>
        <p:spPr>
          <a:xfrm>
            <a:off x="2713870" y="2011269"/>
            <a:ext cx="127033" cy="35974"/>
          </a:xfrm>
          <a:custGeom>
            <a:avLst/>
            <a:gdLst/>
            <a:ahLst/>
            <a:cxnLst/>
            <a:rect l="l" t="t" r="r" b="b"/>
            <a:pathLst>
              <a:path w="143510" h="40639">
                <a:moveTo>
                  <a:pt x="143308" y="0"/>
                </a:moveTo>
                <a:lnTo>
                  <a:pt x="131366" y="0"/>
                </a:lnTo>
                <a:lnTo>
                  <a:pt x="0" y="26869"/>
                </a:lnTo>
                <a:lnTo>
                  <a:pt x="0" y="40303"/>
                </a:lnTo>
                <a:lnTo>
                  <a:pt x="11943" y="40303"/>
                </a:lnTo>
                <a:lnTo>
                  <a:pt x="143308" y="13434"/>
                </a:lnTo>
                <a:lnTo>
                  <a:pt x="143308" y="0"/>
                </a:lnTo>
                <a:close/>
              </a:path>
            </a:pathLst>
          </a:custGeom>
          <a:solidFill>
            <a:srgbClr val="000000"/>
          </a:solidFill>
        </p:spPr>
        <p:txBody>
          <a:bodyPr wrap="square" lIns="0" tIns="0" rIns="0" bIns="0" rtlCol="0"/>
          <a:lstStyle/>
          <a:p>
            <a:endParaRPr sz="1593"/>
          </a:p>
        </p:txBody>
      </p:sp>
      <p:sp>
        <p:nvSpPr>
          <p:cNvPr id="185" name="object 185"/>
          <p:cNvSpPr/>
          <p:nvPr/>
        </p:nvSpPr>
        <p:spPr>
          <a:xfrm>
            <a:off x="2830154" y="2011269"/>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86" name="object 186"/>
          <p:cNvSpPr/>
          <p:nvPr/>
        </p:nvSpPr>
        <p:spPr>
          <a:xfrm>
            <a:off x="2830154" y="2011269"/>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87" name="object 187"/>
          <p:cNvSpPr/>
          <p:nvPr/>
        </p:nvSpPr>
        <p:spPr>
          <a:xfrm>
            <a:off x="2830154" y="2011269"/>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188" name="object 188"/>
          <p:cNvSpPr/>
          <p:nvPr/>
        </p:nvSpPr>
        <p:spPr>
          <a:xfrm>
            <a:off x="2830154" y="2011269"/>
            <a:ext cx="116353" cy="35974"/>
          </a:xfrm>
          <a:custGeom>
            <a:avLst/>
            <a:gdLst/>
            <a:ahLst/>
            <a:cxnLst/>
            <a:rect l="l" t="t" r="r" b="b"/>
            <a:pathLst>
              <a:path w="131445" h="40639">
                <a:moveTo>
                  <a:pt x="11941" y="0"/>
                </a:moveTo>
                <a:lnTo>
                  <a:pt x="0" y="0"/>
                </a:lnTo>
                <a:lnTo>
                  <a:pt x="0" y="13434"/>
                </a:lnTo>
                <a:lnTo>
                  <a:pt x="119423" y="40303"/>
                </a:lnTo>
                <a:lnTo>
                  <a:pt x="131366" y="40303"/>
                </a:lnTo>
                <a:lnTo>
                  <a:pt x="131366" y="26869"/>
                </a:lnTo>
                <a:lnTo>
                  <a:pt x="11941" y="0"/>
                </a:lnTo>
                <a:close/>
              </a:path>
            </a:pathLst>
          </a:custGeom>
          <a:solidFill>
            <a:srgbClr val="000000"/>
          </a:solidFill>
        </p:spPr>
        <p:txBody>
          <a:bodyPr wrap="square" lIns="0" tIns="0" rIns="0" bIns="0" rtlCol="0"/>
          <a:lstStyle/>
          <a:p>
            <a:endParaRPr sz="1593"/>
          </a:p>
        </p:txBody>
      </p:sp>
      <p:sp>
        <p:nvSpPr>
          <p:cNvPr id="189" name="object 189"/>
          <p:cNvSpPr/>
          <p:nvPr/>
        </p:nvSpPr>
        <p:spPr>
          <a:xfrm>
            <a:off x="2941150" y="20350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90" name="object 190"/>
          <p:cNvSpPr/>
          <p:nvPr/>
        </p:nvSpPr>
        <p:spPr>
          <a:xfrm>
            <a:off x="2935865" y="2035053"/>
            <a:ext cx="106235" cy="83752"/>
          </a:xfrm>
          <a:custGeom>
            <a:avLst/>
            <a:gdLst/>
            <a:ahLst/>
            <a:cxnLst/>
            <a:rect l="l" t="t" r="r" b="b"/>
            <a:pathLst>
              <a:path w="120014" h="94614">
                <a:moveTo>
                  <a:pt x="11943" y="0"/>
                </a:moveTo>
                <a:lnTo>
                  <a:pt x="0" y="0"/>
                </a:lnTo>
                <a:lnTo>
                  <a:pt x="0" y="13434"/>
                </a:lnTo>
                <a:lnTo>
                  <a:pt x="107481" y="94042"/>
                </a:lnTo>
                <a:lnTo>
                  <a:pt x="119423" y="94042"/>
                </a:lnTo>
                <a:lnTo>
                  <a:pt x="119423" y="80608"/>
                </a:lnTo>
                <a:lnTo>
                  <a:pt x="11943" y="0"/>
                </a:lnTo>
                <a:close/>
              </a:path>
            </a:pathLst>
          </a:custGeom>
          <a:solidFill>
            <a:srgbClr val="000000"/>
          </a:solidFill>
        </p:spPr>
        <p:txBody>
          <a:bodyPr wrap="square" lIns="0" tIns="0" rIns="0" bIns="0" rtlCol="0"/>
          <a:lstStyle/>
          <a:p>
            <a:endParaRPr sz="1593"/>
          </a:p>
        </p:txBody>
      </p:sp>
      <p:sp>
        <p:nvSpPr>
          <p:cNvPr id="191" name="object 191"/>
          <p:cNvSpPr/>
          <p:nvPr/>
        </p:nvSpPr>
        <p:spPr>
          <a:xfrm>
            <a:off x="3036291" y="210640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92" name="object 192"/>
          <p:cNvSpPr/>
          <p:nvPr/>
        </p:nvSpPr>
        <p:spPr>
          <a:xfrm>
            <a:off x="3031006" y="2106407"/>
            <a:ext cx="74196" cy="107360"/>
          </a:xfrm>
          <a:custGeom>
            <a:avLst/>
            <a:gdLst/>
            <a:ahLst/>
            <a:cxnLst/>
            <a:rect l="l" t="t" r="r" b="b"/>
            <a:pathLst>
              <a:path w="83820" h="121285">
                <a:moveTo>
                  <a:pt x="11941" y="0"/>
                </a:moveTo>
                <a:lnTo>
                  <a:pt x="0" y="0"/>
                </a:lnTo>
                <a:lnTo>
                  <a:pt x="0" y="13434"/>
                </a:lnTo>
                <a:lnTo>
                  <a:pt x="71653" y="120911"/>
                </a:lnTo>
                <a:lnTo>
                  <a:pt x="83596" y="120911"/>
                </a:lnTo>
                <a:lnTo>
                  <a:pt x="83596" y="107477"/>
                </a:lnTo>
                <a:lnTo>
                  <a:pt x="11941" y="0"/>
                </a:lnTo>
                <a:close/>
              </a:path>
            </a:pathLst>
          </a:custGeom>
          <a:solidFill>
            <a:srgbClr val="000000"/>
          </a:solidFill>
        </p:spPr>
        <p:txBody>
          <a:bodyPr wrap="square" lIns="0" tIns="0" rIns="0" bIns="0" rtlCol="0"/>
          <a:lstStyle/>
          <a:p>
            <a:endParaRPr sz="1593"/>
          </a:p>
        </p:txBody>
      </p:sp>
      <p:sp>
        <p:nvSpPr>
          <p:cNvPr id="193" name="object 193"/>
          <p:cNvSpPr/>
          <p:nvPr/>
        </p:nvSpPr>
        <p:spPr>
          <a:xfrm>
            <a:off x="3099718" y="220154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94" name="object 194"/>
          <p:cNvSpPr/>
          <p:nvPr/>
        </p:nvSpPr>
        <p:spPr>
          <a:xfrm>
            <a:off x="3094433" y="2201544"/>
            <a:ext cx="32039" cy="130968"/>
          </a:xfrm>
          <a:custGeom>
            <a:avLst/>
            <a:gdLst/>
            <a:ahLst/>
            <a:cxnLst/>
            <a:rect l="l" t="t" r="r" b="b"/>
            <a:pathLst>
              <a:path w="36195" h="147955">
                <a:moveTo>
                  <a:pt x="11943" y="0"/>
                </a:moveTo>
                <a:lnTo>
                  <a:pt x="0" y="0"/>
                </a:lnTo>
                <a:lnTo>
                  <a:pt x="0" y="13434"/>
                </a:lnTo>
                <a:lnTo>
                  <a:pt x="23884" y="147782"/>
                </a:lnTo>
                <a:lnTo>
                  <a:pt x="35826" y="147782"/>
                </a:lnTo>
                <a:lnTo>
                  <a:pt x="35826" y="134346"/>
                </a:lnTo>
                <a:lnTo>
                  <a:pt x="11943" y="0"/>
                </a:lnTo>
                <a:close/>
              </a:path>
            </a:pathLst>
          </a:custGeom>
          <a:solidFill>
            <a:srgbClr val="000000"/>
          </a:solidFill>
        </p:spPr>
        <p:txBody>
          <a:bodyPr wrap="square" lIns="0" tIns="0" rIns="0" bIns="0" rtlCol="0"/>
          <a:lstStyle/>
          <a:p>
            <a:endParaRPr sz="1593"/>
          </a:p>
        </p:txBody>
      </p:sp>
      <p:sp>
        <p:nvSpPr>
          <p:cNvPr id="195" name="object 195"/>
          <p:cNvSpPr/>
          <p:nvPr/>
        </p:nvSpPr>
        <p:spPr>
          <a:xfrm>
            <a:off x="3120861" y="232046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196" name="object 196"/>
          <p:cNvSpPr txBox="1"/>
          <p:nvPr/>
        </p:nvSpPr>
        <p:spPr>
          <a:xfrm>
            <a:off x="2713200" y="2214087"/>
            <a:ext cx="261935" cy="154907"/>
          </a:xfrm>
          <a:prstGeom prst="rect">
            <a:avLst/>
          </a:prstGeom>
        </p:spPr>
        <p:txBody>
          <a:bodyPr vert="horz" wrap="square" lIns="0" tIns="11804" rIns="0" bIns="0" rtlCol="0">
            <a:spAutoFit/>
          </a:bodyPr>
          <a:lstStyle/>
          <a:p>
            <a:pPr marL="11242">
              <a:spcBef>
                <a:spcPts val="93"/>
              </a:spcBef>
            </a:pPr>
            <a:r>
              <a:rPr sz="929" spc="-71" dirty="0">
                <a:latin typeface="Verdana"/>
                <a:cs typeface="Verdana"/>
              </a:rPr>
              <a:t>skills</a:t>
            </a:r>
            <a:endParaRPr sz="929">
              <a:latin typeface="Verdana"/>
              <a:cs typeface="Verdana"/>
            </a:endParaRPr>
          </a:p>
        </p:txBody>
      </p:sp>
      <p:sp>
        <p:nvSpPr>
          <p:cNvPr id="197" name="object 197"/>
          <p:cNvSpPr/>
          <p:nvPr/>
        </p:nvSpPr>
        <p:spPr>
          <a:xfrm>
            <a:off x="3136718" y="1618827"/>
            <a:ext cx="581766" cy="618864"/>
          </a:xfrm>
          <a:custGeom>
            <a:avLst/>
            <a:gdLst/>
            <a:ahLst/>
            <a:cxnLst/>
            <a:rect l="l" t="t" r="r" b="b"/>
            <a:pathLst>
              <a:path w="657225" h="699135">
                <a:moveTo>
                  <a:pt x="322442" y="0"/>
                </a:moveTo>
                <a:lnTo>
                  <a:pt x="203019" y="26869"/>
                </a:lnTo>
                <a:lnTo>
                  <a:pt x="95538" y="107477"/>
                </a:lnTo>
                <a:lnTo>
                  <a:pt x="23884" y="214955"/>
                </a:lnTo>
                <a:lnTo>
                  <a:pt x="0" y="349302"/>
                </a:lnTo>
                <a:lnTo>
                  <a:pt x="23884" y="483649"/>
                </a:lnTo>
                <a:lnTo>
                  <a:pt x="95538" y="604561"/>
                </a:lnTo>
                <a:lnTo>
                  <a:pt x="203019" y="671734"/>
                </a:lnTo>
                <a:lnTo>
                  <a:pt x="322442" y="698604"/>
                </a:lnTo>
                <a:lnTo>
                  <a:pt x="453807" y="671734"/>
                </a:lnTo>
                <a:lnTo>
                  <a:pt x="561289" y="604561"/>
                </a:lnTo>
                <a:lnTo>
                  <a:pt x="621000" y="483649"/>
                </a:lnTo>
                <a:lnTo>
                  <a:pt x="656827" y="349302"/>
                </a:lnTo>
                <a:lnTo>
                  <a:pt x="621000" y="214955"/>
                </a:lnTo>
                <a:lnTo>
                  <a:pt x="561289" y="107477"/>
                </a:lnTo>
                <a:lnTo>
                  <a:pt x="453807" y="26869"/>
                </a:lnTo>
                <a:lnTo>
                  <a:pt x="322442" y="0"/>
                </a:lnTo>
                <a:close/>
              </a:path>
            </a:pathLst>
          </a:custGeom>
          <a:solidFill>
            <a:srgbClr val="FFFFFF"/>
          </a:solidFill>
        </p:spPr>
        <p:txBody>
          <a:bodyPr wrap="square" lIns="0" tIns="0" rIns="0" bIns="0" rtlCol="0"/>
          <a:lstStyle/>
          <a:p>
            <a:endParaRPr sz="1593"/>
          </a:p>
        </p:txBody>
      </p:sp>
      <p:sp>
        <p:nvSpPr>
          <p:cNvPr id="198" name="object 198"/>
          <p:cNvSpPr/>
          <p:nvPr/>
        </p:nvSpPr>
        <p:spPr>
          <a:xfrm>
            <a:off x="3686419" y="1928024"/>
            <a:ext cx="42719" cy="130968"/>
          </a:xfrm>
          <a:custGeom>
            <a:avLst/>
            <a:gdLst/>
            <a:ahLst/>
            <a:cxnLst/>
            <a:rect l="l" t="t" r="r" b="b"/>
            <a:pathLst>
              <a:path w="48260" h="147955">
                <a:moveTo>
                  <a:pt x="47769" y="0"/>
                </a:moveTo>
                <a:lnTo>
                  <a:pt x="35826" y="0"/>
                </a:lnTo>
                <a:lnTo>
                  <a:pt x="0" y="134346"/>
                </a:lnTo>
                <a:lnTo>
                  <a:pt x="0" y="147782"/>
                </a:lnTo>
                <a:lnTo>
                  <a:pt x="11941" y="147782"/>
                </a:lnTo>
                <a:lnTo>
                  <a:pt x="47769" y="13435"/>
                </a:lnTo>
                <a:lnTo>
                  <a:pt x="47769" y="0"/>
                </a:lnTo>
                <a:close/>
              </a:path>
            </a:pathLst>
          </a:custGeom>
          <a:solidFill>
            <a:srgbClr val="000000"/>
          </a:solidFill>
        </p:spPr>
        <p:txBody>
          <a:bodyPr wrap="square" lIns="0" tIns="0" rIns="0" bIns="0" rtlCol="0"/>
          <a:lstStyle/>
          <a:p>
            <a:endParaRPr sz="1593"/>
          </a:p>
        </p:txBody>
      </p:sp>
      <p:sp>
        <p:nvSpPr>
          <p:cNvPr id="199" name="object 199"/>
          <p:cNvSpPr/>
          <p:nvPr/>
        </p:nvSpPr>
        <p:spPr>
          <a:xfrm>
            <a:off x="3691704" y="204694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00" name="object 200"/>
          <p:cNvSpPr/>
          <p:nvPr/>
        </p:nvSpPr>
        <p:spPr>
          <a:xfrm>
            <a:off x="3633563" y="2046945"/>
            <a:ext cx="63516" cy="119164"/>
          </a:xfrm>
          <a:custGeom>
            <a:avLst/>
            <a:gdLst/>
            <a:ahLst/>
            <a:cxnLst/>
            <a:rect l="l" t="t" r="r" b="b"/>
            <a:pathLst>
              <a:path w="71754" h="134619">
                <a:moveTo>
                  <a:pt x="71653" y="0"/>
                </a:moveTo>
                <a:lnTo>
                  <a:pt x="59711" y="0"/>
                </a:lnTo>
                <a:lnTo>
                  <a:pt x="0" y="120912"/>
                </a:lnTo>
                <a:lnTo>
                  <a:pt x="0" y="134346"/>
                </a:lnTo>
                <a:lnTo>
                  <a:pt x="11941" y="134346"/>
                </a:lnTo>
                <a:lnTo>
                  <a:pt x="71653" y="13435"/>
                </a:lnTo>
                <a:lnTo>
                  <a:pt x="71653" y="0"/>
                </a:lnTo>
                <a:close/>
              </a:path>
            </a:pathLst>
          </a:custGeom>
          <a:solidFill>
            <a:srgbClr val="000000"/>
          </a:solidFill>
        </p:spPr>
        <p:txBody>
          <a:bodyPr wrap="square" lIns="0" tIns="0" rIns="0" bIns="0" rtlCol="0"/>
          <a:lstStyle/>
          <a:p>
            <a:endParaRPr sz="1593"/>
          </a:p>
        </p:txBody>
      </p:sp>
      <p:sp>
        <p:nvSpPr>
          <p:cNvPr id="201" name="object 201"/>
          <p:cNvSpPr/>
          <p:nvPr/>
        </p:nvSpPr>
        <p:spPr>
          <a:xfrm>
            <a:off x="3638848" y="215397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02" name="object 202"/>
          <p:cNvSpPr/>
          <p:nvPr/>
        </p:nvSpPr>
        <p:spPr>
          <a:xfrm>
            <a:off x="3538422" y="2153975"/>
            <a:ext cx="106235" cy="71386"/>
          </a:xfrm>
          <a:custGeom>
            <a:avLst/>
            <a:gdLst/>
            <a:ahLst/>
            <a:cxnLst/>
            <a:rect l="l" t="t" r="r" b="b"/>
            <a:pathLst>
              <a:path w="120014" h="80644">
                <a:moveTo>
                  <a:pt x="119423" y="0"/>
                </a:moveTo>
                <a:lnTo>
                  <a:pt x="107481" y="0"/>
                </a:lnTo>
                <a:lnTo>
                  <a:pt x="0" y="67172"/>
                </a:lnTo>
                <a:lnTo>
                  <a:pt x="0" y="80608"/>
                </a:lnTo>
                <a:lnTo>
                  <a:pt x="11943" y="80608"/>
                </a:lnTo>
                <a:lnTo>
                  <a:pt x="119423" y="13434"/>
                </a:lnTo>
                <a:lnTo>
                  <a:pt x="119423" y="0"/>
                </a:lnTo>
                <a:close/>
              </a:path>
            </a:pathLst>
          </a:custGeom>
          <a:solidFill>
            <a:srgbClr val="000000"/>
          </a:solidFill>
        </p:spPr>
        <p:txBody>
          <a:bodyPr wrap="square" lIns="0" tIns="0" rIns="0" bIns="0" rtlCol="0"/>
          <a:lstStyle/>
          <a:p>
            <a:endParaRPr sz="1593"/>
          </a:p>
        </p:txBody>
      </p:sp>
      <p:sp>
        <p:nvSpPr>
          <p:cNvPr id="203" name="object 203"/>
          <p:cNvSpPr/>
          <p:nvPr/>
        </p:nvSpPr>
        <p:spPr>
          <a:xfrm>
            <a:off x="3543707" y="221343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04" name="object 204"/>
          <p:cNvSpPr/>
          <p:nvPr/>
        </p:nvSpPr>
        <p:spPr>
          <a:xfrm>
            <a:off x="3422139" y="2213436"/>
            <a:ext cx="127033" cy="35974"/>
          </a:xfrm>
          <a:custGeom>
            <a:avLst/>
            <a:gdLst/>
            <a:ahLst/>
            <a:cxnLst/>
            <a:rect l="l" t="t" r="r" b="b"/>
            <a:pathLst>
              <a:path w="143510" h="40639">
                <a:moveTo>
                  <a:pt x="143308" y="0"/>
                </a:moveTo>
                <a:lnTo>
                  <a:pt x="131364" y="0"/>
                </a:lnTo>
                <a:lnTo>
                  <a:pt x="0" y="26869"/>
                </a:lnTo>
                <a:lnTo>
                  <a:pt x="0" y="40304"/>
                </a:lnTo>
                <a:lnTo>
                  <a:pt x="11941" y="40304"/>
                </a:lnTo>
                <a:lnTo>
                  <a:pt x="143308" y="13435"/>
                </a:lnTo>
                <a:lnTo>
                  <a:pt x="143308" y="0"/>
                </a:lnTo>
                <a:close/>
              </a:path>
            </a:pathLst>
          </a:custGeom>
          <a:solidFill>
            <a:srgbClr val="000000"/>
          </a:solidFill>
        </p:spPr>
        <p:txBody>
          <a:bodyPr wrap="square" lIns="0" tIns="0" rIns="0" bIns="0" rtlCol="0"/>
          <a:lstStyle/>
          <a:p>
            <a:endParaRPr sz="1593"/>
          </a:p>
        </p:txBody>
      </p:sp>
      <p:sp>
        <p:nvSpPr>
          <p:cNvPr id="205" name="object 205"/>
          <p:cNvSpPr/>
          <p:nvPr/>
        </p:nvSpPr>
        <p:spPr>
          <a:xfrm>
            <a:off x="3422139" y="223722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06" name="object 206"/>
          <p:cNvSpPr/>
          <p:nvPr/>
        </p:nvSpPr>
        <p:spPr>
          <a:xfrm>
            <a:off x="3422139" y="223722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07" name="object 207"/>
          <p:cNvSpPr/>
          <p:nvPr/>
        </p:nvSpPr>
        <p:spPr>
          <a:xfrm>
            <a:off x="3422139" y="223722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08" name="object 208"/>
          <p:cNvSpPr/>
          <p:nvPr/>
        </p:nvSpPr>
        <p:spPr>
          <a:xfrm>
            <a:off x="3316428" y="2213436"/>
            <a:ext cx="116353" cy="35974"/>
          </a:xfrm>
          <a:custGeom>
            <a:avLst/>
            <a:gdLst/>
            <a:ahLst/>
            <a:cxnLst/>
            <a:rect l="l" t="t" r="r" b="b"/>
            <a:pathLst>
              <a:path w="131445" h="40639">
                <a:moveTo>
                  <a:pt x="11941" y="0"/>
                </a:moveTo>
                <a:lnTo>
                  <a:pt x="0" y="0"/>
                </a:lnTo>
                <a:lnTo>
                  <a:pt x="0" y="13435"/>
                </a:lnTo>
                <a:lnTo>
                  <a:pt x="119423" y="40304"/>
                </a:lnTo>
                <a:lnTo>
                  <a:pt x="131364" y="40304"/>
                </a:lnTo>
                <a:lnTo>
                  <a:pt x="131364" y="26869"/>
                </a:lnTo>
                <a:lnTo>
                  <a:pt x="11941" y="0"/>
                </a:lnTo>
                <a:close/>
              </a:path>
            </a:pathLst>
          </a:custGeom>
          <a:solidFill>
            <a:srgbClr val="000000"/>
          </a:solidFill>
        </p:spPr>
        <p:txBody>
          <a:bodyPr wrap="square" lIns="0" tIns="0" rIns="0" bIns="0" rtlCol="0"/>
          <a:lstStyle/>
          <a:p>
            <a:endParaRPr sz="1593"/>
          </a:p>
        </p:txBody>
      </p:sp>
      <p:sp>
        <p:nvSpPr>
          <p:cNvPr id="209" name="object 209"/>
          <p:cNvSpPr/>
          <p:nvPr/>
        </p:nvSpPr>
        <p:spPr>
          <a:xfrm>
            <a:off x="3321713" y="221343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10" name="object 210"/>
          <p:cNvSpPr/>
          <p:nvPr/>
        </p:nvSpPr>
        <p:spPr>
          <a:xfrm>
            <a:off x="3221286" y="2153975"/>
            <a:ext cx="106235" cy="71386"/>
          </a:xfrm>
          <a:custGeom>
            <a:avLst/>
            <a:gdLst/>
            <a:ahLst/>
            <a:cxnLst/>
            <a:rect l="l" t="t" r="r" b="b"/>
            <a:pathLst>
              <a:path w="120014" h="80644">
                <a:moveTo>
                  <a:pt x="11941" y="0"/>
                </a:moveTo>
                <a:lnTo>
                  <a:pt x="0" y="0"/>
                </a:lnTo>
                <a:lnTo>
                  <a:pt x="0" y="13434"/>
                </a:lnTo>
                <a:lnTo>
                  <a:pt x="107481" y="80608"/>
                </a:lnTo>
                <a:lnTo>
                  <a:pt x="119423" y="80608"/>
                </a:lnTo>
                <a:lnTo>
                  <a:pt x="119423" y="67172"/>
                </a:lnTo>
                <a:lnTo>
                  <a:pt x="11941" y="0"/>
                </a:lnTo>
                <a:close/>
              </a:path>
            </a:pathLst>
          </a:custGeom>
          <a:solidFill>
            <a:srgbClr val="000000"/>
          </a:solidFill>
        </p:spPr>
        <p:txBody>
          <a:bodyPr wrap="square" lIns="0" tIns="0" rIns="0" bIns="0" rtlCol="0"/>
          <a:lstStyle/>
          <a:p>
            <a:endParaRPr sz="1593"/>
          </a:p>
        </p:txBody>
      </p:sp>
      <p:sp>
        <p:nvSpPr>
          <p:cNvPr id="211" name="object 211"/>
          <p:cNvSpPr/>
          <p:nvPr/>
        </p:nvSpPr>
        <p:spPr>
          <a:xfrm>
            <a:off x="3226572" y="215397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12" name="object 212"/>
          <p:cNvSpPr/>
          <p:nvPr/>
        </p:nvSpPr>
        <p:spPr>
          <a:xfrm>
            <a:off x="3157861" y="2046945"/>
            <a:ext cx="74196" cy="119164"/>
          </a:xfrm>
          <a:custGeom>
            <a:avLst/>
            <a:gdLst/>
            <a:ahLst/>
            <a:cxnLst/>
            <a:rect l="l" t="t" r="r" b="b"/>
            <a:pathLst>
              <a:path w="83820" h="134619">
                <a:moveTo>
                  <a:pt x="11941" y="0"/>
                </a:moveTo>
                <a:lnTo>
                  <a:pt x="0" y="0"/>
                </a:lnTo>
                <a:lnTo>
                  <a:pt x="0" y="13435"/>
                </a:lnTo>
                <a:lnTo>
                  <a:pt x="71653" y="134346"/>
                </a:lnTo>
                <a:lnTo>
                  <a:pt x="83595" y="134346"/>
                </a:lnTo>
                <a:lnTo>
                  <a:pt x="83595" y="120912"/>
                </a:lnTo>
                <a:lnTo>
                  <a:pt x="11941" y="0"/>
                </a:lnTo>
                <a:close/>
              </a:path>
            </a:pathLst>
          </a:custGeom>
          <a:solidFill>
            <a:srgbClr val="000000"/>
          </a:solidFill>
        </p:spPr>
        <p:txBody>
          <a:bodyPr wrap="square" lIns="0" tIns="0" rIns="0" bIns="0" rtlCol="0"/>
          <a:lstStyle/>
          <a:p>
            <a:endParaRPr sz="1593"/>
          </a:p>
        </p:txBody>
      </p:sp>
      <p:sp>
        <p:nvSpPr>
          <p:cNvPr id="213" name="object 213"/>
          <p:cNvSpPr/>
          <p:nvPr/>
        </p:nvSpPr>
        <p:spPr>
          <a:xfrm>
            <a:off x="3163145" y="204694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14" name="object 214"/>
          <p:cNvSpPr/>
          <p:nvPr/>
        </p:nvSpPr>
        <p:spPr>
          <a:xfrm>
            <a:off x="3136718" y="1928024"/>
            <a:ext cx="32039" cy="130968"/>
          </a:xfrm>
          <a:custGeom>
            <a:avLst/>
            <a:gdLst/>
            <a:ahLst/>
            <a:cxnLst/>
            <a:rect l="l" t="t" r="r" b="b"/>
            <a:pathLst>
              <a:path w="36195" h="147955">
                <a:moveTo>
                  <a:pt x="11941" y="0"/>
                </a:moveTo>
                <a:lnTo>
                  <a:pt x="0" y="0"/>
                </a:lnTo>
                <a:lnTo>
                  <a:pt x="0" y="13435"/>
                </a:lnTo>
                <a:lnTo>
                  <a:pt x="23884" y="147782"/>
                </a:lnTo>
                <a:lnTo>
                  <a:pt x="35826" y="147782"/>
                </a:lnTo>
                <a:lnTo>
                  <a:pt x="35826" y="134346"/>
                </a:lnTo>
                <a:lnTo>
                  <a:pt x="11941" y="0"/>
                </a:lnTo>
                <a:close/>
              </a:path>
            </a:pathLst>
          </a:custGeom>
          <a:solidFill>
            <a:srgbClr val="000000"/>
          </a:solidFill>
        </p:spPr>
        <p:txBody>
          <a:bodyPr wrap="square" lIns="0" tIns="0" rIns="0" bIns="0" rtlCol="0"/>
          <a:lstStyle/>
          <a:p>
            <a:endParaRPr sz="1593"/>
          </a:p>
        </p:txBody>
      </p:sp>
      <p:sp>
        <p:nvSpPr>
          <p:cNvPr id="215" name="object 215"/>
          <p:cNvSpPr/>
          <p:nvPr/>
        </p:nvSpPr>
        <p:spPr>
          <a:xfrm>
            <a:off x="3136717" y="192802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16" name="object 216"/>
          <p:cNvSpPr/>
          <p:nvPr/>
        </p:nvSpPr>
        <p:spPr>
          <a:xfrm>
            <a:off x="3136717" y="192802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17" name="object 217"/>
          <p:cNvSpPr/>
          <p:nvPr/>
        </p:nvSpPr>
        <p:spPr>
          <a:xfrm>
            <a:off x="3136717" y="192802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18" name="object 218"/>
          <p:cNvSpPr/>
          <p:nvPr/>
        </p:nvSpPr>
        <p:spPr>
          <a:xfrm>
            <a:off x="3136718" y="1809102"/>
            <a:ext cx="32039" cy="130968"/>
          </a:xfrm>
          <a:custGeom>
            <a:avLst/>
            <a:gdLst/>
            <a:ahLst/>
            <a:cxnLst/>
            <a:rect l="l" t="t" r="r" b="b"/>
            <a:pathLst>
              <a:path w="36195" h="147955">
                <a:moveTo>
                  <a:pt x="35826" y="0"/>
                </a:moveTo>
                <a:lnTo>
                  <a:pt x="23884" y="0"/>
                </a:lnTo>
                <a:lnTo>
                  <a:pt x="0" y="134346"/>
                </a:lnTo>
                <a:lnTo>
                  <a:pt x="0" y="147782"/>
                </a:lnTo>
                <a:lnTo>
                  <a:pt x="11941" y="147782"/>
                </a:lnTo>
                <a:lnTo>
                  <a:pt x="35826" y="13435"/>
                </a:lnTo>
                <a:lnTo>
                  <a:pt x="35826" y="0"/>
                </a:lnTo>
                <a:close/>
              </a:path>
            </a:pathLst>
          </a:custGeom>
          <a:solidFill>
            <a:srgbClr val="000000"/>
          </a:solidFill>
        </p:spPr>
        <p:txBody>
          <a:bodyPr wrap="square" lIns="0" tIns="0" rIns="0" bIns="0" rtlCol="0"/>
          <a:lstStyle/>
          <a:p>
            <a:endParaRPr sz="1593"/>
          </a:p>
        </p:txBody>
      </p:sp>
      <p:sp>
        <p:nvSpPr>
          <p:cNvPr id="219" name="object 219"/>
          <p:cNvSpPr/>
          <p:nvPr/>
        </p:nvSpPr>
        <p:spPr>
          <a:xfrm>
            <a:off x="3163145" y="180910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20" name="object 220"/>
          <p:cNvSpPr/>
          <p:nvPr/>
        </p:nvSpPr>
        <p:spPr>
          <a:xfrm>
            <a:off x="3157861" y="1713964"/>
            <a:ext cx="74196" cy="107360"/>
          </a:xfrm>
          <a:custGeom>
            <a:avLst/>
            <a:gdLst/>
            <a:ahLst/>
            <a:cxnLst/>
            <a:rect l="l" t="t" r="r" b="b"/>
            <a:pathLst>
              <a:path w="83820" h="121285">
                <a:moveTo>
                  <a:pt x="83595" y="0"/>
                </a:moveTo>
                <a:lnTo>
                  <a:pt x="71653" y="0"/>
                </a:lnTo>
                <a:lnTo>
                  <a:pt x="0" y="107477"/>
                </a:lnTo>
                <a:lnTo>
                  <a:pt x="0" y="120912"/>
                </a:lnTo>
                <a:lnTo>
                  <a:pt x="11941" y="120912"/>
                </a:lnTo>
                <a:lnTo>
                  <a:pt x="83595" y="13435"/>
                </a:lnTo>
                <a:lnTo>
                  <a:pt x="83595" y="0"/>
                </a:lnTo>
                <a:close/>
              </a:path>
            </a:pathLst>
          </a:custGeom>
          <a:solidFill>
            <a:srgbClr val="000000"/>
          </a:solidFill>
        </p:spPr>
        <p:txBody>
          <a:bodyPr wrap="square" lIns="0" tIns="0" rIns="0" bIns="0" rtlCol="0"/>
          <a:lstStyle/>
          <a:p>
            <a:endParaRPr sz="1593"/>
          </a:p>
        </p:txBody>
      </p:sp>
      <p:sp>
        <p:nvSpPr>
          <p:cNvPr id="221" name="object 221"/>
          <p:cNvSpPr/>
          <p:nvPr/>
        </p:nvSpPr>
        <p:spPr>
          <a:xfrm>
            <a:off x="3226572" y="171396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22" name="object 222"/>
          <p:cNvSpPr/>
          <p:nvPr/>
        </p:nvSpPr>
        <p:spPr>
          <a:xfrm>
            <a:off x="3221286" y="1642611"/>
            <a:ext cx="106235" cy="83752"/>
          </a:xfrm>
          <a:custGeom>
            <a:avLst/>
            <a:gdLst/>
            <a:ahLst/>
            <a:cxnLst/>
            <a:rect l="l" t="t" r="r" b="b"/>
            <a:pathLst>
              <a:path w="120014" h="94614">
                <a:moveTo>
                  <a:pt x="119423" y="0"/>
                </a:moveTo>
                <a:lnTo>
                  <a:pt x="107481" y="0"/>
                </a:lnTo>
                <a:lnTo>
                  <a:pt x="0" y="80608"/>
                </a:lnTo>
                <a:lnTo>
                  <a:pt x="0" y="94043"/>
                </a:lnTo>
                <a:lnTo>
                  <a:pt x="11941" y="94043"/>
                </a:lnTo>
                <a:lnTo>
                  <a:pt x="119423" y="13435"/>
                </a:lnTo>
                <a:lnTo>
                  <a:pt x="119423" y="0"/>
                </a:lnTo>
                <a:close/>
              </a:path>
            </a:pathLst>
          </a:custGeom>
          <a:solidFill>
            <a:srgbClr val="000000"/>
          </a:solidFill>
        </p:spPr>
        <p:txBody>
          <a:bodyPr wrap="square" lIns="0" tIns="0" rIns="0" bIns="0" rtlCol="0"/>
          <a:lstStyle/>
          <a:p>
            <a:endParaRPr sz="1593"/>
          </a:p>
        </p:txBody>
      </p:sp>
      <p:sp>
        <p:nvSpPr>
          <p:cNvPr id="223" name="object 223"/>
          <p:cNvSpPr/>
          <p:nvPr/>
        </p:nvSpPr>
        <p:spPr>
          <a:xfrm>
            <a:off x="3321713" y="164261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24" name="object 224"/>
          <p:cNvSpPr/>
          <p:nvPr/>
        </p:nvSpPr>
        <p:spPr>
          <a:xfrm>
            <a:off x="3316428" y="1618827"/>
            <a:ext cx="116353" cy="35974"/>
          </a:xfrm>
          <a:custGeom>
            <a:avLst/>
            <a:gdLst/>
            <a:ahLst/>
            <a:cxnLst/>
            <a:rect l="l" t="t" r="r" b="b"/>
            <a:pathLst>
              <a:path w="131445" h="40639">
                <a:moveTo>
                  <a:pt x="131364" y="0"/>
                </a:moveTo>
                <a:lnTo>
                  <a:pt x="119423" y="0"/>
                </a:lnTo>
                <a:lnTo>
                  <a:pt x="0" y="26869"/>
                </a:lnTo>
                <a:lnTo>
                  <a:pt x="0" y="40304"/>
                </a:lnTo>
                <a:lnTo>
                  <a:pt x="11941" y="40304"/>
                </a:lnTo>
                <a:lnTo>
                  <a:pt x="131364" y="13434"/>
                </a:lnTo>
                <a:lnTo>
                  <a:pt x="131364" y="0"/>
                </a:lnTo>
                <a:close/>
              </a:path>
            </a:pathLst>
          </a:custGeom>
          <a:solidFill>
            <a:srgbClr val="000000"/>
          </a:solidFill>
        </p:spPr>
        <p:txBody>
          <a:bodyPr wrap="square" lIns="0" tIns="0" rIns="0" bIns="0" rtlCol="0"/>
          <a:lstStyle/>
          <a:p>
            <a:endParaRPr sz="1593"/>
          </a:p>
        </p:txBody>
      </p:sp>
      <p:sp>
        <p:nvSpPr>
          <p:cNvPr id="225" name="object 225"/>
          <p:cNvSpPr/>
          <p:nvPr/>
        </p:nvSpPr>
        <p:spPr>
          <a:xfrm>
            <a:off x="3422139" y="161882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26" name="object 226"/>
          <p:cNvSpPr/>
          <p:nvPr/>
        </p:nvSpPr>
        <p:spPr>
          <a:xfrm>
            <a:off x="3422139" y="161882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27" name="object 227"/>
          <p:cNvSpPr/>
          <p:nvPr/>
        </p:nvSpPr>
        <p:spPr>
          <a:xfrm>
            <a:off x="3422139" y="161882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28" name="object 228"/>
          <p:cNvSpPr/>
          <p:nvPr/>
        </p:nvSpPr>
        <p:spPr>
          <a:xfrm>
            <a:off x="3422139" y="1618827"/>
            <a:ext cx="127033" cy="35974"/>
          </a:xfrm>
          <a:custGeom>
            <a:avLst/>
            <a:gdLst/>
            <a:ahLst/>
            <a:cxnLst/>
            <a:rect l="l" t="t" r="r" b="b"/>
            <a:pathLst>
              <a:path w="143510" h="40639">
                <a:moveTo>
                  <a:pt x="11941" y="0"/>
                </a:moveTo>
                <a:lnTo>
                  <a:pt x="0" y="0"/>
                </a:lnTo>
                <a:lnTo>
                  <a:pt x="0" y="13434"/>
                </a:lnTo>
                <a:lnTo>
                  <a:pt x="131364" y="40304"/>
                </a:lnTo>
                <a:lnTo>
                  <a:pt x="143308" y="40304"/>
                </a:lnTo>
                <a:lnTo>
                  <a:pt x="143308" y="26869"/>
                </a:lnTo>
                <a:lnTo>
                  <a:pt x="11941" y="0"/>
                </a:lnTo>
                <a:close/>
              </a:path>
            </a:pathLst>
          </a:custGeom>
          <a:solidFill>
            <a:srgbClr val="000000"/>
          </a:solidFill>
        </p:spPr>
        <p:txBody>
          <a:bodyPr wrap="square" lIns="0" tIns="0" rIns="0" bIns="0" rtlCol="0"/>
          <a:lstStyle/>
          <a:p>
            <a:endParaRPr sz="1593"/>
          </a:p>
        </p:txBody>
      </p:sp>
      <p:sp>
        <p:nvSpPr>
          <p:cNvPr id="229" name="object 229"/>
          <p:cNvSpPr/>
          <p:nvPr/>
        </p:nvSpPr>
        <p:spPr>
          <a:xfrm>
            <a:off x="3543707" y="164261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30" name="object 230"/>
          <p:cNvSpPr/>
          <p:nvPr/>
        </p:nvSpPr>
        <p:spPr>
          <a:xfrm>
            <a:off x="3538422" y="1642611"/>
            <a:ext cx="106235" cy="83752"/>
          </a:xfrm>
          <a:custGeom>
            <a:avLst/>
            <a:gdLst/>
            <a:ahLst/>
            <a:cxnLst/>
            <a:rect l="l" t="t" r="r" b="b"/>
            <a:pathLst>
              <a:path w="120014" h="94614">
                <a:moveTo>
                  <a:pt x="11943" y="0"/>
                </a:moveTo>
                <a:lnTo>
                  <a:pt x="0" y="0"/>
                </a:lnTo>
                <a:lnTo>
                  <a:pt x="0" y="13435"/>
                </a:lnTo>
                <a:lnTo>
                  <a:pt x="107481" y="94043"/>
                </a:lnTo>
                <a:lnTo>
                  <a:pt x="119423" y="94043"/>
                </a:lnTo>
                <a:lnTo>
                  <a:pt x="119423" y="80608"/>
                </a:lnTo>
                <a:lnTo>
                  <a:pt x="11943" y="0"/>
                </a:lnTo>
                <a:close/>
              </a:path>
            </a:pathLst>
          </a:custGeom>
          <a:solidFill>
            <a:srgbClr val="000000"/>
          </a:solidFill>
        </p:spPr>
        <p:txBody>
          <a:bodyPr wrap="square" lIns="0" tIns="0" rIns="0" bIns="0" rtlCol="0"/>
          <a:lstStyle/>
          <a:p>
            <a:endParaRPr sz="1593"/>
          </a:p>
        </p:txBody>
      </p:sp>
      <p:sp>
        <p:nvSpPr>
          <p:cNvPr id="231" name="object 231"/>
          <p:cNvSpPr/>
          <p:nvPr/>
        </p:nvSpPr>
        <p:spPr>
          <a:xfrm>
            <a:off x="3638848" y="171396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32" name="object 232"/>
          <p:cNvSpPr/>
          <p:nvPr/>
        </p:nvSpPr>
        <p:spPr>
          <a:xfrm>
            <a:off x="3633563" y="1713964"/>
            <a:ext cx="63516" cy="107360"/>
          </a:xfrm>
          <a:custGeom>
            <a:avLst/>
            <a:gdLst/>
            <a:ahLst/>
            <a:cxnLst/>
            <a:rect l="l" t="t" r="r" b="b"/>
            <a:pathLst>
              <a:path w="71754" h="121285">
                <a:moveTo>
                  <a:pt x="11941" y="0"/>
                </a:moveTo>
                <a:lnTo>
                  <a:pt x="0" y="0"/>
                </a:lnTo>
                <a:lnTo>
                  <a:pt x="0" y="13435"/>
                </a:lnTo>
                <a:lnTo>
                  <a:pt x="59711" y="120912"/>
                </a:lnTo>
                <a:lnTo>
                  <a:pt x="71653" y="120912"/>
                </a:lnTo>
                <a:lnTo>
                  <a:pt x="71653" y="107477"/>
                </a:lnTo>
                <a:lnTo>
                  <a:pt x="11941" y="0"/>
                </a:lnTo>
                <a:close/>
              </a:path>
            </a:pathLst>
          </a:custGeom>
          <a:solidFill>
            <a:srgbClr val="000000"/>
          </a:solidFill>
        </p:spPr>
        <p:txBody>
          <a:bodyPr wrap="square" lIns="0" tIns="0" rIns="0" bIns="0" rtlCol="0"/>
          <a:lstStyle/>
          <a:p>
            <a:endParaRPr sz="1593"/>
          </a:p>
        </p:txBody>
      </p:sp>
      <p:sp>
        <p:nvSpPr>
          <p:cNvPr id="233" name="object 233"/>
          <p:cNvSpPr/>
          <p:nvPr/>
        </p:nvSpPr>
        <p:spPr>
          <a:xfrm>
            <a:off x="3691704" y="180910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34" name="object 234"/>
          <p:cNvSpPr/>
          <p:nvPr/>
        </p:nvSpPr>
        <p:spPr>
          <a:xfrm>
            <a:off x="3686419" y="1809102"/>
            <a:ext cx="42719" cy="130968"/>
          </a:xfrm>
          <a:custGeom>
            <a:avLst/>
            <a:gdLst/>
            <a:ahLst/>
            <a:cxnLst/>
            <a:rect l="l" t="t" r="r" b="b"/>
            <a:pathLst>
              <a:path w="48260" h="147955">
                <a:moveTo>
                  <a:pt x="11941" y="0"/>
                </a:moveTo>
                <a:lnTo>
                  <a:pt x="0" y="0"/>
                </a:lnTo>
                <a:lnTo>
                  <a:pt x="0" y="13435"/>
                </a:lnTo>
                <a:lnTo>
                  <a:pt x="35826" y="147782"/>
                </a:lnTo>
                <a:lnTo>
                  <a:pt x="47769" y="147782"/>
                </a:lnTo>
                <a:lnTo>
                  <a:pt x="47769" y="134346"/>
                </a:lnTo>
                <a:lnTo>
                  <a:pt x="11941" y="0"/>
                </a:lnTo>
                <a:close/>
              </a:path>
            </a:pathLst>
          </a:custGeom>
          <a:solidFill>
            <a:srgbClr val="000000"/>
          </a:solidFill>
        </p:spPr>
        <p:txBody>
          <a:bodyPr wrap="square" lIns="0" tIns="0" rIns="0" bIns="0" rtlCol="0"/>
          <a:lstStyle/>
          <a:p>
            <a:endParaRPr sz="1593"/>
          </a:p>
        </p:txBody>
      </p:sp>
      <p:sp>
        <p:nvSpPr>
          <p:cNvPr id="235" name="object 235"/>
          <p:cNvSpPr/>
          <p:nvPr/>
        </p:nvSpPr>
        <p:spPr>
          <a:xfrm>
            <a:off x="3723418" y="192802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36" name="object 236"/>
          <p:cNvSpPr txBox="1"/>
          <p:nvPr/>
        </p:nvSpPr>
        <p:spPr>
          <a:xfrm>
            <a:off x="3262901" y="1833537"/>
            <a:ext cx="406955" cy="154907"/>
          </a:xfrm>
          <a:prstGeom prst="rect">
            <a:avLst/>
          </a:prstGeom>
        </p:spPr>
        <p:txBody>
          <a:bodyPr vert="horz" wrap="square" lIns="0" tIns="11804" rIns="0" bIns="0" rtlCol="0">
            <a:spAutoFit/>
          </a:bodyPr>
          <a:lstStyle/>
          <a:p>
            <a:pPr marL="11242">
              <a:spcBef>
                <a:spcPts val="93"/>
              </a:spcBef>
            </a:pPr>
            <a:r>
              <a:rPr sz="929" spc="-106" dirty="0">
                <a:latin typeface="Verdana"/>
                <a:cs typeface="Verdana"/>
              </a:rPr>
              <a:t>nu</a:t>
            </a:r>
            <a:r>
              <a:rPr sz="929" spc="-142" dirty="0">
                <a:latin typeface="Verdana"/>
                <a:cs typeface="Verdana"/>
              </a:rPr>
              <a:t>m</a:t>
            </a:r>
            <a:r>
              <a:rPr sz="929" spc="-97" dirty="0">
                <a:latin typeface="Verdana"/>
                <a:cs typeface="Verdana"/>
              </a:rPr>
              <a:t>b</a:t>
            </a:r>
            <a:r>
              <a:rPr sz="929" spc="-75" dirty="0">
                <a:latin typeface="Verdana"/>
                <a:cs typeface="Verdana"/>
              </a:rPr>
              <a:t>er</a:t>
            </a:r>
            <a:endParaRPr sz="929">
              <a:latin typeface="Verdana"/>
              <a:cs typeface="Verdana"/>
            </a:endParaRPr>
          </a:p>
        </p:txBody>
      </p:sp>
      <p:sp>
        <p:nvSpPr>
          <p:cNvPr id="237" name="object 237"/>
          <p:cNvSpPr/>
          <p:nvPr/>
        </p:nvSpPr>
        <p:spPr>
          <a:xfrm>
            <a:off x="2365023" y="2736694"/>
            <a:ext cx="581766" cy="618864"/>
          </a:xfrm>
          <a:custGeom>
            <a:avLst/>
            <a:gdLst/>
            <a:ahLst/>
            <a:cxnLst/>
            <a:rect l="l" t="t" r="r" b="b"/>
            <a:pathLst>
              <a:path w="657225" h="699135">
                <a:moveTo>
                  <a:pt x="322442" y="0"/>
                </a:moveTo>
                <a:lnTo>
                  <a:pt x="203019" y="26869"/>
                </a:lnTo>
                <a:lnTo>
                  <a:pt x="95538" y="107477"/>
                </a:lnTo>
                <a:lnTo>
                  <a:pt x="23884" y="214955"/>
                </a:lnTo>
                <a:lnTo>
                  <a:pt x="0" y="349302"/>
                </a:lnTo>
                <a:lnTo>
                  <a:pt x="23884" y="483649"/>
                </a:lnTo>
                <a:lnTo>
                  <a:pt x="95538" y="604561"/>
                </a:lnTo>
                <a:lnTo>
                  <a:pt x="203019" y="671736"/>
                </a:lnTo>
                <a:lnTo>
                  <a:pt x="322442" y="698605"/>
                </a:lnTo>
                <a:lnTo>
                  <a:pt x="453809" y="671736"/>
                </a:lnTo>
                <a:lnTo>
                  <a:pt x="561289" y="604561"/>
                </a:lnTo>
                <a:lnTo>
                  <a:pt x="621000" y="483649"/>
                </a:lnTo>
                <a:lnTo>
                  <a:pt x="656828" y="349302"/>
                </a:lnTo>
                <a:lnTo>
                  <a:pt x="621000" y="214955"/>
                </a:lnTo>
                <a:lnTo>
                  <a:pt x="561289" y="107477"/>
                </a:lnTo>
                <a:lnTo>
                  <a:pt x="453809" y="26869"/>
                </a:lnTo>
                <a:lnTo>
                  <a:pt x="322442" y="0"/>
                </a:lnTo>
                <a:close/>
              </a:path>
            </a:pathLst>
          </a:custGeom>
          <a:solidFill>
            <a:srgbClr val="FFFFFF"/>
          </a:solidFill>
        </p:spPr>
        <p:txBody>
          <a:bodyPr wrap="square" lIns="0" tIns="0" rIns="0" bIns="0" rtlCol="0"/>
          <a:lstStyle/>
          <a:p>
            <a:endParaRPr sz="1593"/>
          </a:p>
        </p:txBody>
      </p:sp>
      <p:sp>
        <p:nvSpPr>
          <p:cNvPr id="238" name="object 238"/>
          <p:cNvSpPr/>
          <p:nvPr/>
        </p:nvSpPr>
        <p:spPr>
          <a:xfrm>
            <a:off x="2914722" y="3045891"/>
            <a:ext cx="42719" cy="130968"/>
          </a:xfrm>
          <a:custGeom>
            <a:avLst/>
            <a:gdLst/>
            <a:ahLst/>
            <a:cxnLst/>
            <a:rect l="l" t="t" r="r" b="b"/>
            <a:pathLst>
              <a:path w="48260" h="147954">
                <a:moveTo>
                  <a:pt x="47769" y="0"/>
                </a:moveTo>
                <a:lnTo>
                  <a:pt x="35827" y="0"/>
                </a:lnTo>
                <a:lnTo>
                  <a:pt x="0" y="134346"/>
                </a:lnTo>
                <a:lnTo>
                  <a:pt x="0" y="147782"/>
                </a:lnTo>
                <a:lnTo>
                  <a:pt x="11943" y="147782"/>
                </a:lnTo>
                <a:lnTo>
                  <a:pt x="47769" y="13435"/>
                </a:lnTo>
                <a:lnTo>
                  <a:pt x="47769" y="0"/>
                </a:lnTo>
                <a:close/>
              </a:path>
            </a:pathLst>
          </a:custGeom>
          <a:solidFill>
            <a:srgbClr val="000000"/>
          </a:solidFill>
        </p:spPr>
        <p:txBody>
          <a:bodyPr wrap="square" lIns="0" tIns="0" rIns="0" bIns="0" rtlCol="0"/>
          <a:lstStyle/>
          <a:p>
            <a:endParaRPr sz="1593"/>
          </a:p>
        </p:txBody>
      </p:sp>
      <p:sp>
        <p:nvSpPr>
          <p:cNvPr id="239" name="object 239"/>
          <p:cNvSpPr/>
          <p:nvPr/>
        </p:nvSpPr>
        <p:spPr>
          <a:xfrm>
            <a:off x="2920009" y="316481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40" name="object 240"/>
          <p:cNvSpPr/>
          <p:nvPr/>
        </p:nvSpPr>
        <p:spPr>
          <a:xfrm>
            <a:off x="2861868" y="3164812"/>
            <a:ext cx="63516" cy="119164"/>
          </a:xfrm>
          <a:custGeom>
            <a:avLst/>
            <a:gdLst/>
            <a:ahLst/>
            <a:cxnLst/>
            <a:rect l="l" t="t" r="r" b="b"/>
            <a:pathLst>
              <a:path w="71754" h="134620">
                <a:moveTo>
                  <a:pt x="71654" y="0"/>
                </a:moveTo>
                <a:lnTo>
                  <a:pt x="59711" y="0"/>
                </a:lnTo>
                <a:lnTo>
                  <a:pt x="0" y="120912"/>
                </a:lnTo>
                <a:lnTo>
                  <a:pt x="0" y="134348"/>
                </a:lnTo>
                <a:lnTo>
                  <a:pt x="11943" y="134348"/>
                </a:lnTo>
                <a:lnTo>
                  <a:pt x="71654" y="13435"/>
                </a:lnTo>
                <a:lnTo>
                  <a:pt x="71654" y="0"/>
                </a:lnTo>
                <a:close/>
              </a:path>
            </a:pathLst>
          </a:custGeom>
          <a:solidFill>
            <a:srgbClr val="000000"/>
          </a:solidFill>
        </p:spPr>
        <p:txBody>
          <a:bodyPr wrap="square" lIns="0" tIns="0" rIns="0" bIns="0" rtlCol="0"/>
          <a:lstStyle/>
          <a:p>
            <a:endParaRPr sz="1593"/>
          </a:p>
        </p:txBody>
      </p:sp>
      <p:sp>
        <p:nvSpPr>
          <p:cNvPr id="241" name="object 241"/>
          <p:cNvSpPr/>
          <p:nvPr/>
        </p:nvSpPr>
        <p:spPr>
          <a:xfrm>
            <a:off x="2867152" y="327184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42" name="object 242"/>
          <p:cNvSpPr/>
          <p:nvPr/>
        </p:nvSpPr>
        <p:spPr>
          <a:xfrm>
            <a:off x="2766727" y="3271843"/>
            <a:ext cx="106235" cy="71386"/>
          </a:xfrm>
          <a:custGeom>
            <a:avLst/>
            <a:gdLst/>
            <a:ahLst/>
            <a:cxnLst/>
            <a:rect l="l" t="t" r="r" b="b"/>
            <a:pathLst>
              <a:path w="120014" h="80645">
                <a:moveTo>
                  <a:pt x="119423" y="0"/>
                </a:moveTo>
                <a:lnTo>
                  <a:pt x="107480" y="0"/>
                </a:lnTo>
                <a:lnTo>
                  <a:pt x="0" y="67174"/>
                </a:lnTo>
                <a:lnTo>
                  <a:pt x="0" y="80608"/>
                </a:lnTo>
                <a:lnTo>
                  <a:pt x="11941" y="80608"/>
                </a:lnTo>
                <a:lnTo>
                  <a:pt x="119423" y="13435"/>
                </a:lnTo>
                <a:lnTo>
                  <a:pt x="119423" y="0"/>
                </a:lnTo>
                <a:close/>
              </a:path>
            </a:pathLst>
          </a:custGeom>
          <a:solidFill>
            <a:srgbClr val="000000"/>
          </a:solidFill>
        </p:spPr>
        <p:txBody>
          <a:bodyPr wrap="square" lIns="0" tIns="0" rIns="0" bIns="0" rtlCol="0"/>
          <a:lstStyle/>
          <a:p>
            <a:endParaRPr sz="1593"/>
          </a:p>
        </p:txBody>
      </p:sp>
      <p:sp>
        <p:nvSpPr>
          <p:cNvPr id="243" name="object 243"/>
          <p:cNvSpPr/>
          <p:nvPr/>
        </p:nvSpPr>
        <p:spPr>
          <a:xfrm>
            <a:off x="2772012" y="33313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44" name="object 244"/>
          <p:cNvSpPr/>
          <p:nvPr/>
        </p:nvSpPr>
        <p:spPr>
          <a:xfrm>
            <a:off x="2650443" y="3331304"/>
            <a:ext cx="127033" cy="35974"/>
          </a:xfrm>
          <a:custGeom>
            <a:avLst/>
            <a:gdLst/>
            <a:ahLst/>
            <a:cxnLst/>
            <a:rect l="l" t="t" r="r" b="b"/>
            <a:pathLst>
              <a:path w="143510" h="40639">
                <a:moveTo>
                  <a:pt x="143308" y="0"/>
                </a:moveTo>
                <a:lnTo>
                  <a:pt x="131366" y="0"/>
                </a:lnTo>
                <a:lnTo>
                  <a:pt x="0" y="26869"/>
                </a:lnTo>
                <a:lnTo>
                  <a:pt x="0" y="40303"/>
                </a:lnTo>
                <a:lnTo>
                  <a:pt x="11941" y="40303"/>
                </a:lnTo>
                <a:lnTo>
                  <a:pt x="143308" y="13434"/>
                </a:lnTo>
                <a:lnTo>
                  <a:pt x="143308" y="0"/>
                </a:lnTo>
                <a:close/>
              </a:path>
            </a:pathLst>
          </a:custGeom>
          <a:solidFill>
            <a:srgbClr val="000000"/>
          </a:solidFill>
        </p:spPr>
        <p:txBody>
          <a:bodyPr wrap="square" lIns="0" tIns="0" rIns="0" bIns="0" rtlCol="0"/>
          <a:lstStyle/>
          <a:p>
            <a:endParaRPr sz="1593"/>
          </a:p>
        </p:txBody>
      </p:sp>
      <p:sp>
        <p:nvSpPr>
          <p:cNvPr id="245" name="object 245"/>
          <p:cNvSpPr/>
          <p:nvPr/>
        </p:nvSpPr>
        <p:spPr>
          <a:xfrm>
            <a:off x="2650443" y="3355088"/>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46" name="object 246"/>
          <p:cNvSpPr/>
          <p:nvPr/>
        </p:nvSpPr>
        <p:spPr>
          <a:xfrm>
            <a:off x="2650443" y="3355088"/>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47" name="object 247"/>
          <p:cNvSpPr/>
          <p:nvPr/>
        </p:nvSpPr>
        <p:spPr>
          <a:xfrm>
            <a:off x="2650443" y="3355088"/>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48" name="object 248"/>
          <p:cNvSpPr/>
          <p:nvPr/>
        </p:nvSpPr>
        <p:spPr>
          <a:xfrm>
            <a:off x="2544732" y="3331304"/>
            <a:ext cx="116353" cy="35974"/>
          </a:xfrm>
          <a:custGeom>
            <a:avLst/>
            <a:gdLst/>
            <a:ahLst/>
            <a:cxnLst/>
            <a:rect l="l" t="t" r="r" b="b"/>
            <a:pathLst>
              <a:path w="131444" h="40639">
                <a:moveTo>
                  <a:pt x="11941" y="0"/>
                </a:moveTo>
                <a:lnTo>
                  <a:pt x="0" y="0"/>
                </a:lnTo>
                <a:lnTo>
                  <a:pt x="0" y="13434"/>
                </a:lnTo>
                <a:lnTo>
                  <a:pt x="119423" y="40303"/>
                </a:lnTo>
                <a:lnTo>
                  <a:pt x="131364" y="40303"/>
                </a:lnTo>
                <a:lnTo>
                  <a:pt x="131364" y="26869"/>
                </a:lnTo>
                <a:lnTo>
                  <a:pt x="11941" y="0"/>
                </a:lnTo>
                <a:close/>
              </a:path>
            </a:pathLst>
          </a:custGeom>
          <a:solidFill>
            <a:srgbClr val="000000"/>
          </a:solidFill>
        </p:spPr>
        <p:txBody>
          <a:bodyPr wrap="square" lIns="0" tIns="0" rIns="0" bIns="0" rtlCol="0"/>
          <a:lstStyle/>
          <a:p>
            <a:endParaRPr sz="1593"/>
          </a:p>
        </p:txBody>
      </p:sp>
      <p:sp>
        <p:nvSpPr>
          <p:cNvPr id="249" name="object 249"/>
          <p:cNvSpPr/>
          <p:nvPr/>
        </p:nvSpPr>
        <p:spPr>
          <a:xfrm>
            <a:off x="2550017" y="33313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50" name="object 250"/>
          <p:cNvSpPr/>
          <p:nvPr/>
        </p:nvSpPr>
        <p:spPr>
          <a:xfrm>
            <a:off x="2449591" y="3271843"/>
            <a:ext cx="106235" cy="71386"/>
          </a:xfrm>
          <a:custGeom>
            <a:avLst/>
            <a:gdLst/>
            <a:ahLst/>
            <a:cxnLst/>
            <a:rect l="l" t="t" r="r" b="b"/>
            <a:pathLst>
              <a:path w="120014" h="80645">
                <a:moveTo>
                  <a:pt x="11943" y="0"/>
                </a:moveTo>
                <a:lnTo>
                  <a:pt x="0" y="0"/>
                </a:lnTo>
                <a:lnTo>
                  <a:pt x="0" y="13435"/>
                </a:lnTo>
                <a:lnTo>
                  <a:pt x="107481" y="80608"/>
                </a:lnTo>
                <a:lnTo>
                  <a:pt x="119423" y="80608"/>
                </a:lnTo>
                <a:lnTo>
                  <a:pt x="119423" y="67174"/>
                </a:lnTo>
                <a:lnTo>
                  <a:pt x="11943" y="0"/>
                </a:lnTo>
                <a:close/>
              </a:path>
            </a:pathLst>
          </a:custGeom>
          <a:solidFill>
            <a:srgbClr val="000000"/>
          </a:solidFill>
        </p:spPr>
        <p:txBody>
          <a:bodyPr wrap="square" lIns="0" tIns="0" rIns="0" bIns="0" rtlCol="0"/>
          <a:lstStyle/>
          <a:p>
            <a:endParaRPr sz="1593"/>
          </a:p>
        </p:txBody>
      </p:sp>
      <p:sp>
        <p:nvSpPr>
          <p:cNvPr id="251" name="object 251"/>
          <p:cNvSpPr/>
          <p:nvPr/>
        </p:nvSpPr>
        <p:spPr>
          <a:xfrm>
            <a:off x="2454876" y="327184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52" name="object 252"/>
          <p:cNvSpPr/>
          <p:nvPr/>
        </p:nvSpPr>
        <p:spPr>
          <a:xfrm>
            <a:off x="2386164" y="3164812"/>
            <a:ext cx="74196" cy="119164"/>
          </a:xfrm>
          <a:custGeom>
            <a:avLst/>
            <a:gdLst/>
            <a:ahLst/>
            <a:cxnLst/>
            <a:rect l="l" t="t" r="r" b="b"/>
            <a:pathLst>
              <a:path w="83819" h="134620">
                <a:moveTo>
                  <a:pt x="11941" y="0"/>
                </a:moveTo>
                <a:lnTo>
                  <a:pt x="0" y="0"/>
                </a:lnTo>
                <a:lnTo>
                  <a:pt x="0" y="13435"/>
                </a:lnTo>
                <a:lnTo>
                  <a:pt x="71653" y="134348"/>
                </a:lnTo>
                <a:lnTo>
                  <a:pt x="83596" y="134348"/>
                </a:lnTo>
                <a:lnTo>
                  <a:pt x="83596" y="120912"/>
                </a:lnTo>
                <a:lnTo>
                  <a:pt x="11941" y="0"/>
                </a:lnTo>
                <a:close/>
              </a:path>
            </a:pathLst>
          </a:custGeom>
          <a:solidFill>
            <a:srgbClr val="000000"/>
          </a:solidFill>
        </p:spPr>
        <p:txBody>
          <a:bodyPr wrap="square" lIns="0" tIns="0" rIns="0" bIns="0" rtlCol="0"/>
          <a:lstStyle/>
          <a:p>
            <a:endParaRPr sz="1593"/>
          </a:p>
        </p:txBody>
      </p:sp>
      <p:sp>
        <p:nvSpPr>
          <p:cNvPr id="253" name="object 253"/>
          <p:cNvSpPr/>
          <p:nvPr/>
        </p:nvSpPr>
        <p:spPr>
          <a:xfrm>
            <a:off x="2391449" y="316481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54" name="object 254"/>
          <p:cNvSpPr/>
          <p:nvPr/>
        </p:nvSpPr>
        <p:spPr>
          <a:xfrm>
            <a:off x="2365023" y="3045891"/>
            <a:ext cx="32039" cy="130968"/>
          </a:xfrm>
          <a:custGeom>
            <a:avLst/>
            <a:gdLst/>
            <a:ahLst/>
            <a:cxnLst/>
            <a:rect l="l" t="t" r="r" b="b"/>
            <a:pathLst>
              <a:path w="36194" h="147954">
                <a:moveTo>
                  <a:pt x="11941" y="0"/>
                </a:moveTo>
                <a:lnTo>
                  <a:pt x="0" y="0"/>
                </a:lnTo>
                <a:lnTo>
                  <a:pt x="0" y="13435"/>
                </a:lnTo>
                <a:lnTo>
                  <a:pt x="23884" y="147782"/>
                </a:lnTo>
                <a:lnTo>
                  <a:pt x="35826" y="147782"/>
                </a:lnTo>
                <a:lnTo>
                  <a:pt x="35826" y="134346"/>
                </a:lnTo>
                <a:lnTo>
                  <a:pt x="11941" y="0"/>
                </a:lnTo>
                <a:close/>
              </a:path>
            </a:pathLst>
          </a:custGeom>
          <a:solidFill>
            <a:srgbClr val="000000"/>
          </a:solidFill>
        </p:spPr>
        <p:txBody>
          <a:bodyPr wrap="square" lIns="0" tIns="0" rIns="0" bIns="0" rtlCol="0"/>
          <a:lstStyle/>
          <a:p>
            <a:endParaRPr sz="1593"/>
          </a:p>
        </p:txBody>
      </p:sp>
      <p:sp>
        <p:nvSpPr>
          <p:cNvPr id="255" name="object 255"/>
          <p:cNvSpPr/>
          <p:nvPr/>
        </p:nvSpPr>
        <p:spPr>
          <a:xfrm>
            <a:off x="2365023" y="304589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56" name="object 256"/>
          <p:cNvSpPr/>
          <p:nvPr/>
        </p:nvSpPr>
        <p:spPr>
          <a:xfrm>
            <a:off x="2365023" y="304589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57" name="object 257"/>
          <p:cNvSpPr/>
          <p:nvPr/>
        </p:nvSpPr>
        <p:spPr>
          <a:xfrm>
            <a:off x="2365023" y="304589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58" name="object 258"/>
          <p:cNvSpPr/>
          <p:nvPr/>
        </p:nvSpPr>
        <p:spPr>
          <a:xfrm>
            <a:off x="2365023" y="2926969"/>
            <a:ext cx="32039" cy="130968"/>
          </a:xfrm>
          <a:custGeom>
            <a:avLst/>
            <a:gdLst/>
            <a:ahLst/>
            <a:cxnLst/>
            <a:rect l="l" t="t" r="r" b="b"/>
            <a:pathLst>
              <a:path w="36194" h="147954">
                <a:moveTo>
                  <a:pt x="35826" y="0"/>
                </a:moveTo>
                <a:lnTo>
                  <a:pt x="23884" y="0"/>
                </a:lnTo>
                <a:lnTo>
                  <a:pt x="0" y="134346"/>
                </a:lnTo>
                <a:lnTo>
                  <a:pt x="0" y="147782"/>
                </a:lnTo>
                <a:lnTo>
                  <a:pt x="11941" y="147782"/>
                </a:lnTo>
                <a:lnTo>
                  <a:pt x="35826" y="13435"/>
                </a:lnTo>
                <a:lnTo>
                  <a:pt x="35826" y="0"/>
                </a:lnTo>
                <a:close/>
              </a:path>
            </a:pathLst>
          </a:custGeom>
          <a:solidFill>
            <a:srgbClr val="000000"/>
          </a:solidFill>
        </p:spPr>
        <p:txBody>
          <a:bodyPr wrap="square" lIns="0" tIns="0" rIns="0" bIns="0" rtlCol="0"/>
          <a:lstStyle/>
          <a:p>
            <a:endParaRPr sz="1593"/>
          </a:p>
        </p:txBody>
      </p:sp>
      <p:sp>
        <p:nvSpPr>
          <p:cNvPr id="259" name="object 259"/>
          <p:cNvSpPr/>
          <p:nvPr/>
        </p:nvSpPr>
        <p:spPr>
          <a:xfrm>
            <a:off x="2391449" y="292696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60" name="object 260"/>
          <p:cNvSpPr/>
          <p:nvPr/>
        </p:nvSpPr>
        <p:spPr>
          <a:xfrm>
            <a:off x="2386164" y="2831832"/>
            <a:ext cx="74196" cy="107360"/>
          </a:xfrm>
          <a:custGeom>
            <a:avLst/>
            <a:gdLst/>
            <a:ahLst/>
            <a:cxnLst/>
            <a:rect l="l" t="t" r="r" b="b"/>
            <a:pathLst>
              <a:path w="83819" h="121285">
                <a:moveTo>
                  <a:pt x="83596" y="0"/>
                </a:moveTo>
                <a:lnTo>
                  <a:pt x="71653" y="0"/>
                </a:lnTo>
                <a:lnTo>
                  <a:pt x="0" y="107477"/>
                </a:lnTo>
                <a:lnTo>
                  <a:pt x="0" y="120912"/>
                </a:lnTo>
                <a:lnTo>
                  <a:pt x="11941" y="120912"/>
                </a:lnTo>
                <a:lnTo>
                  <a:pt x="83596" y="13434"/>
                </a:lnTo>
                <a:lnTo>
                  <a:pt x="83596" y="0"/>
                </a:lnTo>
                <a:close/>
              </a:path>
            </a:pathLst>
          </a:custGeom>
          <a:solidFill>
            <a:srgbClr val="000000"/>
          </a:solidFill>
        </p:spPr>
        <p:txBody>
          <a:bodyPr wrap="square" lIns="0" tIns="0" rIns="0" bIns="0" rtlCol="0"/>
          <a:lstStyle/>
          <a:p>
            <a:endParaRPr sz="1593"/>
          </a:p>
        </p:txBody>
      </p:sp>
      <p:sp>
        <p:nvSpPr>
          <p:cNvPr id="261" name="object 261"/>
          <p:cNvSpPr/>
          <p:nvPr/>
        </p:nvSpPr>
        <p:spPr>
          <a:xfrm>
            <a:off x="2454876" y="283183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62" name="object 262"/>
          <p:cNvSpPr/>
          <p:nvPr/>
        </p:nvSpPr>
        <p:spPr>
          <a:xfrm>
            <a:off x="2449591" y="2760478"/>
            <a:ext cx="106235" cy="83752"/>
          </a:xfrm>
          <a:custGeom>
            <a:avLst/>
            <a:gdLst/>
            <a:ahLst/>
            <a:cxnLst/>
            <a:rect l="l" t="t" r="r" b="b"/>
            <a:pathLst>
              <a:path w="120014" h="94614">
                <a:moveTo>
                  <a:pt x="119423" y="0"/>
                </a:moveTo>
                <a:lnTo>
                  <a:pt x="107481" y="0"/>
                </a:lnTo>
                <a:lnTo>
                  <a:pt x="0" y="80608"/>
                </a:lnTo>
                <a:lnTo>
                  <a:pt x="0" y="94042"/>
                </a:lnTo>
                <a:lnTo>
                  <a:pt x="11943" y="94042"/>
                </a:lnTo>
                <a:lnTo>
                  <a:pt x="119423" y="13434"/>
                </a:lnTo>
                <a:lnTo>
                  <a:pt x="119423" y="0"/>
                </a:lnTo>
                <a:close/>
              </a:path>
            </a:pathLst>
          </a:custGeom>
          <a:solidFill>
            <a:srgbClr val="000000"/>
          </a:solidFill>
        </p:spPr>
        <p:txBody>
          <a:bodyPr wrap="square" lIns="0" tIns="0" rIns="0" bIns="0" rtlCol="0"/>
          <a:lstStyle/>
          <a:p>
            <a:endParaRPr sz="1593"/>
          </a:p>
        </p:txBody>
      </p:sp>
      <p:sp>
        <p:nvSpPr>
          <p:cNvPr id="263" name="object 263"/>
          <p:cNvSpPr/>
          <p:nvPr/>
        </p:nvSpPr>
        <p:spPr>
          <a:xfrm>
            <a:off x="2550017" y="276047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64" name="object 264"/>
          <p:cNvSpPr/>
          <p:nvPr/>
        </p:nvSpPr>
        <p:spPr>
          <a:xfrm>
            <a:off x="2544732" y="2736693"/>
            <a:ext cx="116353" cy="35974"/>
          </a:xfrm>
          <a:custGeom>
            <a:avLst/>
            <a:gdLst/>
            <a:ahLst/>
            <a:cxnLst/>
            <a:rect l="l" t="t" r="r" b="b"/>
            <a:pathLst>
              <a:path w="131444" h="40639">
                <a:moveTo>
                  <a:pt x="131364" y="0"/>
                </a:moveTo>
                <a:lnTo>
                  <a:pt x="119423" y="0"/>
                </a:lnTo>
                <a:lnTo>
                  <a:pt x="0" y="26869"/>
                </a:lnTo>
                <a:lnTo>
                  <a:pt x="0" y="40303"/>
                </a:lnTo>
                <a:lnTo>
                  <a:pt x="11941" y="40303"/>
                </a:lnTo>
                <a:lnTo>
                  <a:pt x="131364" y="13434"/>
                </a:lnTo>
                <a:lnTo>
                  <a:pt x="131364" y="0"/>
                </a:lnTo>
                <a:close/>
              </a:path>
            </a:pathLst>
          </a:custGeom>
          <a:solidFill>
            <a:srgbClr val="000000"/>
          </a:solidFill>
        </p:spPr>
        <p:txBody>
          <a:bodyPr wrap="square" lIns="0" tIns="0" rIns="0" bIns="0" rtlCol="0"/>
          <a:lstStyle/>
          <a:p>
            <a:endParaRPr sz="1593"/>
          </a:p>
        </p:txBody>
      </p:sp>
      <p:sp>
        <p:nvSpPr>
          <p:cNvPr id="265" name="object 265"/>
          <p:cNvSpPr/>
          <p:nvPr/>
        </p:nvSpPr>
        <p:spPr>
          <a:xfrm>
            <a:off x="2650443" y="273669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66" name="object 266"/>
          <p:cNvSpPr/>
          <p:nvPr/>
        </p:nvSpPr>
        <p:spPr>
          <a:xfrm>
            <a:off x="2650443" y="273669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67" name="object 267"/>
          <p:cNvSpPr/>
          <p:nvPr/>
        </p:nvSpPr>
        <p:spPr>
          <a:xfrm>
            <a:off x="2650443" y="273669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68" name="object 268"/>
          <p:cNvSpPr/>
          <p:nvPr/>
        </p:nvSpPr>
        <p:spPr>
          <a:xfrm>
            <a:off x="2650443" y="2736693"/>
            <a:ext cx="127033" cy="35974"/>
          </a:xfrm>
          <a:custGeom>
            <a:avLst/>
            <a:gdLst/>
            <a:ahLst/>
            <a:cxnLst/>
            <a:rect l="l" t="t" r="r" b="b"/>
            <a:pathLst>
              <a:path w="143510" h="40639">
                <a:moveTo>
                  <a:pt x="11941" y="0"/>
                </a:moveTo>
                <a:lnTo>
                  <a:pt x="0" y="0"/>
                </a:lnTo>
                <a:lnTo>
                  <a:pt x="0" y="13434"/>
                </a:lnTo>
                <a:lnTo>
                  <a:pt x="131366" y="40303"/>
                </a:lnTo>
                <a:lnTo>
                  <a:pt x="143308" y="40303"/>
                </a:lnTo>
                <a:lnTo>
                  <a:pt x="143308" y="26869"/>
                </a:lnTo>
                <a:lnTo>
                  <a:pt x="11941" y="0"/>
                </a:lnTo>
                <a:close/>
              </a:path>
            </a:pathLst>
          </a:custGeom>
          <a:solidFill>
            <a:srgbClr val="000000"/>
          </a:solidFill>
        </p:spPr>
        <p:txBody>
          <a:bodyPr wrap="square" lIns="0" tIns="0" rIns="0" bIns="0" rtlCol="0"/>
          <a:lstStyle/>
          <a:p>
            <a:endParaRPr sz="1593"/>
          </a:p>
        </p:txBody>
      </p:sp>
      <p:sp>
        <p:nvSpPr>
          <p:cNvPr id="269" name="object 269"/>
          <p:cNvSpPr/>
          <p:nvPr/>
        </p:nvSpPr>
        <p:spPr>
          <a:xfrm>
            <a:off x="2772012" y="276047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70" name="object 270"/>
          <p:cNvSpPr/>
          <p:nvPr/>
        </p:nvSpPr>
        <p:spPr>
          <a:xfrm>
            <a:off x="2766727" y="2760478"/>
            <a:ext cx="106235" cy="83752"/>
          </a:xfrm>
          <a:custGeom>
            <a:avLst/>
            <a:gdLst/>
            <a:ahLst/>
            <a:cxnLst/>
            <a:rect l="l" t="t" r="r" b="b"/>
            <a:pathLst>
              <a:path w="120014" h="94614">
                <a:moveTo>
                  <a:pt x="11941" y="0"/>
                </a:moveTo>
                <a:lnTo>
                  <a:pt x="0" y="0"/>
                </a:lnTo>
                <a:lnTo>
                  <a:pt x="0" y="13434"/>
                </a:lnTo>
                <a:lnTo>
                  <a:pt x="107480" y="94042"/>
                </a:lnTo>
                <a:lnTo>
                  <a:pt x="119423" y="94042"/>
                </a:lnTo>
                <a:lnTo>
                  <a:pt x="119423" y="80608"/>
                </a:lnTo>
                <a:lnTo>
                  <a:pt x="11941" y="0"/>
                </a:lnTo>
                <a:close/>
              </a:path>
            </a:pathLst>
          </a:custGeom>
          <a:solidFill>
            <a:srgbClr val="000000"/>
          </a:solidFill>
        </p:spPr>
        <p:txBody>
          <a:bodyPr wrap="square" lIns="0" tIns="0" rIns="0" bIns="0" rtlCol="0"/>
          <a:lstStyle/>
          <a:p>
            <a:endParaRPr sz="1593"/>
          </a:p>
        </p:txBody>
      </p:sp>
      <p:sp>
        <p:nvSpPr>
          <p:cNvPr id="271" name="object 271"/>
          <p:cNvSpPr/>
          <p:nvPr/>
        </p:nvSpPr>
        <p:spPr>
          <a:xfrm>
            <a:off x="2867152" y="283183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272" name="object 272"/>
          <p:cNvSpPr/>
          <p:nvPr/>
        </p:nvSpPr>
        <p:spPr>
          <a:xfrm>
            <a:off x="2861868" y="2831832"/>
            <a:ext cx="63516" cy="107360"/>
          </a:xfrm>
          <a:custGeom>
            <a:avLst/>
            <a:gdLst/>
            <a:ahLst/>
            <a:cxnLst/>
            <a:rect l="l" t="t" r="r" b="b"/>
            <a:pathLst>
              <a:path w="71754" h="121285">
                <a:moveTo>
                  <a:pt x="11943" y="0"/>
                </a:moveTo>
                <a:lnTo>
                  <a:pt x="0" y="0"/>
                </a:lnTo>
                <a:lnTo>
                  <a:pt x="0" y="13434"/>
                </a:lnTo>
                <a:lnTo>
                  <a:pt x="59711" y="120912"/>
                </a:lnTo>
                <a:lnTo>
                  <a:pt x="71654" y="120912"/>
                </a:lnTo>
                <a:lnTo>
                  <a:pt x="71654" y="107477"/>
                </a:lnTo>
                <a:lnTo>
                  <a:pt x="11943" y="0"/>
                </a:lnTo>
                <a:close/>
              </a:path>
            </a:pathLst>
          </a:custGeom>
          <a:solidFill>
            <a:srgbClr val="000000"/>
          </a:solidFill>
        </p:spPr>
        <p:txBody>
          <a:bodyPr wrap="square" lIns="0" tIns="0" rIns="0" bIns="0" rtlCol="0"/>
          <a:lstStyle/>
          <a:p>
            <a:endParaRPr sz="1593"/>
          </a:p>
        </p:txBody>
      </p:sp>
      <p:sp>
        <p:nvSpPr>
          <p:cNvPr id="273" name="object 273"/>
          <p:cNvSpPr/>
          <p:nvPr/>
        </p:nvSpPr>
        <p:spPr>
          <a:xfrm>
            <a:off x="2920009" y="292696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74" name="object 274"/>
          <p:cNvSpPr/>
          <p:nvPr/>
        </p:nvSpPr>
        <p:spPr>
          <a:xfrm>
            <a:off x="2914722" y="2926969"/>
            <a:ext cx="42719" cy="130968"/>
          </a:xfrm>
          <a:custGeom>
            <a:avLst/>
            <a:gdLst/>
            <a:ahLst/>
            <a:cxnLst/>
            <a:rect l="l" t="t" r="r" b="b"/>
            <a:pathLst>
              <a:path w="48260" h="147954">
                <a:moveTo>
                  <a:pt x="11943" y="0"/>
                </a:moveTo>
                <a:lnTo>
                  <a:pt x="0" y="0"/>
                </a:lnTo>
                <a:lnTo>
                  <a:pt x="0" y="13435"/>
                </a:lnTo>
                <a:lnTo>
                  <a:pt x="35827" y="147782"/>
                </a:lnTo>
                <a:lnTo>
                  <a:pt x="47769" y="147782"/>
                </a:lnTo>
                <a:lnTo>
                  <a:pt x="47769" y="134346"/>
                </a:lnTo>
                <a:lnTo>
                  <a:pt x="11943" y="0"/>
                </a:lnTo>
                <a:close/>
              </a:path>
            </a:pathLst>
          </a:custGeom>
          <a:solidFill>
            <a:srgbClr val="000000"/>
          </a:solidFill>
        </p:spPr>
        <p:txBody>
          <a:bodyPr wrap="square" lIns="0" tIns="0" rIns="0" bIns="0" rtlCol="0"/>
          <a:lstStyle/>
          <a:p>
            <a:endParaRPr sz="1593"/>
          </a:p>
        </p:txBody>
      </p:sp>
      <p:sp>
        <p:nvSpPr>
          <p:cNvPr id="275" name="object 275"/>
          <p:cNvSpPr/>
          <p:nvPr/>
        </p:nvSpPr>
        <p:spPr>
          <a:xfrm>
            <a:off x="2951722" y="304589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76" name="object 276"/>
          <p:cNvSpPr txBox="1"/>
          <p:nvPr/>
        </p:nvSpPr>
        <p:spPr>
          <a:xfrm>
            <a:off x="2459492" y="2951403"/>
            <a:ext cx="425504" cy="154907"/>
          </a:xfrm>
          <a:prstGeom prst="rect">
            <a:avLst/>
          </a:prstGeom>
        </p:spPr>
        <p:txBody>
          <a:bodyPr vert="horz" wrap="square" lIns="0" tIns="11804" rIns="0" bIns="0" rtlCol="0">
            <a:spAutoFit/>
          </a:bodyPr>
          <a:lstStyle/>
          <a:p>
            <a:pPr marL="11242">
              <a:spcBef>
                <a:spcPts val="93"/>
              </a:spcBef>
            </a:pPr>
            <a:r>
              <a:rPr sz="929" spc="-62" dirty="0">
                <a:latin typeface="Verdana"/>
                <a:cs typeface="Verdana"/>
              </a:rPr>
              <a:t>location</a:t>
            </a:r>
            <a:endParaRPr sz="929">
              <a:latin typeface="Verdana"/>
              <a:cs typeface="Verdana"/>
            </a:endParaRPr>
          </a:p>
        </p:txBody>
      </p:sp>
      <p:sp>
        <p:nvSpPr>
          <p:cNvPr id="277" name="object 277"/>
          <p:cNvSpPr/>
          <p:nvPr/>
        </p:nvSpPr>
        <p:spPr>
          <a:xfrm>
            <a:off x="3601849" y="4128082"/>
            <a:ext cx="1237166" cy="1355767"/>
          </a:xfrm>
          <a:custGeom>
            <a:avLst/>
            <a:gdLst/>
            <a:ahLst/>
            <a:cxnLst/>
            <a:rect l="l" t="t" r="r" b="b"/>
            <a:pathLst>
              <a:path w="1397635" h="1531620">
                <a:moveTo>
                  <a:pt x="704597" y="0"/>
                </a:moveTo>
                <a:lnTo>
                  <a:pt x="561289" y="13434"/>
                </a:lnTo>
                <a:lnTo>
                  <a:pt x="429924" y="67172"/>
                </a:lnTo>
                <a:lnTo>
                  <a:pt x="310501" y="134346"/>
                </a:lnTo>
                <a:lnTo>
                  <a:pt x="214961" y="228390"/>
                </a:lnTo>
                <a:lnTo>
                  <a:pt x="119423" y="335868"/>
                </a:lnTo>
                <a:lnTo>
                  <a:pt x="59711" y="470214"/>
                </a:lnTo>
                <a:lnTo>
                  <a:pt x="23884" y="617995"/>
                </a:lnTo>
                <a:lnTo>
                  <a:pt x="0" y="765778"/>
                </a:lnTo>
                <a:lnTo>
                  <a:pt x="23884" y="913560"/>
                </a:lnTo>
                <a:lnTo>
                  <a:pt x="59711" y="1061341"/>
                </a:lnTo>
                <a:lnTo>
                  <a:pt x="119423" y="1195689"/>
                </a:lnTo>
                <a:lnTo>
                  <a:pt x="214961" y="1303166"/>
                </a:lnTo>
                <a:lnTo>
                  <a:pt x="310501" y="1397209"/>
                </a:lnTo>
                <a:lnTo>
                  <a:pt x="429924" y="1477817"/>
                </a:lnTo>
                <a:lnTo>
                  <a:pt x="561289" y="1518122"/>
                </a:lnTo>
                <a:lnTo>
                  <a:pt x="704597" y="1531556"/>
                </a:lnTo>
                <a:lnTo>
                  <a:pt x="835963" y="1518122"/>
                </a:lnTo>
                <a:lnTo>
                  <a:pt x="967328" y="1477817"/>
                </a:lnTo>
                <a:lnTo>
                  <a:pt x="1086751" y="1397209"/>
                </a:lnTo>
                <a:lnTo>
                  <a:pt x="1194233" y="1303166"/>
                </a:lnTo>
                <a:lnTo>
                  <a:pt x="1277829" y="1195689"/>
                </a:lnTo>
                <a:lnTo>
                  <a:pt x="1337541" y="1061341"/>
                </a:lnTo>
                <a:lnTo>
                  <a:pt x="1385309" y="913560"/>
                </a:lnTo>
                <a:lnTo>
                  <a:pt x="1397252" y="765778"/>
                </a:lnTo>
                <a:lnTo>
                  <a:pt x="1385309" y="617995"/>
                </a:lnTo>
                <a:lnTo>
                  <a:pt x="1337541" y="470214"/>
                </a:lnTo>
                <a:lnTo>
                  <a:pt x="1277829" y="335868"/>
                </a:lnTo>
                <a:lnTo>
                  <a:pt x="1194233" y="228390"/>
                </a:lnTo>
                <a:lnTo>
                  <a:pt x="1086751" y="134346"/>
                </a:lnTo>
                <a:lnTo>
                  <a:pt x="967328" y="67172"/>
                </a:lnTo>
                <a:lnTo>
                  <a:pt x="835963" y="13434"/>
                </a:lnTo>
                <a:lnTo>
                  <a:pt x="704597" y="0"/>
                </a:lnTo>
                <a:close/>
              </a:path>
            </a:pathLst>
          </a:custGeom>
          <a:solidFill>
            <a:srgbClr val="000000"/>
          </a:solidFill>
        </p:spPr>
        <p:txBody>
          <a:bodyPr wrap="square" lIns="0" tIns="0" rIns="0" bIns="0" rtlCol="0"/>
          <a:lstStyle/>
          <a:p>
            <a:endParaRPr sz="1593"/>
          </a:p>
        </p:txBody>
      </p:sp>
      <p:sp>
        <p:nvSpPr>
          <p:cNvPr id="278" name="object 278"/>
          <p:cNvSpPr/>
          <p:nvPr/>
        </p:nvSpPr>
        <p:spPr>
          <a:xfrm>
            <a:off x="4828105" y="4805937"/>
            <a:ext cx="21360" cy="142772"/>
          </a:xfrm>
          <a:custGeom>
            <a:avLst/>
            <a:gdLst/>
            <a:ahLst/>
            <a:cxnLst/>
            <a:rect l="l" t="t" r="r" b="b"/>
            <a:pathLst>
              <a:path w="24129" h="161289">
                <a:moveTo>
                  <a:pt x="23884" y="0"/>
                </a:moveTo>
                <a:lnTo>
                  <a:pt x="11943" y="0"/>
                </a:lnTo>
                <a:lnTo>
                  <a:pt x="0" y="147782"/>
                </a:lnTo>
                <a:lnTo>
                  <a:pt x="0" y="161216"/>
                </a:lnTo>
                <a:lnTo>
                  <a:pt x="11943" y="161216"/>
                </a:lnTo>
                <a:lnTo>
                  <a:pt x="23884" y="13435"/>
                </a:lnTo>
                <a:lnTo>
                  <a:pt x="23884" y="0"/>
                </a:lnTo>
                <a:close/>
              </a:path>
            </a:pathLst>
          </a:custGeom>
          <a:solidFill>
            <a:srgbClr val="000000"/>
          </a:solidFill>
        </p:spPr>
        <p:txBody>
          <a:bodyPr wrap="square" lIns="0" tIns="0" rIns="0" bIns="0" rtlCol="0"/>
          <a:lstStyle/>
          <a:p>
            <a:endParaRPr sz="1593"/>
          </a:p>
        </p:txBody>
      </p:sp>
      <p:sp>
        <p:nvSpPr>
          <p:cNvPr id="279" name="object 279"/>
          <p:cNvSpPr/>
          <p:nvPr/>
        </p:nvSpPr>
        <p:spPr>
          <a:xfrm>
            <a:off x="4833390" y="493675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80" name="object 280"/>
          <p:cNvSpPr/>
          <p:nvPr/>
        </p:nvSpPr>
        <p:spPr>
          <a:xfrm>
            <a:off x="4785821" y="4936752"/>
            <a:ext cx="53399" cy="142772"/>
          </a:xfrm>
          <a:custGeom>
            <a:avLst/>
            <a:gdLst/>
            <a:ahLst/>
            <a:cxnLst/>
            <a:rect l="l" t="t" r="r" b="b"/>
            <a:pathLst>
              <a:path w="60325" h="161289">
                <a:moveTo>
                  <a:pt x="59711" y="0"/>
                </a:moveTo>
                <a:lnTo>
                  <a:pt x="47768" y="0"/>
                </a:lnTo>
                <a:lnTo>
                  <a:pt x="0" y="147781"/>
                </a:lnTo>
                <a:lnTo>
                  <a:pt x="0" y="161216"/>
                </a:lnTo>
                <a:lnTo>
                  <a:pt x="11941" y="161216"/>
                </a:lnTo>
                <a:lnTo>
                  <a:pt x="59711" y="13434"/>
                </a:lnTo>
                <a:lnTo>
                  <a:pt x="59711" y="0"/>
                </a:lnTo>
                <a:close/>
              </a:path>
            </a:pathLst>
          </a:custGeom>
          <a:solidFill>
            <a:srgbClr val="000000"/>
          </a:solidFill>
        </p:spPr>
        <p:txBody>
          <a:bodyPr wrap="square" lIns="0" tIns="0" rIns="0" bIns="0" rtlCol="0"/>
          <a:lstStyle/>
          <a:p>
            <a:endParaRPr sz="1593"/>
          </a:p>
        </p:txBody>
      </p:sp>
      <p:sp>
        <p:nvSpPr>
          <p:cNvPr id="281" name="object 281"/>
          <p:cNvSpPr/>
          <p:nvPr/>
        </p:nvSpPr>
        <p:spPr>
          <a:xfrm>
            <a:off x="4791106" y="506756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82" name="object 282"/>
          <p:cNvSpPr/>
          <p:nvPr/>
        </p:nvSpPr>
        <p:spPr>
          <a:xfrm>
            <a:off x="4732966" y="5067566"/>
            <a:ext cx="63516" cy="130968"/>
          </a:xfrm>
          <a:custGeom>
            <a:avLst/>
            <a:gdLst/>
            <a:ahLst/>
            <a:cxnLst/>
            <a:rect l="l" t="t" r="r" b="b"/>
            <a:pathLst>
              <a:path w="71754" h="147954">
                <a:moveTo>
                  <a:pt x="71653" y="0"/>
                </a:moveTo>
                <a:lnTo>
                  <a:pt x="59711" y="0"/>
                </a:lnTo>
                <a:lnTo>
                  <a:pt x="0" y="134347"/>
                </a:lnTo>
                <a:lnTo>
                  <a:pt x="0" y="147781"/>
                </a:lnTo>
                <a:lnTo>
                  <a:pt x="11941" y="147781"/>
                </a:lnTo>
                <a:lnTo>
                  <a:pt x="71653" y="13434"/>
                </a:lnTo>
                <a:lnTo>
                  <a:pt x="71653" y="0"/>
                </a:lnTo>
                <a:close/>
              </a:path>
            </a:pathLst>
          </a:custGeom>
          <a:solidFill>
            <a:srgbClr val="000000"/>
          </a:solidFill>
        </p:spPr>
        <p:txBody>
          <a:bodyPr wrap="square" lIns="0" tIns="0" rIns="0" bIns="0" rtlCol="0"/>
          <a:lstStyle/>
          <a:p>
            <a:endParaRPr sz="1593"/>
          </a:p>
        </p:txBody>
      </p:sp>
      <p:sp>
        <p:nvSpPr>
          <p:cNvPr id="283" name="object 283"/>
          <p:cNvSpPr/>
          <p:nvPr/>
        </p:nvSpPr>
        <p:spPr>
          <a:xfrm>
            <a:off x="4738251" y="518648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84" name="object 284"/>
          <p:cNvSpPr/>
          <p:nvPr/>
        </p:nvSpPr>
        <p:spPr>
          <a:xfrm>
            <a:off x="4658967" y="5186488"/>
            <a:ext cx="84876" cy="107360"/>
          </a:xfrm>
          <a:custGeom>
            <a:avLst/>
            <a:gdLst/>
            <a:ahLst/>
            <a:cxnLst/>
            <a:rect l="l" t="t" r="r" b="b"/>
            <a:pathLst>
              <a:path w="95885" h="121285">
                <a:moveTo>
                  <a:pt x="95538" y="0"/>
                </a:moveTo>
                <a:lnTo>
                  <a:pt x="83596" y="0"/>
                </a:lnTo>
                <a:lnTo>
                  <a:pt x="0" y="107477"/>
                </a:lnTo>
                <a:lnTo>
                  <a:pt x="0" y="120912"/>
                </a:lnTo>
                <a:lnTo>
                  <a:pt x="11941" y="120912"/>
                </a:lnTo>
                <a:lnTo>
                  <a:pt x="95538" y="13434"/>
                </a:lnTo>
                <a:lnTo>
                  <a:pt x="95538" y="0"/>
                </a:lnTo>
                <a:close/>
              </a:path>
            </a:pathLst>
          </a:custGeom>
          <a:solidFill>
            <a:srgbClr val="000000"/>
          </a:solidFill>
        </p:spPr>
        <p:txBody>
          <a:bodyPr wrap="square" lIns="0" tIns="0" rIns="0" bIns="0" rtlCol="0"/>
          <a:lstStyle/>
          <a:p>
            <a:endParaRPr sz="1593"/>
          </a:p>
        </p:txBody>
      </p:sp>
      <p:sp>
        <p:nvSpPr>
          <p:cNvPr id="285" name="object 285"/>
          <p:cNvSpPr/>
          <p:nvPr/>
        </p:nvSpPr>
        <p:spPr>
          <a:xfrm>
            <a:off x="4664252" y="528162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86" name="object 286"/>
          <p:cNvSpPr/>
          <p:nvPr/>
        </p:nvSpPr>
        <p:spPr>
          <a:xfrm>
            <a:off x="4563826" y="5281625"/>
            <a:ext cx="106235" cy="95556"/>
          </a:xfrm>
          <a:custGeom>
            <a:avLst/>
            <a:gdLst/>
            <a:ahLst/>
            <a:cxnLst/>
            <a:rect l="l" t="t" r="r" b="b"/>
            <a:pathLst>
              <a:path w="120014" h="107950">
                <a:moveTo>
                  <a:pt x="119423" y="0"/>
                </a:moveTo>
                <a:lnTo>
                  <a:pt x="107481" y="0"/>
                </a:lnTo>
                <a:lnTo>
                  <a:pt x="0" y="94042"/>
                </a:lnTo>
                <a:lnTo>
                  <a:pt x="0" y="107477"/>
                </a:lnTo>
                <a:lnTo>
                  <a:pt x="11941" y="107477"/>
                </a:lnTo>
                <a:lnTo>
                  <a:pt x="119423" y="13434"/>
                </a:lnTo>
                <a:lnTo>
                  <a:pt x="119423" y="0"/>
                </a:lnTo>
                <a:close/>
              </a:path>
            </a:pathLst>
          </a:custGeom>
          <a:solidFill>
            <a:srgbClr val="000000"/>
          </a:solidFill>
        </p:spPr>
        <p:txBody>
          <a:bodyPr wrap="square" lIns="0" tIns="0" rIns="0" bIns="0" rtlCol="0"/>
          <a:lstStyle/>
          <a:p>
            <a:endParaRPr sz="1593"/>
          </a:p>
        </p:txBody>
      </p:sp>
      <p:sp>
        <p:nvSpPr>
          <p:cNvPr id="287" name="object 287"/>
          <p:cNvSpPr/>
          <p:nvPr/>
        </p:nvSpPr>
        <p:spPr>
          <a:xfrm>
            <a:off x="4569111" y="536487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88" name="object 288"/>
          <p:cNvSpPr/>
          <p:nvPr/>
        </p:nvSpPr>
        <p:spPr>
          <a:xfrm>
            <a:off x="4458115" y="5364871"/>
            <a:ext cx="116353" cy="83752"/>
          </a:xfrm>
          <a:custGeom>
            <a:avLst/>
            <a:gdLst/>
            <a:ahLst/>
            <a:cxnLst/>
            <a:rect l="l" t="t" r="r" b="b"/>
            <a:pathLst>
              <a:path w="131445" h="94614">
                <a:moveTo>
                  <a:pt x="131364" y="0"/>
                </a:moveTo>
                <a:lnTo>
                  <a:pt x="119423" y="0"/>
                </a:lnTo>
                <a:lnTo>
                  <a:pt x="0" y="80608"/>
                </a:lnTo>
                <a:lnTo>
                  <a:pt x="0" y="94042"/>
                </a:lnTo>
                <a:lnTo>
                  <a:pt x="11941" y="94042"/>
                </a:lnTo>
                <a:lnTo>
                  <a:pt x="131364" y="13434"/>
                </a:lnTo>
                <a:lnTo>
                  <a:pt x="131364" y="0"/>
                </a:lnTo>
                <a:close/>
              </a:path>
            </a:pathLst>
          </a:custGeom>
          <a:solidFill>
            <a:srgbClr val="000000"/>
          </a:solidFill>
        </p:spPr>
        <p:txBody>
          <a:bodyPr wrap="square" lIns="0" tIns="0" rIns="0" bIns="0" rtlCol="0"/>
          <a:lstStyle/>
          <a:p>
            <a:endParaRPr sz="1593"/>
          </a:p>
        </p:txBody>
      </p:sp>
      <p:sp>
        <p:nvSpPr>
          <p:cNvPr id="289" name="object 289"/>
          <p:cNvSpPr/>
          <p:nvPr/>
        </p:nvSpPr>
        <p:spPr>
          <a:xfrm>
            <a:off x="4463400" y="543622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90" name="object 290"/>
          <p:cNvSpPr/>
          <p:nvPr/>
        </p:nvSpPr>
        <p:spPr>
          <a:xfrm>
            <a:off x="4341832" y="5436224"/>
            <a:ext cx="127033" cy="47778"/>
          </a:xfrm>
          <a:custGeom>
            <a:avLst/>
            <a:gdLst/>
            <a:ahLst/>
            <a:cxnLst/>
            <a:rect l="l" t="t" r="r" b="b"/>
            <a:pathLst>
              <a:path w="143510" h="53975">
                <a:moveTo>
                  <a:pt x="143306" y="0"/>
                </a:moveTo>
                <a:lnTo>
                  <a:pt x="131364" y="0"/>
                </a:lnTo>
                <a:lnTo>
                  <a:pt x="0" y="40304"/>
                </a:lnTo>
                <a:lnTo>
                  <a:pt x="0" y="53738"/>
                </a:lnTo>
                <a:lnTo>
                  <a:pt x="11941" y="53738"/>
                </a:lnTo>
                <a:lnTo>
                  <a:pt x="143306" y="13434"/>
                </a:lnTo>
                <a:lnTo>
                  <a:pt x="143306" y="0"/>
                </a:lnTo>
                <a:close/>
              </a:path>
            </a:pathLst>
          </a:custGeom>
          <a:solidFill>
            <a:srgbClr val="000000"/>
          </a:solidFill>
        </p:spPr>
        <p:txBody>
          <a:bodyPr wrap="square" lIns="0" tIns="0" rIns="0" bIns="0" rtlCol="0"/>
          <a:lstStyle/>
          <a:p>
            <a:endParaRPr sz="1593"/>
          </a:p>
        </p:txBody>
      </p:sp>
      <p:sp>
        <p:nvSpPr>
          <p:cNvPr id="291" name="object 291"/>
          <p:cNvSpPr/>
          <p:nvPr/>
        </p:nvSpPr>
        <p:spPr>
          <a:xfrm>
            <a:off x="4347116" y="547190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92" name="object 292"/>
          <p:cNvSpPr/>
          <p:nvPr/>
        </p:nvSpPr>
        <p:spPr>
          <a:xfrm>
            <a:off x="4225549" y="5471901"/>
            <a:ext cx="127033" cy="24170"/>
          </a:xfrm>
          <a:custGeom>
            <a:avLst/>
            <a:gdLst/>
            <a:ahLst/>
            <a:cxnLst/>
            <a:rect l="l" t="t" r="r" b="b"/>
            <a:pathLst>
              <a:path w="143510" h="27304">
                <a:moveTo>
                  <a:pt x="143308" y="0"/>
                </a:moveTo>
                <a:lnTo>
                  <a:pt x="131366" y="0"/>
                </a:lnTo>
                <a:lnTo>
                  <a:pt x="0" y="13434"/>
                </a:lnTo>
                <a:lnTo>
                  <a:pt x="0" y="26869"/>
                </a:lnTo>
                <a:lnTo>
                  <a:pt x="11941" y="26869"/>
                </a:lnTo>
                <a:lnTo>
                  <a:pt x="143308" y="13434"/>
                </a:lnTo>
                <a:lnTo>
                  <a:pt x="143308" y="0"/>
                </a:lnTo>
                <a:close/>
              </a:path>
            </a:pathLst>
          </a:custGeom>
          <a:solidFill>
            <a:srgbClr val="000000"/>
          </a:solidFill>
        </p:spPr>
        <p:txBody>
          <a:bodyPr wrap="square" lIns="0" tIns="0" rIns="0" bIns="0" rtlCol="0"/>
          <a:lstStyle/>
          <a:p>
            <a:endParaRPr sz="1593"/>
          </a:p>
        </p:txBody>
      </p:sp>
      <p:sp>
        <p:nvSpPr>
          <p:cNvPr id="293" name="object 293"/>
          <p:cNvSpPr/>
          <p:nvPr/>
        </p:nvSpPr>
        <p:spPr>
          <a:xfrm>
            <a:off x="4225549" y="548379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94" name="object 294"/>
          <p:cNvSpPr/>
          <p:nvPr/>
        </p:nvSpPr>
        <p:spPr>
          <a:xfrm>
            <a:off x="4225549" y="548379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95" name="object 295"/>
          <p:cNvSpPr/>
          <p:nvPr/>
        </p:nvSpPr>
        <p:spPr>
          <a:xfrm>
            <a:off x="4225549" y="548379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296" name="object 296"/>
          <p:cNvSpPr/>
          <p:nvPr/>
        </p:nvSpPr>
        <p:spPr>
          <a:xfrm>
            <a:off x="4098695" y="5471901"/>
            <a:ext cx="137713" cy="24170"/>
          </a:xfrm>
          <a:custGeom>
            <a:avLst/>
            <a:gdLst/>
            <a:ahLst/>
            <a:cxnLst/>
            <a:rect l="l" t="t" r="r" b="b"/>
            <a:pathLst>
              <a:path w="155575" h="27304">
                <a:moveTo>
                  <a:pt x="11941" y="0"/>
                </a:moveTo>
                <a:lnTo>
                  <a:pt x="0" y="0"/>
                </a:lnTo>
                <a:lnTo>
                  <a:pt x="0" y="13434"/>
                </a:lnTo>
                <a:lnTo>
                  <a:pt x="143308" y="26869"/>
                </a:lnTo>
                <a:lnTo>
                  <a:pt x="155249" y="26869"/>
                </a:lnTo>
                <a:lnTo>
                  <a:pt x="155249" y="13434"/>
                </a:lnTo>
                <a:lnTo>
                  <a:pt x="11941" y="0"/>
                </a:lnTo>
                <a:close/>
              </a:path>
            </a:pathLst>
          </a:custGeom>
          <a:solidFill>
            <a:srgbClr val="000000"/>
          </a:solidFill>
        </p:spPr>
        <p:txBody>
          <a:bodyPr wrap="square" lIns="0" tIns="0" rIns="0" bIns="0" rtlCol="0"/>
          <a:lstStyle/>
          <a:p>
            <a:endParaRPr sz="1593"/>
          </a:p>
        </p:txBody>
      </p:sp>
      <p:sp>
        <p:nvSpPr>
          <p:cNvPr id="297" name="object 297"/>
          <p:cNvSpPr/>
          <p:nvPr/>
        </p:nvSpPr>
        <p:spPr>
          <a:xfrm>
            <a:off x="4103980" y="547190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298" name="object 298"/>
          <p:cNvSpPr/>
          <p:nvPr/>
        </p:nvSpPr>
        <p:spPr>
          <a:xfrm>
            <a:off x="3982411" y="5436224"/>
            <a:ext cx="127033" cy="47778"/>
          </a:xfrm>
          <a:custGeom>
            <a:avLst/>
            <a:gdLst/>
            <a:ahLst/>
            <a:cxnLst/>
            <a:rect l="l" t="t" r="r" b="b"/>
            <a:pathLst>
              <a:path w="143510" h="53975">
                <a:moveTo>
                  <a:pt x="11941" y="0"/>
                </a:moveTo>
                <a:lnTo>
                  <a:pt x="0" y="0"/>
                </a:lnTo>
                <a:lnTo>
                  <a:pt x="0" y="13434"/>
                </a:lnTo>
                <a:lnTo>
                  <a:pt x="131364" y="53738"/>
                </a:lnTo>
                <a:lnTo>
                  <a:pt x="143306" y="53738"/>
                </a:lnTo>
                <a:lnTo>
                  <a:pt x="143306" y="40304"/>
                </a:lnTo>
                <a:lnTo>
                  <a:pt x="11941" y="0"/>
                </a:lnTo>
                <a:close/>
              </a:path>
            </a:pathLst>
          </a:custGeom>
          <a:solidFill>
            <a:srgbClr val="000000"/>
          </a:solidFill>
        </p:spPr>
        <p:txBody>
          <a:bodyPr wrap="square" lIns="0" tIns="0" rIns="0" bIns="0" rtlCol="0"/>
          <a:lstStyle/>
          <a:p>
            <a:endParaRPr sz="1593"/>
          </a:p>
        </p:txBody>
      </p:sp>
      <p:sp>
        <p:nvSpPr>
          <p:cNvPr id="299" name="object 299"/>
          <p:cNvSpPr/>
          <p:nvPr/>
        </p:nvSpPr>
        <p:spPr>
          <a:xfrm>
            <a:off x="3987697" y="543622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00" name="object 300"/>
          <p:cNvSpPr/>
          <p:nvPr/>
        </p:nvSpPr>
        <p:spPr>
          <a:xfrm>
            <a:off x="3876700" y="5364871"/>
            <a:ext cx="116353" cy="83752"/>
          </a:xfrm>
          <a:custGeom>
            <a:avLst/>
            <a:gdLst/>
            <a:ahLst/>
            <a:cxnLst/>
            <a:rect l="l" t="t" r="r" b="b"/>
            <a:pathLst>
              <a:path w="131445" h="94614">
                <a:moveTo>
                  <a:pt x="11941" y="0"/>
                </a:moveTo>
                <a:lnTo>
                  <a:pt x="0" y="0"/>
                </a:lnTo>
                <a:lnTo>
                  <a:pt x="0" y="13434"/>
                </a:lnTo>
                <a:lnTo>
                  <a:pt x="119423" y="94042"/>
                </a:lnTo>
                <a:lnTo>
                  <a:pt x="131364" y="94042"/>
                </a:lnTo>
                <a:lnTo>
                  <a:pt x="131364" y="80608"/>
                </a:lnTo>
                <a:lnTo>
                  <a:pt x="11941" y="0"/>
                </a:lnTo>
                <a:close/>
              </a:path>
            </a:pathLst>
          </a:custGeom>
          <a:solidFill>
            <a:srgbClr val="000000"/>
          </a:solidFill>
        </p:spPr>
        <p:txBody>
          <a:bodyPr wrap="square" lIns="0" tIns="0" rIns="0" bIns="0" rtlCol="0"/>
          <a:lstStyle/>
          <a:p>
            <a:endParaRPr sz="1593"/>
          </a:p>
        </p:txBody>
      </p:sp>
      <p:sp>
        <p:nvSpPr>
          <p:cNvPr id="301" name="object 301"/>
          <p:cNvSpPr/>
          <p:nvPr/>
        </p:nvSpPr>
        <p:spPr>
          <a:xfrm>
            <a:off x="3881985" y="536487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02" name="object 302"/>
          <p:cNvSpPr/>
          <p:nvPr/>
        </p:nvSpPr>
        <p:spPr>
          <a:xfrm>
            <a:off x="3792130" y="5281625"/>
            <a:ext cx="95556" cy="95556"/>
          </a:xfrm>
          <a:custGeom>
            <a:avLst/>
            <a:gdLst/>
            <a:ahLst/>
            <a:cxnLst/>
            <a:rect l="l" t="t" r="r" b="b"/>
            <a:pathLst>
              <a:path w="107950" h="107950">
                <a:moveTo>
                  <a:pt x="11943" y="0"/>
                </a:moveTo>
                <a:lnTo>
                  <a:pt x="0" y="0"/>
                </a:lnTo>
                <a:lnTo>
                  <a:pt x="0" y="13434"/>
                </a:lnTo>
                <a:lnTo>
                  <a:pt x="95539" y="107477"/>
                </a:lnTo>
                <a:lnTo>
                  <a:pt x="107481" y="107477"/>
                </a:lnTo>
                <a:lnTo>
                  <a:pt x="107481" y="94042"/>
                </a:lnTo>
                <a:lnTo>
                  <a:pt x="11943" y="0"/>
                </a:lnTo>
                <a:close/>
              </a:path>
            </a:pathLst>
          </a:custGeom>
          <a:solidFill>
            <a:srgbClr val="000000"/>
          </a:solidFill>
        </p:spPr>
        <p:txBody>
          <a:bodyPr wrap="square" lIns="0" tIns="0" rIns="0" bIns="0" rtlCol="0"/>
          <a:lstStyle/>
          <a:p>
            <a:endParaRPr sz="1593"/>
          </a:p>
        </p:txBody>
      </p:sp>
      <p:sp>
        <p:nvSpPr>
          <p:cNvPr id="303" name="object 303"/>
          <p:cNvSpPr/>
          <p:nvPr/>
        </p:nvSpPr>
        <p:spPr>
          <a:xfrm>
            <a:off x="3797416" y="528162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04" name="object 304"/>
          <p:cNvSpPr/>
          <p:nvPr/>
        </p:nvSpPr>
        <p:spPr>
          <a:xfrm>
            <a:off x="3707561" y="5186488"/>
            <a:ext cx="95556" cy="107360"/>
          </a:xfrm>
          <a:custGeom>
            <a:avLst/>
            <a:gdLst/>
            <a:ahLst/>
            <a:cxnLst/>
            <a:rect l="l" t="t" r="r" b="b"/>
            <a:pathLst>
              <a:path w="107950" h="121285">
                <a:moveTo>
                  <a:pt x="11941" y="0"/>
                </a:moveTo>
                <a:lnTo>
                  <a:pt x="0" y="0"/>
                </a:lnTo>
                <a:lnTo>
                  <a:pt x="0" y="13434"/>
                </a:lnTo>
                <a:lnTo>
                  <a:pt x="95538" y="120912"/>
                </a:lnTo>
                <a:lnTo>
                  <a:pt x="107481" y="120912"/>
                </a:lnTo>
                <a:lnTo>
                  <a:pt x="107481" y="107477"/>
                </a:lnTo>
                <a:lnTo>
                  <a:pt x="11941" y="0"/>
                </a:lnTo>
                <a:close/>
              </a:path>
            </a:pathLst>
          </a:custGeom>
          <a:solidFill>
            <a:srgbClr val="000000"/>
          </a:solidFill>
        </p:spPr>
        <p:txBody>
          <a:bodyPr wrap="square" lIns="0" tIns="0" rIns="0" bIns="0" rtlCol="0"/>
          <a:lstStyle/>
          <a:p>
            <a:endParaRPr sz="1593"/>
          </a:p>
        </p:txBody>
      </p:sp>
      <p:sp>
        <p:nvSpPr>
          <p:cNvPr id="305" name="object 305"/>
          <p:cNvSpPr/>
          <p:nvPr/>
        </p:nvSpPr>
        <p:spPr>
          <a:xfrm>
            <a:off x="3712846" y="518648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06" name="object 306"/>
          <p:cNvSpPr/>
          <p:nvPr/>
        </p:nvSpPr>
        <p:spPr>
          <a:xfrm>
            <a:off x="3654706" y="5067566"/>
            <a:ext cx="63516" cy="130968"/>
          </a:xfrm>
          <a:custGeom>
            <a:avLst/>
            <a:gdLst/>
            <a:ahLst/>
            <a:cxnLst/>
            <a:rect l="l" t="t" r="r" b="b"/>
            <a:pathLst>
              <a:path w="71754" h="147954">
                <a:moveTo>
                  <a:pt x="11941" y="0"/>
                </a:moveTo>
                <a:lnTo>
                  <a:pt x="0" y="0"/>
                </a:lnTo>
                <a:lnTo>
                  <a:pt x="0" y="13434"/>
                </a:lnTo>
                <a:lnTo>
                  <a:pt x="59711" y="147781"/>
                </a:lnTo>
                <a:lnTo>
                  <a:pt x="71653" y="147781"/>
                </a:lnTo>
                <a:lnTo>
                  <a:pt x="71653" y="134347"/>
                </a:lnTo>
                <a:lnTo>
                  <a:pt x="11941" y="0"/>
                </a:lnTo>
                <a:close/>
              </a:path>
            </a:pathLst>
          </a:custGeom>
          <a:solidFill>
            <a:srgbClr val="000000"/>
          </a:solidFill>
        </p:spPr>
        <p:txBody>
          <a:bodyPr wrap="square" lIns="0" tIns="0" rIns="0" bIns="0" rtlCol="0"/>
          <a:lstStyle/>
          <a:p>
            <a:endParaRPr sz="1593"/>
          </a:p>
        </p:txBody>
      </p:sp>
      <p:sp>
        <p:nvSpPr>
          <p:cNvPr id="307" name="object 307"/>
          <p:cNvSpPr/>
          <p:nvPr/>
        </p:nvSpPr>
        <p:spPr>
          <a:xfrm>
            <a:off x="3659991" y="506756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08" name="object 308"/>
          <p:cNvSpPr/>
          <p:nvPr/>
        </p:nvSpPr>
        <p:spPr>
          <a:xfrm>
            <a:off x="3622992" y="4936752"/>
            <a:ext cx="42719" cy="142772"/>
          </a:xfrm>
          <a:custGeom>
            <a:avLst/>
            <a:gdLst/>
            <a:ahLst/>
            <a:cxnLst/>
            <a:rect l="l" t="t" r="r" b="b"/>
            <a:pathLst>
              <a:path w="48260" h="161289">
                <a:moveTo>
                  <a:pt x="11941" y="0"/>
                </a:moveTo>
                <a:lnTo>
                  <a:pt x="0" y="0"/>
                </a:lnTo>
                <a:lnTo>
                  <a:pt x="0" y="13434"/>
                </a:lnTo>
                <a:lnTo>
                  <a:pt x="35826" y="161216"/>
                </a:lnTo>
                <a:lnTo>
                  <a:pt x="47768" y="161216"/>
                </a:lnTo>
                <a:lnTo>
                  <a:pt x="47768" y="147781"/>
                </a:lnTo>
                <a:lnTo>
                  <a:pt x="11941" y="0"/>
                </a:lnTo>
                <a:close/>
              </a:path>
            </a:pathLst>
          </a:custGeom>
          <a:solidFill>
            <a:srgbClr val="000000"/>
          </a:solidFill>
        </p:spPr>
        <p:txBody>
          <a:bodyPr wrap="square" lIns="0" tIns="0" rIns="0" bIns="0" rtlCol="0"/>
          <a:lstStyle/>
          <a:p>
            <a:endParaRPr sz="1593"/>
          </a:p>
        </p:txBody>
      </p:sp>
      <p:sp>
        <p:nvSpPr>
          <p:cNvPr id="309" name="object 309"/>
          <p:cNvSpPr/>
          <p:nvPr/>
        </p:nvSpPr>
        <p:spPr>
          <a:xfrm>
            <a:off x="3628277" y="493675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10" name="object 310"/>
          <p:cNvSpPr/>
          <p:nvPr/>
        </p:nvSpPr>
        <p:spPr>
          <a:xfrm>
            <a:off x="3601850" y="4805937"/>
            <a:ext cx="32039" cy="142772"/>
          </a:xfrm>
          <a:custGeom>
            <a:avLst/>
            <a:gdLst/>
            <a:ahLst/>
            <a:cxnLst/>
            <a:rect l="l" t="t" r="r" b="b"/>
            <a:pathLst>
              <a:path w="36195" h="161289">
                <a:moveTo>
                  <a:pt x="11941" y="0"/>
                </a:moveTo>
                <a:lnTo>
                  <a:pt x="0" y="0"/>
                </a:lnTo>
                <a:lnTo>
                  <a:pt x="0" y="13435"/>
                </a:lnTo>
                <a:lnTo>
                  <a:pt x="23884" y="161216"/>
                </a:lnTo>
                <a:lnTo>
                  <a:pt x="35826" y="161216"/>
                </a:lnTo>
                <a:lnTo>
                  <a:pt x="35826" y="147782"/>
                </a:lnTo>
                <a:lnTo>
                  <a:pt x="11941" y="0"/>
                </a:lnTo>
                <a:close/>
              </a:path>
            </a:pathLst>
          </a:custGeom>
          <a:solidFill>
            <a:srgbClr val="000000"/>
          </a:solidFill>
        </p:spPr>
        <p:txBody>
          <a:bodyPr wrap="square" lIns="0" tIns="0" rIns="0" bIns="0" rtlCol="0"/>
          <a:lstStyle/>
          <a:p>
            <a:endParaRPr sz="1593"/>
          </a:p>
        </p:txBody>
      </p:sp>
      <p:sp>
        <p:nvSpPr>
          <p:cNvPr id="311" name="object 311"/>
          <p:cNvSpPr/>
          <p:nvPr/>
        </p:nvSpPr>
        <p:spPr>
          <a:xfrm>
            <a:off x="3601849" y="480593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12" name="object 312"/>
          <p:cNvSpPr/>
          <p:nvPr/>
        </p:nvSpPr>
        <p:spPr>
          <a:xfrm>
            <a:off x="3601849" y="480593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13" name="object 313"/>
          <p:cNvSpPr/>
          <p:nvPr/>
        </p:nvSpPr>
        <p:spPr>
          <a:xfrm>
            <a:off x="3601849" y="480593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14" name="object 314"/>
          <p:cNvSpPr/>
          <p:nvPr/>
        </p:nvSpPr>
        <p:spPr>
          <a:xfrm>
            <a:off x="3601850" y="4675122"/>
            <a:ext cx="32039" cy="142772"/>
          </a:xfrm>
          <a:custGeom>
            <a:avLst/>
            <a:gdLst/>
            <a:ahLst/>
            <a:cxnLst/>
            <a:rect l="l" t="t" r="r" b="b"/>
            <a:pathLst>
              <a:path w="36195" h="161289">
                <a:moveTo>
                  <a:pt x="35826" y="0"/>
                </a:moveTo>
                <a:lnTo>
                  <a:pt x="23884" y="0"/>
                </a:lnTo>
                <a:lnTo>
                  <a:pt x="0" y="147782"/>
                </a:lnTo>
                <a:lnTo>
                  <a:pt x="0" y="161217"/>
                </a:lnTo>
                <a:lnTo>
                  <a:pt x="11941" y="161217"/>
                </a:lnTo>
                <a:lnTo>
                  <a:pt x="35826" y="13435"/>
                </a:lnTo>
                <a:lnTo>
                  <a:pt x="35826" y="0"/>
                </a:lnTo>
                <a:close/>
              </a:path>
            </a:pathLst>
          </a:custGeom>
          <a:solidFill>
            <a:srgbClr val="000000"/>
          </a:solidFill>
        </p:spPr>
        <p:txBody>
          <a:bodyPr wrap="square" lIns="0" tIns="0" rIns="0" bIns="0" rtlCol="0"/>
          <a:lstStyle/>
          <a:p>
            <a:endParaRPr sz="1593"/>
          </a:p>
        </p:txBody>
      </p:sp>
      <p:sp>
        <p:nvSpPr>
          <p:cNvPr id="315" name="object 315"/>
          <p:cNvSpPr/>
          <p:nvPr/>
        </p:nvSpPr>
        <p:spPr>
          <a:xfrm>
            <a:off x="3628277" y="467512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16" name="object 316"/>
          <p:cNvSpPr/>
          <p:nvPr/>
        </p:nvSpPr>
        <p:spPr>
          <a:xfrm>
            <a:off x="3622992" y="4544309"/>
            <a:ext cx="42719" cy="142772"/>
          </a:xfrm>
          <a:custGeom>
            <a:avLst/>
            <a:gdLst/>
            <a:ahLst/>
            <a:cxnLst/>
            <a:rect l="l" t="t" r="r" b="b"/>
            <a:pathLst>
              <a:path w="48260" h="161289">
                <a:moveTo>
                  <a:pt x="47768" y="0"/>
                </a:moveTo>
                <a:lnTo>
                  <a:pt x="35826" y="0"/>
                </a:lnTo>
                <a:lnTo>
                  <a:pt x="0" y="147781"/>
                </a:lnTo>
                <a:lnTo>
                  <a:pt x="0" y="161216"/>
                </a:lnTo>
                <a:lnTo>
                  <a:pt x="11941" y="161216"/>
                </a:lnTo>
                <a:lnTo>
                  <a:pt x="47768" y="13434"/>
                </a:lnTo>
                <a:lnTo>
                  <a:pt x="47768" y="0"/>
                </a:lnTo>
                <a:close/>
              </a:path>
            </a:pathLst>
          </a:custGeom>
          <a:solidFill>
            <a:srgbClr val="000000"/>
          </a:solidFill>
        </p:spPr>
        <p:txBody>
          <a:bodyPr wrap="square" lIns="0" tIns="0" rIns="0" bIns="0" rtlCol="0"/>
          <a:lstStyle/>
          <a:p>
            <a:endParaRPr sz="1593"/>
          </a:p>
        </p:txBody>
      </p:sp>
      <p:sp>
        <p:nvSpPr>
          <p:cNvPr id="317" name="object 317"/>
          <p:cNvSpPr/>
          <p:nvPr/>
        </p:nvSpPr>
        <p:spPr>
          <a:xfrm>
            <a:off x="3659991" y="454430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18" name="object 318"/>
          <p:cNvSpPr/>
          <p:nvPr/>
        </p:nvSpPr>
        <p:spPr>
          <a:xfrm>
            <a:off x="3654706" y="4425387"/>
            <a:ext cx="63516" cy="130968"/>
          </a:xfrm>
          <a:custGeom>
            <a:avLst/>
            <a:gdLst/>
            <a:ahLst/>
            <a:cxnLst/>
            <a:rect l="l" t="t" r="r" b="b"/>
            <a:pathLst>
              <a:path w="71754" h="147954">
                <a:moveTo>
                  <a:pt x="71653" y="0"/>
                </a:moveTo>
                <a:lnTo>
                  <a:pt x="59711" y="0"/>
                </a:lnTo>
                <a:lnTo>
                  <a:pt x="0" y="134346"/>
                </a:lnTo>
                <a:lnTo>
                  <a:pt x="0" y="147781"/>
                </a:lnTo>
                <a:lnTo>
                  <a:pt x="11941" y="147781"/>
                </a:lnTo>
                <a:lnTo>
                  <a:pt x="71653" y="13434"/>
                </a:lnTo>
                <a:lnTo>
                  <a:pt x="71653" y="0"/>
                </a:lnTo>
                <a:close/>
              </a:path>
            </a:pathLst>
          </a:custGeom>
          <a:solidFill>
            <a:srgbClr val="000000"/>
          </a:solidFill>
        </p:spPr>
        <p:txBody>
          <a:bodyPr wrap="square" lIns="0" tIns="0" rIns="0" bIns="0" rtlCol="0"/>
          <a:lstStyle/>
          <a:p>
            <a:endParaRPr sz="1593"/>
          </a:p>
        </p:txBody>
      </p:sp>
      <p:sp>
        <p:nvSpPr>
          <p:cNvPr id="319" name="object 319"/>
          <p:cNvSpPr/>
          <p:nvPr/>
        </p:nvSpPr>
        <p:spPr>
          <a:xfrm>
            <a:off x="3712846" y="442538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20" name="object 320"/>
          <p:cNvSpPr/>
          <p:nvPr/>
        </p:nvSpPr>
        <p:spPr>
          <a:xfrm>
            <a:off x="3707561" y="4330250"/>
            <a:ext cx="95556" cy="107360"/>
          </a:xfrm>
          <a:custGeom>
            <a:avLst/>
            <a:gdLst/>
            <a:ahLst/>
            <a:cxnLst/>
            <a:rect l="l" t="t" r="r" b="b"/>
            <a:pathLst>
              <a:path w="107950" h="121285">
                <a:moveTo>
                  <a:pt x="107481" y="0"/>
                </a:moveTo>
                <a:lnTo>
                  <a:pt x="95538" y="0"/>
                </a:lnTo>
                <a:lnTo>
                  <a:pt x="0" y="107477"/>
                </a:lnTo>
                <a:lnTo>
                  <a:pt x="0" y="120911"/>
                </a:lnTo>
                <a:lnTo>
                  <a:pt x="11941" y="120911"/>
                </a:lnTo>
                <a:lnTo>
                  <a:pt x="107481" y="13434"/>
                </a:lnTo>
                <a:lnTo>
                  <a:pt x="107481" y="0"/>
                </a:lnTo>
                <a:close/>
              </a:path>
            </a:pathLst>
          </a:custGeom>
          <a:solidFill>
            <a:srgbClr val="000000"/>
          </a:solidFill>
        </p:spPr>
        <p:txBody>
          <a:bodyPr wrap="square" lIns="0" tIns="0" rIns="0" bIns="0" rtlCol="0"/>
          <a:lstStyle/>
          <a:p>
            <a:endParaRPr sz="1593"/>
          </a:p>
        </p:txBody>
      </p:sp>
      <p:sp>
        <p:nvSpPr>
          <p:cNvPr id="321" name="object 321"/>
          <p:cNvSpPr/>
          <p:nvPr/>
        </p:nvSpPr>
        <p:spPr>
          <a:xfrm>
            <a:off x="3797416" y="433024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22" name="object 322"/>
          <p:cNvSpPr/>
          <p:nvPr/>
        </p:nvSpPr>
        <p:spPr>
          <a:xfrm>
            <a:off x="3792130" y="4247003"/>
            <a:ext cx="95556" cy="95556"/>
          </a:xfrm>
          <a:custGeom>
            <a:avLst/>
            <a:gdLst/>
            <a:ahLst/>
            <a:cxnLst/>
            <a:rect l="l" t="t" r="r" b="b"/>
            <a:pathLst>
              <a:path w="107950" h="107950">
                <a:moveTo>
                  <a:pt x="107481" y="0"/>
                </a:moveTo>
                <a:lnTo>
                  <a:pt x="95539" y="0"/>
                </a:lnTo>
                <a:lnTo>
                  <a:pt x="0" y="94043"/>
                </a:lnTo>
                <a:lnTo>
                  <a:pt x="0" y="107477"/>
                </a:lnTo>
                <a:lnTo>
                  <a:pt x="11943" y="107477"/>
                </a:lnTo>
                <a:lnTo>
                  <a:pt x="107481" y="13435"/>
                </a:lnTo>
                <a:lnTo>
                  <a:pt x="107481" y="0"/>
                </a:lnTo>
                <a:close/>
              </a:path>
            </a:pathLst>
          </a:custGeom>
          <a:solidFill>
            <a:srgbClr val="000000"/>
          </a:solidFill>
        </p:spPr>
        <p:txBody>
          <a:bodyPr wrap="square" lIns="0" tIns="0" rIns="0" bIns="0" rtlCol="0"/>
          <a:lstStyle/>
          <a:p>
            <a:endParaRPr sz="1593"/>
          </a:p>
        </p:txBody>
      </p:sp>
      <p:sp>
        <p:nvSpPr>
          <p:cNvPr id="323" name="object 323"/>
          <p:cNvSpPr/>
          <p:nvPr/>
        </p:nvSpPr>
        <p:spPr>
          <a:xfrm>
            <a:off x="3881985" y="42470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24" name="object 324"/>
          <p:cNvSpPr/>
          <p:nvPr/>
        </p:nvSpPr>
        <p:spPr>
          <a:xfrm>
            <a:off x="3876700" y="4187542"/>
            <a:ext cx="116353" cy="71386"/>
          </a:xfrm>
          <a:custGeom>
            <a:avLst/>
            <a:gdLst/>
            <a:ahLst/>
            <a:cxnLst/>
            <a:rect l="l" t="t" r="r" b="b"/>
            <a:pathLst>
              <a:path w="131445" h="80645">
                <a:moveTo>
                  <a:pt x="131364" y="0"/>
                </a:moveTo>
                <a:lnTo>
                  <a:pt x="119423" y="0"/>
                </a:lnTo>
                <a:lnTo>
                  <a:pt x="0" y="67174"/>
                </a:lnTo>
                <a:lnTo>
                  <a:pt x="0" y="80609"/>
                </a:lnTo>
                <a:lnTo>
                  <a:pt x="11941" y="80609"/>
                </a:lnTo>
                <a:lnTo>
                  <a:pt x="131364" y="13435"/>
                </a:lnTo>
                <a:lnTo>
                  <a:pt x="131364" y="0"/>
                </a:lnTo>
                <a:close/>
              </a:path>
            </a:pathLst>
          </a:custGeom>
          <a:solidFill>
            <a:srgbClr val="000000"/>
          </a:solidFill>
        </p:spPr>
        <p:txBody>
          <a:bodyPr wrap="square" lIns="0" tIns="0" rIns="0" bIns="0" rtlCol="0"/>
          <a:lstStyle/>
          <a:p>
            <a:endParaRPr sz="1593"/>
          </a:p>
        </p:txBody>
      </p:sp>
      <p:sp>
        <p:nvSpPr>
          <p:cNvPr id="325" name="object 325"/>
          <p:cNvSpPr/>
          <p:nvPr/>
        </p:nvSpPr>
        <p:spPr>
          <a:xfrm>
            <a:off x="3987697" y="418754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26" name="object 326"/>
          <p:cNvSpPr/>
          <p:nvPr/>
        </p:nvSpPr>
        <p:spPr>
          <a:xfrm>
            <a:off x="3982411" y="4139973"/>
            <a:ext cx="127033" cy="59582"/>
          </a:xfrm>
          <a:custGeom>
            <a:avLst/>
            <a:gdLst/>
            <a:ahLst/>
            <a:cxnLst/>
            <a:rect l="l" t="t" r="r" b="b"/>
            <a:pathLst>
              <a:path w="143510" h="67310">
                <a:moveTo>
                  <a:pt x="143306" y="0"/>
                </a:moveTo>
                <a:lnTo>
                  <a:pt x="131364" y="0"/>
                </a:lnTo>
                <a:lnTo>
                  <a:pt x="0" y="53738"/>
                </a:lnTo>
                <a:lnTo>
                  <a:pt x="0" y="67174"/>
                </a:lnTo>
                <a:lnTo>
                  <a:pt x="11941" y="67174"/>
                </a:lnTo>
                <a:lnTo>
                  <a:pt x="143306" y="13435"/>
                </a:lnTo>
                <a:lnTo>
                  <a:pt x="143306" y="0"/>
                </a:lnTo>
                <a:close/>
              </a:path>
            </a:pathLst>
          </a:custGeom>
          <a:solidFill>
            <a:srgbClr val="000000"/>
          </a:solidFill>
        </p:spPr>
        <p:txBody>
          <a:bodyPr wrap="square" lIns="0" tIns="0" rIns="0" bIns="0" rtlCol="0"/>
          <a:lstStyle/>
          <a:p>
            <a:endParaRPr sz="1593"/>
          </a:p>
        </p:txBody>
      </p:sp>
      <p:sp>
        <p:nvSpPr>
          <p:cNvPr id="327" name="object 327"/>
          <p:cNvSpPr/>
          <p:nvPr/>
        </p:nvSpPr>
        <p:spPr>
          <a:xfrm>
            <a:off x="4103980" y="413997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28" name="object 328"/>
          <p:cNvSpPr/>
          <p:nvPr/>
        </p:nvSpPr>
        <p:spPr>
          <a:xfrm>
            <a:off x="4098695" y="4128082"/>
            <a:ext cx="137713" cy="24170"/>
          </a:xfrm>
          <a:custGeom>
            <a:avLst/>
            <a:gdLst/>
            <a:ahLst/>
            <a:cxnLst/>
            <a:rect l="l" t="t" r="r" b="b"/>
            <a:pathLst>
              <a:path w="155575" h="27304">
                <a:moveTo>
                  <a:pt x="155249" y="0"/>
                </a:moveTo>
                <a:lnTo>
                  <a:pt x="143308" y="0"/>
                </a:lnTo>
                <a:lnTo>
                  <a:pt x="0" y="13434"/>
                </a:lnTo>
                <a:lnTo>
                  <a:pt x="0" y="26869"/>
                </a:lnTo>
                <a:lnTo>
                  <a:pt x="11941" y="26869"/>
                </a:lnTo>
                <a:lnTo>
                  <a:pt x="155249" y="13434"/>
                </a:lnTo>
                <a:lnTo>
                  <a:pt x="155249" y="0"/>
                </a:lnTo>
                <a:close/>
              </a:path>
            </a:pathLst>
          </a:custGeom>
          <a:solidFill>
            <a:srgbClr val="000000"/>
          </a:solidFill>
        </p:spPr>
        <p:txBody>
          <a:bodyPr wrap="square" lIns="0" tIns="0" rIns="0" bIns="0" rtlCol="0"/>
          <a:lstStyle/>
          <a:p>
            <a:endParaRPr sz="1593"/>
          </a:p>
        </p:txBody>
      </p:sp>
      <p:sp>
        <p:nvSpPr>
          <p:cNvPr id="329" name="object 329"/>
          <p:cNvSpPr/>
          <p:nvPr/>
        </p:nvSpPr>
        <p:spPr>
          <a:xfrm>
            <a:off x="4225549" y="412808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30" name="object 330"/>
          <p:cNvSpPr/>
          <p:nvPr/>
        </p:nvSpPr>
        <p:spPr>
          <a:xfrm>
            <a:off x="4225549" y="412808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31" name="object 331"/>
          <p:cNvSpPr/>
          <p:nvPr/>
        </p:nvSpPr>
        <p:spPr>
          <a:xfrm>
            <a:off x="4225549" y="412808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32" name="object 332"/>
          <p:cNvSpPr/>
          <p:nvPr/>
        </p:nvSpPr>
        <p:spPr>
          <a:xfrm>
            <a:off x="4225549" y="4128082"/>
            <a:ext cx="127033" cy="24170"/>
          </a:xfrm>
          <a:custGeom>
            <a:avLst/>
            <a:gdLst/>
            <a:ahLst/>
            <a:cxnLst/>
            <a:rect l="l" t="t" r="r" b="b"/>
            <a:pathLst>
              <a:path w="143510" h="27304">
                <a:moveTo>
                  <a:pt x="11941" y="0"/>
                </a:moveTo>
                <a:lnTo>
                  <a:pt x="0" y="0"/>
                </a:lnTo>
                <a:lnTo>
                  <a:pt x="0" y="13434"/>
                </a:lnTo>
                <a:lnTo>
                  <a:pt x="131366" y="26869"/>
                </a:lnTo>
                <a:lnTo>
                  <a:pt x="143308" y="26869"/>
                </a:lnTo>
                <a:lnTo>
                  <a:pt x="143308" y="13434"/>
                </a:lnTo>
                <a:lnTo>
                  <a:pt x="11941" y="0"/>
                </a:lnTo>
                <a:close/>
              </a:path>
            </a:pathLst>
          </a:custGeom>
          <a:solidFill>
            <a:srgbClr val="000000"/>
          </a:solidFill>
        </p:spPr>
        <p:txBody>
          <a:bodyPr wrap="square" lIns="0" tIns="0" rIns="0" bIns="0" rtlCol="0"/>
          <a:lstStyle/>
          <a:p>
            <a:endParaRPr sz="1593"/>
          </a:p>
        </p:txBody>
      </p:sp>
      <p:sp>
        <p:nvSpPr>
          <p:cNvPr id="333" name="object 333"/>
          <p:cNvSpPr/>
          <p:nvPr/>
        </p:nvSpPr>
        <p:spPr>
          <a:xfrm>
            <a:off x="4347116" y="413997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34" name="object 334"/>
          <p:cNvSpPr/>
          <p:nvPr/>
        </p:nvSpPr>
        <p:spPr>
          <a:xfrm>
            <a:off x="4341832" y="4139973"/>
            <a:ext cx="127033" cy="59582"/>
          </a:xfrm>
          <a:custGeom>
            <a:avLst/>
            <a:gdLst/>
            <a:ahLst/>
            <a:cxnLst/>
            <a:rect l="l" t="t" r="r" b="b"/>
            <a:pathLst>
              <a:path w="143510" h="67310">
                <a:moveTo>
                  <a:pt x="11941" y="0"/>
                </a:moveTo>
                <a:lnTo>
                  <a:pt x="0" y="0"/>
                </a:lnTo>
                <a:lnTo>
                  <a:pt x="0" y="13435"/>
                </a:lnTo>
                <a:lnTo>
                  <a:pt x="131364" y="67174"/>
                </a:lnTo>
                <a:lnTo>
                  <a:pt x="143306" y="67174"/>
                </a:lnTo>
                <a:lnTo>
                  <a:pt x="143306" y="53738"/>
                </a:lnTo>
                <a:lnTo>
                  <a:pt x="11941" y="0"/>
                </a:lnTo>
                <a:close/>
              </a:path>
            </a:pathLst>
          </a:custGeom>
          <a:solidFill>
            <a:srgbClr val="000000"/>
          </a:solidFill>
        </p:spPr>
        <p:txBody>
          <a:bodyPr wrap="square" lIns="0" tIns="0" rIns="0" bIns="0" rtlCol="0"/>
          <a:lstStyle/>
          <a:p>
            <a:endParaRPr sz="1593"/>
          </a:p>
        </p:txBody>
      </p:sp>
      <p:sp>
        <p:nvSpPr>
          <p:cNvPr id="335" name="object 335"/>
          <p:cNvSpPr/>
          <p:nvPr/>
        </p:nvSpPr>
        <p:spPr>
          <a:xfrm>
            <a:off x="4463400" y="418754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36" name="object 336"/>
          <p:cNvSpPr/>
          <p:nvPr/>
        </p:nvSpPr>
        <p:spPr>
          <a:xfrm>
            <a:off x="4458115" y="4187542"/>
            <a:ext cx="116353" cy="71386"/>
          </a:xfrm>
          <a:custGeom>
            <a:avLst/>
            <a:gdLst/>
            <a:ahLst/>
            <a:cxnLst/>
            <a:rect l="l" t="t" r="r" b="b"/>
            <a:pathLst>
              <a:path w="131445" h="80645">
                <a:moveTo>
                  <a:pt x="11941" y="0"/>
                </a:moveTo>
                <a:lnTo>
                  <a:pt x="0" y="0"/>
                </a:lnTo>
                <a:lnTo>
                  <a:pt x="0" y="13435"/>
                </a:lnTo>
                <a:lnTo>
                  <a:pt x="119423" y="80609"/>
                </a:lnTo>
                <a:lnTo>
                  <a:pt x="131364" y="80609"/>
                </a:lnTo>
                <a:lnTo>
                  <a:pt x="131364" y="67174"/>
                </a:lnTo>
                <a:lnTo>
                  <a:pt x="11941" y="0"/>
                </a:lnTo>
                <a:close/>
              </a:path>
            </a:pathLst>
          </a:custGeom>
          <a:solidFill>
            <a:srgbClr val="000000"/>
          </a:solidFill>
        </p:spPr>
        <p:txBody>
          <a:bodyPr wrap="square" lIns="0" tIns="0" rIns="0" bIns="0" rtlCol="0"/>
          <a:lstStyle/>
          <a:p>
            <a:endParaRPr sz="1593"/>
          </a:p>
        </p:txBody>
      </p:sp>
      <p:sp>
        <p:nvSpPr>
          <p:cNvPr id="337" name="object 337"/>
          <p:cNvSpPr/>
          <p:nvPr/>
        </p:nvSpPr>
        <p:spPr>
          <a:xfrm>
            <a:off x="4569111" y="42470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38" name="object 338"/>
          <p:cNvSpPr/>
          <p:nvPr/>
        </p:nvSpPr>
        <p:spPr>
          <a:xfrm>
            <a:off x="4563826" y="4247003"/>
            <a:ext cx="106235" cy="95556"/>
          </a:xfrm>
          <a:custGeom>
            <a:avLst/>
            <a:gdLst/>
            <a:ahLst/>
            <a:cxnLst/>
            <a:rect l="l" t="t" r="r" b="b"/>
            <a:pathLst>
              <a:path w="120014" h="107950">
                <a:moveTo>
                  <a:pt x="11941" y="0"/>
                </a:moveTo>
                <a:lnTo>
                  <a:pt x="0" y="0"/>
                </a:lnTo>
                <a:lnTo>
                  <a:pt x="0" y="13435"/>
                </a:lnTo>
                <a:lnTo>
                  <a:pt x="107481" y="107477"/>
                </a:lnTo>
                <a:lnTo>
                  <a:pt x="119423" y="107477"/>
                </a:lnTo>
                <a:lnTo>
                  <a:pt x="119423" y="94043"/>
                </a:lnTo>
                <a:lnTo>
                  <a:pt x="11941" y="0"/>
                </a:lnTo>
                <a:close/>
              </a:path>
            </a:pathLst>
          </a:custGeom>
          <a:solidFill>
            <a:srgbClr val="000000"/>
          </a:solidFill>
        </p:spPr>
        <p:txBody>
          <a:bodyPr wrap="square" lIns="0" tIns="0" rIns="0" bIns="0" rtlCol="0"/>
          <a:lstStyle/>
          <a:p>
            <a:endParaRPr sz="1593"/>
          </a:p>
        </p:txBody>
      </p:sp>
      <p:sp>
        <p:nvSpPr>
          <p:cNvPr id="339" name="object 339"/>
          <p:cNvSpPr/>
          <p:nvPr/>
        </p:nvSpPr>
        <p:spPr>
          <a:xfrm>
            <a:off x="4664252" y="433024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40" name="object 340"/>
          <p:cNvSpPr/>
          <p:nvPr/>
        </p:nvSpPr>
        <p:spPr>
          <a:xfrm>
            <a:off x="4658967" y="4330250"/>
            <a:ext cx="84876" cy="107360"/>
          </a:xfrm>
          <a:custGeom>
            <a:avLst/>
            <a:gdLst/>
            <a:ahLst/>
            <a:cxnLst/>
            <a:rect l="l" t="t" r="r" b="b"/>
            <a:pathLst>
              <a:path w="95885" h="121285">
                <a:moveTo>
                  <a:pt x="11941" y="0"/>
                </a:moveTo>
                <a:lnTo>
                  <a:pt x="0" y="0"/>
                </a:lnTo>
                <a:lnTo>
                  <a:pt x="0" y="13434"/>
                </a:lnTo>
                <a:lnTo>
                  <a:pt x="83596" y="120911"/>
                </a:lnTo>
                <a:lnTo>
                  <a:pt x="95538" y="120911"/>
                </a:lnTo>
                <a:lnTo>
                  <a:pt x="95538" y="107477"/>
                </a:lnTo>
                <a:lnTo>
                  <a:pt x="11941" y="0"/>
                </a:lnTo>
                <a:close/>
              </a:path>
            </a:pathLst>
          </a:custGeom>
          <a:solidFill>
            <a:srgbClr val="000000"/>
          </a:solidFill>
        </p:spPr>
        <p:txBody>
          <a:bodyPr wrap="square" lIns="0" tIns="0" rIns="0" bIns="0" rtlCol="0"/>
          <a:lstStyle/>
          <a:p>
            <a:endParaRPr sz="1593"/>
          </a:p>
        </p:txBody>
      </p:sp>
      <p:sp>
        <p:nvSpPr>
          <p:cNvPr id="341" name="object 341"/>
          <p:cNvSpPr/>
          <p:nvPr/>
        </p:nvSpPr>
        <p:spPr>
          <a:xfrm>
            <a:off x="4738251" y="442538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42" name="object 342"/>
          <p:cNvSpPr/>
          <p:nvPr/>
        </p:nvSpPr>
        <p:spPr>
          <a:xfrm>
            <a:off x="4732966" y="4425387"/>
            <a:ext cx="63516" cy="130968"/>
          </a:xfrm>
          <a:custGeom>
            <a:avLst/>
            <a:gdLst/>
            <a:ahLst/>
            <a:cxnLst/>
            <a:rect l="l" t="t" r="r" b="b"/>
            <a:pathLst>
              <a:path w="71754" h="147954">
                <a:moveTo>
                  <a:pt x="11941" y="0"/>
                </a:moveTo>
                <a:lnTo>
                  <a:pt x="0" y="0"/>
                </a:lnTo>
                <a:lnTo>
                  <a:pt x="0" y="13434"/>
                </a:lnTo>
                <a:lnTo>
                  <a:pt x="59711" y="147781"/>
                </a:lnTo>
                <a:lnTo>
                  <a:pt x="71653" y="147781"/>
                </a:lnTo>
                <a:lnTo>
                  <a:pt x="71653" y="134346"/>
                </a:lnTo>
                <a:lnTo>
                  <a:pt x="11941" y="0"/>
                </a:lnTo>
                <a:close/>
              </a:path>
            </a:pathLst>
          </a:custGeom>
          <a:solidFill>
            <a:srgbClr val="000000"/>
          </a:solidFill>
        </p:spPr>
        <p:txBody>
          <a:bodyPr wrap="square" lIns="0" tIns="0" rIns="0" bIns="0" rtlCol="0"/>
          <a:lstStyle/>
          <a:p>
            <a:endParaRPr sz="1593"/>
          </a:p>
        </p:txBody>
      </p:sp>
      <p:sp>
        <p:nvSpPr>
          <p:cNvPr id="343" name="object 343"/>
          <p:cNvSpPr/>
          <p:nvPr/>
        </p:nvSpPr>
        <p:spPr>
          <a:xfrm>
            <a:off x="4791106" y="454430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44" name="object 344"/>
          <p:cNvSpPr/>
          <p:nvPr/>
        </p:nvSpPr>
        <p:spPr>
          <a:xfrm>
            <a:off x="4785821" y="4544309"/>
            <a:ext cx="53399" cy="142772"/>
          </a:xfrm>
          <a:custGeom>
            <a:avLst/>
            <a:gdLst/>
            <a:ahLst/>
            <a:cxnLst/>
            <a:rect l="l" t="t" r="r" b="b"/>
            <a:pathLst>
              <a:path w="60325" h="161289">
                <a:moveTo>
                  <a:pt x="11941" y="0"/>
                </a:moveTo>
                <a:lnTo>
                  <a:pt x="0" y="0"/>
                </a:lnTo>
                <a:lnTo>
                  <a:pt x="0" y="13434"/>
                </a:lnTo>
                <a:lnTo>
                  <a:pt x="47768" y="161216"/>
                </a:lnTo>
                <a:lnTo>
                  <a:pt x="59711" y="161216"/>
                </a:lnTo>
                <a:lnTo>
                  <a:pt x="59711" y="147781"/>
                </a:lnTo>
                <a:lnTo>
                  <a:pt x="11941" y="0"/>
                </a:lnTo>
                <a:close/>
              </a:path>
            </a:pathLst>
          </a:custGeom>
          <a:solidFill>
            <a:srgbClr val="000000"/>
          </a:solidFill>
        </p:spPr>
        <p:txBody>
          <a:bodyPr wrap="square" lIns="0" tIns="0" rIns="0" bIns="0" rtlCol="0"/>
          <a:lstStyle/>
          <a:p>
            <a:endParaRPr sz="1593"/>
          </a:p>
        </p:txBody>
      </p:sp>
      <p:sp>
        <p:nvSpPr>
          <p:cNvPr id="345" name="object 345"/>
          <p:cNvSpPr/>
          <p:nvPr/>
        </p:nvSpPr>
        <p:spPr>
          <a:xfrm>
            <a:off x="4833390" y="467512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46" name="object 346"/>
          <p:cNvSpPr/>
          <p:nvPr/>
        </p:nvSpPr>
        <p:spPr>
          <a:xfrm>
            <a:off x="4828105" y="4675122"/>
            <a:ext cx="21360" cy="142772"/>
          </a:xfrm>
          <a:custGeom>
            <a:avLst/>
            <a:gdLst/>
            <a:ahLst/>
            <a:cxnLst/>
            <a:rect l="l" t="t" r="r" b="b"/>
            <a:pathLst>
              <a:path w="24129" h="161289">
                <a:moveTo>
                  <a:pt x="11943" y="0"/>
                </a:moveTo>
                <a:lnTo>
                  <a:pt x="0" y="0"/>
                </a:lnTo>
                <a:lnTo>
                  <a:pt x="0" y="13435"/>
                </a:lnTo>
                <a:lnTo>
                  <a:pt x="11943" y="161217"/>
                </a:lnTo>
                <a:lnTo>
                  <a:pt x="23884" y="161217"/>
                </a:lnTo>
                <a:lnTo>
                  <a:pt x="23884" y="147782"/>
                </a:lnTo>
                <a:lnTo>
                  <a:pt x="11943" y="0"/>
                </a:lnTo>
                <a:close/>
              </a:path>
            </a:pathLst>
          </a:custGeom>
          <a:solidFill>
            <a:srgbClr val="000000"/>
          </a:solidFill>
        </p:spPr>
        <p:txBody>
          <a:bodyPr wrap="square" lIns="0" tIns="0" rIns="0" bIns="0" rtlCol="0"/>
          <a:lstStyle/>
          <a:p>
            <a:endParaRPr sz="1593"/>
          </a:p>
        </p:txBody>
      </p:sp>
      <p:sp>
        <p:nvSpPr>
          <p:cNvPr id="347" name="object 347"/>
          <p:cNvSpPr/>
          <p:nvPr/>
        </p:nvSpPr>
        <p:spPr>
          <a:xfrm>
            <a:off x="4843962" y="480593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48" name="object 348"/>
          <p:cNvSpPr/>
          <p:nvPr/>
        </p:nvSpPr>
        <p:spPr>
          <a:xfrm>
            <a:off x="3559565" y="4092404"/>
            <a:ext cx="1226486" cy="1355767"/>
          </a:xfrm>
          <a:custGeom>
            <a:avLst/>
            <a:gdLst/>
            <a:ahLst/>
            <a:cxnLst/>
            <a:rect l="l" t="t" r="r" b="b"/>
            <a:pathLst>
              <a:path w="1385570" h="1531620">
                <a:moveTo>
                  <a:pt x="692655" y="0"/>
                </a:moveTo>
                <a:lnTo>
                  <a:pt x="549347" y="13435"/>
                </a:lnTo>
                <a:lnTo>
                  <a:pt x="417981" y="67174"/>
                </a:lnTo>
                <a:lnTo>
                  <a:pt x="298557" y="134346"/>
                </a:lnTo>
                <a:lnTo>
                  <a:pt x="203019" y="228390"/>
                </a:lnTo>
                <a:lnTo>
                  <a:pt x="119423" y="335868"/>
                </a:lnTo>
                <a:lnTo>
                  <a:pt x="47769" y="470214"/>
                </a:lnTo>
                <a:lnTo>
                  <a:pt x="11943" y="617997"/>
                </a:lnTo>
                <a:lnTo>
                  <a:pt x="0" y="765779"/>
                </a:lnTo>
                <a:lnTo>
                  <a:pt x="11943" y="926995"/>
                </a:lnTo>
                <a:lnTo>
                  <a:pt x="47769" y="1061342"/>
                </a:lnTo>
                <a:lnTo>
                  <a:pt x="119423" y="1195689"/>
                </a:lnTo>
                <a:lnTo>
                  <a:pt x="203019" y="1303167"/>
                </a:lnTo>
                <a:lnTo>
                  <a:pt x="298557" y="1397210"/>
                </a:lnTo>
                <a:lnTo>
                  <a:pt x="417981" y="1477818"/>
                </a:lnTo>
                <a:lnTo>
                  <a:pt x="549347" y="1518122"/>
                </a:lnTo>
                <a:lnTo>
                  <a:pt x="692655" y="1531557"/>
                </a:lnTo>
                <a:lnTo>
                  <a:pt x="835963" y="1518122"/>
                </a:lnTo>
                <a:lnTo>
                  <a:pt x="967328" y="1477818"/>
                </a:lnTo>
                <a:lnTo>
                  <a:pt x="1074809" y="1397210"/>
                </a:lnTo>
                <a:lnTo>
                  <a:pt x="1182291" y="1303167"/>
                </a:lnTo>
                <a:lnTo>
                  <a:pt x="1265887" y="1195689"/>
                </a:lnTo>
                <a:lnTo>
                  <a:pt x="1337541" y="1061342"/>
                </a:lnTo>
                <a:lnTo>
                  <a:pt x="1373367" y="926995"/>
                </a:lnTo>
                <a:lnTo>
                  <a:pt x="1385310" y="765779"/>
                </a:lnTo>
                <a:lnTo>
                  <a:pt x="1373367" y="617997"/>
                </a:lnTo>
                <a:lnTo>
                  <a:pt x="1337541" y="470214"/>
                </a:lnTo>
                <a:lnTo>
                  <a:pt x="1265887" y="335868"/>
                </a:lnTo>
                <a:lnTo>
                  <a:pt x="1182291" y="228390"/>
                </a:lnTo>
                <a:lnTo>
                  <a:pt x="1074809" y="134346"/>
                </a:lnTo>
                <a:lnTo>
                  <a:pt x="967328" y="67174"/>
                </a:lnTo>
                <a:lnTo>
                  <a:pt x="835963" y="13435"/>
                </a:lnTo>
                <a:lnTo>
                  <a:pt x="692655" y="0"/>
                </a:lnTo>
                <a:close/>
              </a:path>
            </a:pathLst>
          </a:custGeom>
          <a:solidFill>
            <a:srgbClr val="DBDBDB"/>
          </a:solidFill>
        </p:spPr>
        <p:txBody>
          <a:bodyPr wrap="square" lIns="0" tIns="0" rIns="0" bIns="0" rtlCol="0"/>
          <a:lstStyle/>
          <a:p>
            <a:endParaRPr sz="1593"/>
          </a:p>
        </p:txBody>
      </p:sp>
      <p:sp>
        <p:nvSpPr>
          <p:cNvPr id="349" name="object 349"/>
          <p:cNvSpPr/>
          <p:nvPr/>
        </p:nvSpPr>
        <p:spPr>
          <a:xfrm>
            <a:off x="4775248" y="4770261"/>
            <a:ext cx="21360" cy="155138"/>
          </a:xfrm>
          <a:custGeom>
            <a:avLst/>
            <a:gdLst/>
            <a:ahLst/>
            <a:cxnLst/>
            <a:rect l="l" t="t" r="r" b="b"/>
            <a:pathLst>
              <a:path w="24129" h="175260">
                <a:moveTo>
                  <a:pt x="23884" y="0"/>
                </a:moveTo>
                <a:lnTo>
                  <a:pt x="11943" y="0"/>
                </a:lnTo>
                <a:lnTo>
                  <a:pt x="0" y="161216"/>
                </a:lnTo>
                <a:lnTo>
                  <a:pt x="0" y="174650"/>
                </a:lnTo>
                <a:lnTo>
                  <a:pt x="11943" y="174650"/>
                </a:lnTo>
                <a:lnTo>
                  <a:pt x="23884" y="13434"/>
                </a:lnTo>
                <a:lnTo>
                  <a:pt x="23884" y="0"/>
                </a:lnTo>
                <a:close/>
              </a:path>
            </a:pathLst>
          </a:custGeom>
          <a:solidFill>
            <a:srgbClr val="000000"/>
          </a:solidFill>
        </p:spPr>
        <p:txBody>
          <a:bodyPr wrap="square" lIns="0" tIns="0" rIns="0" bIns="0" rtlCol="0"/>
          <a:lstStyle/>
          <a:p>
            <a:endParaRPr sz="1593"/>
          </a:p>
        </p:txBody>
      </p:sp>
      <p:sp>
        <p:nvSpPr>
          <p:cNvPr id="350" name="object 350"/>
          <p:cNvSpPr/>
          <p:nvPr/>
        </p:nvSpPr>
        <p:spPr>
          <a:xfrm>
            <a:off x="4780535" y="491296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51" name="object 351"/>
          <p:cNvSpPr/>
          <p:nvPr/>
        </p:nvSpPr>
        <p:spPr>
          <a:xfrm>
            <a:off x="4743535" y="4912968"/>
            <a:ext cx="42719" cy="130968"/>
          </a:xfrm>
          <a:custGeom>
            <a:avLst/>
            <a:gdLst/>
            <a:ahLst/>
            <a:cxnLst/>
            <a:rect l="l" t="t" r="r" b="b"/>
            <a:pathLst>
              <a:path w="48260" h="147954">
                <a:moveTo>
                  <a:pt x="47769" y="0"/>
                </a:moveTo>
                <a:lnTo>
                  <a:pt x="35826" y="0"/>
                </a:lnTo>
                <a:lnTo>
                  <a:pt x="0" y="134346"/>
                </a:lnTo>
                <a:lnTo>
                  <a:pt x="0" y="147781"/>
                </a:lnTo>
                <a:lnTo>
                  <a:pt x="11941" y="147781"/>
                </a:lnTo>
                <a:lnTo>
                  <a:pt x="47769" y="13434"/>
                </a:lnTo>
                <a:lnTo>
                  <a:pt x="47769" y="0"/>
                </a:lnTo>
                <a:close/>
              </a:path>
            </a:pathLst>
          </a:custGeom>
          <a:solidFill>
            <a:srgbClr val="000000"/>
          </a:solidFill>
        </p:spPr>
        <p:txBody>
          <a:bodyPr wrap="square" lIns="0" tIns="0" rIns="0" bIns="0" rtlCol="0"/>
          <a:lstStyle/>
          <a:p>
            <a:endParaRPr sz="1593"/>
          </a:p>
        </p:txBody>
      </p:sp>
      <p:sp>
        <p:nvSpPr>
          <p:cNvPr id="352" name="object 352"/>
          <p:cNvSpPr/>
          <p:nvPr/>
        </p:nvSpPr>
        <p:spPr>
          <a:xfrm>
            <a:off x="4748822" y="503188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53" name="object 353"/>
          <p:cNvSpPr/>
          <p:nvPr/>
        </p:nvSpPr>
        <p:spPr>
          <a:xfrm>
            <a:off x="4680109" y="5031889"/>
            <a:ext cx="74196" cy="130968"/>
          </a:xfrm>
          <a:custGeom>
            <a:avLst/>
            <a:gdLst/>
            <a:ahLst/>
            <a:cxnLst/>
            <a:rect l="l" t="t" r="r" b="b"/>
            <a:pathLst>
              <a:path w="83820" h="147954">
                <a:moveTo>
                  <a:pt x="83595" y="0"/>
                </a:moveTo>
                <a:lnTo>
                  <a:pt x="71653" y="0"/>
                </a:lnTo>
                <a:lnTo>
                  <a:pt x="0" y="134347"/>
                </a:lnTo>
                <a:lnTo>
                  <a:pt x="0" y="147781"/>
                </a:lnTo>
                <a:lnTo>
                  <a:pt x="11941" y="147781"/>
                </a:lnTo>
                <a:lnTo>
                  <a:pt x="83595" y="13434"/>
                </a:lnTo>
                <a:lnTo>
                  <a:pt x="83595" y="0"/>
                </a:lnTo>
                <a:close/>
              </a:path>
            </a:pathLst>
          </a:custGeom>
          <a:solidFill>
            <a:srgbClr val="000000"/>
          </a:solidFill>
        </p:spPr>
        <p:txBody>
          <a:bodyPr wrap="square" lIns="0" tIns="0" rIns="0" bIns="0" rtlCol="0"/>
          <a:lstStyle/>
          <a:p>
            <a:endParaRPr sz="1593"/>
          </a:p>
        </p:txBody>
      </p:sp>
      <p:sp>
        <p:nvSpPr>
          <p:cNvPr id="354" name="object 354"/>
          <p:cNvSpPr/>
          <p:nvPr/>
        </p:nvSpPr>
        <p:spPr>
          <a:xfrm>
            <a:off x="4685394" y="51508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55" name="object 355"/>
          <p:cNvSpPr/>
          <p:nvPr/>
        </p:nvSpPr>
        <p:spPr>
          <a:xfrm>
            <a:off x="4606111" y="5150811"/>
            <a:ext cx="84876" cy="107360"/>
          </a:xfrm>
          <a:custGeom>
            <a:avLst/>
            <a:gdLst/>
            <a:ahLst/>
            <a:cxnLst/>
            <a:rect l="l" t="t" r="r" b="b"/>
            <a:pathLst>
              <a:path w="95885" h="121285">
                <a:moveTo>
                  <a:pt x="95538" y="0"/>
                </a:moveTo>
                <a:lnTo>
                  <a:pt x="83596" y="0"/>
                </a:lnTo>
                <a:lnTo>
                  <a:pt x="0" y="107477"/>
                </a:lnTo>
                <a:lnTo>
                  <a:pt x="0" y="120912"/>
                </a:lnTo>
                <a:lnTo>
                  <a:pt x="11941" y="120912"/>
                </a:lnTo>
                <a:lnTo>
                  <a:pt x="95538" y="13434"/>
                </a:lnTo>
                <a:lnTo>
                  <a:pt x="95538" y="0"/>
                </a:lnTo>
                <a:close/>
              </a:path>
            </a:pathLst>
          </a:custGeom>
          <a:solidFill>
            <a:srgbClr val="000000"/>
          </a:solidFill>
        </p:spPr>
        <p:txBody>
          <a:bodyPr wrap="square" lIns="0" tIns="0" rIns="0" bIns="0" rtlCol="0"/>
          <a:lstStyle/>
          <a:p>
            <a:endParaRPr sz="1593"/>
          </a:p>
        </p:txBody>
      </p:sp>
      <p:sp>
        <p:nvSpPr>
          <p:cNvPr id="356" name="object 356"/>
          <p:cNvSpPr/>
          <p:nvPr/>
        </p:nvSpPr>
        <p:spPr>
          <a:xfrm>
            <a:off x="4611397" y="524594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57" name="object 357"/>
          <p:cNvSpPr/>
          <p:nvPr/>
        </p:nvSpPr>
        <p:spPr>
          <a:xfrm>
            <a:off x="4510969" y="5245949"/>
            <a:ext cx="106235" cy="95556"/>
          </a:xfrm>
          <a:custGeom>
            <a:avLst/>
            <a:gdLst/>
            <a:ahLst/>
            <a:cxnLst/>
            <a:rect l="l" t="t" r="r" b="b"/>
            <a:pathLst>
              <a:path w="120014" h="107950">
                <a:moveTo>
                  <a:pt x="119423" y="0"/>
                </a:moveTo>
                <a:lnTo>
                  <a:pt x="107481" y="0"/>
                </a:lnTo>
                <a:lnTo>
                  <a:pt x="0" y="94042"/>
                </a:lnTo>
                <a:lnTo>
                  <a:pt x="0" y="107477"/>
                </a:lnTo>
                <a:lnTo>
                  <a:pt x="11941" y="107477"/>
                </a:lnTo>
                <a:lnTo>
                  <a:pt x="119423" y="13434"/>
                </a:lnTo>
                <a:lnTo>
                  <a:pt x="119423" y="0"/>
                </a:lnTo>
                <a:close/>
              </a:path>
            </a:pathLst>
          </a:custGeom>
          <a:solidFill>
            <a:srgbClr val="000000"/>
          </a:solidFill>
        </p:spPr>
        <p:txBody>
          <a:bodyPr wrap="square" lIns="0" tIns="0" rIns="0" bIns="0" rtlCol="0"/>
          <a:lstStyle/>
          <a:p>
            <a:endParaRPr sz="1593"/>
          </a:p>
        </p:txBody>
      </p:sp>
      <p:sp>
        <p:nvSpPr>
          <p:cNvPr id="358" name="object 358"/>
          <p:cNvSpPr/>
          <p:nvPr/>
        </p:nvSpPr>
        <p:spPr>
          <a:xfrm>
            <a:off x="4516256" y="532919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59" name="object 359"/>
          <p:cNvSpPr/>
          <p:nvPr/>
        </p:nvSpPr>
        <p:spPr>
          <a:xfrm>
            <a:off x="4415829" y="5329195"/>
            <a:ext cx="106235" cy="83752"/>
          </a:xfrm>
          <a:custGeom>
            <a:avLst/>
            <a:gdLst/>
            <a:ahLst/>
            <a:cxnLst/>
            <a:rect l="l" t="t" r="r" b="b"/>
            <a:pathLst>
              <a:path w="120014" h="94614">
                <a:moveTo>
                  <a:pt x="119423" y="0"/>
                </a:moveTo>
                <a:lnTo>
                  <a:pt x="107481" y="0"/>
                </a:lnTo>
                <a:lnTo>
                  <a:pt x="0" y="80608"/>
                </a:lnTo>
                <a:lnTo>
                  <a:pt x="0" y="94042"/>
                </a:lnTo>
                <a:lnTo>
                  <a:pt x="11943" y="94042"/>
                </a:lnTo>
                <a:lnTo>
                  <a:pt x="119423" y="13434"/>
                </a:lnTo>
                <a:lnTo>
                  <a:pt x="119423" y="0"/>
                </a:lnTo>
                <a:close/>
              </a:path>
            </a:pathLst>
          </a:custGeom>
          <a:solidFill>
            <a:srgbClr val="000000"/>
          </a:solidFill>
        </p:spPr>
        <p:txBody>
          <a:bodyPr wrap="square" lIns="0" tIns="0" rIns="0" bIns="0" rtlCol="0"/>
          <a:lstStyle/>
          <a:p>
            <a:endParaRPr sz="1593"/>
          </a:p>
        </p:txBody>
      </p:sp>
      <p:sp>
        <p:nvSpPr>
          <p:cNvPr id="360" name="object 360"/>
          <p:cNvSpPr/>
          <p:nvPr/>
        </p:nvSpPr>
        <p:spPr>
          <a:xfrm>
            <a:off x="4421115" y="540054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61" name="object 361"/>
          <p:cNvSpPr/>
          <p:nvPr/>
        </p:nvSpPr>
        <p:spPr>
          <a:xfrm>
            <a:off x="4299547" y="5400548"/>
            <a:ext cx="127033" cy="47778"/>
          </a:xfrm>
          <a:custGeom>
            <a:avLst/>
            <a:gdLst/>
            <a:ahLst/>
            <a:cxnLst/>
            <a:rect l="l" t="t" r="r" b="b"/>
            <a:pathLst>
              <a:path w="143510" h="53975">
                <a:moveTo>
                  <a:pt x="143308" y="0"/>
                </a:moveTo>
                <a:lnTo>
                  <a:pt x="131364" y="0"/>
                </a:lnTo>
                <a:lnTo>
                  <a:pt x="0" y="40304"/>
                </a:lnTo>
                <a:lnTo>
                  <a:pt x="0" y="53738"/>
                </a:lnTo>
                <a:lnTo>
                  <a:pt x="11941" y="53738"/>
                </a:lnTo>
                <a:lnTo>
                  <a:pt x="143308" y="13434"/>
                </a:lnTo>
                <a:lnTo>
                  <a:pt x="143308" y="0"/>
                </a:lnTo>
                <a:close/>
              </a:path>
            </a:pathLst>
          </a:custGeom>
          <a:solidFill>
            <a:srgbClr val="000000"/>
          </a:solidFill>
        </p:spPr>
        <p:txBody>
          <a:bodyPr wrap="square" lIns="0" tIns="0" rIns="0" bIns="0" rtlCol="0"/>
          <a:lstStyle/>
          <a:p>
            <a:endParaRPr sz="1593"/>
          </a:p>
        </p:txBody>
      </p:sp>
      <p:sp>
        <p:nvSpPr>
          <p:cNvPr id="362" name="object 362"/>
          <p:cNvSpPr/>
          <p:nvPr/>
        </p:nvSpPr>
        <p:spPr>
          <a:xfrm>
            <a:off x="4304832" y="543622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63" name="object 363"/>
          <p:cNvSpPr/>
          <p:nvPr/>
        </p:nvSpPr>
        <p:spPr>
          <a:xfrm>
            <a:off x="4172693" y="5436225"/>
            <a:ext cx="137713" cy="24170"/>
          </a:xfrm>
          <a:custGeom>
            <a:avLst/>
            <a:gdLst/>
            <a:ahLst/>
            <a:cxnLst/>
            <a:rect l="l" t="t" r="r" b="b"/>
            <a:pathLst>
              <a:path w="155575" h="27304">
                <a:moveTo>
                  <a:pt x="155249" y="0"/>
                </a:moveTo>
                <a:lnTo>
                  <a:pt x="143308" y="0"/>
                </a:lnTo>
                <a:lnTo>
                  <a:pt x="0" y="13434"/>
                </a:lnTo>
                <a:lnTo>
                  <a:pt x="0" y="26869"/>
                </a:lnTo>
                <a:lnTo>
                  <a:pt x="11941" y="26869"/>
                </a:lnTo>
                <a:lnTo>
                  <a:pt x="155249" y="13434"/>
                </a:lnTo>
                <a:lnTo>
                  <a:pt x="155249" y="0"/>
                </a:lnTo>
                <a:close/>
              </a:path>
            </a:pathLst>
          </a:custGeom>
          <a:solidFill>
            <a:srgbClr val="000000"/>
          </a:solidFill>
        </p:spPr>
        <p:txBody>
          <a:bodyPr wrap="square" lIns="0" tIns="0" rIns="0" bIns="0" rtlCol="0"/>
          <a:lstStyle/>
          <a:p>
            <a:endParaRPr sz="1593"/>
          </a:p>
        </p:txBody>
      </p:sp>
      <p:sp>
        <p:nvSpPr>
          <p:cNvPr id="364" name="object 364"/>
          <p:cNvSpPr/>
          <p:nvPr/>
        </p:nvSpPr>
        <p:spPr>
          <a:xfrm>
            <a:off x="4172693" y="5448116"/>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65" name="object 365"/>
          <p:cNvSpPr/>
          <p:nvPr/>
        </p:nvSpPr>
        <p:spPr>
          <a:xfrm>
            <a:off x="4172693" y="5448116"/>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66" name="object 366"/>
          <p:cNvSpPr/>
          <p:nvPr/>
        </p:nvSpPr>
        <p:spPr>
          <a:xfrm>
            <a:off x="4172693" y="5448116"/>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67" name="object 367"/>
          <p:cNvSpPr/>
          <p:nvPr/>
        </p:nvSpPr>
        <p:spPr>
          <a:xfrm>
            <a:off x="4045839" y="5436225"/>
            <a:ext cx="137713" cy="24170"/>
          </a:xfrm>
          <a:custGeom>
            <a:avLst/>
            <a:gdLst/>
            <a:ahLst/>
            <a:cxnLst/>
            <a:rect l="l" t="t" r="r" b="b"/>
            <a:pathLst>
              <a:path w="155575" h="27304">
                <a:moveTo>
                  <a:pt x="11941" y="0"/>
                </a:moveTo>
                <a:lnTo>
                  <a:pt x="0" y="0"/>
                </a:lnTo>
                <a:lnTo>
                  <a:pt x="0" y="13434"/>
                </a:lnTo>
                <a:lnTo>
                  <a:pt x="143308" y="26869"/>
                </a:lnTo>
                <a:lnTo>
                  <a:pt x="155249" y="26869"/>
                </a:lnTo>
                <a:lnTo>
                  <a:pt x="155249" y="13434"/>
                </a:lnTo>
                <a:lnTo>
                  <a:pt x="11941" y="0"/>
                </a:lnTo>
                <a:close/>
              </a:path>
            </a:pathLst>
          </a:custGeom>
          <a:solidFill>
            <a:srgbClr val="000000"/>
          </a:solidFill>
        </p:spPr>
        <p:txBody>
          <a:bodyPr wrap="square" lIns="0" tIns="0" rIns="0" bIns="0" rtlCol="0"/>
          <a:lstStyle/>
          <a:p>
            <a:endParaRPr sz="1593"/>
          </a:p>
        </p:txBody>
      </p:sp>
      <p:sp>
        <p:nvSpPr>
          <p:cNvPr id="368" name="object 368"/>
          <p:cNvSpPr/>
          <p:nvPr/>
        </p:nvSpPr>
        <p:spPr>
          <a:xfrm>
            <a:off x="4051124" y="543622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69" name="object 369"/>
          <p:cNvSpPr/>
          <p:nvPr/>
        </p:nvSpPr>
        <p:spPr>
          <a:xfrm>
            <a:off x="3929555" y="5400548"/>
            <a:ext cx="127033" cy="47778"/>
          </a:xfrm>
          <a:custGeom>
            <a:avLst/>
            <a:gdLst/>
            <a:ahLst/>
            <a:cxnLst/>
            <a:rect l="l" t="t" r="r" b="b"/>
            <a:pathLst>
              <a:path w="143510" h="53975">
                <a:moveTo>
                  <a:pt x="11943" y="0"/>
                </a:moveTo>
                <a:lnTo>
                  <a:pt x="0" y="0"/>
                </a:lnTo>
                <a:lnTo>
                  <a:pt x="0" y="13434"/>
                </a:lnTo>
                <a:lnTo>
                  <a:pt x="131366" y="53738"/>
                </a:lnTo>
                <a:lnTo>
                  <a:pt x="143308" y="53738"/>
                </a:lnTo>
                <a:lnTo>
                  <a:pt x="143308" y="40304"/>
                </a:lnTo>
                <a:lnTo>
                  <a:pt x="11943" y="0"/>
                </a:lnTo>
                <a:close/>
              </a:path>
            </a:pathLst>
          </a:custGeom>
          <a:solidFill>
            <a:srgbClr val="000000"/>
          </a:solidFill>
        </p:spPr>
        <p:txBody>
          <a:bodyPr wrap="square" lIns="0" tIns="0" rIns="0" bIns="0" rtlCol="0"/>
          <a:lstStyle/>
          <a:p>
            <a:endParaRPr sz="1593"/>
          </a:p>
        </p:txBody>
      </p:sp>
      <p:sp>
        <p:nvSpPr>
          <p:cNvPr id="370" name="object 370"/>
          <p:cNvSpPr/>
          <p:nvPr/>
        </p:nvSpPr>
        <p:spPr>
          <a:xfrm>
            <a:off x="3934841" y="540054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71" name="object 371"/>
          <p:cNvSpPr/>
          <p:nvPr/>
        </p:nvSpPr>
        <p:spPr>
          <a:xfrm>
            <a:off x="3823843" y="5329195"/>
            <a:ext cx="116353" cy="83752"/>
          </a:xfrm>
          <a:custGeom>
            <a:avLst/>
            <a:gdLst/>
            <a:ahLst/>
            <a:cxnLst/>
            <a:rect l="l" t="t" r="r" b="b"/>
            <a:pathLst>
              <a:path w="131445" h="94614">
                <a:moveTo>
                  <a:pt x="11943" y="0"/>
                </a:moveTo>
                <a:lnTo>
                  <a:pt x="0" y="0"/>
                </a:lnTo>
                <a:lnTo>
                  <a:pt x="0" y="13434"/>
                </a:lnTo>
                <a:lnTo>
                  <a:pt x="119423" y="94042"/>
                </a:lnTo>
                <a:lnTo>
                  <a:pt x="131366" y="94042"/>
                </a:lnTo>
                <a:lnTo>
                  <a:pt x="131366" y="80608"/>
                </a:lnTo>
                <a:lnTo>
                  <a:pt x="11943" y="0"/>
                </a:lnTo>
                <a:close/>
              </a:path>
            </a:pathLst>
          </a:custGeom>
          <a:solidFill>
            <a:srgbClr val="000000"/>
          </a:solidFill>
        </p:spPr>
        <p:txBody>
          <a:bodyPr wrap="square" lIns="0" tIns="0" rIns="0" bIns="0" rtlCol="0"/>
          <a:lstStyle/>
          <a:p>
            <a:endParaRPr sz="1593"/>
          </a:p>
        </p:txBody>
      </p:sp>
      <p:sp>
        <p:nvSpPr>
          <p:cNvPr id="372" name="object 372"/>
          <p:cNvSpPr/>
          <p:nvPr/>
        </p:nvSpPr>
        <p:spPr>
          <a:xfrm>
            <a:off x="3829129" y="532919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73" name="object 373"/>
          <p:cNvSpPr/>
          <p:nvPr/>
        </p:nvSpPr>
        <p:spPr>
          <a:xfrm>
            <a:off x="3739274" y="5245949"/>
            <a:ext cx="95556" cy="95556"/>
          </a:xfrm>
          <a:custGeom>
            <a:avLst/>
            <a:gdLst/>
            <a:ahLst/>
            <a:cxnLst/>
            <a:rect l="l" t="t" r="r" b="b"/>
            <a:pathLst>
              <a:path w="107950" h="107950">
                <a:moveTo>
                  <a:pt x="11943" y="0"/>
                </a:moveTo>
                <a:lnTo>
                  <a:pt x="0" y="0"/>
                </a:lnTo>
                <a:lnTo>
                  <a:pt x="0" y="13434"/>
                </a:lnTo>
                <a:lnTo>
                  <a:pt x="95538" y="107477"/>
                </a:lnTo>
                <a:lnTo>
                  <a:pt x="107481" y="107477"/>
                </a:lnTo>
                <a:lnTo>
                  <a:pt x="107481" y="94042"/>
                </a:lnTo>
                <a:lnTo>
                  <a:pt x="11943" y="0"/>
                </a:lnTo>
                <a:close/>
              </a:path>
            </a:pathLst>
          </a:custGeom>
          <a:solidFill>
            <a:srgbClr val="000000"/>
          </a:solidFill>
        </p:spPr>
        <p:txBody>
          <a:bodyPr wrap="square" lIns="0" tIns="0" rIns="0" bIns="0" rtlCol="0"/>
          <a:lstStyle/>
          <a:p>
            <a:endParaRPr sz="1593"/>
          </a:p>
        </p:txBody>
      </p:sp>
      <p:sp>
        <p:nvSpPr>
          <p:cNvPr id="374" name="object 374"/>
          <p:cNvSpPr/>
          <p:nvPr/>
        </p:nvSpPr>
        <p:spPr>
          <a:xfrm>
            <a:off x="3744559" y="524594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75" name="object 375"/>
          <p:cNvSpPr/>
          <p:nvPr/>
        </p:nvSpPr>
        <p:spPr>
          <a:xfrm>
            <a:off x="3665276" y="5150811"/>
            <a:ext cx="84876" cy="107360"/>
          </a:xfrm>
          <a:custGeom>
            <a:avLst/>
            <a:gdLst/>
            <a:ahLst/>
            <a:cxnLst/>
            <a:rect l="l" t="t" r="r" b="b"/>
            <a:pathLst>
              <a:path w="95885" h="121285">
                <a:moveTo>
                  <a:pt x="11943" y="0"/>
                </a:moveTo>
                <a:lnTo>
                  <a:pt x="0" y="0"/>
                </a:lnTo>
                <a:lnTo>
                  <a:pt x="0" y="13434"/>
                </a:lnTo>
                <a:lnTo>
                  <a:pt x="83596" y="120912"/>
                </a:lnTo>
                <a:lnTo>
                  <a:pt x="95539" y="120912"/>
                </a:lnTo>
                <a:lnTo>
                  <a:pt x="95539" y="107477"/>
                </a:lnTo>
                <a:lnTo>
                  <a:pt x="11943" y="0"/>
                </a:lnTo>
                <a:close/>
              </a:path>
            </a:pathLst>
          </a:custGeom>
          <a:solidFill>
            <a:srgbClr val="000000"/>
          </a:solidFill>
        </p:spPr>
        <p:txBody>
          <a:bodyPr wrap="square" lIns="0" tIns="0" rIns="0" bIns="0" rtlCol="0"/>
          <a:lstStyle/>
          <a:p>
            <a:endParaRPr sz="1593"/>
          </a:p>
        </p:txBody>
      </p:sp>
      <p:sp>
        <p:nvSpPr>
          <p:cNvPr id="376" name="object 376"/>
          <p:cNvSpPr/>
          <p:nvPr/>
        </p:nvSpPr>
        <p:spPr>
          <a:xfrm>
            <a:off x="3670561" y="51508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77" name="object 377"/>
          <p:cNvSpPr/>
          <p:nvPr/>
        </p:nvSpPr>
        <p:spPr>
          <a:xfrm>
            <a:off x="3601849" y="5031889"/>
            <a:ext cx="74196" cy="130968"/>
          </a:xfrm>
          <a:custGeom>
            <a:avLst/>
            <a:gdLst/>
            <a:ahLst/>
            <a:cxnLst/>
            <a:rect l="l" t="t" r="r" b="b"/>
            <a:pathLst>
              <a:path w="83820" h="147954">
                <a:moveTo>
                  <a:pt x="11941" y="0"/>
                </a:moveTo>
                <a:lnTo>
                  <a:pt x="0" y="0"/>
                </a:lnTo>
                <a:lnTo>
                  <a:pt x="0" y="13434"/>
                </a:lnTo>
                <a:lnTo>
                  <a:pt x="71653" y="147781"/>
                </a:lnTo>
                <a:lnTo>
                  <a:pt x="83596" y="147781"/>
                </a:lnTo>
                <a:lnTo>
                  <a:pt x="83596" y="134347"/>
                </a:lnTo>
                <a:lnTo>
                  <a:pt x="11941" y="0"/>
                </a:lnTo>
                <a:close/>
              </a:path>
            </a:pathLst>
          </a:custGeom>
          <a:solidFill>
            <a:srgbClr val="000000"/>
          </a:solidFill>
        </p:spPr>
        <p:txBody>
          <a:bodyPr wrap="square" lIns="0" tIns="0" rIns="0" bIns="0" rtlCol="0"/>
          <a:lstStyle/>
          <a:p>
            <a:endParaRPr sz="1593"/>
          </a:p>
        </p:txBody>
      </p:sp>
      <p:sp>
        <p:nvSpPr>
          <p:cNvPr id="378" name="object 378"/>
          <p:cNvSpPr/>
          <p:nvPr/>
        </p:nvSpPr>
        <p:spPr>
          <a:xfrm>
            <a:off x="3607134" y="503188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79" name="object 379"/>
          <p:cNvSpPr/>
          <p:nvPr/>
        </p:nvSpPr>
        <p:spPr>
          <a:xfrm>
            <a:off x="3570136" y="4912968"/>
            <a:ext cx="42719" cy="130968"/>
          </a:xfrm>
          <a:custGeom>
            <a:avLst/>
            <a:gdLst/>
            <a:ahLst/>
            <a:cxnLst/>
            <a:rect l="l" t="t" r="r" b="b"/>
            <a:pathLst>
              <a:path w="48260" h="147954">
                <a:moveTo>
                  <a:pt x="11941" y="0"/>
                </a:moveTo>
                <a:lnTo>
                  <a:pt x="0" y="0"/>
                </a:lnTo>
                <a:lnTo>
                  <a:pt x="0" y="13434"/>
                </a:lnTo>
                <a:lnTo>
                  <a:pt x="35826" y="147781"/>
                </a:lnTo>
                <a:lnTo>
                  <a:pt x="47768" y="147781"/>
                </a:lnTo>
                <a:lnTo>
                  <a:pt x="47768" y="134346"/>
                </a:lnTo>
                <a:lnTo>
                  <a:pt x="11941" y="0"/>
                </a:lnTo>
                <a:close/>
              </a:path>
            </a:pathLst>
          </a:custGeom>
          <a:solidFill>
            <a:srgbClr val="000000"/>
          </a:solidFill>
        </p:spPr>
        <p:txBody>
          <a:bodyPr wrap="square" lIns="0" tIns="0" rIns="0" bIns="0" rtlCol="0"/>
          <a:lstStyle/>
          <a:p>
            <a:endParaRPr sz="1593"/>
          </a:p>
        </p:txBody>
      </p:sp>
      <p:sp>
        <p:nvSpPr>
          <p:cNvPr id="380" name="object 380"/>
          <p:cNvSpPr/>
          <p:nvPr/>
        </p:nvSpPr>
        <p:spPr>
          <a:xfrm>
            <a:off x="3575421" y="491296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81" name="object 381"/>
          <p:cNvSpPr/>
          <p:nvPr/>
        </p:nvSpPr>
        <p:spPr>
          <a:xfrm>
            <a:off x="3559564" y="4770261"/>
            <a:ext cx="21360" cy="155138"/>
          </a:xfrm>
          <a:custGeom>
            <a:avLst/>
            <a:gdLst/>
            <a:ahLst/>
            <a:cxnLst/>
            <a:rect l="l" t="t" r="r" b="b"/>
            <a:pathLst>
              <a:path w="24129" h="175260">
                <a:moveTo>
                  <a:pt x="11943" y="0"/>
                </a:moveTo>
                <a:lnTo>
                  <a:pt x="0" y="0"/>
                </a:lnTo>
                <a:lnTo>
                  <a:pt x="0" y="13434"/>
                </a:lnTo>
                <a:lnTo>
                  <a:pt x="11943" y="174650"/>
                </a:lnTo>
                <a:lnTo>
                  <a:pt x="23884" y="174650"/>
                </a:lnTo>
                <a:lnTo>
                  <a:pt x="23884" y="161216"/>
                </a:lnTo>
                <a:lnTo>
                  <a:pt x="11943" y="0"/>
                </a:lnTo>
                <a:close/>
              </a:path>
            </a:pathLst>
          </a:custGeom>
          <a:solidFill>
            <a:srgbClr val="000000"/>
          </a:solidFill>
        </p:spPr>
        <p:txBody>
          <a:bodyPr wrap="square" lIns="0" tIns="0" rIns="0" bIns="0" rtlCol="0"/>
          <a:lstStyle/>
          <a:p>
            <a:endParaRPr sz="1593"/>
          </a:p>
        </p:txBody>
      </p:sp>
      <p:sp>
        <p:nvSpPr>
          <p:cNvPr id="382" name="object 382"/>
          <p:cNvSpPr/>
          <p:nvPr/>
        </p:nvSpPr>
        <p:spPr>
          <a:xfrm>
            <a:off x="3559565" y="477026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83" name="object 383"/>
          <p:cNvSpPr/>
          <p:nvPr/>
        </p:nvSpPr>
        <p:spPr>
          <a:xfrm>
            <a:off x="3559565" y="477026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84" name="object 384"/>
          <p:cNvSpPr/>
          <p:nvPr/>
        </p:nvSpPr>
        <p:spPr>
          <a:xfrm>
            <a:off x="3559565" y="477026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385" name="object 385"/>
          <p:cNvSpPr/>
          <p:nvPr/>
        </p:nvSpPr>
        <p:spPr>
          <a:xfrm>
            <a:off x="3559564" y="4639447"/>
            <a:ext cx="21360" cy="142772"/>
          </a:xfrm>
          <a:custGeom>
            <a:avLst/>
            <a:gdLst/>
            <a:ahLst/>
            <a:cxnLst/>
            <a:rect l="l" t="t" r="r" b="b"/>
            <a:pathLst>
              <a:path w="24129" h="161289">
                <a:moveTo>
                  <a:pt x="23884" y="0"/>
                </a:moveTo>
                <a:lnTo>
                  <a:pt x="11943" y="0"/>
                </a:lnTo>
                <a:lnTo>
                  <a:pt x="0" y="147782"/>
                </a:lnTo>
                <a:lnTo>
                  <a:pt x="0" y="161216"/>
                </a:lnTo>
                <a:lnTo>
                  <a:pt x="11943" y="161216"/>
                </a:lnTo>
                <a:lnTo>
                  <a:pt x="23884" y="13434"/>
                </a:lnTo>
                <a:lnTo>
                  <a:pt x="23884" y="0"/>
                </a:lnTo>
                <a:close/>
              </a:path>
            </a:pathLst>
          </a:custGeom>
          <a:solidFill>
            <a:srgbClr val="000000"/>
          </a:solidFill>
        </p:spPr>
        <p:txBody>
          <a:bodyPr wrap="square" lIns="0" tIns="0" rIns="0" bIns="0" rtlCol="0"/>
          <a:lstStyle/>
          <a:p>
            <a:endParaRPr sz="1593"/>
          </a:p>
        </p:txBody>
      </p:sp>
      <p:sp>
        <p:nvSpPr>
          <p:cNvPr id="386" name="object 386"/>
          <p:cNvSpPr/>
          <p:nvPr/>
        </p:nvSpPr>
        <p:spPr>
          <a:xfrm>
            <a:off x="3575421" y="463944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87" name="object 387"/>
          <p:cNvSpPr/>
          <p:nvPr/>
        </p:nvSpPr>
        <p:spPr>
          <a:xfrm>
            <a:off x="3570136" y="4508632"/>
            <a:ext cx="42719" cy="142772"/>
          </a:xfrm>
          <a:custGeom>
            <a:avLst/>
            <a:gdLst/>
            <a:ahLst/>
            <a:cxnLst/>
            <a:rect l="l" t="t" r="r" b="b"/>
            <a:pathLst>
              <a:path w="48260" h="161289">
                <a:moveTo>
                  <a:pt x="47768" y="0"/>
                </a:moveTo>
                <a:lnTo>
                  <a:pt x="35826" y="0"/>
                </a:lnTo>
                <a:lnTo>
                  <a:pt x="0" y="147782"/>
                </a:lnTo>
                <a:lnTo>
                  <a:pt x="0" y="161216"/>
                </a:lnTo>
                <a:lnTo>
                  <a:pt x="11941" y="161216"/>
                </a:lnTo>
                <a:lnTo>
                  <a:pt x="47768" y="13435"/>
                </a:lnTo>
                <a:lnTo>
                  <a:pt x="47768" y="0"/>
                </a:lnTo>
                <a:close/>
              </a:path>
            </a:pathLst>
          </a:custGeom>
          <a:solidFill>
            <a:srgbClr val="000000"/>
          </a:solidFill>
        </p:spPr>
        <p:txBody>
          <a:bodyPr wrap="square" lIns="0" tIns="0" rIns="0" bIns="0" rtlCol="0"/>
          <a:lstStyle/>
          <a:p>
            <a:endParaRPr sz="1593"/>
          </a:p>
        </p:txBody>
      </p:sp>
      <p:sp>
        <p:nvSpPr>
          <p:cNvPr id="388" name="object 388"/>
          <p:cNvSpPr/>
          <p:nvPr/>
        </p:nvSpPr>
        <p:spPr>
          <a:xfrm>
            <a:off x="3607134" y="450863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89" name="object 389"/>
          <p:cNvSpPr/>
          <p:nvPr/>
        </p:nvSpPr>
        <p:spPr>
          <a:xfrm>
            <a:off x="3601849" y="4389711"/>
            <a:ext cx="74196" cy="130968"/>
          </a:xfrm>
          <a:custGeom>
            <a:avLst/>
            <a:gdLst/>
            <a:ahLst/>
            <a:cxnLst/>
            <a:rect l="l" t="t" r="r" b="b"/>
            <a:pathLst>
              <a:path w="83820" h="147954">
                <a:moveTo>
                  <a:pt x="83596" y="0"/>
                </a:moveTo>
                <a:lnTo>
                  <a:pt x="71653" y="0"/>
                </a:lnTo>
                <a:lnTo>
                  <a:pt x="0" y="134346"/>
                </a:lnTo>
                <a:lnTo>
                  <a:pt x="0" y="147782"/>
                </a:lnTo>
                <a:lnTo>
                  <a:pt x="11941" y="147782"/>
                </a:lnTo>
                <a:lnTo>
                  <a:pt x="83596" y="13435"/>
                </a:lnTo>
                <a:lnTo>
                  <a:pt x="83596" y="0"/>
                </a:lnTo>
                <a:close/>
              </a:path>
            </a:pathLst>
          </a:custGeom>
          <a:solidFill>
            <a:srgbClr val="000000"/>
          </a:solidFill>
        </p:spPr>
        <p:txBody>
          <a:bodyPr wrap="square" lIns="0" tIns="0" rIns="0" bIns="0" rtlCol="0"/>
          <a:lstStyle/>
          <a:p>
            <a:endParaRPr sz="1593"/>
          </a:p>
        </p:txBody>
      </p:sp>
      <p:sp>
        <p:nvSpPr>
          <p:cNvPr id="390" name="object 390"/>
          <p:cNvSpPr/>
          <p:nvPr/>
        </p:nvSpPr>
        <p:spPr>
          <a:xfrm>
            <a:off x="3670561" y="438970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91" name="object 391"/>
          <p:cNvSpPr/>
          <p:nvPr/>
        </p:nvSpPr>
        <p:spPr>
          <a:xfrm>
            <a:off x="3665276" y="4294573"/>
            <a:ext cx="84876" cy="107360"/>
          </a:xfrm>
          <a:custGeom>
            <a:avLst/>
            <a:gdLst/>
            <a:ahLst/>
            <a:cxnLst/>
            <a:rect l="l" t="t" r="r" b="b"/>
            <a:pathLst>
              <a:path w="95885" h="121285">
                <a:moveTo>
                  <a:pt x="95539" y="0"/>
                </a:moveTo>
                <a:lnTo>
                  <a:pt x="83596" y="0"/>
                </a:lnTo>
                <a:lnTo>
                  <a:pt x="0" y="107477"/>
                </a:lnTo>
                <a:lnTo>
                  <a:pt x="0" y="120912"/>
                </a:lnTo>
                <a:lnTo>
                  <a:pt x="11943" y="120912"/>
                </a:lnTo>
                <a:lnTo>
                  <a:pt x="95539" y="13435"/>
                </a:lnTo>
                <a:lnTo>
                  <a:pt x="95539" y="0"/>
                </a:lnTo>
                <a:close/>
              </a:path>
            </a:pathLst>
          </a:custGeom>
          <a:solidFill>
            <a:srgbClr val="000000"/>
          </a:solidFill>
        </p:spPr>
        <p:txBody>
          <a:bodyPr wrap="square" lIns="0" tIns="0" rIns="0" bIns="0" rtlCol="0"/>
          <a:lstStyle/>
          <a:p>
            <a:endParaRPr sz="1593"/>
          </a:p>
        </p:txBody>
      </p:sp>
      <p:sp>
        <p:nvSpPr>
          <p:cNvPr id="392" name="object 392"/>
          <p:cNvSpPr/>
          <p:nvPr/>
        </p:nvSpPr>
        <p:spPr>
          <a:xfrm>
            <a:off x="3744559" y="429457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93" name="object 393"/>
          <p:cNvSpPr/>
          <p:nvPr/>
        </p:nvSpPr>
        <p:spPr>
          <a:xfrm>
            <a:off x="3739274" y="4211327"/>
            <a:ext cx="95556" cy="95556"/>
          </a:xfrm>
          <a:custGeom>
            <a:avLst/>
            <a:gdLst/>
            <a:ahLst/>
            <a:cxnLst/>
            <a:rect l="l" t="t" r="r" b="b"/>
            <a:pathLst>
              <a:path w="107950" h="107950">
                <a:moveTo>
                  <a:pt x="107481" y="0"/>
                </a:moveTo>
                <a:lnTo>
                  <a:pt x="95538" y="0"/>
                </a:lnTo>
                <a:lnTo>
                  <a:pt x="0" y="94043"/>
                </a:lnTo>
                <a:lnTo>
                  <a:pt x="0" y="107478"/>
                </a:lnTo>
                <a:lnTo>
                  <a:pt x="11943" y="107478"/>
                </a:lnTo>
                <a:lnTo>
                  <a:pt x="107481" y="13435"/>
                </a:lnTo>
                <a:lnTo>
                  <a:pt x="107481" y="0"/>
                </a:lnTo>
                <a:close/>
              </a:path>
            </a:pathLst>
          </a:custGeom>
          <a:solidFill>
            <a:srgbClr val="000000"/>
          </a:solidFill>
        </p:spPr>
        <p:txBody>
          <a:bodyPr wrap="square" lIns="0" tIns="0" rIns="0" bIns="0" rtlCol="0"/>
          <a:lstStyle/>
          <a:p>
            <a:endParaRPr sz="1593"/>
          </a:p>
        </p:txBody>
      </p:sp>
      <p:sp>
        <p:nvSpPr>
          <p:cNvPr id="394" name="object 394"/>
          <p:cNvSpPr/>
          <p:nvPr/>
        </p:nvSpPr>
        <p:spPr>
          <a:xfrm>
            <a:off x="3829129" y="421132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95" name="object 395"/>
          <p:cNvSpPr/>
          <p:nvPr/>
        </p:nvSpPr>
        <p:spPr>
          <a:xfrm>
            <a:off x="3823843" y="4151867"/>
            <a:ext cx="116353" cy="71386"/>
          </a:xfrm>
          <a:custGeom>
            <a:avLst/>
            <a:gdLst/>
            <a:ahLst/>
            <a:cxnLst/>
            <a:rect l="l" t="t" r="r" b="b"/>
            <a:pathLst>
              <a:path w="131445" h="80645">
                <a:moveTo>
                  <a:pt x="131366" y="0"/>
                </a:moveTo>
                <a:lnTo>
                  <a:pt x="119423" y="0"/>
                </a:lnTo>
                <a:lnTo>
                  <a:pt x="0" y="67172"/>
                </a:lnTo>
                <a:lnTo>
                  <a:pt x="0" y="80608"/>
                </a:lnTo>
                <a:lnTo>
                  <a:pt x="11943" y="80608"/>
                </a:lnTo>
                <a:lnTo>
                  <a:pt x="131366" y="13434"/>
                </a:lnTo>
                <a:lnTo>
                  <a:pt x="131366" y="0"/>
                </a:lnTo>
                <a:close/>
              </a:path>
            </a:pathLst>
          </a:custGeom>
          <a:solidFill>
            <a:srgbClr val="000000"/>
          </a:solidFill>
        </p:spPr>
        <p:txBody>
          <a:bodyPr wrap="square" lIns="0" tIns="0" rIns="0" bIns="0" rtlCol="0"/>
          <a:lstStyle/>
          <a:p>
            <a:endParaRPr sz="1593"/>
          </a:p>
        </p:txBody>
      </p:sp>
      <p:sp>
        <p:nvSpPr>
          <p:cNvPr id="396" name="object 396"/>
          <p:cNvSpPr/>
          <p:nvPr/>
        </p:nvSpPr>
        <p:spPr>
          <a:xfrm>
            <a:off x="3934841" y="415186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97" name="object 397"/>
          <p:cNvSpPr/>
          <p:nvPr/>
        </p:nvSpPr>
        <p:spPr>
          <a:xfrm>
            <a:off x="3929555" y="4104297"/>
            <a:ext cx="127033" cy="59582"/>
          </a:xfrm>
          <a:custGeom>
            <a:avLst/>
            <a:gdLst/>
            <a:ahLst/>
            <a:cxnLst/>
            <a:rect l="l" t="t" r="r" b="b"/>
            <a:pathLst>
              <a:path w="143510" h="67310">
                <a:moveTo>
                  <a:pt x="143308" y="0"/>
                </a:moveTo>
                <a:lnTo>
                  <a:pt x="131366" y="0"/>
                </a:lnTo>
                <a:lnTo>
                  <a:pt x="0" y="53738"/>
                </a:lnTo>
                <a:lnTo>
                  <a:pt x="0" y="67172"/>
                </a:lnTo>
                <a:lnTo>
                  <a:pt x="11943" y="67172"/>
                </a:lnTo>
                <a:lnTo>
                  <a:pt x="143308" y="13434"/>
                </a:lnTo>
                <a:lnTo>
                  <a:pt x="143308" y="0"/>
                </a:lnTo>
                <a:close/>
              </a:path>
            </a:pathLst>
          </a:custGeom>
          <a:solidFill>
            <a:srgbClr val="000000"/>
          </a:solidFill>
        </p:spPr>
        <p:txBody>
          <a:bodyPr wrap="square" lIns="0" tIns="0" rIns="0" bIns="0" rtlCol="0"/>
          <a:lstStyle/>
          <a:p>
            <a:endParaRPr sz="1593"/>
          </a:p>
        </p:txBody>
      </p:sp>
      <p:sp>
        <p:nvSpPr>
          <p:cNvPr id="398" name="object 398"/>
          <p:cNvSpPr/>
          <p:nvPr/>
        </p:nvSpPr>
        <p:spPr>
          <a:xfrm>
            <a:off x="4051124" y="410429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399" name="object 399"/>
          <p:cNvSpPr/>
          <p:nvPr/>
        </p:nvSpPr>
        <p:spPr>
          <a:xfrm>
            <a:off x="4045839" y="4092405"/>
            <a:ext cx="137713" cy="24170"/>
          </a:xfrm>
          <a:custGeom>
            <a:avLst/>
            <a:gdLst/>
            <a:ahLst/>
            <a:cxnLst/>
            <a:rect l="l" t="t" r="r" b="b"/>
            <a:pathLst>
              <a:path w="155575" h="27304">
                <a:moveTo>
                  <a:pt x="155249" y="0"/>
                </a:moveTo>
                <a:lnTo>
                  <a:pt x="143308" y="0"/>
                </a:lnTo>
                <a:lnTo>
                  <a:pt x="0" y="13435"/>
                </a:lnTo>
                <a:lnTo>
                  <a:pt x="0" y="26869"/>
                </a:lnTo>
                <a:lnTo>
                  <a:pt x="11941" y="26869"/>
                </a:lnTo>
                <a:lnTo>
                  <a:pt x="155249" y="13435"/>
                </a:lnTo>
                <a:lnTo>
                  <a:pt x="155249" y="0"/>
                </a:lnTo>
                <a:close/>
              </a:path>
            </a:pathLst>
          </a:custGeom>
          <a:solidFill>
            <a:srgbClr val="000000"/>
          </a:solidFill>
        </p:spPr>
        <p:txBody>
          <a:bodyPr wrap="square" lIns="0" tIns="0" rIns="0" bIns="0" rtlCol="0"/>
          <a:lstStyle/>
          <a:p>
            <a:endParaRPr sz="1593"/>
          </a:p>
        </p:txBody>
      </p:sp>
      <p:sp>
        <p:nvSpPr>
          <p:cNvPr id="400" name="object 400"/>
          <p:cNvSpPr/>
          <p:nvPr/>
        </p:nvSpPr>
        <p:spPr>
          <a:xfrm>
            <a:off x="4172693" y="40924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01" name="object 401"/>
          <p:cNvSpPr/>
          <p:nvPr/>
        </p:nvSpPr>
        <p:spPr>
          <a:xfrm>
            <a:off x="4172693" y="40924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02" name="object 402"/>
          <p:cNvSpPr/>
          <p:nvPr/>
        </p:nvSpPr>
        <p:spPr>
          <a:xfrm>
            <a:off x="4172693" y="40924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03" name="object 403"/>
          <p:cNvSpPr/>
          <p:nvPr/>
        </p:nvSpPr>
        <p:spPr>
          <a:xfrm>
            <a:off x="4172693" y="4092405"/>
            <a:ext cx="137713" cy="24170"/>
          </a:xfrm>
          <a:custGeom>
            <a:avLst/>
            <a:gdLst/>
            <a:ahLst/>
            <a:cxnLst/>
            <a:rect l="l" t="t" r="r" b="b"/>
            <a:pathLst>
              <a:path w="155575" h="27304">
                <a:moveTo>
                  <a:pt x="11941" y="0"/>
                </a:moveTo>
                <a:lnTo>
                  <a:pt x="0" y="0"/>
                </a:lnTo>
                <a:lnTo>
                  <a:pt x="0" y="13435"/>
                </a:lnTo>
                <a:lnTo>
                  <a:pt x="143308" y="26869"/>
                </a:lnTo>
                <a:lnTo>
                  <a:pt x="155249" y="26869"/>
                </a:lnTo>
                <a:lnTo>
                  <a:pt x="155249" y="13435"/>
                </a:lnTo>
                <a:lnTo>
                  <a:pt x="11941" y="0"/>
                </a:lnTo>
                <a:close/>
              </a:path>
            </a:pathLst>
          </a:custGeom>
          <a:solidFill>
            <a:srgbClr val="000000"/>
          </a:solidFill>
        </p:spPr>
        <p:txBody>
          <a:bodyPr wrap="square" lIns="0" tIns="0" rIns="0" bIns="0" rtlCol="0"/>
          <a:lstStyle/>
          <a:p>
            <a:endParaRPr sz="1593"/>
          </a:p>
        </p:txBody>
      </p:sp>
      <p:sp>
        <p:nvSpPr>
          <p:cNvPr id="404" name="object 404"/>
          <p:cNvSpPr/>
          <p:nvPr/>
        </p:nvSpPr>
        <p:spPr>
          <a:xfrm>
            <a:off x="4304832" y="410429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05" name="object 405"/>
          <p:cNvSpPr/>
          <p:nvPr/>
        </p:nvSpPr>
        <p:spPr>
          <a:xfrm>
            <a:off x="4299547" y="4104297"/>
            <a:ext cx="127033" cy="59582"/>
          </a:xfrm>
          <a:custGeom>
            <a:avLst/>
            <a:gdLst/>
            <a:ahLst/>
            <a:cxnLst/>
            <a:rect l="l" t="t" r="r" b="b"/>
            <a:pathLst>
              <a:path w="143510" h="67310">
                <a:moveTo>
                  <a:pt x="11941" y="0"/>
                </a:moveTo>
                <a:lnTo>
                  <a:pt x="0" y="0"/>
                </a:lnTo>
                <a:lnTo>
                  <a:pt x="0" y="13434"/>
                </a:lnTo>
                <a:lnTo>
                  <a:pt x="131364" y="67172"/>
                </a:lnTo>
                <a:lnTo>
                  <a:pt x="143308" y="67172"/>
                </a:lnTo>
                <a:lnTo>
                  <a:pt x="143308" y="53738"/>
                </a:lnTo>
                <a:lnTo>
                  <a:pt x="11941" y="0"/>
                </a:lnTo>
                <a:close/>
              </a:path>
            </a:pathLst>
          </a:custGeom>
          <a:solidFill>
            <a:srgbClr val="000000"/>
          </a:solidFill>
        </p:spPr>
        <p:txBody>
          <a:bodyPr wrap="square" lIns="0" tIns="0" rIns="0" bIns="0" rtlCol="0"/>
          <a:lstStyle/>
          <a:p>
            <a:endParaRPr sz="1593"/>
          </a:p>
        </p:txBody>
      </p:sp>
      <p:sp>
        <p:nvSpPr>
          <p:cNvPr id="406" name="object 406"/>
          <p:cNvSpPr/>
          <p:nvPr/>
        </p:nvSpPr>
        <p:spPr>
          <a:xfrm>
            <a:off x="4421115" y="415186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07" name="object 407"/>
          <p:cNvSpPr/>
          <p:nvPr/>
        </p:nvSpPr>
        <p:spPr>
          <a:xfrm>
            <a:off x="4415829" y="4151867"/>
            <a:ext cx="106235" cy="71386"/>
          </a:xfrm>
          <a:custGeom>
            <a:avLst/>
            <a:gdLst/>
            <a:ahLst/>
            <a:cxnLst/>
            <a:rect l="l" t="t" r="r" b="b"/>
            <a:pathLst>
              <a:path w="120014" h="80645">
                <a:moveTo>
                  <a:pt x="11943" y="0"/>
                </a:moveTo>
                <a:lnTo>
                  <a:pt x="0" y="0"/>
                </a:lnTo>
                <a:lnTo>
                  <a:pt x="0" y="13434"/>
                </a:lnTo>
                <a:lnTo>
                  <a:pt x="107481" y="80608"/>
                </a:lnTo>
                <a:lnTo>
                  <a:pt x="119423" y="80608"/>
                </a:lnTo>
                <a:lnTo>
                  <a:pt x="119423" y="67172"/>
                </a:lnTo>
                <a:lnTo>
                  <a:pt x="11943" y="0"/>
                </a:lnTo>
                <a:close/>
              </a:path>
            </a:pathLst>
          </a:custGeom>
          <a:solidFill>
            <a:srgbClr val="000000"/>
          </a:solidFill>
        </p:spPr>
        <p:txBody>
          <a:bodyPr wrap="square" lIns="0" tIns="0" rIns="0" bIns="0" rtlCol="0"/>
          <a:lstStyle/>
          <a:p>
            <a:endParaRPr sz="1593"/>
          </a:p>
        </p:txBody>
      </p:sp>
      <p:sp>
        <p:nvSpPr>
          <p:cNvPr id="408" name="object 408"/>
          <p:cNvSpPr/>
          <p:nvPr/>
        </p:nvSpPr>
        <p:spPr>
          <a:xfrm>
            <a:off x="4516256" y="421132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09" name="object 409"/>
          <p:cNvSpPr/>
          <p:nvPr/>
        </p:nvSpPr>
        <p:spPr>
          <a:xfrm>
            <a:off x="4510969" y="4211327"/>
            <a:ext cx="106235" cy="95556"/>
          </a:xfrm>
          <a:custGeom>
            <a:avLst/>
            <a:gdLst/>
            <a:ahLst/>
            <a:cxnLst/>
            <a:rect l="l" t="t" r="r" b="b"/>
            <a:pathLst>
              <a:path w="120014" h="107950">
                <a:moveTo>
                  <a:pt x="11941" y="0"/>
                </a:moveTo>
                <a:lnTo>
                  <a:pt x="0" y="0"/>
                </a:lnTo>
                <a:lnTo>
                  <a:pt x="0" y="13435"/>
                </a:lnTo>
                <a:lnTo>
                  <a:pt x="107481" y="107478"/>
                </a:lnTo>
                <a:lnTo>
                  <a:pt x="119423" y="107478"/>
                </a:lnTo>
                <a:lnTo>
                  <a:pt x="119423" y="94043"/>
                </a:lnTo>
                <a:lnTo>
                  <a:pt x="11941" y="0"/>
                </a:lnTo>
                <a:close/>
              </a:path>
            </a:pathLst>
          </a:custGeom>
          <a:solidFill>
            <a:srgbClr val="000000"/>
          </a:solidFill>
        </p:spPr>
        <p:txBody>
          <a:bodyPr wrap="square" lIns="0" tIns="0" rIns="0" bIns="0" rtlCol="0"/>
          <a:lstStyle/>
          <a:p>
            <a:endParaRPr sz="1593"/>
          </a:p>
        </p:txBody>
      </p:sp>
      <p:sp>
        <p:nvSpPr>
          <p:cNvPr id="410" name="object 410"/>
          <p:cNvSpPr/>
          <p:nvPr/>
        </p:nvSpPr>
        <p:spPr>
          <a:xfrm>
            <a:off x="4611397" y="429457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11" name="object 411"/>
          <p:cNvSpPr/>
          <p:nvPr/>
        </p:nvSpPr>
        <p:spPr>
          <a:xfrm>
            <a:off x="4606111" y="4294573"/>
            <a:ext cx="84876" cy="107360"/>
          </a:xfrm>
          <a:custGeom>
            <a:avLst/>
            <a:gdLst/>
            <a:ahLst/>
            <a:cxnLst/>
            <a:rect l="l" t="t" r="r" b="b"/>
            <a:pathLst>
              <a:path w="95885" h="121285">
                <a:moveTo>
                  <a:pt x="11941" y="0"/>
                </a:moveTo>
                <a:lnTo>
                  <a:pt x="0" y="0"/>
                </a:lnTo>
                <a:lnTo>
                  <a:pt x="0" y="13435"/>
                </a:lnTo>
                <a:lnTo>
                  <a:pt x="83596" y="120912"/>
                </a:lnTo>
                <a:lnTo>
                  <a:pt x="95538" y="120912"/>
                </a:lnTo>
                <a:lnTo>
                  <a:pt x="95538" y="107477"/>
                </a:lnTo>
                <a:lnTo>
                  <a:pt x="11941" y="0"/>
                </a:lnTo>
                <a:close/>
              </a:path>
            </a:pathLst>
          </a:custGeom>
          <a:solidFill>
            <a:srgbClr val="000000"/>
          </a:solidFill>
        </p:spPr>
        <p:txBody>
          <a:bodyPr wrap="square" lIns="0" tIns="0" rIns="0" bIns="0" rtlCol="0"/>
          <a:lstStyle/>
          <a:p>
            <a:endParaRPr sz="1593"/>
          </a:p>
        </p:txBody>
      </p:sp>
      <p:sp>
        <p:nvSpPr>
          <p:cNvPr id="412" name="object 412"/>
          <p:cNvSpPr/>
          <p:nvPr/>
        </p:nvSpPr>
        <p:spPr>
          <a:xfrm>
            <a:off x="4685394" y="438970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13" name="object 413"/>
          <p:cNvSpPr/>
          <p:nvPr/>
        </p:nvSpPr>
        <p:spPr>
          <a:xfrm>
            <a:off x="4680109" y="4389711"/>
            <a:ext cx="74196" cy="130968"/>
          </a:xfrm>
          <a:custGeom>
            <a:avLst/>
            <a:gdLst/>
            <a:ahLst/>
            <a:cxnLst/>
            <a:rect l="l" t="t" r="r" b="b"/>
            <a:pathLst>
              <a:path w="83820" h="147954">
                <a:moveTo>
                  <a:pt x="11941" y="0"/>
                </a:moveTo>
                <a:lnTo>
                  <a:pt x="0" y="0"/>
                </a:lnTo>
                <a:lnTo>
                  <a:pt x="0" y="13435"/>
                </a:lnTo>
                <a:lnTo>
                  <a:pt x="71653" y="147782"/>
                </a:lnTo>
                <a:lnTo>
                  <a:pt x="83595" y="147782"/>
                </a:lnTo>
                <a:lnTo>
                  <a:pt x="83595" y="134346"/>
                </a:lnTo>
                <a:lnTo>
                  <a:pt x="11941" y="0"/>
                </a:lnTo>
                <a:close/>
              </a:path>
            </a:pathLst>
          </a:custGeom>
          <a:solidFill>
            <a:srgbClr val="000000"/>
          </a:solidFill>
        </p:spPr>
        <p:txBody>
          <a:bodyPr wrap="square" lIns="0" tIns="0" rIns="0" bIns="0" rtlCol="0"/>
          <a:lstStyle/>
          <a:p>
            <a:endParaRPr sz="1593"/>
          </a:p>
        </p:txBody>
      </p:sp>
      <p:sp>
        <p:nvSpPr>
          <p:cNvPr id="414" name="object 414"/>
          <p:cNvSpPr/>
          <p:nvPr/>
        </p:nvSpPr>
        <p:spPr>
          <a:xfrm>
            <a:off x="4748822" y="450863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15" name="object 415"/>
          <p:cNvSpPr/>
          <p:nvPr/>
        </p:nvSpPr>
        <p:spPr>
          <a:xfrm>
            <a:off x="4743535" y="4508632"/>
            <a:ext cx="42719" cy="142772"/>
          </a:xfrm>
          <a:custGeom>
            <a:avLst/>
            <a:gdLst/>
            <a:ahLst/>
            <a:cxnLst/>
            <a:rect l="l" t="t" r="r" b="b"/>
            <a:pathLst>
              <a:path w="48260" h="161289">
                <a:moveTo>
                  <a:pt x="11941" y="0"/>
                </a:moveTo>
                <a:lnTo>
                  <a:pt x="0" y="0"/>
                </a:lnTo>
                <a:lnTo>
                  <a:pt x="0" y="13435"/>
                </a:lnTo>
                <a:lnTo>
                  <a:pt x="35826" y="161216"/>
                </a:lnTo>
                <a:lnTo>
                  <a:pt x="47769" y="161216"/>
                </a:lnTo>
                <a:lnTo>
                  <a:pt x="47769" y="147782"/>
                </a:lnTo>
                <a:lnTo>
                  <a:pt x="11941" y="0"/>
                </a:lnTo>
                <a:close/>
              </a:path>
            </a:pathLst>
          </a:custGeom>
          <a:solidFill>
            <a:srgbClr val="000000"/>
          </a:solidFill>
        </p:spPr>
        <p:txBody>
          <a:bodyPr wrap="square" lIns="0" tIns="0" rIns="0" bIns="0" rtlCol="0"/>
          <a:lstStyle/>
          <a:p>
            <a:endParaRPr sz="1593"/>
          </a:p>
        </p:txBody>
      </p:sp>
      <p:sp>
        <p:nvSpPr>
          <p:cNvPr id="416" name="object 416"/>
          <p:cNvSpPr/>
          <p:nvPr/>
        </p:nvSpPr>
        <p:spPr>
          <a:xfrm>
            <a:off x="4780535" y="463944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17" name="object 417"/>
          <p:cNvSpPr/>
          <p:nvPr/>
        </p:nvSpPr>
        <p:spPr>
          <a:xfrm>
            <a:off x="4775248" y="4639447"/>
            <a:ext cx="21360" cy="142772"/>
          </a:xfrm>
          <a:custGeom>
            <a:avLst/>
            <a:gdLst/>
            <a:ahLst/>
            <a:cxnLst/>
            <a:rect l="l" t="t" r="r" b="b"/>
            <a:pathLst>
              <a:path w="24129" h="161289">
                <a:moveTo>
                  <a:pt x="11943" y="0"/>
                </a:moveTo>
                <a:lnTo>
                  <a:pt x="0" y="0"/>
                </a:lnTo>
                <a:lnTo>
                  <a:pt x="0" y="13434"/>
                </a:lnTo>
                <a:lnTo>
                  <a:pt x="11943" y="161216"/>
                </a:lnTo>
                <a:lnTo>
                  <a:pt x="23884" y="161216"/>
                </a:lnTo>
                <a:lnTo>
                  <a:pt x="23884" y="147782"/>
                </a:lnTo>
                <a:lnTo>
                  <a:pt x="11943" y="0"/>
                </a:lnTo>
                <a:close/>
              </a:path>
            </a:pathLst>
          </a:custGeom>
          <a:solidFill>
            <a:srgbClr val="000000"/>
          </a:solidFill>
        </p:spPr>
        <p:txBody>
          <a:bodyPr wrap="square" lIns="0" tIns="0" rIns="0" bIns="0" rtlCol="0"/>
          <a:lstStyle/>
          <a:p>
            <a:endParaRPr sz="1593"/>
          </a:p>
        </p:txBody>
      </p:sp>
      <p:sp>
        <p:nvSpPr>
          <p:cNvPr id="418" name="object 418"/>
          <p:cNvSpPr/>
          <p:nvPr/>
        </p:nvSpPr>
        <p:spPr>
          <a:xfrm>
            <a:off x="4791106" y="477026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19" name="object 419"/>
          <p:cNvSpPr txBox="1"/>
          <p:nvPr/>
        </p:nvSpPr>
        <p:spPr>
          <a:xfrm>
            <a:off x="3928885" y="4514039"/>
            <a:ext cx="560968" cy="377103"/>
          </a:xfrm>
          <a:prstGeom prst="rect">
            <a:avLst/>
          </a:prstGeom>
        </p:spPr>
        <p:txBody>
          <a:bodyPr vert="horz" wrap="square" lIns="0" tIns="10680" rIns="0" bIns="0" rtlCol="0">
            <a:spAutoFit/>
          </a:bodyPr>
          <a:lstStyle/>
          <a:p>
            <a:pPr marL="11242" marR="4497">
              <a:lnSpc>
                <a:spcPct val="112799"/>
              </a:lnSpc>
              <a:spcBef>
                <a:spcPts val="84"/>
              </a:spcBef>
            </a:pPr>
            <a:r>
              <a:rPr sz="1107" spc="-93" dirty="0">
                <a:latin typeface="Verdana"/>
                <a:cs typeface="Verdana"/>
              </a:rPr>
              <a:t>reusable  </a:t>
            </a:r>
            <a:r>
              <a:rPr sz="1107" spc="-71" dirty="0">
                <a:latin typeface="Verdana"/>
                <a:cs typeface="Verdana"/>
              </a:rPr>
              <a:t>s</a:t>
            </a:r>
            <a:r>
              <a:rPr sz="1107" spc="-35" dirty="0">
                <a:latin typeface="Verdana"/>
                <a:cs typeface="Verdana"/>
              </a:rPr>
              <a:t>of</a:t>
            </a:r>
            <a:r>
              <a:rPr sz="1107" spc="4" dirty="0">
                <a:latin typeface="Verdana"/>
                <a:cs typeface="Verdana"/>
              </a:rPr>
              <a:t>t</a:t>
            </a:r>
            <a:r>
              <a:rPr sz="1107" spc="-128" dirty="0">
                <a:latin typeface="Verdana"/>
                <a:cs typeface="Verdana"/>
              </a:rPr>
              <a:t>w</a:t>
            </a:r>
            <a:r>
              <a:rPr sz="1107" spc="-115" dirty="0">
                <a:latin typeface="Verdana"/>
                <a:cs typeface="Verdana"/>
              </a:rPr>
              <a:t>a</a:t>
            </a:r>
            <a:r>
              <a:rPr sz="1107" spc="-89" dirty="0">
                <a:latin typeface="Verdana"/>
                <a:cs typeface="Verdana"/>
              </a:rPr>
              <a:t>r</a:t>
            </a:r>
            <a:r>
              <a:rPr sz="1107" spc="-84" dirty="0">
                <a:latin typeface="Verdana"/>
                <a:cs typeface="Verdana"/>
              </a:rPr>
              <a:t>e</a:t>
            </a:r>
            <a:endParaRPr sz="1107">
              <a:latin typeface="Verdana"/>
              <a:cs typeface="Verdana"/>
            </a:endParaRPr>
          </a:p>
        </p:txBody>
      </p:sp>
      <p:sp>
        <p:nvSpPr>
          <p:cNvPr id="420" name="object 420"/>
          <p:cNvSpPr/>
          <p:nvPr/>
        </p:nvSpPr>
        <p:spPr>
          <a:xfrm>
            <a:off x="2935865" y="4698908"/>
            <a:ext cx="782432" cy="618864"/>
          </a:xfrm>
          <a:custGeom>
            <a:avLst/>
            <a:gdLst/>
            <a:ahLst/>
            <a:cxnLst/>
            <a:rect l="l" t="t" r="r" b="b"/>
            <a:pathLst>
              <a:path w="883920" h="699135">
                <a:moveTo>
                  <a:pt x="441866" y="0"/>
                </a:moveTo>
                <a:lnTo>
                  <a:pt x="274673" y="26869"/>
                </a:lnTo>
                <a:lnTo>
                  <a:pt x="131366" y="107478"/>
                </a:lnTo>
                <a:lnTo>
                  <a:pt x="71653" y="161217"/>
                </a:lnTo>
                <a:lnTo>
                  <a:pt x="35826" y="214956"/>
                </a:lnTo>
                <a:lnTo>
                  <a:pt x="11943" y="282129"/>
                </a:lnTo>
                <a:lnTo>
                  <a:pt x="0" y="349303"/>
                </a:lnTo>
                <a:lnTo>
                  <a:pt x="11943" y="416476"/>
                </a:lnTo>
                <a:lnTo>
                  <a:pt x="35826" y="483650"/>
                </a:lnTo>
                <a:lnTo>
                  <a:pt x="71653" y="550823"/>
                </a:lnTo>
                <a:lnTo>
                  <a:pt x="131366" y="604562"/>
                </a:lnTo>
                <a:lnTo>
                  <a:pt x="274673" y="671736"/>
                </a:lnTo>
                <a:lnTo>
                  <a:pt x="441866" y="698605"/>
                </a:lnTo>
                <a:lnTo>
                  <a:pt x="609058" y="671736"/>
                </a:lnTo>
                <a:lnTo>
                  <a:pt x="752367" y="604562"/>
                </a:lnTo>
                <a:lnTo>
                  <a:pt x="800135" y="550823"/>
                </a:lnTo>
                <a:lnTo>
                  <a:pt x="847905" y="483650"/>
                </a:lnTo>
                <a:lnTo>
                  <a:pt x="871790" y="416476"/>
                </a:lnTo>
                <a:lnTo>
                  <a:pt x="883732" y="349303"/>
                </a:lnTo>
                <a:lnTo>
                  <a:pt x="871790" y="282129"/>
                </a:lnTo>
                <a:lnTo>
                  <a:pt x="847905" y="214956"/>
                </a:lnTo>
                <a:lnTo>
                  <a:pt x="752367" y="107478"/>
                </a:lnTo>
                <a:lnTo>
                  <a:pt x="609058" y="26869"/>
                </a:lnTo>
                <a:lnTo>
                  <a:pt x="441866" y="0"/>
                </a:lnTo>
                <a:close/>
              </a:path>
            </a:pathLst>
          </a:custGeom>
          <a:solidFill>
            <a:srgbClr val="FFFFFF"/>
          </a:solidFill>
        </p:spPr>
        <p:txBody>
          <a:bodyPr wrap="square" lIns="0" tIns="0" rIns="0" bIns="0" rtlCol="0"/>
          <a:lstStyle/>
          <a:p>
            <a:endParaRPr sz="1593"/>
          </a:p>
        </p:txBody>
      </p:sp>
      <p:sp>
        <p:nvSpPr>
          <p:cNvPr id="421" name="object 421"/>
          <p:cNvSpPr/>
          <p:nvPr/>
        </p:nvSpPr>
        <p:spPr>
          <a:xfrm>
            <a:off x="3707561" y="5008105"/>
            <a:ext cx="21360" cy="71386"/>
          </a:xfrm>
          <a:custGeom>
            <a:avLst/>
            <a:gdLst/>
            <a:ahLst/>
            <a:cxnLst/>
            <a:rect l="l" t="t" r="r" b="b"/>
            <a:pathLst>
              <a:path w="24129" h="80645">
                <a:moveTo>
                  <a:pt x="23884" y="0"/>
                </a:moveTo>
                <a:lnTo>
                  <a:pt x="11941" y="0"/>
                </a:lnTo>
                <a:lnTo>
                  <a:pt x="0" y="67173"/>
                </a:lnTo>
                <a:lnTo>
                  <a:pt x="0" y="80608"/>
                </a:lnTo>
                <a:lnTo>
                  <a:pt x="11941" y="80608"/>
                </a:lnTo>
                <a:lnTo>
                  <a:pt x="23884" y="13434"/>
                </a:lnTo>
                <a:lnTo>
                  <a:pt x="23884" y="0"/>
                </a:lnTo>
                <a:close/>
              </a:path>
            </a:pathLst>
          </a:custGeom>
          <a:solidFill>
            <a:srgbClr val="000000"/>
          </a:solidFill>
        </p:spPr>
        <p:txBody>
          <a:bodyPr wrap="square" lIns="0" tIns="0" rIns="0" bIns="0" rtlCol="0"/>
          <a:lstStyle/>
          <a:p>
            <a:endParaRPr sz="1593"/>
          </a:p>
        </p:txBody>
      </p:sp>
      <p:sp>
        <p:nvSpPr>
          <p:cNvPr id="422" name="object 422"/>
          <p:cNvSpPr/>
          <p:nvPr/>
        </p:nvSpPr>
        <p:spPr>
          <a:xfrm>
            <a:off x="3712846" y="506756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23" name="object 423"/>
          <p:cNvSpPr/>
          <p:nvPr/>
        </p:nvSpPr>
        <p:spPr>
          <a:xfrm>
            <a:off x="3686419" y="5067566"/>
            <a:ext cx="32039" cy="71386"/>
          </a:xfrm>
          <a:custGeom>
            <a:avLst/>
            <a:gdLst/>
            <a:ahLst/>
            <a:cxnLst/>
            <a:rect l="l" t="t" r="r" b="b"/>
            <a:pathLst>
              <a:path w="36195" h="80645">
                <a:moveTo>
                  <a:pt x="35826" y="0"/>
                </a:moveTo>
                <a:lnTo>
                  <a:pt x="23884" y="0"/>
                </a:lnTo>
                <a:lnTo>
                  <a:pt x="0" y="67173"/>
                </a:lnTo>
                <a:lnTo>
                  <a:pt x="0" y="80608"/>
                </a:lnTo>
                <a:lnTo>
                  <a:pt x="11941" y="80608"/>
                </a:lnTo>
                <a:lnTo>
                  <a:pt x="35826" y="13434"/>
                </a:lnTo>
                <a:lnTo>
                  <a:pt x="35826" y="0"/>
                </a:lnTo>
                <a:close/>
              </a:path>
            </a:pathLst>
          </a:custGeom>
          <a:solidFill>
            <a:srgbClr val="000000"/>
          </a:solidFill>
        </p:spPr>
        <p:txBody>
          <a:bodyPr wrap="square" lIns="0" tIns="0" rIns="0" bIns="0" rtlCol="0"/>
          <a:lstStyle/>
          <a:p>
            <a:endParaRPr sz="1593"/>
          </a:p>
        </p:txBody>
      </p:sp>
      <p:sp>
        <p:nvSpPr>
          <p:cNvPr id="424" name="object 424"/>
          <p:cNvSpPr/>
          <p:nvPr/>
        </p:nvSpPr>
        <p:spPr>
          <a:xfrm>
            <a:off x="3691704" y="512702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25" name="object 425"/>
          <p:cNvSpPr/>
          <p:nvPr/>
        </p:nvSpPr>
        <p:spPr>
          <a:xfrm>
            <a:off x="3644134" y="5127027"/>
            <a:ext cx="53399" cy="71386"/>
          </a:xfrm>
          <a:custGeom>
            <a:avLst/>
            <a:gdLst/>
            <a:ahLst/>
            <a:cxnLst/>
            <a:rect l="l" t="t" r="r" b="b"/>
            <a:pathLst>
              <a:path w="60325" h="80645">
                <a:moveTo>
                  <a:pt x="59711" y="0"/>
                </a:moveTo>
                <a:lnTo>
                  <a:pt x="47769" y="0"/>
                </a:lnTo>
                <a:lnTo>
                  <a:pt x="0" y="67173"/>
                </a:lnTo>
                <a:lnTo>
                  <a:pt x="0" y="80608"/>
                </a:lnTo>
                <a:lnTo>
                  <a:pt x="11943" y="80608"/>
                </a:lnTo>
                <a:lnTo>
                  <a:pt x="59711" y="13434"/>
                </a:lnTo>
                <a:lnTo>
                  <a:pt x="59711" y="0"/>
                </a:lnTo>
                <a:close/>
              </a:path>
            </a:pathLst>
          </a:custGeom>
          <a:solidFill>
            <a:srgbClr val="000000"/>
          </a:solidFill>
        </p:spPr>
        <p:txBody>
          <a:bodyPr wrap="square" lIns="0" tIns="0" rIns="0" bIns="0" rtlCol="0"/>
          <a:lstStyle/>
          <a:p>
            <a:endParaRPr sz="1593"/>
          </a:p>
        </p:txBody>
      </p:sp>
      <p:sp>
        <p:nvSpPr>
          <p:cNvPr id="426" name="object 426"/>
          <p:cNvSpPr/>
          <p:nvPr/>
        </p:nvSpPr>
        <p:spPr>
          <a:xfrm>
            <a:off x="3649419" y="518648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27" name="object 427"/>
          <p:cNvSpPr/>
          <p:nvPr/>
        </p:nvSpPr>
        <p:spPr>
          <a:xfrm>
            <a:off x="3601849" y="5186488"/>
            <a:ext cx="53399" cy="59582"/>
          </a:xfrm>
          <a:custGeom>
            <a:avLst/>
            <a:gdLst/>
            <a:ahLst/>
            <a:cxnLst/>
            <a:rect l="l" t="t" r="r" b="b"/>
            <a:pathLst>
              <a:path w="60325" h="67310">
                <a:moveTo>
                  <a:pt x="59711" y="0"/>
                </a:moveTo>
                <a:lnTo>
                  <a:pt x="47768" y="0"/>
                </a:lnTo>
                <a:lnTo>
                  <a:pt x="0" y="53738"/>
                </a:lnTo>
                <a:lnTo>
                  <a:pt x="0" y="67173"/>
                </a:lnTo>
                <a:lnTo>
                  <a:pt x="11941" y="67173"/>
                </a:lnTo>
                <a:lnTo>
                  <a:pt x="59711" y="13434"/>
                </a:lnTo>
                <a:lnTo>
                  <a:pt x="59711" y="0"/>
                </a:lnTo>
                <a:close/>
              </a:path>
            </a:pathLst>
          </a:custGeom>
          <a:solidFill>
            <a:srgbClr val="000000"/>
          </a:solidFill>
        </p:spPr>
        <p:txBody>
          <a:bodyPr wrap="square" lIns="0" tIns="0" rIns="0" bIns="0" rtlCol="0"/>
          <a:lstStyle/>
          <a:p>
            <a:endParaRPr sz="1593"/>
          </a:p>
        </p:txBody>
      </p:sp>
      <p:sp>
        <p:nvSpPr>
          <p:cNvPr id="428" name="object 428"/>
          <p:cNvSpPr/>
          <p:nvPr/>
        </p:nvSpPr>
        <p:spPr>
          <a:xfrm>
            <a:off x="3607134" y="523405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29" name="object 429"/>
          <p:cNvSpPr/>
          <p:nvPr/>
        </p:nvSpPr>
        <p:spPr>
          <a:xfrm>
            <a:off x="3474995" y="5234057"/>
            <a:ext cx="137713" cy="71386"/>
          </a:xfrm>
          <a:custGeom>
            <a:avLst/>
            <a:gdLst/>
            <a:ahLst/>
            <a:cxnLst/>
            <a:rect l="l" t="t" r="r" b="b"/>
            <a:pathLst>
              <a:path w="155575" h="80645">
                <a:moveTo>
                  <a:pt x="155249" y="0"/>
                </a:moveTo>
                <a:lnTo>
                  <a:pt x="143308" y="0"/>
                </a:lnTo>
                <a:lnTo>
                  <a:pt x="0" y="67173"/>
                </a:lnTo>
                <a:lnTo>
                  <a:pt x="0" y="80608"/>
                </a:lnTo>
                <a:lnTo>
                  <a:pt x="11941" y="80608"/>
                </a:lnTo>
                <a:lnTo>
                  <a:pt x="155249" y="13434"/>
                </a:lnTo>
                <a:lnTo>
                  <a:pt x="155249" y="0"/>
                </a:lnTo>
                <a:close/>
              </a:path>
            </a:pathLst>
          </a:custGeom>
          <a:solidFill>
            <a:srgbClr val="000000"/>
          </a:solidFill>
        </p:spPr>
        <p:txBody>
          <a:bodyPr wrap="square" lIns="0" tIns="0" rIns="0" bIns="0" rtlCol="0"/>
          <a:lstStyle/>
          <a:p>
            <a:endParaRPr sz="1593"/>
          </a:p>
        </p:txBody>
      </p:sp>
      <p:sp>
        <p:nvSpPr>
          <p:cNvPr id="430" name="object 430"/>
          <p:cNvSpPr/>
          <p:nvPr/>
        </p:nvSpPr>
        <p:spPr>
          <a:xfrm>
            <a:off x="3480280" y="529351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31" name="object 431"/>
          <p:cNvSpPr/>
          <p:nvPr/>
        </p:nvSpPr>
        <p:spPr>
          <a:xfrm>
            <a:off x="3326999" y="5293518"/>
            <a:ext cx="159072" cy="35974"/>
          </a:xfrm>
          <a:custGeom>
            <a:avLst/>
            <a:gdLst/>
            <a:ahLst/>
            <a:cxnLst/>
            <a:rect l="l" t="t" r="r" b="b"/>
            <a:pathLst>
              <a:path w="179704" h="40639">
                <a:moveTo>
                  <a:pt x="179134" y="0"/>
                </a:moveTo>
                <a:lnTo>
                  <a:pt x="167192" y="0"/>
                </a:lnTo>
                <a:lnTo>
                  <a:pt x="0" y="26869"/>
                </a:lnTo>
                <a:lnTo>
                  <a:pt x="0" y="40304"/>
                </a:lnTo>
                <a:lnTo>
                  <a:pt x="11943" y="40304"/>
                </a:lnTo>
                <a:lnTo>
                  <a:pt x="179134" y="13434"/>
                </a:lnTo>
                <a:lnTo>
                  <a:pt x="179134" y="0"/>
                </a:lnTo>
                <a:close/>
              </a:path>
            </a:pathLst>
          </a:custGeom>
          <a:solidFill>
            <a:srgbClr val="000000"/>
          </a:solidFill>
        </p:spPr>
        <p:txBody>
          <a:bodyPr wrap="square" lIns="0" tIns="0" rIns="0" bIns="0" rtlCol="0"/>
          <a:lstStyle/>
          <a:p>
            <a:endParaRPr sz="1593"/>
          </a:p>
        </p:txBody>
      </p:sp>
      <p:sp>
        <p:nvSpPr>
          <p:cNvPr id="432" name="object 432"/>
          <p:cNvSpPr/>
          <p:nvPr/>
        </p:nvSpPr>
        <p:spPr>
          <a:xfrm>
            <a:off x="3326998" y="531730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33" name="object 433"/>
          <p:cNvSpPr/>
          <p:nvPr/>
        </p:nvSpPr>
        <p:spPr>
          <a:xfrm>
            <a:off x="3326998" y="531730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34" name="object 434"/>
          <p:cNvSpPr/>
          <p:nvPr/>
        </p:nvSpPr>
        <p:spPr>
          <a:xfrm>
            <a:off x="3326998" y="531730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35" name="object 435"/>
          <p:cNvSpPr/>
          <p:nvPr/>
        </p:nvSpPr>
        <p:spPr>
          <a:xfrm>
            <a:off x="3179002" y="5293518"/>
            <a:ext cx="159072" cy="35974"/>
          </a:xfrm>
          <a:custGeom>
            <a:avLst/>
            <a:gdLst/>
            <a:ahLst/>
            <a:cxnLst/>
            <a:rect l="l" t="t" r="r" b="b"/>
            <a:pathLst>
              <a:path w="179704" h="40639">
                <a:moveTo>
                  <a:pt x="11943" y="0"/>
                </a:moveTo>
                <a:lnTo>
                  <a:pt x="0" y="0"/>
                </a:lnTo>
                <a:lnTo>
                  <a:pt x="0" y="13434"/>
                </a:lnTo>
                <a:lnTo>
                  <a:pt x="167192" y="40304"/>
                </a:lnTo>
                <a:lnTo>
                  <a:pt x="179136" y="40304"/>
                </a:lnTo>
                <a:lnTo>
                  <a:pt x="179136" y="26869"/>
                </a:lnTo>
                <a:lnTo>
                  <a:pt x="11943" y="0"/>
                </a:lnTo>
                <a:close/>
              </a:path>
            </a:pathLst>
          </a:custGeom>
          <a:solidFill>
            <a:srgbClr val="000000"/>
          </a:solidFill>
        </p:spPr>
        <p:txBody>
          <a:bodyPr wrap="square" lIns="0" tIns="0" rIns="0" bIns="0" rtlCol="0"/>
          <a:lstStyle/>
          <a:p>
            <a:endParaRPr sz="1593"/>
          </a:p>
        </p:txBody>
      </p:sp>
      <p:sp>
        <p:nvSpPr>
          <p:cNvPr id="436" name="object 436"/>
          <p:cNvSpPr/>
          <p:nvPr/>
        </p:nvSpPr>
        <p:spPr>
          <a:xfrm>
            <a:off x="3184288" y="529351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37" name="object 437"/>
          <p:cNvSpPr/>
          <p:nvPr/>
        </p:nvSpPr>
        <p:spPr>
          <a:xfrm>
            <a:off x="3052148" y="5234057"/>
            <a:ext cx="137713" cy="71386"/>
          </a:xfrm>
          <a:custGeom>
            <a:avLst/>
            <a:gdLst/>
            <a:ahLst/>
            <a:cxnLst/>
            <a:rect l="l" t="t" r="r" b="b"/>
            <a:pathLst>
              <a:path w="155575" h="80645">
                <a:moveTo>
                  <a:pt x="11941" y="0"/>
                </a:moveTo>
                <a:lnTo>
                  <a:pt x="0" y="0"/>
                </a:lnTo>
                <a:lnTo>
                  <a:pt x="0" y="13434"/>
                </a:lnTo>
                <a:lnTo>
                  <a:pt x="143306" y="80608"/>
                </a:lnTo>
                <a:lnTo>
                  <a:pt x="155249" y="80608"/>
                </a:lnTo>
                <a:lnTo>
                  <a:pt x="155249" y="67173"/>
                </a:lnTo>
                <a:lnTo>
                  <a:pt x="11941" y="0"/>
                </a:lnTo>
                <a:close/>
              </a:path>
            </a:pathLst>
          </a:custGeom>
          <a:solidFill>
            <a:srgbClr val="000000"/>
          </a:solidFill>
        </p:spPr>
        <p:txBody>
          <a:bodyPr wrap="square" lIns="0" tIns="0" rIns="0" bIns="0" rtlCol="0"/>
          <a:lstStyle/>
          <a:p>
            <a:endParaRPr sz="1593"/>
          </a:p>
        </p:txBody>
      </p:sp>
      <p:sp>
        <p:nvSpPr>
          <p:cNvPr id="438" name="object 438"/>
          <p:cNvSpPr/>
          <p:nvPr/>
        </p:nvSpPr>
        <p:spPr>
          <a:xfrm>
            <a:off x="3057434" y="523405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39" name="object 439"/>
          <p:cNvSpPr/>
          <p:nvPr/>
        </p:nvSpPr>
        <p:spPr>
          <a:xfrm>
            <a:off x="2999293" y="5186488"/>
            <a:ext cx="63516" cy="59582"/>
          </a:xfrm>
          <a:custGeom>
            <a:avLst/>
            <a:gdLst/>
            <a:ahLst/>
            <a:cxnLst/>
            <a:rect l="l" t="t" r="r" b="b"/>
            <a:pathLst>
              <a:path w="71754" h="67310">
                <a:moveTo>
                  <a:pt x="11943" y="0"/>
                </a:moveTo>
                <a:lnTo>
                  <a:pt x="0" y="0"/>
                </a:lnTo>
                <a:lnTo>
                  <a:pt x="0" y="13434"/>
                </a:lnTo>
                <a:lnTo>
                  <a:pt x="59712" y="67173"/>
                </a:lnTo>
                <a:lnTo>
                  <a:pt x="71654" y="67173"/>
                </a:lnTo>
                <a:lnTo>
                  <a:pt x="71654" y="53738"/>
                </a:lnTo>
                <a:lnTo>
                  <a:pt x="11943" y="0"/>
                </a:lnTo>
                <a:close/>
              </a:path>
            </a:pathLst>
          </a:custGeom>
          <a:solidFill>
            <a:srgbClr val="000000"/>
          </a:solidFill>
        </p:spPr>
        <p:txBody>
          <a:bodyPr wrap="square" lIns="0" tIns="0" rIns="0" bIns="0" rtlCol="0"/>
          <a:lstStyle/>
          <a:p>
            <a:endParaRPr sz="1593"/>
          </a:p>
        </p:txBody>
      </p:sp>
      <p:sp>
        <p:nvSpPr>
          <p:cNvPr id="440" name="object 440"/>
          <p:cNvSpPr/>
          <p:nvPr/>
        </p:nvSpPr>
        <p:spPr>
          <a:xfrm>
            <a:off x="3004577" y="518648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41" name="object 441"/>
          <p:cNvSpPr/>
          <p:nvPr/>
        </p:nvSpPr>
        <p:spPr>
          <a:xfrm>
            <a:off x="2967578" y="5127027"/>
            <a:ext cx="42719" cy="71386"/>
          </a:xfrm>
          <a:custGeom>
            <a:avLst/>
            <a:gdLst/>
            <a:ahLst/>
            <a:cxnLst/>
            <a:rect l="l" t="t" r="r" b="b"/>
            <a:pathLst>
              <a:path w="48260" h="80645">
                <a:moveTo>
                  <a:pt x="11943" y="0"/>
                </a:moveTo>
                <a:lnTo>
                  <a:pt x="0" y="0"/>
                </a:lnTo>
                <a:lnTo>
                  <a:pt x="0" y="13434"/>
                </a:lnTo>
                <a:lnTo>
                  <a:pt x="35826" y="80608"/>
                </a:lnTo>
                <a:lnTo>
                  <a:pt x="47769" y="80608"/>
                </a:lnTo>
                <a:lnTo>
                  <a:pt x="47769" y="67173"/>
                </a:lnTo>
                <a:lnTo>
                  <a:pt x="11943" y="0"/>
                </a:lnTo>
                <a:close/>
              </a:path>
            </a:pathLst>
          </a:custGeom>
          <a:solidFill>
            <a:srgbClr val="000000"/>
          </a:solidFill>
        </p:spPr>
        <p:txBody>
          <a:bodyPr wrap="square" lIns="0" tIns="0" rIns="0" bIns="0" rtlCol="0"/>
          <a:lstStyle/>
          <a:p>
            <a:endParaRPr sz="1593"/>
          </a:p>
        </p:txBody>
      </p:sp>
      <p:sp>
        <p:nvSpPr>
          <p:cNvPr id="442" name="object 442"/>
          <p:cNvSpPr/>
          <p:nvPr/>
        </p:nvSpPr>
        <p:spPr>
          <a:xfrm>
            <a:off x="2972865" y="512702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43" name="object 443"/>
          <p:cNvSpPr/>
          <p:nvPr/>
        </p:nvSpPr>
        <p:spPr>
          <a:xfrm>
            <a:off x="2946437" y="5067566"/>
            <a:ext cx="32039" cy="71386"/>
          </a:xfrm>
          <a:custGeom>
            <a:avLst/>
            <a:gdLst/>
            <a:ahLst/>
            <a:cxnLst/>
            <a:rect l="l" t="t" r="r" b="b"/>
            <a:pathLst>
              <a:path w="36195" h="80645">
                <a:moveTo>
                  <a:pt x="11941" y="0"/>
                </a:moveTo>
                <a:lnTo>
                  <a:pt x="0" y="0"/>
                </a:lnTo>
                <a:lnTo>
                  <a:pt x="0" y="13434"/>
                </a:lnTo>
                <a:lnTo>
                  <a:pt x="23883" y="80608"/>
                </a:lnTo>
                <a:lnTo>
                  <a:pt x="35826" y="80608"/>
                </a:lnTo>
                <a:lnTo>
                  <a:pt x="35826" y="67173"/>
                </a:lnTo>
                <a:lnTo>
                  <a:pt x="11941" y="0"/>
                </a:lnTo>
                <a:close/>
              </a:path>
            </a:pathLst>
          </a:custGeom>
          <a:solidFill>
            <a:srgbClr val="000000"/>
          </a:solidFill>
        </p:spPr>
        <p:txBody>
          <a:bodyPr wrap="square" lIns="0" tIns="0" rIns="0" bIns="0" rtlCol="0"/>
          <a:lstStyle/>
          <a:p>
            <a:endParaRPr sz="1593"/>
          </a:p>
        </p:txBody>
      </p:sp>
      <p:sp>
        <p:nvSpPr>
          <p:cNvPr id="444" name="object 444"/>
          <p:cNvSpPr/>
          <p:nvPr/>
        </p:nvSpPr>
        <p:spPr>
          <a:xfrm>
            <a:off x="2951722" y="506756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45" name="object 445"/>
          <p:cNvSpPr/>
          <p:nvPr/>
        </p:nvSpPr>
        <p:spPr>
          <a:xfrm>
            <a:off x="2935865" y="5008105"/>
            <a:ext cx="21360" cy="71386"/>
          </a:xfrm>
          <a:custGeom>
            <a:avLst/>
            <a:gdLst/>
            <a:ahLst/>
            <a:cxnLst/>
            <a:rect l="l" t="t" r="r" b="b"/>
            <a:pathLst>
              <a:path w="24129" h="80645">
                <a:moveTo>
                  <a:pt x="11943" y="0"/>
                </a:moveTo>
                <a:lnTo>
                  <a:pt x="0" y="0"/>
                </a:lnTo>
                <a:lnTo>
                  <a:pt x="0" y="13434"/>
                </a:lnTo>
                <a:lnTo>
                  <a:pt x="11943" y="80608"/>
                </a:lnTo>
                <a:lnTo>
                  <a:pt x="23884" y="80608"/>
                </a:lnTo>
                <a:lnTo>
                  <a:pt x="23884" y="67173"/>
                </a:lnTo>
                <a:lnTo>
                  <a:pt x="11943" y="0"/>
                </a:lnTo>
                <a:close/>
              </a:path>
            </a:pathLst>
          </a:custGeom>
          <a:solidFill>
            <a:srgbClr val="000000"/>
          </a:solidFill>
        </p:spPr>
        <p:txBody>
          <a:bodyPr wrap="square" lIns="0" tIns="0" rIns="0" bIns="0" rtlCol="0"/>
          <a:lstStyle/>
          <a:p>
            <a:endParaRPr sz="1593"/>
          </a:p>
        </p:txBody>
      </p:sp>
      <p:sp>
        <p:nvSpPr>
          <p:cNvPr id="446" name="object 446"/>
          <p:cNvSpPr/>
          <p:nvPr/>
        </p:nvSpPr>
        <p:spPr>
          <a:xfrm>
            <a:off x="2935865" y="50081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47" name="object 447"/>
          <p:cNvSpPr/>
          <p:nvPr/>
        </p:nvSpPr>
        <p:spPr>
          <a:xfrm>
            <a:off x="2935865" y="50081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48" name="object 448"/>
          <p:cNvSpPr/>
          <p:nvPr/>
        </p:nvSpPr>
        <p:spPr>
          <a:xfrm>
            <a:off x="2935865" y="50081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49" name="object 449"/>
          <p:cNvSpPr/>
          <p:nvPr/>
        </p:nvSpPr>
        <p:spPr>
          <a:xfrm>
            <a:off x="2935865" y="4948644"/>
            <a:ext cx="21360" cy="71386"/>
          </a:xfrm>
          <a:custGeom>
            <a:avLst/>
            <a:gdLst/>
            <a:ahLst/>
            <a:cxnLst/>
            <a:rect l="l" t="t" r="r" b="b"/>
            <a:pathLst>
              <a:path w="24129" h="80645">
                <a:moveTo>
                  <a:pt x="23884" y="0"/>
                </a:moveTo>
                <a:lnTo>
                  <a:pt x="11943" y="0"/>
                </a:lnTo>
                <a:lnTo>
                  <a:pt x="0" y="67173"/>
                </a:lnTo>
                <a:lnTo>
                  <a:pt x="0" y="80608"/>
                </a:lnTo>
                <a:lnTo>
                  <a:pt x="11943" y="80608"/>
                </a:lnTo>
                <a:lnTo>
                  <a:pt x="23884" y="13434"/>
                </a:lnTo>
                <a:lnTo>
                  <a:pt x="23884" y="0"/>
                </a:lnTo>
                <a:close/>
              </a:path>
            </a:pathLst>
          </a:custGeom>
          <a:solidFill>
            <a:srgbClr val="000000"/>
          </a:solidFill>
        </p:spPr>
        <p:txBody>
          <a:bodyPr wrap="square" lIns="0" tIns="0" rIns="0" bIns="0" rtlCol="0"/>
          <a:lstStyle/>
          <a:p>
            <a:endParaRPr sz="1593"/>
          </a:p>
        </p:txBody>
      </p:sp>
      <p:sp>
        <p:nvSpPr>
          <p:cNvPr id="450" name="object 450"/>
          <p:cNvSpPr/>
          <p:nvPr/>
        </p:nvSpPr>
        <p:spPr>
          <a:xfrm>
            <a:off x="2951722" y="494864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51" name="object 451"/>
          <p:cNvSpPr/>
          <p:nvPr/>
        </p:nvSpPr>
        <p:spPr>
          <a:xfrm>
            <a:off x="2946437" y="4889183"/>
            <a:ext cx="32039" cy="71386"/>
          </a:xfrm>
          <a:custGeom>
            <a:avLst/>
            <a:gdLst/>
            <a:ahLst/>
            <a:cxnLst/>
            <a:rect l="l" t="t" r="r" b="b"/>
            <a:pathLst>
              <a:path w="36195" h="80645">
                <a:moveTo>
                  <a:pt x="35826" y="0"/>
                </a:moveTo>
                <a:lnTo>
                  <a:pt x="23883" y="0"/>
                </a:lnTo>
                <a:lnTo>
                  <a:pt x="0" y="67173"/>
                </a:lnTo>
                <a:lnTo>
                  <a:pt x="0" y="80607"/>
                </a:lnTo>
                <a:lnTo>
                  <a:pt x="11941" y="80607"/>
                </a:lnTo>
                <a:lnTo>
                  <a:pt x="35826" y="13434"/>
                </a:lnTo>
                <a:lnTo>
                  <a:pt x="35826" y="0"/>
                </a:lnTo>
                <a:close/>
              </a:path>
            </a:pathLst>
          </a:custGeom>
          <a:solidFill>
            <a:srgbClr val="000000"/>
          </a:solidFill>
        </p:spPr>
        <p:txBody>
          <a:bodyPr wrap="square" lIns="0" tIns="0" rIns="0" bIns="0" rtlCol="0"/>
          <a:lstStyle/>
          <a:p>
            <a:endParaRPr sz="1593"/>
          </a:p>
        </p:txBody>
      </p:sp>
      <p:sp>
        <p:nvSpPr>
          <p:cNvPr id="452" name="object 452"/>
          <p:cNvSpPr/>
          <p:nvPr/>
        </p:nvSpPr>
        <p:spPr>
          <a:xfrm>
            <a:off x="2972865" y="488918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53" name="object 453"/>
          <p:cNvSpPr/>
          <p:nvPr/>
        </p:nvSpPr>
        <p:spPr>
          <a:xfrm>
            <a:off x="2967578" y="4841614"/>
            <a:ext cx="42719" cy="59582"/>
          </a:xfrm>
          <a:custGeom>
            <a:avLst/>
            <a:gdLst/>
            <a:ahLst/>
            <a:cxnLst/>
            <a:rect l="l" t="t" r="r" b="b"/>
            <a:pathLst>
              <a:path w="48260" h="67310">
                <a:moveTo>
                  <a:pt x="47769" y="0"/>
                </a:moveTo>
                <a:lnTo>
                  <a:pt x="35826" y="0"/>
                </a:lnTo>
                <a:lnTo>
                  <a:pt x="0" y="53738"/>
                </a:lnTo>
                <a:lnTo>
                  <a:pt x="0" y="67172"/>
                </a:lnTo>
                <a:lnTo>
                  <a:pt x="11943" y="67172"/>
                </a:lnTo>
                <a:lnTo>
                  <a:pt x="47769" y="13434"/>
                </a:lnTo>
                <a:lnTo>
                  <a:pt x="47769" y="0"/>
                </a:lnTo>
                <a:close/>
              </a:path>
            </a:pathLst>
          </a:custGeom>
          <a:solidFill>
            <a:srgbClr val="000000"/>
          </a:solidFill>
        </p:spPr>
        <p:txBody>
          <a:bodyPr wrap="square" lIns="0" tIns="0" rIns="0" bIns="0" rtlCol="0"/>
          <a:lstStyle/>
          <a:p>
            <a:endParaRPr sz="1593"/>
          </a:p>
        </p:txBody>
      </p:sp>
      <p:sp>
        <p:nvSpPr>
          <p:cNvPr id="454" name="object 454"/>
          <p:cNvSpPr/>
          <p:nvPr/>
        </p:nvSpPr>
        <p:spPr>
          <a:xfrm>
            <a:off x="3004577" y="484161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55" name="object 455"/>
          <p:cNvSpPr/>
          <p:nvPr/>
        </p:nvSpPr>
        <p:spPr>
          <a:xfrm>
            <a:off x="2999293" y="4794045"/>
            <a:ext cx="63516" cy="59582"/>
          </a:xfrm>
          <a:custGeom>
            <a:avLst/>
            <a:gdLst/>
            <a:ahLst/>
            <a:cxnLst/>
            <a:rect l="l" t="t" r="r" b="b"/>
            <a:pathLst>
              <a:path w="71754" h="67310">
                <a:moveTo>
                  <a:pt x="71654" y="0"/>
                </a:moveTo>
                <a:lnTo>
                  <a:pt x="59712" y="0"/>
                </a:lnTo>
                <a:lnTo>
                  <a:pt x="0" y="53738"/>
                </a:lnTo>
                <a:lnTo>
                  <a:pt x="0" y="67172"/>
                </a:lnTo>
                <a:lnTo>
                  <a:pt x="11943" y="67172"/>
                </a:lnTo>
                <a:lnTo>
                  <a:pt x="71654" y="13434"/>
                </a:lnTo>
                <a:lnTo>
                  <a:pt x="71654" y="0"/>
                </a:lnTo>
                <a:close/>
              </a:path>
            </a:pathLst>
          </a:custGeom>
          <a:solidFill>
            <a:srgbClr val="000000"/>
          </a:solidFill>
        </p:spPr>
        <p:txBody>
          <a:bodyPr wrap="square" lIns="0" tIns="0" rIns="0" bIns="0" rtlCol="0"/>
          <a:lstStyle/>
          <a:p>
            <a:endParaRPr sz="1593"/>
          </a:p>
        </p:txBody>
      </p:sp>
      <p:sp>
        <p:nvSpPr>
          <p:cNvPr id="456" name="object 456"/>
          <p:cNvSpPr/>
          <p:nvPr/>
        </p:nvSpPr>
        <p:spPr>
          <a:xfrm>
            <a:off x="3057434" y="479404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57" name="object 457"/>
          <p:cNvSpPr/>
          <p:nvPr/>
        </p:nvSpPr>
        <p:spPr>
          <a:xfrm>
            <a:off x="3052148" y="4722692"/>
            <a:ext cx="137713" cy="83752"/>
          </a:xfrm>
          <a:custGeom>
            <a:avLst/>
            <a:gdLst/>
            <a:ahLst/>
            <a:cxnLst/>
            <a:rect l="l" t="t" r="r" b="b"/>
            <a:pathLst>
              <a:path w="155575" h="94614">
                <a:moveTo>
                  <a:pt x="155249" y="0"/>
                </a:moveTo>
                <a:lnTo>
                  <a:pt x="143306" y="0"/>
                </a:lnTo>
                <a:lnTo>
                  <a:pt x="0" y="80609"/>
                </a:lnTo>
                <a:lnTo>
                  <a:pt x="0" y="94043"/>
                </a:lnTo>
                <a:lnTo>
                  <a:pt x="11941" y="94043"/>
                </a:lnTo>
                <a:lnTo>
                  <a:pt x="155249" y="13435"/>
                </a:lnTo>
                <a:lnTo>
                  <a:pt x="155249" y="0"/>
                </a:lnTo>
                <a:close/>
              </a:path>
            </a:pathLst>
          </a:custGeom>
          <a:solidFill>
            <a:srgbClr val="000000"/>
          </a:solidFill>
        </p:spPr>
        <p:txBody>
          <a:bodyPr wrap="square" lIns="0" tIns="0" rIns="0" bIns="0" rtlCol="0"/>
          <a:lstStyle/>
          <a:p>
            <a:endParaRPr sz="1593"/>
          </a:p>
        </p:txBody>
      </p:sp>
      <p:sp>
        <p:nvSpPr>
          <p:cNvPr id="458" name="object 458"/>
          <p:cNvSpPr/>
          <p:nvPr/>
        </p:nvSpPr>
        <p:spPr>
          <a:xfrm>
            <a:off x="3184288" y="472269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59" name="object 459"/>
          <p:cNvSpPr/>
          <p:nvPr/>
        </p:nvSpPr>
        <p:spPr>
          <a:xfrm>
            <a:off x="3179002" y="4698907"/>
            <a:ext cx="159072" cy="35974"/>
          </a:xfrm>
          <a:custGeom>
            <a:avLst/>
            <a:gdLst/>
            <a:ahLst/>
            <a:cxnLst/>
            <a:rect l="l" t="t" r="r" b="b"/>
            <a:pathLst>
              <a:path w="179704" h="40639">
                <a:moveTo>
                  <a:pt x="179136" y="0"/>
                </a:moveTo>
                <a:lnTo>
                  <a:pt x="167192" y="0"/>
                </a:lnTo>
                <a:lnTo>
                  <a:pt x="0" y="26869"/>
                </a:lnTo>
                <a:lnTo>
                  <a:pt x="0" y="40304"/>
                </a:lnTo>
                <a:lnTo>
                  <a:pt x="11943" y="40304"/>
                </a:lnTo>
                <a:lnTo>
                  <a:pt x="179136" y="13435"/>
                </a:lnTo>
                <a:lnTo>
                  <a:pt x="179136" y="0"/>
                </a:lnTo>
                <a:close/>
              </a:path>
            </a:pathLst>
          </a:custGeom>
          <a:solidFill>
            <a:srgbClr val="000000"/>
          </a:solidFill>
        </p:spPr>
        <p:txBody>
          <a:bodyPr wrap="square" lIns="0" tIns="0" rIns="0" bIns="0" rtlCol="0"/>
          <a:lstStyle/>
          <a:p>
            <a:endParaRPr sz="1593"/>
          </a:p>
        </p:txBody>
      </p:sp>
      <p:sp>
        <p:nvSpPr>
          <p:cNvPr id="460" name="object 460"/>
          <p:cNvSpPr/>
          <p:nvPr/>
        </p:nvSpPr>
        <p:spPr>
          <a:xfrm>
            <a:off x="3326998" y="469890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61" name="object 461"/>
          <p:cNvSpPr/>
          <p:nvPr/>
        </p:nvSpPr>
        <p:spPr>
          <a:xfrm>
            <a:off x="3326998" y="469890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62" name="object 462"/>
          <p:cNvSpPr/>
          <p:nvPr/>
        </p:nvSpPr>
        <p:spPr>
          <a:xfrm>
            <a:off x="3326998" y="469890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63" name="object 463"/>
          <p:cNvSpPr/>
          <p:nvPr/>
        </p:nvSpPr>
        <p:spPr>
          <a:xfrm>
            <a:off x="3326999" y="4698907"/>
            <a:ext cx="159072" cy="35974"/>
          </a:xfrm>
          <a:custGeom>
            <a:avLst/>
            <a:gdLst/>
            <a:ahLst/>
            <a:cxnLst/>
            <a:rect l="l" t="t" r="r" b="b"/>
            <a:pathLst>
              <a:path w="179704" h="40639">
                <a:moveTo>
                  <a:pt x="11943" y="0"/>
                </a:moveTo>
                <a:lnTo>
                  <a:pt x="0" y="0"/>
                </a:lnTo>
                <a:lnTo>
                  <a:pt x="0" y="13435"/>
                </a:lnTo>
                <a:lnTo>
                  <a:pt x="167192" y="40304"/>
                </a:lnTo>
                <a:lnTo>
                  <a:pt x="179134" y="40304"/>
                </a:lnTo>
                <a:lnTo>
                  <a:pt x="179134" y="26869"/>
                </a:lnTo>
                <a:lnTo>
                  <a:pt x="11943" y="0"/>
                </a:lnTo>
                <a:close/>
              </a:path>
            </a:pathLst>
          </a:custGeom>
          <a:solidFill>
            <a:srgbClr val="000000"/>
          </a:solidFill>
        </p:spPr>
        <p:txBody>
          <a:bodyPr wrap="square" lIns="0" tIns="0" rIns="0" bIns="0" rtlCol="0"/>
          <a:lstStyle/>
          <a:p>
            <a:endParaRPr sz="1593"/>
          </a:p>
        </p:txBody>
      </p:sp>
      <p:sp>
        <p:nvSpPr>
          <p:cNvPr id="464" name="object 464"/>
          <p:cNvSpPr/>
          <p:nvPr/>
        </p:nvSpPr>
        <p:spPr>
          <a:xfrm>
            <a:off x="3480280" y="472269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65" name="object 465"/>
          <p:cNvSpPr/>
          <p:nvPr/>
        </p:nvSpPr>
        <p:spPr>
          <a:xfrm>
            <a:off x="3474995" y="4722692"/>
            <a:ext cx="137713" cy="83752"/>
          </a:xfrm>
          <a:custGeom>
            <a:avLst/>
            <a:gdLst/>
            <a:ahLst/>
            <a:cxnLst/>
            <a:rect l="l" t="t" r="r" b="b"/>
            <a:pathLst>
              <a:path w="155575" h="94614">
                <a:moveTo>
                  <a:pt x="11941" y="0"/>
                </a:moveTo>
                <a:lnTo>
                  <a:pt x="0" y="0"/>
                </a:lnTo>
                <a:lnTo>
                  <a:pt x="0" y="13435"/>
                </a:lnTo>
                <a:lnTo>
                  <a:pt x="143308" y="94043"/>
                </a:lnTo>
                <a:lnTo>
                  <a:pt x="155249" y="94043"/>
                </a:lnTo>
                <a:lnTo>
                  <a:pt x="155249" y="80609"/>
                </a:lnTo>
                <a:lnTo>
                  <a:pt x="11941" y="0"/>
                </a:lnTo>
                <a:close/>
              </a:path>
            </a:pathLst>
          </a:custGeom>
          <a:solidFill>
            <a:srgbClr val="000000"/>
          </a:solidFill>
        </p:spPr>
        <p:txBody>
          <a:bodyPr wrap="square" lIns="0" tIns="0" rIns="0" bIns="0" rtlCol="0"/>
          <a:lstStyle/>
          <a:p>
            <a:endParaRPr sz="1593"/>
          </a:p>
        </p:txBody>
      </p:sp>
      <p:sp>
        <p:nvSpPr>
          <p:cNvPr id="466" name="object 466"/>
          <p:cNvSpPr/>
          <p:nvPr/>
        </p:nvSpPr>
        <p:spPr>
          <a:xfrm>
            <a:off x="3607134" y="479404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67" name="object 467"/>
          <p:cNvSpPr/>
          <p:nvPr/>
        </p:nvSpPr>
        <p:spPr>
          <a:xfrm>
            <a:off x="3601849" y="4794045"/>
            <a:ext cx="53399" cy="59582"/>
          </a:xfrm>
          <a:custGeom>
            <a:avLst/>
            <a:gdLst/>
            <a:ahLst/>
            <a:cxnLst/>
            <a:rect l="l" t="t" r="r" b="b"/>
            <a:pathLst>
              <a:path w="60325" h="67310">
                <a:moveTo>
                  <a:pt x="11941" y="0"/>
                </a:moveTo>
                <a:lnTo>
                  <a:pt x="0" y="0"/>
                </a:lnTo>
                <a:lnTo>
                  <a:pt x="0" y="13434"/>
                </a:lnTo>
                <a:lnTo>
                  <a:pt x="47768" y="67172"/>
                </a:lnTo>
                <a:lnTo>
                  <a:pt x="59711" y="67172"/>
                </a:lnTo>
                <a:lnTo>
                  <a:pt x="59711" y="53738"/>
                </a:lnTo>
                <a:lnTo>
                  <a:pt x="11941" y="0"/>
                </a:lnTo>
                <a:close/>
              </a:path>
            </a:pathLst>
          </a:custGeom>
          <a:solidFill>
            <a:srgbClr val="000000"/>
          </a:solidFill>
        </p:spPr>
        <p:txBody>
          <a:bodyPr wrap="square" lIns="0" tIns="0" rIns="0" bIns="0" rtlCol="0"/>
          <a:lstStyle/>
          <a:p>
            <a:endParaRPr sz="1593"/>
          </a:p>
        </p:txBody>
      </p:sp>
      <p:sp>
        <p:nvSpPr>
          <p:cNvPr id="468" name="object 468"/>
          <p:cNvSpPr/>
          <p:nvPr/>
        </p:nvSpPr>
        <p:spPr>
          <a:xfrm>
            <a:off x="3649419" y="484161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69" name="object 469"/>
          <p:cNvSpPr/>
          <p:nvPr/>
        </p:nvSpPr>
        <p:spPr>
          <a:xfrm>
            <a:off x="3644134" y="4841614"/>
            <a:ext cx="53399" cy="59582"/>
          </a:xfrm>
          <a:custGeom>
            <a:avLst/>
            <a:gdLst/>
            <a:ahLst/>
            <a:cxnLst/>
            <a:rect l="l" t="t" r="r" b="b"/>
            <a:pathLst>
              <a:path w="60325" h="67310">
                <a:moveTo>
                  <a:pt x="11943" y="0"/>
                </a:moveTo>
                <a:lnTo>
                  <a:pt x="0" y="0"/>
                </a:lnTo>
                <a:lnTo>
                  <a:pt x="0" y="13434"/>
                </a:lnTo>
                <a:lnTo>
                  <a:pt x="47769" y="67172"/>
                </a:lnTo>
                <a:lnTo>
                  <a:pt x="59711" y="67172"/>
                </a:lnTo>
                <a:lnTo>
                  <a:pt x="59711" y="53738"/>
                </a:lnTo>
                <a:lnTo>
                  <a:pt x="11943" y="0"/>
                </a:lnTo>
                <a:close/>
              </a:path>
            </a:pathLst>
          </a:custGeom>
          <a:solidFill>
            <a:srgbClr val="000000"/>
          </a:solidFill>
        </p:spPr>
        <p:txBody>
          <a:bodyPr wrap="square" lIns="0" tIns="0" rIns="0" bIns="0" rtlCol="0"/>
          <a:lstStyle/>
          <a:p>
            <a:endParaRPr sz="1593"/>
          </a:p>
        </p:txBody>
      </p:sp>
      <p:sp>
        <p:nvSpPr>
          <p:cNvPr id="470" name="object 470"/>
          <p:cNvSpPr/>
          <p:nvPr/>
        </p:nvSpPr>
        <p:spPr>
          <a:xfrm>
            <a:off x="3691704" y="488918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71" name="object 471"/>
          <p:cNvSpPr/>
          <p:nvPr/>
        </p:nvSpPr>
        <p:spPr>
          <a:xfrm>
            <a:off x="3686419" y="4889183"/>
            <a:ext cx="32039" cy="71386"/>
          </a:xfrm>
          <a:custGeom>
            <a:avLst/>
            <a:gdLst/>
            <a:ahLst/>
            <a:cxnLst/>
            <a:rect l="l" t="t" r="r" b="b"/>
            <a:pathLst>
              <a:path w="36195" h="80645">
                <a:moveTo>
                  <a:pt x="11941" y="0"/>
                </a:moveTo>
                <a:lnTo>
                  <a:pt x="0" y="0"/>
                </a:lnTo>
                <a:lnTo>
                  <a:pt x="0" y="13434"/>
                </a:lnTo>
                <a:lnTo>
                  <a:pt x="23884" y="80607"/>
                </a:lnTo>
                <a:lnTo>
                  <a:pt x="35826" y="80607"/>
                </a:lnTo>
                <a:lnTo>
                  <a:pt x="35826" y="67173"/>
                </a:lnTo>
                <a:lnTo>
                  <a:pt x="11941" y="0"/>
                </a:lnTo>
                <a:close/>
              </a:path>
            </a:pathLst>
          </a:custGeom>
          <a:solidFill>
            <a:srgbClr val="000000"/>
          </a:solidFill>
        </p:spPr>
        <p:txBody>
          <a:bodyPr wrap="square" lIns="0" tIns="0" rIns="0" bIns="0" rtlCol="0"/>
          <a:lstStyle/>
          <a:p>
            <a:endParaRPr sz="1593"/>
          </a:p>
        </p:txBody>
      </p:sp>
      <p:sp>
        <p:nvSpPr>
          <p:cNvPr id="472" name="object 472"/>
          <p:cNvSpPr/>
          <p:nvPr/>
        </p:nvSpPr>
        <p:spPr>
          <a:xfrm>
            <a:off x="3712846" y="494864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73" name="object 473"/>
          <p:cNvSpPr/>
          <p:nvPr/>
        </p:nvSpPr>
        <p:spPr>
          <a:xfrm>
            <a:off x="3707561" y="4948644"/>
            <a:ext cx="21360" cy="71386"/>
          </a:xfrm>
          <a:custGeom>
            <a:avLst/>
            <a:gdLst/>
            <a:ahLst/>
            <a:cxnLst/>
            <a:rect l="l" t="t" r="r" b="b"/>
            <a:pathLst>
              <a:path w="24129" h="80645">
                <a:moveTo>
                  <a:pt x="11941" y="0"/>
                </a:moveTo>
                <a:lnTo>
                  <a:pt x="0" y="0"/>
                </a:lnTo>
                <a:lnTo>
                  <a:pt x="0" y="13434"/>
                </a:lnTo>
                <a:lnTo>
                  <a:pt x="11941" y="80608"/>
                </a:lnTo>
                <a:lnTo>
                  <a:pt x="23884" y="80608"/>
                </a:lnTo>
                <a:lnTo>
                  <a:pt x="23884" y="67173"/>
                </a:lnTo>
                <a:lnTo>
                  <a:pt x="11941" y="0"/>
                </a:lnTo>
                <a:close/>
              </a:path>
            </a:pathLst>
          </a:custGeom>
          <a:solidFill>
            <a:srgbClr val="000000"/>
          </a:solidFill>
        </p:spPr>
        <p:txBody>
          <a:bodyPr wrap="square" lIns="0" tIns="0" rIns="0" bIns="0" rtlCol="0"/>
          <a:lstStyle/>
          <a:p>
            <a:endParaRPr sz="1593"/>
          </a:p>
        </p:txBody>
      </p:sp>
      <p:sp>
        <p:nvSpPr>
          <p:cNvPr id="474" name="object 474"/>
          <p:cNvSpPr/>
          <p:nvPr/>
        </p:nvSpPr>
        <p:spPr>
          <a:xfrm>
            <a:off x="3723418" y="500810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75" name="object 475"/>
          <p:cNvSpPr txBox="1"/>
          <p:nvPr/>
        </p:nvSpPr>
        <p:spPr>
          <a:xfrm>
            <a:off x="2998622" y="4806588"/>
            <a:ext cx="651465" cy="322638"/>
          </a:xfrm>
          <a:prstGeom prst="rect">
            <a:avLst/>
          </a:prstGeom>
        </p:spPr>
        <p:txBody>
          <a:bodyPr vert="horz" wrap="square" lIns="0" tIns="23608" rIns="0" bIns="0" rtlCol="0">
            <a:spAutoFit/>
          </a:bodyPr>
          <a:lstStyle/>
          <a:p>
            <a:pPr marL="2811" algn="ctr">
              <a:spcBef>
                <a:spcPts val="186"/>
              </a:spcBef>
            </a:pPr>
            <a:r>
              <a:rPr sz="929" spc="-97" dirty="0">
                <a:latin typeface="Verdana"/>
                <a:cs typeface="Verdana"/>
              </a:rPr>
              <a:t>OTS</a:t>
            </a:r>
            <a:endParaRPr sz="929">
              <a:latin typeface="Verdana"/>
              <a:cs typeface="Verdana"/>
            </a:endParaRPr>
          </a:p>
          <a:p>
            <a:pPr algn="ctr">
              <a:spcBef>
                <a:spcPts val="101"/>
              </a:spcBef>
            </a:pPr>
            <a:r>
              <a:rPr sz="929" spc="-31" dirty="0">
                <a:latin typeface="Verdana"/>
                <a:cs typeface="Verdana"/>
              </a:rPr>
              <a:t>c</a:t>
            </a:r>
            <a:r>
              <a:rPr sz="929" spc="-101" dirty="0">
                <a:latin typeface="Verdana"/>
                <a:cs typeface="Verdana"/>
              </a:rPr>
              <a:t>omp</a:t>
            </a:r>
            <a:r>
              <a:rPr sz="929" spc="-84" dirty="0">
                <a:latin typeface="Verdana"/>
                <a:cs typeface="Verdana"/>
              </a:rPr>
              <a:t>on</a:t>
            </a:r>
            <a:r>
              <a:rPr sz="929" spc="-75" dirty="0">
                <a:latin typeface="Verdana"/>
                <a:cs typeface="Verdana"/>
              </a:rPr>
              <a:t>e</a:t>
            </a:r>
            <a:r>
              <a:rPr sz="929" spc="-106" dirty="0">
                <a:latin typeface="Verdana"/>
                <a:cs typeface="Verdana"/>
              </a:rPr>
              <a:t>n</a:t>
            </a:r>
            <a:r>
              <a:rPr sz="929" dirty="0">
                <a:latin typeface="Verdana"/>
                <a:cs typeface="Verdana"/>
              </a:rPr>
              <a:t>t</a:t>
            </a:r>
            <a:r>
              <a:rPr sz="929" spc="-62" dirty="0">
                <a:latin typeface="Verdana"/>
                <a:cs typeface="Verdana"/>
              </a:rPr>
              <a:t>s</a:t>
            </a:r>
            <a:endParaRPr sz="929">
              <a:latin typeface="Verdana"/>
              <a:cs typeface="Verdana"/>
            </a:endParaRPr>
          </a:p>
        </p:txBody>
      </p:sp>
      <p:sp>
        <p:nvSpPr>
          <p:cNvPr id="476" name="object 476"/>
          <p:cNvSpPr/>
          <p:nvPr/>
        </p:nvSpPr>
        <p:spPr>
          <a:xfrm>
            <a:off x="3284715" y="5281626"/>
            <a:ext cx="888106" cy="618864"/>
          </a:xfrm>
          <a:custGeom>
            <a:avLst/>
            <a:gdLst/>
            <a:ahLst/>
            <a:cxnLst/>
            <a:rect l="l" t="t" r="r" b="b"/>
            <a:pathLst>
              <a:path w="1003300" h="699134">
                <a:moveTo>
                  <a:pt x="501577" y="0"/>
                </a:moveTo>
                <a:lnTo>
                  <a:pt x="310499" y="26869"/>
                </a:lnTo>
                <a:lnTo>
                  <a:pt x="143308" y="107477"/>
                </a:lnTo>
                <a:lnTo>
                  <a:pt x="83595" y="161216"/>
                </a:lnTo>
                <a:lnTo>
                  <a:pt x="35826" y="214955"/>
                </a:lnTo>
                <a:lnTo>
                  <a:pt x="11941" y="282128"/>
                </a:lnTo>
                <a:lnTo>
                  <a:pt x="0" y="349302"/>
                </a:lnTo>
                <a:lnTo>
                  <a:pt x="11941" y="416476"/>
                </a:lnTo>
                <a:lnTo>
                  <a:pt x="35826" y="483649"/>
                </a:lnTo>
                <a:lnTo>
                  <a:pt x="83595" y="550823"/>
                </a:lnTo>
                <a:lnTo>
                  <a:pt x="143308" y="604562"/>
                </a:lnTo>
                <a:lnTo>
                  <a:pt x="310499" y="671735"/>
                </a:lnTo>
                <a:lnTo>
                  <a:pt x="501577" y="698605"/>
                </a:lnTo>
                <a:lnTo>
                  <a:pt x="692654" y="671735"/>
                </a:lnTo>
                <a:lnTo>
                  <a:pt x="847905" y="604562"/>
                </a:lnTo>
                <a:lnTo>
                  <a:pt x="907616" y="550823"/>
                </a:lnTo>
                <a:lnTo>
                  <a:pt x="955385" y="483649"/>
                </a:lnTo>
                <a:lnTo>
                  <a:pt x="991212" y="416476"/>
                </a:lnTo>
                <a:lnTo>
                  <a:pt x="1003155" y="349302"/>
                </a:lnTo>
                <a:lnTo>
                  <a:pt x="991212" y="282128"/>
                </a:lnTo>
                <a:lnTo>
                  <a:pt x="955385" y="214955"/>
                </a:lnTo>
                <a:lnTo>
                  <a:pt x="907616" y="161216"/>
                </a:lnTo>
                <a:lnTo>
                  <a:pt x="847905" y="107477"/>
                </a:lnTo>
                <a:lnTo>
                  <a:pt x="692654" y="26869"/>
                </a:lnTo>
                <a:lnTo>
                  <a:pt x="501577" y="0"/>
                </a:lnTo>
                <a:close/>
              </a:path>
            </a:pathLst>
          </a:custGeom>
          <a:solidFill>
            <a:srgbClr val="FFFFFF"/>
          </a:solidFill>
        </p:spPr>
        <p:txBody>
          <a:bodyPr wrap="square" lIns="0" tIns="0" rIns="0" bIns="0" rtlCol="0"/>
          <a:lstStyle/>
          <a:p>
            <a:endParaRPr sz="1593"/>
          </a:p>
        </p:txBody>
      </p:sp>
      <p:sp>
        <p:nvSpPr>
          <p:cNvPr id="477" name="object 477"/>
          <p:cNvSpPr/>
          <p:nvPr/>
        </p:nvSpPr>
        <p:spPr>
          <a:xfrm>
            <a:off x="4162121" y="5590823"/>
            <a:ext cx="21360" cy="71386"/>
          </a:xfrm>
          <a:custGeom>
            <a:avLst/>
            <a:gdLst/>
            <a:ahLst/>
            <a:cxnLst/>
            <a:rect l="l" t="t" r="r" b="b"/>
            <a:pathLst>
              <a:path w="24129" h="80645">
                <a:moveTo>
                  <a:pt x="23884" y="0"/>
                </a:moveTo>
                <a:lnTo>
                  <a:pt x="11943" y="0"/>
                </a:lnTo>
                <a:lnTo>
                  <a:pt x="0" y="67173"/>
                </a:lnTo>
                <a:lnTo>
                  <a:pt x="0" y="80608"/>
                </a:lnTo>
                <a:lnTo>
                  <a:pt x="11943" y="80608"/>
                </a:lnTo>
                <a:lnTo>
                  <a:pt x="23884" y="13434"/>
                </a:lnTo>
                <a:lnTo>
                  <a:pt x="23884" y="0"/>
                </a:lnTo>
                <a:close/>
              </a:path>
            </a:pathLst>
          </a:custGeom>
          <a:solidFill>
            <a:srgbClr val="000000"/>
          </a:solidFill>
        </p:spPr>
        <p:txBody>
          <a:bodyPr wrap="square" lIns="0" tIns="0" rIns="0" bIns="0" rtlCol="0"/>
          <a:lstStyle/>
          <a:p>
            <a:endParaRPr sz="1593"/>
          </a:p>
        </p:txBody>
      </p:sp>
      <p:sp>
        <p:nvSpPr>
          <p:cNvPr id="478" name="object 478"/>
          <p:cNvSpPr/>
          <p:nvPr/>
        </p:nvSpPr>
        <p:spPr>
          <a:xfrm>
            <a:off x="4167407" y="565028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79" name="object 479"/>
          <p:cNvSpPr/>
          <p:nvPr/>
        </p:nvSpPr>
        <p:spPr>
          <a:xfrm>
            <a:off x="4130407" y="5650284"/>
            <a:ext cx="42719" cy="71386"/>
          </a:xfrm>
          <a:custGeom>
            <a:avLst/>
            <a:gdLst/>
            <a:ahLst/>
            <a:cxnLst/>
            <a:rect l="l" t="t" r="r" b="b"/>
            <a:pathLst>
              <a:path w="48260" h="80645">
                <a:moveTo>
                  <a:pt x="47769" y="0"/>
                </a:moveTo>
                <a:lnTo>
                  <a:pt x="35826" y="0"/>
                </a:lnTo>
                <a:lnTo>
                  <a:pt x="0" y="67173"/>
                </a:lnTo>
                <a:lnTo>
                  <a:pt x="0" y="80608"/>
                </a:lnTo>
                <a:lnTo>
                  <a:pt x="11943" y="80608"/>
                </a:lnTo>
                <a:lnTo>
                  <a:pt x="47769" y="13434"/>
                </a:lnTo>
                <a:lnTo>
                  <a:pt x="47769" y="0"/>
                </a:lnTo>
                <a:close/>
              </a:path>
            </a:pathLst>
          </a:custGeom>
          <a:solidFill>
            <a:srgbClr val="000000"/>
          </a:solidFill>
        </p:spPr>
        <p:txBody>
          <a:bodyPr wrap="square" lIns="0" tIns="0" rIns="0" bIns="0" rtlCol="0"/>
          <a:lstStyle/>
          <a:p>
            <a:endParaRPr sz="1593"/>
          </a:p>
        </p:txBody>
      </p:sp>
      <p:sp>
        <p:nvSpPr>
          <p:cNvPr id="480" name="object 480"/>
          <p:cNvSpPr/>
          <p:nvPr/>
        </p:nvSpPr>
        <p:spPr>
          <a:xfrm>
            <a:off x="4135694" y="570974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81" name="object 481"/>
          <p:cNvSpPr/>
          <p:nvPr/>
        </p:nvSpPr>
        <p:spPr>
          <a:xfrm>
            <a:off x="4088124" y="5709745"/>
            <a:ext cx="53399" cy="71386"/>
          </a:xfrm>
          <a:custGeom>
            <a:avLst/>
            <a:gdLst/>
            <a:ahLst/>
            <a:cxnLst/>
            <a:rect l="l" t="t" r="r" b="b"/>
            <a:pathLst>
              <a:path w="60325" h="80645">
                <a:moveTo>
                  <a:pt x="59711" y="0"/>
                </a:moveTo>
                <a:lnTo>
                  <a:pt x="47768" y="0"/>
                </a:lnTo>
                <a:lnTo>
                  <a:pt x="0" y="67173"/>
                </a:lnTo>
                <a:lnTo>
                  <a:pt x="0" y="80608"/>
                </a:lnTo>
                <a:lnTo>
                  <a:pt x="11941" y="80608"/>
                </a:lnTo>
                <a:lnTo>
                  <a:pt x="59711" y="13434"/>
                </a:lnTo>
                <a:lnTo>
                  <a:pt x="59711" y="0"/>
                </a:lnTo>
                <a:close/>
              </a:path>
            </a:pathLst>
          </a:custGeom>
          <a:solidFill>
            <a:srgbClr val="000000"/>
          </a:solidFill>
        </p:spPr>
        <p:txBody>
          <a:bodyPr wrap="square" lIns="0" tIns="0" rIns="0" bIns="0" rtlCol="0"/>
          <a:lstStyle/>
          <a:p>
            <a:endParaRPr sz="1593"/>
          </a:p>
        </p:txBody>
      </p:sp>
      <p:sp>
        <p:nvSpPr>
          <p:cNvPr id="482" name="object 482"/>
          <p:cNvSpPr/>
          <p:nvPr/>
        </p:nvSpPr>
        <p:spPr>
          <a:xfrm>
            <a:off x="4093408" y="576920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83" name="object 483"/>
          <p:cNvSpPr/>
          <p:nvPr/>
        </p:nvSpPr>
        <p:spPr>
          <a:xfrm>
            <a:off x="4035268" y="5769206"/>
            <a:ext cx="63516" cy="59582"/>
          </a:xfrm>
          <a:custGeom>
            <a:avLst/>
            <a:gdLst/>
            <a:ahLst/>
            <a:cxnLst/>
            <a:rect l="l" t="t" r="r" b="b"/>
            <a:pathLst>
              <a:path w="71754" h="67309">
                <a:moveTo>
                  <a:pt x="71653" y="0"/>
                </a:moveTo>
                <a:lnTo>
                  <a:pt x="59711" y="0"/>
                </a:lnTo>
                <a:lnTo>
                  <a:pt x="0" y="53738"/>
                </a:lnTo>
                <a:lnTo>
                  <a:pt x="0" y="67173"/>
                </a:lnTo>
                <a:lnTo>
                  <a:pt x="11941" y="67173"/>
                </a:lnTo>
                <a:lnTo>
                  <a:pt x="71653" y="13434"/>
                </a:lnTo>
                <a:lnTo>
                  <a:pt x="71653" y="0"/>
                </a:lnTo>
                <a:close/>
              </a:path>
            </a:pathLst>
          </a:custGeom>
          <a:solidFill>
            <a:srgbClr val="000000"/>
          </a:solidFill>
        </p:spPr>
        <p:txBody>
          <a:bodyPr wrap="square" lIns="0" tIns="0" rIns="0" bIns="0" rtlCol="0"/>
          <a:lstStyle/>
          <a:p>
            <a:endParaRPr sz="1593"/>
          </a:p>
        </p:txBody>
      </p:sp>
      <p:sp>
        <p:nvSpPr>
          <p:cNvPr id="484" name="object 484"/>
          <p:cNvSpPr/>
          <p:nvPr/>
        </p:nvSpPr>
        <p:spPr>
          <a:xfrm>
            <a:off x="4040553" y="581677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85" name="object 485"/>
          <p:cNvSpPr/>
          <p:nvPr/>
        </p:nvSpPr>
        <p:spPr>
          <a:xfrm>
            <a:off x="3897842" y="5816775"/>
            <a:ext cx="148392" cy="71386"/>
          </a:xfrm>
          <a:custGeom>
            <a:avLst/>
            <a:gdLst/>
            <a:ahLst/>
            <a:cxnLst/>
            <a:rect l="l" t="t" r="r" b="b"/>
            <a:pathLst>
              <a:path w="167639" h="80645">
                <a:moveTo>
                  <a:pt x="167192" y="0"/>
                </a:moveTo>
                <a:lnTo>
                  <a:pt x="155251" y="0"/>
                </a:lnTo>
                <a:lnTo>
                  <a:pt x="0" y="67173"/>
                </a:lnTo>
                <a:lnTo>
                  <a:pt x="0" y="80608"/>
                </a:lnTo>
                <a:lnTo>
                  <a:pt x="11943" y="80608"/>
                </a:lnTo>
                <a:lnTo>
                  <a:pt x="167192" y="13434"/>
                </a:lnTo>
                <a:lnTo>
                  <a:pt x="167192" y="0"/>
                </a:lnTo>
                <a:close/>
              </a:path>
            </a:pathLst>
          </a:custGeom>
          <a:solidFill>
            <a:srgbClr val="000000"/>
          </a:solidFill>
        </p:spPr>
        <p:txBody>
          <a:bodyPr wrap="square" lIns="0" tIns="0" rIns="0" bIns="0" rtlCol="0"/>
          <a:lstStyle/>
          <a:p>
            <a:endParaRPr sz="1593"/>
          </a:p>
        </p:txBody>
      </p:sp>
      <p:sp>
        <p:nvSpPr>
          <p:cNvPr id="486" name="object 486"/>
          <p:cNvSpPr/>
          <p:nvPr/>
        </p:nvSpPr>
        <p:spPr>
          <a:xfrm>
            <a:off x="3903128" y="587623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87" name="object 487"/>
          <p:cNvSpPr/>
          <p:nvPr/>
        </p:nvSpPr>
        <p:spPr>
          <a:xfrm>
            <a:off x="3728703" y="5876235"/>
            <a:ext cx="179870" cy="35974"/>
          </a:xfrm>
          <a:custGeom>
            <a:avLst/>
            <a:gdLst/>
            <a:ahLst/>
            <a:cxnLst/>
            <a:rect l="l" t="t" r="r" b="b"/>
            <a:pathLst>
              <a:path w="203200" h="40640">
                <a:moveTo>
                  <a:pt x="203019" y="0"/>
                </a:moveTo>
                <a:lnTo>
                  <a:pt x="191076" y="0"/>
                </a:lnTo>
                <a:lnTo>
                  <a:pt x="0" y="26869"/>
                </a:lnTo>
                <a:lnTo>
                  <a:pt x="0" y="40304"/>
                </a:lnTo>
                <a:lnTo>
                  <a:pt x="11941" y="40304"/>
                </a:lnTo>
                <a:lnTo>
                  <a:pt x="203019" y="13434"/>
                </a:lnTo>
                <a:lnTo>
                  <a:pt x="203019" y="0"/>
                </a:lnTo>
                <a:close/>
              </a:path>
            </a:pathLst>
          </a:custGeom>
          <a:solidFill>
            <a:srgbClr val="000000"/>
          </a:solidFill>
        </p:spPr>
        <p:txBody>
          <a:bodyPr wrap="square" lIns="0" tIns="0" rIns="0" bIns="0" rtlCol="0"/>
          <a:lstStyle/>
          <a:p>
            <a:endParaRPr sz="1593"/>
          </a:p>
        </p:txBody>
      </p:sp>
      <p:sp>
        <p:nvSpPr>
          <p:cNvPr id="488" name="object 488"/>
          <p:cNvSpPr/>
          <p:nvPr/>
        </p:nvSpPr>
        <p:spPr>
          <a:xfrm>
            <a:off x="3728703" y="590002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89" name="object 489"/>
          <p:cNvSpPr/>
          <p:nvPr/>
        </p:nvSpPr>
        <p:spPr>
          <a:xfrm>
            <a:off x="3728703" y="590002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90" name="object 490"/>
          <p:cNvSpPr/>
          <p:nvPr/>
        </p:nvSpPr>
        <p:spPr>
          <a:xfrm>
            <a:off x="3728703" y="590002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491" name="object 491"/>
          <p:cNvSpPr/>
          <p:nvPr/>
        </p:nvSpPr>
        <p:spPr>
          <a:xfrm>
            <a:off x="3559564" y="5876235"/>
            <a:ext cx="179870" cy="35974"/>
          </a:xfrm>
          <a:custGeom>
            <a:avLst/>
            <a:gdLst/>
            <a:ahLst/>
            <a:cxnLst/>
            <a:rect l="l" t="t" r="r" b="b"/>
            <a:pathLst>
              <a:path w="203200" h="40640">
                <a:moveTo>
                  <a:pt x="11943" y="0"/>
                </a:moveTo>
                <a:lnTo>
                  <a:pt x="0" y="0"/>
                </a:lnTo>
                <a:lnTo>
                  <a:pt x="0" y="13434"/>
                </a:lnTo>
                <a:lnTo>
                  <a:pt x="191077" y="40304"/>
                </a:lnTo>
                <a:lnTo>
                  <a:pt x="203019" y="40304"/>
                </a:lnTo>
                <a:lnTo>
                  <a:pt x="203019" y="26869"/>
                </a:lnTo>
                <a:lnTo>
                  <a:pt x="11943" y="0"/>
                </a:lnTo>
                <a:close/>
              </a:path>
            </a:pathLst>
          </a:custGeom>
          <a:solidFill>
            <a:srgbClr val="000000"/>
          </a:solidFill>
        </p:spPr>
        <p:txBody>
          <a:bodyPr wrap="square" lIns="0" tIns="0" rIns="0" bIns="0" rtlCol="0"/>
          <a:lstStyle/>
          <a:p>
            <a:endParaRPr sz="1593"/>
          </a:p>
        </p:txBody>
      </p:sp>
      <p:sp>
        <p:nvSpPr>
          <p:cNvPr id="492" name="object 492"/>
          <p:cNvSpPr/>
          <p:nvPr/>
        </p:nvSpPr>
        <p:spPr>
          <a:xfrm>
            <a:off x="3564850" y="587623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93" name="object 493"/>
          <p:cNvSpPr/>
          <p:nvPr/>
        </p:nvSpPr>
        <p:spPr>
          <a:xfrm>
            <a:off x="3411569" y="5816775"/>
            <a:ext cx="159072" cy="71386"/>
          </a:xfrm>
          <a:custGeom>
            <a:avLst/>
            <a:gdLst/>
            <a:ahLst/>
            <a:cxnLst/>
            <a:rect l="l" t="t" r="r" b="b"/>
            <a:pathLst>
              <a:path w="179704" h="80645">
                <a:moveTo>
                  <a:pt x="11941" y="0"/>
                </a:moveTo>
                <a:lnTo>
                  <a:pt x="0" y="0"/>
                </a:lnTo>
                <a:lnTo>
                  <a:pt x="0" y="13434"/>
                </a:lnTo>
                <a:lnTo>
                  <a:pt x="167191" y="80608"/>
                </a:lnTo>
                <a:lnTo>
                  <a:pt x="179134" y="80608"/>
                </a:lnTo>
                <a:lnTo>
                  <a:pt x="179134" y="67173"/>
                </a:lnTo>
                <a:lnTo>
                  <a:pt x="11941" y="0"/>
                </a:lnTo>
                <a:close/>
              </a:path>
            </a:pathLst>
          </a:custGeom>
          <a:solidFill>
            <a:srgbClr val="000000"/>
          </a:solidFill>
        </p:spPr>
        <p:txBody>
          <a:bodyPr wrap="square" lIns="0" tIns="0" rIns="0" bIns="0" rtlCol="0"/>
          <a:lstStyle/>
          <a:p>
            <a:endParaRPr sz="1593"/>
          </a:p>
        </p:txBody>
      </p:sp>
      <p:sp>
        <p:nvSpPr>
          <p:cNvPr id="494" name="object 494"/>
          <p:cNvSpPr/>
          <p:nvPr/>
        </p:nvSpPr>
        <p:spPr>
          <a:xfrm>
            <a:off x="3416853" y="581677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95" name="object 495"/>
          <p:cNvSpPr/>
          <p:nvPr/>
        </p:nvSpPr>
        <p:spPr>
          <a:xfrm>
            <a:off x="3358712" y="5769206"/>
            <a:ext cx="63516" cy="59582"/>
          </a:xfrm>
          <a:custGeom>
            <a:avLst/>
            <a:gdLst/>
            <a:ahLst/>
            <a:cxnLst/>
            <a:rect l="l" t="t" r="r" b="b"/>
            <a:pathLst>
              <a:path w="71754" h="67309">
                <a:moveTo>
                  <a:pt x="11943" y="0"/>
                </a:moveTo>
                <a:lnTo>
                  <a:pt x="0" y="0"/>
                </a:lnTo>
                <a:lnTo>
                  <a:pt x="0" y="13434"/>
                </a:lnTo>
                <a:lnTo>
                  <a:pt x="59712" y="67173"/>
                </a:lnTo>
                <a:lnTo>
                  <a:pt x="71654" y="67173"/>
                </a:lnTo>
                <a:lnTo>
                  <a:pt x="71654" y="53738"/>
                </a:lnTo>
                <a:lnTo>
                  <a:pt x="11943" y="0"/>
                </a:lnTo>
                <a:close/>
              </a:path>
            </a:pathLst>
          </a:custGeom>
          <a:solidFill>
            <a:srgbClr val="000000"/>
          </a:solidFill>
        </p:spPr>
        <p:txBody>
          <a:bodyPr wrap="square" lIns="0" tIns="0" rIns="0" bIns="0" rtlCol="0"/>
          <a:lstStyle/>
          <a:p>
            <a:endParaRPr sz="1593"/>
          </a:p>
        </p:txBody>
      </p:sp>
      <p:sp>
        <p:nvSpPr>
          <p:cNvPr id="496" name="object 496"/>
          <p:cNvSpPr/>
          <p:nvPr/>
        </p:nvSpPr>
        <p:spPr>
          <a:xfrm>
            <a:off x="3363998" y="576920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97" name="object 497"/>
          <p:cNvSpPr/>
          <p:nvPr/>
        </p:nvSpPr>
        <p:spPr>
          <a:xfrm>
            <a:off x="3316428" y="5709745"/>
            <a:ext cx="53399" cy="71386"/>
          </a:xfrm>
          <a:custGeom>
            <a:avLst/>
            <a:gdLst/>
            <a:ahLst/>
            <a:cxnLst/>
            <a:rect l="l" t="t" r="r" b="b"/>
            <a:pathLst>
              <a:path w="60325" h="80645">
                <a:moveTo>
                  <a:pt x="11941" y="0"/>
                </a:moveTo>
                <a:lnTo>
                  <a:pt x="0" y="0"/>
                </a:lnTo>
                <a:lnTo>
                  <a:pt x="0" y="13434"/>
                </a:lnTo>
                <a:lnTo>
                  <a:pt x="47768" y="80608"/>
                </a:lnTo>
                <a:lnTo>
                  <a:pt x="59711" y="80608"/>
                </a:lnTo>
                <a:lnTo>
                  <a:pt x="59711" y="67173"/>
                </a:lnTo>
                <a:lnTo>
                  <a:pt x="11941" y="0"/>
                </a:lnTo>
                <a:close/>
              </a:path>
            </a:pathLst>
          </a:custGeom>
          <a:solidFill>
            <a:srgbClr val="000000"/>
          </a:solidFill>
        </p:spPr>
        <p:txBody>
          <a:bodyPr wrap="square" lIns="0" tIns="0" rIns="0" bIns="0" rtlCol="0"/>
          <a:lstStyle/>
          <a:p>
            <a:endParaRPr sz="1593"/>
          </a:p>
        </p:txBody>
      </p:sp>
      <p:sp>
        <p:nvSpPr>
          <p:cNvPr id="498" name="object 498"/>
          <p:cNvSpPr/>
          <p:nvPr/>
        </p:nvSpPr>
        <p:spPr>
          <a:xfrm>
            <a:off x="3321713" y="570974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499" name="object 499"/>
          <p:cNvSpPr/>
          <p:nvPr/>
        </p:nvSpPr>
        <p:spPr>
          <a:xfrm>
            <a:off x="3295286" y="5650284"/>
            <a:ext cx="32039" cy="71386"/>
          </a:xfrm>
          <a:custGeom>
            <a:avLst/>
            <a:gdLst/>
            <a:ahLst/>
            <a:cxnLst/>
            <a:rect l="l" t="t" r="r" b="b"/>
            <a:pathLst>
              <a:path w="36195" h="80645">
                <a:moveTo>
                  <a:pt x="11941" y="0"/>
                </a:moveTo>
                <a:lnTo>
                  <a:pt x="0" y="0"/>
                </a:lnTo>
                <a:lnTo>
                  <a:pt x="0" y="13434"/>
                </a:lnTo>
                <a:lnTo>
                  <a:pt x="23884" y="80608"/>
                </a:lnTo>
                <a:lnTo>
                  <a:pt x="35826" y="80608"/>
                </a:lnTo>
                <a:lnTo>
                  <a:pt x="35826" y="67173"/>
                </a:lnTo>
                <a:lnTo>
                  <a:pt x="11941" y="0"/>
                </a:lnTo>
                <a:close/>
              </a:path>
            </a:pathLst>
          </a:custGeom>
          <a:solidFill>
            <a:srgbClr val="000000"/>
          </a:solidFill>
        </p:spPr>
        <p:txBody>
          <a:bodyPr wrap="square" lIns="0" tIns="0" rIns="0" bIns="0" rtlCol="0"/>
          <a:lstStyle/>
          <a:p>
            <a:endParaRPr sz="1593"/>
          </a:p>
        </p:txBody>
      </p:sp>
      <p:sp>
        <p:nvSpPr>
          <p:cNvPr id="500" name="object 500"/>
          <p:cNvSpPr/>
          <p:nvPr/>
        </p:nvSpPr>
        <p:spPr>
          <a:xfrm>
            <a:off x="3300570" y="565028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01" name="object 501"/>
          <p:cNvSpPr/>
          <p:nvPr/>
        </p:nvSpPr>
        <p:spPr>
          <a:xfrm>
            <a:off x="3284714" y="5590823"/>
            <a:ext cx="21360" cy="71386"/>
          </a:xfrm>
          <a:custGeom>
            <a:avLst/>
            <a:gdLst/>
            <a:ahLst/>
            <a:cxnLst/>
            <a:rect l="l" t="t" r="r" b="b"/>
            <a:pathLst>
              <a:path w="24129" h="80645">
                <a:moveTo>
                  <a:pt x="11941" y="0"/>
                </a:moveTo>
                <a:lnTo>
                  <a:pt x="0" y="0"/>
                </a:lnTo>
                <a:lnTo>
                  <a:pt x="0" y="13434"/>
                </a:lnTo>
                <a:lnTo>
                  <a:pt x="11941" y="80608"/>
                </a:lnTo>
                <a:lnTo>
                  <a:pt x="23883" y="80608"/>
                </a:lnTo>
                <a:lnTo>
                  <a:pt x="23883" y="67173"/>
                </a:lnTo>
                <a:lnTo>
                  <a:pt x="11941" y="0"/>
                </a:lnTo>
                <a:close/>
              </a:path>
            </a:pathLst>
          </a:custGeom>
          <a:solidFill>
            <a:srgbClr val="000000"/>
          </a:solidFill>
        </p:spPr>
        <p:txBody>
          <a:bodyPr wrap="square" lIns="0" tIns="0" rIns="0" bIns="0" rtlCol="0"/>
          <a:lstStyle/>
          <a:p>
            <a:endParaRPr sz="1593"/>
          </a:p>
        </p:txBody>
      </p:sp>
      <p:sp>
        <p:nvSpPr>
          <p:cNvPr id="502" name="object 502"/>
          <p:cNvSpPr/>
          <p:nvPr/>
        </p:nvSpPr>
        <p:spPr>
          <a:xfrm>
            <a:off x="3284714" y="559082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03" name="object 503"/>
          <p:cNvSpPr/>
          <p:nvPr/>
        </p:nvSpPr>
        <p:spPr>
          <a:xfrm>
            <a:off x="3284714" y="559082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04" name="object 504"/>
          <p:cNvSpPr/>
          <p:nvPr/>
        </p:nvSpPr>
        <p:spPr>
          <a:xfrm>
            <a:off x="3284714" y="559082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05" name="object 505"/>
          <p:cNvSpPr/>
          <p:nvPr/>
        </p:nvSpPr>
        <p:spPr>
          <a:xfrm>
            <a:off x="3284714" y="5531362"/>
            <a:ext cx="21360" cy="71386"/>
          </a:xfrm>
          <a:custGeom>
            <a:avLst/>
            <a:gdLst/>
            <a:ahLst/>
            <a:cxnLst/>
            <a:rect l="l" t="t" r="r" b="b"/>
            <a:pathLst>
              <a:path w="24129" h="80645">
                <a:moveTo>
                  <a:pt x="23883" y="0"/>
                </a:moveTo>
                <a:lnTo>
                  <a:pt x="11941" y="0"/>
                </a:lnTo>
                <a:lnTo>
                  <a:pt x="0" y="67173"/>
                </a:lnTo>
                <a:lnTo>
                  <a:pt x="0" y="80608"/>
                </a:lnTo>
                <a:lnTo>
                  <a:pt x="11941" y="80608"/>
                </a:lnTo>
                <a:lnTo>
                  <a:pt x="23883" y="13434"/>
                </a:lnTo>
                <a:lnTo>
                  <a:pt x="23883" y="0"/>
                </a:lnTo>
                <a:close/>
              </a:path>
            </a:pathLst>
          </a:custGeom>
          <a:solidFill>
            <a:srgbClr val="000000"/>
          </a:solidFill>
        </p:spPr>
        <p:txBody>
          <a:bodyPr wrap="square" lIns="0" tIns="0" rIns="0" bIns="0" rtlCol="0"/>
          <a:lstStyle/>
          <a:p>
            <a:endParaRPr sz="1593"/>
          </a:p>
        </p:txBody>
      </p:sp>
      <p:sp>
        <p:nvSpPr>
          <p:cNvPr id="506" name="object 506"/>
          <p:cNvSpPr/>
          <p:nvPr/>
        </p:nvSpPr>
        <p:spPr>
          <a:xfrm>
            <a:off x="3300570" y="553136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07" name="object 507"/>
          <p:cNvSpPr/>
          <p:nvPr/>
        </p:nvSpPr>
        <p:spPr>
          <a:xfrm>
            <a:off x="3295286" y="5471901"/>
            <a:ext cx="32039" cy="71386"/>
          </a:xfrm>
          <a:custGeom>
            <a:avLst/>
            <a:gdLst/>
            <a:ahLst/>
            <a:cxnLst/>
            <a:rect l="l" t="t" r="r" b="b"/>
            <a:pathLst>
              <a:path w="36195" h="80645">
                <a:moveTo>
                  <a:pt x="35826" y="0"/>
                </a:moveTo>
                <a:lnTo>
                  <a:pt x="23884" y="0"/>
                </a:lnTo>
                <a:lnTo>
                  <a:pt x="0" y="67173"/>
                </a:lnTo>
                <a:lnTo>
                  <a:pt x="0" y="80608"/>
                </a:lnTo>
                <a:lnTo>
                  <a:pt x="11941" y="80608"/>
                </a:lnTo>
                <a:lnTo>
                  <a:pt x="35826" y="13434"/>
                </a:lnTo>
                <a:lnTo>
                  <a:pt x="35826" y="0"/>
                </a:lnTo>
                <a:close/>
              </a:path>
            </a:pathLst>
          </a:custGeom>
          <a:solidFill>
            <a:srgbClr val="000000"/>
          </a:solidFill>
        </p:spPr>
        <p:txBody>
          <a:bodyPr wrap="square" lIns="0" tIns="0" rIns="0" bIns="0" rtlCol="0"/>
          <a:lstStyle/>
          <a:p>
            <a:endParaRPr sz="1593"/>
          </a:p>
        </p:txBody>
      </p:sp>
      <p:sp>
        <p:nvSpPr>
          <p:cNvPr id="508" name="object 508"/>
          <p:cNvSpPr/>
          <p:nvPr/>
        </p:nvSpPr>
        <p:spPr>
          <a:xfrm>
            <a:off x="3321713" y="547190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09" name="object 509"/>
          <p:cNvSpPr/>
          <p:nvPr/>
        </p:nvSpPr>
        <p:spPr>
          <a:xfrm>
            <a:off x="3316428" y="5424332"/>
            <a:ext cx="53399" cy="59582"/>
          </a:xfrm>
          <a:custGeom>
            <a:avLst/>
            <a:gdLst/>
            <a:ahLst/>
            <a:cxnLst/>
            <a:rect l="l" t="t" r="r" b="b"/>
            <a:pathLst>
              <a:path w="60325" h="67310">
                <a:moveTo>
                  <a:pt x="59711" y="0"/>
                </a:moveTo>
                <a:lnTo>
                  <a:pt x="47768" y="0"/>
                </a:lnTo>
                <a:lnTo>
                  <a:pt x="0" y="53738"/>
                </a:lnTo>
                <a:lnTo>
                  <a:pt x="0" y="67173"/>
                </a:lnTo>
                <a:lnTo>
                  <a:pt x="11941" y="67173"/>
                </a:lnTo>
                <a:lnTo>
                  <a:pt x="59711" y="13434"/>
                </a:lnTo>
                <a:lnTo>
                  <a:pt x="59711" y="0"/>
                </a:lnTo>
                <a:close/>
              </a:path>
            </a:pathLst>
          </a:custGeom>
          <a:solidFill>
            <a:srgbClr val="000000"/>
          </a:solidFill>
        </p:spPr>
        <p:txBody>
          <a:bodyPr wrap="square" lIns="0" tIns="0" rIns="0" bIns="0" rtlCol="0"/>
          <a:lstStyle/>
          <a:p>
            <a:endParaRPr sz="1593"/>
          </a:p>
        </p:txBody>
      </p:sp>
      <p:sp>
        <p:nvSpPr>
          <p:cNvPr id="510" name="object 510"/>
          <p:cNvSpPr/>
          <p:nvPr/>
        </p:nvSpPr>
        <p:spPr>
          <a:xfrm>
            <a:off x="3363998" y="542433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11" name="object 511"/>
          <p:cNvSpPr/>
          <p:nvPr/>
        </p:nvSpPr>
        <p:spPr>
          <a:xfrm>
            <a:off x="3358712" y="5376763"/>
            <a:ext cx="63516" cy="59582"/>
          </a:xfrm>
          <a:custGeom>
            <a:avLst/>
            <a:gdLst/>
            <a:ahLst/>
            <a:cxnLst/>
            <a:rect l="l" t="t" r="r" b="b"/>
            <a:pathLst>
              <a:path w="71754" h="67310">
                <a:moveTo>
                  <a:pt x="71654" y="0"/>
                </a:moveTo>
                <a:lnTo>
                  <a:pt x="59712" y="0"/>
                </a:lnTo>
                <a:lnTo>
                  <a:pt x="0" y="53738"/>
                </a:lnTo>
                <a:lnTo>
                  <a:pt x="0" y="67173"/>
                </a:lnTo>
                <a:lnTo>
                  <a:pt x="11943" y="67173"/>
                </a:lnTo>
                <a:lnTo>
                  <a:pt x="71654" y="13434"/>
                </a:lnTo>
                <a:lnTo>
                  <a:pt x="71654" y="0"/>
                </a:lnTo>
                <a:close/>
              </a:path>
            </a:pathLst>
          </a:custGeom>
          <a:solidFill>
            <a:srgbClr val="000000"/>
          </a:solidFill>
        </p:spPr>
        <p:txBody>
          <a:bodyPr wrap="square" lIns="0" tIns="0" rIns="0" bIns="0" rtlCol="0"/>
          <a:lstStyle/>
          <a:p>
            <a:endParaRPr sz="1593"/>
          </a:p>
        </p:txBody>
      </p:sp>
      <p:sp>
        <p:nvSpPr>
          <p:cNvPr id="512" name="object 512"/>
          <p:cNvSpPr/>
          <p:nvPr/>
        </p:nvSpPr>
        <p:spPr>
          <a:xfrm>
            <a:off x="3416853" y="537676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13" name="object 513"/>
          <p:cNvSpPr/>
          <p:nvPr/>
        </p:nvSpPr>
        <p:spPr>
          <a:xfrm>
            <a:off x="3411569" y="5305410"/>
            <a:ext cx="159072" cy="83752"/>
          </a:xfrm>
          <a:custGeom>
            <a:avLst/>
            <a:gdLst/>
            <a:ahLst/>
            <a:cxnLst/>
            <a:rect l="l" t="t" r="r" b="b"/>
            <a:pathLst>
              <a:path w="179704" h="94614">
                <a:moveTo>
                  <a:pt x="179134" y="0"/>
                </a:moveTo>
                <a:lnTo>
                  <a:pt x="167191" y="0"/>
                </a:lnTo>
                <a:lnTo>
                  <a:pt x="0" y="80608"/>
                </a:lnTo>
                <a:lnTo>
                  <a:pt x="0" y="94042"/>
                </a:lnTo>
                <a:lnTo>
                  <a:pt x="11941" y="94042"/>
                </a:lnTo>
                <a:lnTo>
                  <a:pt x="179134" y="13434"/>
                </a:lnTo>
                <a:lnTo>
                  <a:pt x="179134" y="0"/>
                </a:lnTo>
                <a:close/>
              </a:path>
            </a:pathLst>
          </a:custGeom>
          <a:solidFill>
            <a:srgbClr val="000000"/>
          </a:solidFill>
        </p:spPr>
        <p:txBody>
          <a:bodyPr wrap="square" lIns="0" tIns="0" rIns="0" bIns="0" rtlCol="0"/>
          <a:lstStyle/>
          <a:p>
            <a:endParaRPr sz="1593"/>
          </a:p>
        </p:txBody>
      </p:sp>
      <p:sp>
        <p:nvSpPr>
          <p:cNvPr id="514" name="object 514"/>
          <p:cNvSpPr/>
          <p:nvPr/>
        </p:nvSpPr>
        <p:spPr>
          <a:xfrm>
            <a:off x="3564850" y="53054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15" name="object 515"/>
          <p:cNvSpPr/>
          <p:nvPr/>
        </p:nvSpPr>
        <p:spPr>
          <a:xfrm>
            <a:off x="3559564" y="5281626"/>
            <a:ext cx="179870" cy="35974"/>
          </a:xfrm>
          <a:custGeom>
            <a:avLst/>
            <a:gdLst/>
            <a:ahLst/>
            <a:cxnLst/>
            <a:rect l="l" t="t" r="r" b="b"/>
            <a:pathLst>
              <a:path w="203200" h="40639">
                <a:moveTo>
                  <a:pt x="203019" y="0"/>
                </a:moveTo>
                <a:lnTo>
                  <a:pt x="191077" y="0"/>
                </a:lnTo>
                <a:lnTo>
                  <a:pt x="0" y="26869"/>
                </a:lnTo>
                <a:lnTo>
                  <a:pt x="0" y="40304"/>
                </a:lnTo>
                <a:lnTo>
                  <a:pt x="11943" y="40304"/>
                </a:lnTo>
                <a:lnTo>
                  <a:pt x="203019" y="13434"/>
                </a:lnTo>
                <a:lnTo>
                  <a:pt x="203019" y="0"/>
                </a:lnTo>
                <a:close/>
              </a:path>
            </a:pathLst>
          </a:custGeom>
          <a:solidFill>
            <a:srgbClr val="000000"/>
          </a:solidFill>
        </p:spPr>
        <p:txBody>
          <a:bodyPr wrap="square" lIns="0" tIns="0" rIns="0" bIns="0" rtlCol="0"/>
          <a:lstStyle/>
          <a:p>
            <a:endParaRPr sz="1593"/>
          </a:p>
        </p:txBody>
      </p:sp>
      <p:sp>
        <p:nvSpPr>
          <p:cNvPr id="516" name="object 516"/>
          <p:cNvSpPr/>
          <p:nvPr/>
        </p:nvSpPr>
        <p:spPr>
          <a:xfrm>
            <a:off x="3728703" y="5281625"/>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17" name="object 517"/>
          <p:cNvSpPr/>
          <p:nvPr/>
        </p:nvSpPr>
        <p:spPr>
          <a:xfrm>
            <a:off x="3728703" y="5281625"/>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18" name="object 518"/>
          <p:cNvSpPr/>
          <p:nvPr/>
        </p:nvSpPr>
        <p:spPr>
          <a:xfrm>
            <a:off x="3728703" y="5281625"/>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19" name="object 519"/>
          <p:cNvSpPr/>
          <p:nvPr/>
        </p:nvSpPr>
        <p:spPr>
          <a:xfrm>
            <a:off x="3728703" y="5281626"/>
            <a:ext cx="179870" cy="35974"/>
          </a:xfrm>
          <a:custGeom>
            <a:avLst/>
            <a:gdLst/>
            <a:ahLst/>
            <a:cxnLst/>
            <a:rect l="l" t="t" r="r" b="b"/>
            <a:pathLst>
              <a:path w="203200" h="40639">
                <a:moveTo>
                  <a:pt x="11941" y="0"/>
                </a:moveTo>
                <a:lnTo>
                  <a:pt x="0" y="0"/>
                </a:lnTo>
                <a:lnTo>
                  <a:pt x="0" y="13434"/>
                </a:lnTo>
                <a:lnTo>
                  <a:pt x="191076" y="40304"/>
                </a:lnTo>
                <a:lnTo>
                  <a:pt x="203019" y="40304"/>
                </a:lnTo>
                <a:lnTo>
                  <a:pt x="203019" y="26869"/>
                </a:lnTo>
                <a:lnTo>
                  <a:pt x="11941" y="0"/>
                </a:lnTo>
                <a:close/>
              </a:path>
            </a:pathLst>
          </a:custGeom>
          <a:solidFill>
            <a:srgbClr val="000000"/>
          </a:solidFill>
        </p:spPr>
        <p:txBody>
          <a:bodyPr wrap="square" lIns="0" tIns="0" rIns="0" bIns="0" rtlCol="0"/>
          <a:lstStyle/>
          <a:p>
            <a:endParaRPr sz="1593"/>
          </a:p>
        </p:txBody>
      </p:sp>
      <p:sp>
        <p:nvSpPr>
          <p:cNvPr id="520" name="object 520"/>
          <p:cNvSpPr/>
          <p:nvPr/>
        </p:nvSpPr>
        <p:spPr>
          <a:xfrm>
            <a:off x="3903128" y="530541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21" name="object 521"/>
          <p:cNvSpPr/>
          <p:nvPr/>
        </p:nvSpPr>
        <p:spPr>
          <a:xfrm>
            <a:off x="3897842" y="5305410"/>
            <a:ext cx="148392" cy="83752"/>
          </a:xfrm>
          <a:custGeom>
            <a:avLst/>
            <a:gdLst/>
            <a:ahLst/>
            <a:cxnLst/>
            <a:rect l="l" t="t" r="r" b="b"/>
            <a:pathLst>
              <a:path w="167639" h="94614">
                <a:moveTo>
                  <a:pt x="11943" y="0"/>
                </a:moveTo>
                <a:lnTo>
                  <a:pt x="0" y="0"/>
                </a:lnTo>
                <a:lnTo>
                  <a:pt x="0" y="13434"/>
                </a:lnTo>
                <a:lnTo>
                  <a:pt x="155251" y="94042"/>
                </a:lnTo>
                <a:lnTo>
                  <a:pt x="167192" y="94042"/>
                </a:lnTo>
                <a:lnTo>
                  <a:pt x="167192" y="80608"/>
                </a:lnTo>
                <a:lnTo>
                  <a:pt x="11943" y="0"/>
                </a:lnTo>
                <a:close/>
              </a:path>
            </a:pathLst>
          </a:custGeom>
          <a:solidFill>
            <a:srgbClr val="000000"/>
          </a:solidFill>
        </p:spPr>
        <p:txBody>
          <a:bodyPr wrap="square" lIns="0" tIns="0" rIns="0" bIns="0" rtlCol="0"/>
          <a:lstStyle/>
          <a:p>
            <a:endParaRPr sz="1593"/>
          </a:p>
        </p:txBody>
      </p:sp>
      <p:sp>
        <p:nvSpPr>
          <p:cNvPr id="522" name="object 522"/>
          <p:cNvSpPr/>
          <p:nvPr/>
        </p:nvSpPr>
        <p:spPr>
          <a:xfrm>
            <a:off x="4040553" y="537676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23" name="object 523"/>
          <p:cNvSpPr/>
          <p:nvPr/>
        </p:nvSpPr>
        <p:spPr>
          <a:xfrm>
            <a:off x="4035268" y="5376763"/>
            <a:ext cx="63516" cy="59582"/>
          </a:xfrm>
          <a:custGeom>
            <a:avLst/>
            <a:gdLst/>
            <a:ahLst/>
            <a:cxnLst/>
            <a:rect l="l" t="t" r="r" b="b"/>
            <a:pathLst>
              <a:path w="71754" h="67310">
                <a:moveTo>
                  <a:pt x="11941" y="0"/>
                </a:moveTo>
                <a:lnTo>
                  <a:pt x="0" y="0"/>
                </a:lnTo>
                <a:lnTo>
                  <a:pt x="0" y="13434"/>
                </a:lnTo>
                <a:lnTo>
                  <a:pt x="59711" y="67173"/>
                </a:lnTo>
                <a:lnTo>
                  <a:pt x="71653" y="67173"/>
                </a:lnTo>
                <a:lnTo>
                  <a:pt x="71653" y="53738"/>
                </a:lnTo>
                <a:lnTo>
                  <a:pt x="11941" y="0"/>
                </a:lnTo>
                <a:close/>
              </a:path>
            </a:pathLst>
          </a:custGeom>
          <a:solidFill>
            <a:srgbClr val="000000"/>
          </a:solidFill>
        </p:spPr>
        <p:txBody>
          <a:bodyPr wrap="square" lIns="0" tIns="0" rIns="0" bIns="0" rtlCol="0"/>
          <a:lstStyle/>
          <a:p>
            <a:endParaRPr sz="1593"/>
          </a:p>
        </p:txBody>
      </p:sp>
      <p:sp>
        <p:nvSpPr>
          <p:cNvPr id="524" name="object 524"/>
          <p:cNvSpPr/>
          <p:nvPr/>
        </p:nvSpPr>
        <p:spPr>
          <a:xfrm>
            <a:off x="4093408" y="542433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25" name="object 525"/>
          <p:cNvSpPr/>
          <p:nvPr/>
        </p:nvSpPr>
        <p:spPr>
          <a:xfrm>
            <a:off x="4088124" y="5424332"/>
            <a:ext cx="53399" cy="59582"/>
          </a:xfrm>
          <a:custGeom>
            <a:avLst/>
            <a:gdLst/>
            <a:ahLst/>
            <a:cxnLst/>
            <a:rect l="l" t="t" r="r" b="b"/>
            <a:pathLst>
              <a:path w="60325" h="67310">
                <a:moveTo>
                  <a:pt x="11941" y="0"/>
                </a:moveTo>
                <a:lnTo>
                  <a:pt x="0" y="0"/>
                </a:lnTo>
                <a:lnTo>
                  <a:pt x="0" y="13434"/>
                </a:lnTo>
                <a:lnTo>
                  <a:pt x="47768" y="67173"/>
                </a:lnTo>
                <a:lnTo>
                  <a:pt x="59711" y="67173"/>
                </a:lnTo>
                <a:lnTo>
                  <a:pt x="59711" y="53738"/>
                </a:lnTo>
                <a:lnTo>
                  <a:pt x="11941" y="0"/>
                </a:lnTo>
                <a:close/>
              </a:path>
            </a:pathLst>
          </a:custGeom>
          <a:solidFill>
            <a:srgbClr val="000000"/>
          </a:solidFill>
        </p:spPr>
        <p:txBody>
          <a:bodyPr wrap="square" lIns="0" tIns="0" rIns="0" bIns="0" rtlCol="0"/>
          <a:lstStyle/>
          <a:p>
            <a:endParaRPr sz="1593"/>
          </a:p>
        </p:txBody>
      </p:sp>
      <p:sp>
        <p:nvSpPr>
          <p:cNvPr id="526" name="object 526"/>
          <p:cNvSpPr/>
          <p:nvPr/>
        </p:nvSpPr>
        <p:spPr>
          <a:xfrm>
            <a:off x="4135694" y="547190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27" name="object 527"/>
          <p:cNvSpPr/>
          <p:nvPr/>
        </p:nvSpPr>
        <p:spPr>
          <a:xfrm>
            <a:off x="4130407" y="5471901"/>
            <a:ext cx="42719" cy="71386"/>
          </a:xfrm>
          <a:custGeom>
            <a:avLst/>
            <a:gdLst/>
            <a:ahLst/>
            <a:cxnLst/>
            <a:rect l="l" t="t" r="r" b="b"/>
            <a:pathLst>
              <a:path w="48260" h="80645">
                <a:moveTo>
                  <a:pt x="11943" y="0"/>
                </a:moveTo>
                <a:lnTo>
                  <a:pt x="0" y="0"/>
                </a:lnTo>
                <a:lnTo>
                  <a:pt x="0" y="13434"/>
                </a:lnTo>
                <a:lnTo>
                  <a:pt x="35826" y="80608"/>
                </a:lnTo>
                <a:lnTo>
                  <a:pt x="47769" y="80608"/>
                </a:lnTo>
                <a:lnTo>
                  <a:pt x="47769" y="67173"/>
                </a:lnTo>
                <a:lnTo>
                  <a:pt x="11943" y="0"/>
                </a:lnTo>
                <a:close/>
              </a:path>
            </a:pathLst>
          </a:custGeom>
          <a:solidFill>
            <a:srgbClr val="000000"/>
          </a:solidFill>
        </p:spPr>
        <p:txBody>
          <a:bodyPr wrap="square" lIns="0" tIns="0" rIns="0" bIns="0" rtlCol="0"/>
          <a:lstStyle/>
          <a:p>
            <a:endParaRPr sz="1593"/>
          </a:p>
        </p:txBody>
      </p:sp>
      <p:sp>
        <p:nvSpPr>
          <p:cNvPr id="528" name="object 528"/>
          <p:cNvSpPr/>
          <p:nvPr/>
        </p:nvSpPr>
        <p:spPr>
          <a:xfrm>
            <a:off x="4167407" y="553136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29" name="object 529"/>
          <p:cNvSpPr/>
          <p:nvPr/>
        </p:nvSpPr>
        <p:spPr>
          <a:xfrm>
            <a:off x="4162121" y="5531362"/>
            <a:ext cx="21360" cy="71386"/>
          </a:xfrm>
          <a:custGeom>
            <a:avLst/>
            <a:gdLst/>
            <a:ahLst/>
            <a:cxnLst/>
            <a:rect l="l" t="t" r="r" b="b"/>
            <a:pathLst>
              <a:path w="24129" h="80645">
                <a:moveTo>
                  <a:pt x="11943" y="0"/>
                </a:moveTo>
                <a:lnTo>
                  <a:pt x="0" y="0"/>
                </a:lnTo>
                <a:lnTo>
                  <a:pt x="0" y="13434"/>
                </a:lnTo>
                <a:lnTo>
                  <a:pt x="11943" y="80608"/>
                </a:lnTo>
                <a:lnTo>
                  <a:pt x="23884" y="80608"/>
                </a:lnTo>
                <a:lnTo>
                  <a:pt x="23884" y="67173"/>
                </a:lnTo>
                <a:lnTo>
                  <a:pt x="11943" y="0"/>
                </a:lnTo>
                <a:close/>
              </a:path>
            </a:pathLst>
          </a:custGeom>
          <a:solidFill>
            <a:srgbClr val="000000"/>
          </a:solidFill>
        </p:spPr>
        <p:txBody>
          <a:bodyPr wrap="square" lIns="0" tIns="0" rIns="0" bIns="0" rtlCol="0"/>
          <a:lstStyle/>
          <a:p>
            <a:endParaRPr sz="1593"/>
          </a:p>
        </p:txBody>
      </p:sp>
      <p:sp>
        <p:nvSpPr>
          <p:cNvPr id="530" name="object 530"/>
          <p:cNvSpPr/>
          <p:nvPr/>
        </p:nvSpPr>
        <p:spPr>
          <a:xfrm>
            <a:off x="4177978" y="559082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31" name="object 531"/>
          <p:cNvSpPr txBox="1"/>
          <p:nvPr/>
        </p:nvSpPr>
        <p:spPr>
          <a:xfrm>
            <a:off x="3358041" y="5436874"/>
            <a:ext cx="763322" cy="308302"/>
          </a:xfrm>
          <a:prstGeom prst="rect">
            <a:avLst/>
          </a:prstGeom>
        </p:spPr>
        <p:txBody>
          <a:bodyPr vert="horz" wrap="square" lIns="0" tIns="10680" rIns="0" bIns="0" rtlCol="0">
            <a:spAutoFit/>
          </a:bodyPr>
          <a:lstStyle/>
          <a:p>
            <a:pPr marL="64080" marR="4497" indent="-53400">
              <a:lnSpc>
                <a:spcPct val="109100"/>
              </a:lnSpc>
              <a:spcBef>
                <a:spcPts val="84"/>
              </a:spcBef>
            </a:pPr>
            <a:r>
              <a:rPr sz="929" spc="-71" dirty="0">
                <a:latin typeface="Verdana"/>
                <a:cs typeface="Verdana"/>
              </a:rPr>
              <a:t>full-experience  </a:t>
            </a:r>
            <a:r>
              <a:rPr sz="929" spc="-75" dirty="0">
                <a:latin typeface="Verdana"/>
                <a:cs typeface="Verdana"/>
              </a:rPr>
              <a:t>components</a:t>
            </a:r>
            <a:endParaRPr sz="929">
              <a:latin typeface="Verdana"/>
              <a:cs typeface="Verdana"/>
            </a:endParaRPr>
          </a:p>
        </p:txBody>
      </p:sp>
      <p:sp>
        <p:nvSpPr>
          <p:cNvPr id="532" name="object 532"/>
          <p:cNvSpPr/>
          <p:nvPr/>
        </p:nvSpPr>
        <p:spPr>
          <a:xfrm>
            <a:off x="4711823" y="4734585"/>
            <a:ext cx="782432" cy="618864"/>
          </a:xfrm>
          <a:custGeom>
            <a:avLst/>
            <a:gdLst/>
            <a:ahLst/>
            <a:cxnLst/>
            <a:rect l="l" t="t" r="r" b="b"/>
            <a:pathLst>
              <a:path w="883920" h="699135">
                <a:moveTo>
                  <a:pt x="441866" y="0"/>
                </a:moveTo>
                <a:lnTo>
                  <a:pt x="274673" y="26869"/>
                </a:lnTo>
                <a:lnTo>
                  <a:pt x="131364" y="107477"/>
                </a:lnTo>
                <a:lnTo>
                  <a:pt x="71653" y="161216"/>
                </a:lnTo>
                <a:lnTo>
                  <a:pt x="35826" y="214955"/>
                </a:lnTo>
                <a:lnTo>
                  <a:pt x="11941" y="282128"/>
                </a:lnTo>
                <a:lnTo>
                  <a:pt x="0" y="349302"/>
                </a:lnTo>
                <a:lnTo>
                  <a:pt x="11941" y="416476"/>
                </a:lnTo>
                <a:lnTo>
                  <a:pt x="35826" y="483649"/>
                </a:lnTo>
                <a:lnTo>
                  <a:pt x="71653" y="550823"/>
                </a:lnTo>
                <a:lnTo>
                  <a:pt x="131364" y="604561"/>
                </a:lnTo>
                <a:lnTo>
                  <a:pt x="274673" y="671735"/>
                </a:lnTo>
                <a:lnTo>
                  <a:pt x="441866" y="698604"/>
                </a:lnTo>
                <a:lnTo>
                  <a:pt x="609058" y="671735"/>
                </a:lnTo>
                <a:lnTo>
                  <a:pt x="752367" y="604561"/>
                </a:lnTo>
                <a:lnTo>
                  <a:pt x="800135" y="550823"/>
                </a:lnTo>
                <a:lnTo>
                  <a:pt x="847905" y="483649"/>
                </a:lnTo>
                <a:lnTo>
                  <a:pt x="871790" y="416476"/>
                </a:lnTo>
                <a:lnTo>
                  <a:pt x="883732" y="349302"/>
                </a:lnTo>
                <a:lnTo>
                  <a:pt x="871790" y="282128"/>
                </a:lnTo>
                <a:lnTo>
                  <a:pt x="847905" y="214955"/>
                </a:lnTo>
                <a:lnTo>
                  <a:pt x="752367" y="107477"/>
                </a:lnTo>
                <a:lnTo>
                  <a:pt x="609058" y="26869"/>
                </a:lnTo>
                <a:lnTo>
                  <a:pt x="441866" y="0"/>
                </a:lnTo>
                <a:close/>
              </a:path>
            </a:pathLst>
          </a:custGeom>
          <a:solidFill>
            <a:srgbClr val="FFFFFF"/>
          </a:solidFill>
        </p:spPr>
        <p:txBody>
          <a:bodyPr wrap="square" lIns="0" tIns="0" rIns="0" bIns="0" rtlCol="0"/>
          <a:lstStyle/>
          <a:p>
            <a:endParaRPr sz="1593"/>
          </a:p>
        </p:txBody>
      </p:sp>
      <p:sp>
        <p:nvSpPr>
          <p:cNvPr id="533" name="object 533"/>
          <p:cNvSpPr/>
          <p:nvPr/>
        </p:nvSpPr>
        <p:spPr>
          <a:xfrm>
            <a:off x="5483518" y="5043782"/>
            <a:ext cx="21360" cy="71386"/>
          </a:xfrm>
          <a:custGeom>
            <a:avLst/>
            <a:gdLst/>
            <a:ahLst/>
            <a:cxnLst/>
            <a:rect l="l" t="t" r="r" b="b"/>
            <a:pathLst>
              <a:path w="24129" h="80645">
                <a:moveTo>
                  <a:pt x="23883" y="0"/>
                </a:moveTo>
                <a:lnTo>
                  <a:pt x="11941" y="0"/>
                </a:lnTo>
                <a:lnTo>
                  <a:pt x="0" y="67173"/>
                </a:lnTo>
                <a:lnTo>
                  <a:pt x="0" y="80608"/>
                </a:lnTo>
                <a:lnTo>
                  <a:pt x="11941" y="80608"/>
                </a:lnTo>
                <a:lnTo>
                  <a:pt x="23883" y="13434"/>
                </a:lnTo>
                <a:lnTo>
                  <a:pt x="23883" y="0"/>
                </a:lnTo>
                <a:close/>
              </a:path>
            </a:pathLst>
          </a:custGeom>
          <a:solidFill>
            <a:srgbClr val="000000"/>
          </a:solidFill>
        </p:spPr>
        <p:txBody>
          <a:bodyPr wrap="square" lIns="0" tIns="0" rIns="0" bIns="0" rtlCol="0"/>
          <a:lstStyle/>
          <a:p>
            <a:endParaRPr sz="1593"/>
          </a:p>
        </p:txBody>
      </p:sp>
      <p:sp>
        <p:nvSpPr>
          <p:cNvPr id="534" name="object 534"/>
          <p:cNvSpPr/>
          <p:nvPr/>
        </p:nvSpPr>
        <p:spPr>
          <a:xfrm>
            <a:off x="5488804" y="510324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35" name="object 535"/>
          <p:cNvSpPr/>
          <p:nvPr/>
        </p:nvSpPr>
        <p:spPr>
          <a:xfrm>
            <a:off x="5462376" y="5103243"/>
            <a:ext cx="32039" cy="71386"/>
          </a:xfrm>
          <a:custGeom>
            <a:avLst/>
            <a:gdLst/>
            <a:ahLst/>
            <a:cxnLst/>
            <a:rect l="l" t="t" r="r" b="b"/>
            <a:pathLst>
              <a:path w="36195" h="80645">
                <a:moveTo>
                  <a:pt x="35826" y="0"/>
                </a:moveTo>
                <a:lnTo>
                  <a:pt x="23884" y="0"/>
                </a:lnTo>
                <a:lnTo>
                  <a:pt x="0" y="67173"/>
                </a:lnTo>
                <a:lnTo>
                  <a:pt x="0" y="80608"/>
                </a:lnTo>
                <a:lnTo>
                  <a:pt x="11941" y="80608"/>
                </a:lnTo>
                <a:lnTo>
                  <a:pt x="35826" y="13434"/>
                </a:lnTo>
                <a:lnTo>
                  <a:pt x="35826" y="0"/>
                </a:lnTo>
                <a:close/>
              </a:path>
            </a:pathLst>
          </a:custGeom>
          <a:solidFill>
            <a:srgbClr val="000000"/>
          </a:solidFill>
        </p:spPr>
        <p:txBody>
          <a:bodyPr wrap="square" lIns="0" tIns="0" rIns="0" bIns="0" rtlCol="0"/>
          <a:lstStyle/>
          <a:p>
            <a:endParaRPr sz="1593"/>
          </a:p>
        </p:txBody>
      </p:sp>
      <p:sp>
        <p:nvSpPr>
          <p:cNvPr id="536" name="object 536"/>
          <p:cNvSpPr/>
          <p:nvPr/>
        </p:nvSpPr>
        <p:spPr>
          <a:xfrm>
            <a:off x="5467661" y="51627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37" name="object 537"/>
          <p:cNvSpPr/>
          <p:nvPr/>
        </p:nvSpPr>
        <p:spPr>
          <a:xfrm>
            <a:off x="5420091" y="5162704"/>
            <a:ext cx="53399" cy="71386"/>
          </a:xfrm>
          <a:custGeom>
            <a:avLst/>
            <a:gdLst/>
            <a:ahLst/>
            <a:cxnLst/>
            <a:rect l="l" t="t" r="r" b="b"/>
            <a:pathLst>
              <a:path w="60325" h="80645">
                <a:moveTo>
                  <a:pt x="59711" y="0"/>
                </a:moveTo>
                <a:lnTo>
                  <a:pt x="47769" y="0"/>
                </a:lnTo>
                <a:lnTo>
                  <a:pt x="0" y="67173"/>
                </a:lnTo>
                <a:lnTo>
                  <a:pt x="0" y="80608"/>
                </a:lnTo>
                <a:lnTo>
                  <a:pt x="11943" y="80608"/>
                </a:lnTo>
                <a:lnTo>
                  <a:pt x="59711" y="13434"/>
                </a:lnTo>
                <a:lnTo>
                  <a:pt x="59711" y="0"/>
                </a:lnTo>
                <a:close/>
              </a:path>
            </a:pathLst>
          </a:custGeom>
          <a:solidFill>
            <a:srgbClr val="000000"/>
          </a:solidFill>
        </p:spPr>
        <p:txBody>
          <a:bodyPr wrap="square" lIns="0" tIns="0" rIns="0" bIns="0" rtlCol="0"/>
          <a:lstStyle/>
          <a:p>
            <a:endParaRPr sz="1593"/>
          </a:p>
        </p:txBody>
      </p:sp>
      <p:sp>
        <p:nvSpPr>
          <p:cNvPr id="538" name="object 538"/>
          <p:cNvSpPr/>
          <p:nvPr/>
        </p:nvSpPr>
        <p:spPr>
          <a:xfrm>
            <a:off x="5425377" y="522216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39" name="object 539"/>
          <p:cNvSpPr/>
          <p:nvPr/>
        </p:nvSpPr>
        <p:spPr>
          <a:xfrm>
            <a:off x="5377807" y="5222165"/>
            <a:ext cx="53399" cy="59582"/>
          </a:xfrm>
          <a:custGeom>
            <a:avLst/>
            <a:gdLst/>
            <a:ahLst/>
            <a:cxnLst/>
            <a:rect l="l" t="t" r="r" b="b"/>
            <a:pathLst>
              <a:path w="60325" h="67310">
                <a:moveTo>
                  <a:pt x="59711" y="0"/>
                </a:moveTo>
                <a:lnTo>
                  <a:pt x="47768" y="0"/>
                </a:lnTo>
                <a:lnTo>
                  <a:pt x="0" y="53738"/>
                </a:lnTo>
                <a:lnTo>
                  <a:pt x="0" y="67173"/>
                </a:lnTo>
                <a:lnTo>
                  <a:pt x="11941" y="67173"/>
                </a:lnTo>
                <a:lnTo>
                  <a:pt x="59711" y="13434"/>
                </a:lnTo>
                <a:lnTo>
                  <a:pt x="59711" y="0"/>
                </a:lnTo>
                <a:close/>
              </a:path>
            </a:pathLst>
          </a:custGeom>
          <a:solidFill>
            <a:srgbClr val="000000"/>
          </a:solidFill>
        </p:spPr>
        <p:txBody>
          <a:bodyPr wrap="square" lIns="0" tIns="0" rIns="0" bIns="0" rtlCol="0"/>
          <a:lstStyle/>
          <a:p>
            <a:endParaRPr sz="1593"/>
          </a:p>
        </p:txBody>
      </p:sp>
      <p:sp>
        <p:nvSpPr>
          <p:cNvPr id="540" name="object 540"/>
          <p:cNvSpPr/>
          <p:nvPr/>
        </p:nvSpPr>
        <p:spPr>
          <a:xfrm>
            <a:off x="5383091" y="526973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41" name="object 541"/>
          <p:cNvSpPr/>
          <p:nvPr/>
        </p:nvSpPr>
        <p:spPr>
          <a:xfrm>
            <a:off x="5250953" y="5269733"/>
            <a:ext cx="137713" cy="71386"/>
          </a:xfrm>
          <a:custGeom>
            <a:avLst/>
            <a:gdLst/>
            <a:ahLst/>
            <a:cxnLst/>
            <a:rect l="l" t="t" r="r" b="b"/>
            <a:pathLst>
              <a:path w="155575" h="80645">
                <a:moveTo>
                  <a:pt x="155249" y="0"/>
                </a:moveTo>
                <a:lnTo>
                  <a:pt x="143308" y="0"/>
                </a:lnTo>
                <a:lnTo>
                  <a:pt x="0" y="67173"/>
                </a:lnTo>
                <a:lnTo>
                  <a:pt x="0" y="80608"/>
                </a:lnTo>
                <a:lnTo>
                  <a:pt x="11941" y="80608"/>
                </a:lnTo>
                <a:lnTo>
                  <a:pt x="155249" y="13434"/>
                </a:lnTo>
                <a:lnTo>
                  <a:pt x="155249" y="0"/>
                </a:lnTo>
                <a:close/>
              </a:path>
            </a:pathLst>
          </a:custGeom>
          <a:solidFill>
            <a:srgbClr val="000000"/>
          </a:solidFill>
        </p:spPr>
        <p:txBody>
          <a:bodyPr wrap="square" lIns="0" tIns="0" rIns="0" bIns="0" rtlCol="0"/>
          <a:lstStyle/>
          <a:p>
            <a:endParaRPr sz="1593"/>
          </a:p>
        </p:txBody>
      </p:sp>
      <p:sp>
        <p:nvSpPr>
          <p:cNvPr id="542" name="object 542"/>
          <p:cNvSpPr/>
          <p:nvPr/>
        </p:nvSpPr>
        <p:spPr>
          <a:xfrm>
            <a:off x="5256237" y="532919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43" name="object 543"/>
          <p:cNvSpPr/>
          <p:nvPr/>
        </p:nvSpPr>
        <p:spPr>
          <a:xfrm>
            <a:off x="5102956" y="5329195"/>
            <a:ext cx="159072" cy="35974"/>
          </a:xfrm>
          <a:custGeom>
            <a:avLst/>
            <a:gdLst/>
            <a:ahLst/>
            <a:cxnLst/>
            <a:rect l="l" t="t" r="r" b="b"/>
            <a:pathLst>
              <a:path w="179704" h="40639">
                <a:moveTo>
                  <a:pt x="179134" y="0"/>
                </a:moveTo>
                <a:lnTo>
                  <a:pt x="167192" y="0"/>
                </a:lnTo>
                <a:lnTo>
                  <a:pt x="0" y="26869"/>
                </a:lnTo>
                <a:lnTo>
                  <a:pt x="0" y="40304"/>
                </a:lnTo>
                <a:lnTo>
                  <a:pt x="11941" y="40304"/>
                </a:lnTo>
                <a:lnTo>
                  <a:pt x="179134" y="13434"/>
                </a:lnTo>
                <a:lnTo>
                  <a:pt x="179134" y="0"/>
                </a:lnTo>
                <a:close/>
              </a:path>
            </a:pathLst>
          </a:custGeom>
          <a:solidFill>
            <a:srgbClr val="000000"/>
          </a:solidFill>
        </p:spPr>
        <p:txBody>
          <a:bodyPr wrap="square" lIns="0" tIns="0" rIns="0" bIns="0" rtlCol="0"/>
          <a:lstStyle/>
          <a:p>
            <a:endParaRPr sz="1593"/>
          </a:p>
        </p:txBody>
      </p:sp>
      <p:sp>
        <p:nvSpPr>
          <p:cNvPr id="544" name="object 544"/>
          <p:cNvSpPr/>
          <p:nvPr/>
        </p:nvSpPr>
        <p:spPr>
          <a:xfrm>
            <a:off x="5102956" y="5352978"/>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45" name="object 545"/>
          <p:cNvSpPr/>
          <p:nvPr/>
        </p:nvSpPr>
        <p:spPr>
          <a:xfrm>
            <a:off x="5102956" y="5352978"/>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46" name="object 546"/>
          <p:cNvSpPr/>
          <p:nvPr/>
        </p:nvSpPr>
        <p:spPr>
          <a:xfrm>
            <a:off x="5102956" y="5352978"/>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47" name="object 547"/>
          <p:cNvSpPr/>
          <p:nvPr/>
        </p:nvSpPr>
        <p:spPr>
          <a:xfrm>
            <a:off x="4954960" y="5329195"/>
            <a:ext cx="159072" cy="35974"/>
          </a:xfrm>
          <a:custGeom>
            <a:avLst/>
            <a:gdLst/>
            <a:ahLst/>
            <a:cxnLst/>
            <a:rect l="l" t="t" r="r" b="b"/>
            <a:pathLst>
              <a:path w="179704" h="40639">
                <a:moveTo>
                  <a:pt x="11943" y="0"/>
                </a:moveTo>
                <a:lnTo>
                  <a:pt x="0" y="0"/>
                </a:lnTo>
                <a:lnTo>
                  <a:pt x="0" y="13434"/>
                </a:lnTo>
                <a:lnTo>
                  <a:pt x="167192" y="40304"/>
                </a:lnTo>
                <a:lnTo>
                  <a:pt x="179134" y="40304"/>
                </a:lnTo>
                <a:lnTo>
                  <a:pt x="179134" y="26869"/>
                </a:lnTo>
                <a:lnTo>
                  <a:pt x="11943" y="0"/>
                </a:lnTo>
                <a:close/>
              </a:path>
            </a:pathLst>
          </a:custGeom>
          <a:solidFill>
            <a:srgbClr val="000000"/>
          </a:solidFill>
        </p:spPr>
        <p:txBody>
          <a:bodyPr wrap="square" lIns="0" tIns="0" rIns="0" bIns="0" rtlCol="0"/>
          <a:lstStyle/>
          <a:p>
            <a:endParaRPr sz="1593"/>
          </a:p>
        </p:txBody>
      </p:sp>
      <p:sp>
        <p:nvSpPr>
          <p:cNvPr id="548" name="object 548"/>
          <p:cNvSpPr/>
          <p:nvPr/>
        </p:nvSpPr>
        <p:spPr>
          <a:xfrm>
            <a:off x="4960244" y="532919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49" name="object 549"/>
          <p:cNvSpPr/>
          <p:nvPr/>
        </p:nvSpPr>
        <p:spPr>
          <a:xfrm>
            <a:off x="4828105" y="5269733"/>
            <a:ext cx="137713" cy="71386"/>
          </a:xfrm>
          <a:custGeom>
            <a:avLst/>
            <a:gdLst/>
            <a:ahLst/>
            <a:cxnLst/>
            <a:rect l="l" t="t" r="r" b="b"/>
            <a:pathLst>
              <a:path w="155575" h="80645">
                <a:moveTo>
                  <a:pt x="11943" y="0"/>
                </a:moveTo>
                <a:lnTo>
                  <a:pt x="0" y="0"/>
                </a:lnTo>
                <a:lnTo>
                  <a:pt x="0" y="13434"/>
                </a:lnTo>
                <a:lnTo>
                  <a:pt x="143308" y="80608"/>
                </a:lnTo>
                <a:lnTo>
                  <a:pt x="155251" y="80608"/>
                </a:lnTo>
                <a:lnTo>
                  <a:pt x="155251" y="67173"/>
                </a:lnTo>
                <a:lnTo>
                  <a:pt x="11943" y="0"/>
                </a:lnTo>
                <a:close/>
              </a:path>
            </a:pathLst>
          </a:custGeom>
          <a:solidFill>
            <a:srgbClr val="000000"/>
          </a:solidFill>
        </p:spPr>
        <p:txBody>
          <a:bodyPr wrap="square" lIns="0" tIns="0" rIns="0" bIns="0" rtlCol="0"/>
          <a:lstStyle/>
          <a:p>
            <a:endParaRPr sz="1593"/>
          </a:p>
        </p:txBody>
      </p:sp>
      <p:sp>
        <p:nvSpPr>
          <p:cNvPr id="550" name="object 550"/>
          <p:cNvSpPr/>
          <p:nvPr/>
        </p:nvSpPr>
        <p:spPr>
          <a:xfrm>
            <a:off x="4833390" y="526973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51" name="object 551"/>
          <p:cNvSpPr/>
          <p:nvPr/>
        </p:nvSpPr>
        <p:spPr>
          <a:xfrm>
            <a:off x="4775249" y="5222165"/>
            <a:ext cx="63516" cy="59582"/>
          </a:xfrm>
          <a:custGeom>
            <a:avLst/>
            <a:gdLst/>
            <a:ahLst/>
            <a:cxnLst/>
            <a:rect l="l" t="t" r="r" b="b"/>
            <a:pathLst>
              <a:path w="71754" h="67310">
                <a:moveTo>
                  <a:pt x="11943" y="0"/>
                </a:moveTo>
                <a:lnTo>
                  <a:pt x="0" y="0"/>
                </a:lnTo>
                <a:lnTo>
                  <a:pt x="0" y="13434"/>
                </a:lnTo>
                <a:lnTo>
                  <a:pt x="59711" y="67173"/>
                </a:lnTo>
                <a:lnTo>
                  <a:pt x="71654" y="67173"/>
                </a:lnTo>
                <a:lnTo>
                  <a:pt x="71654" y="53738"/>
                </a:lnTo>
                <a:lnTo>
                  <a:pt x="11943" y="0"/>
                </a:lnTo>
                <a:close/>
              </a:path>
            </a:pathLst>
          </a:custGeom>
          <a:solidFill>
            <a:srgbClr val="000000"/>
          </a:solidFill>
        </p:spPr>
        <p:txBody>
          <a:bodyPr wrap="square" lIns="0" tIns="0" rIns="0" bIns="0" rtlCol="0"/>
          <a:lstStyle/>
          <a:p>
            <a:endParaRPr sz="1593"/>
          </a:p>
        </p:txBody>
      </p:sp>
      <p:sp>
        <p:nvSpPr>
          <p:cNvPr id="552" name="object 552"/>
          <p:cNvSpPr/>
          <p:nvPr/>
        </p:nvSpPr>
        <p:spPr>
          <a:xfrm>
            <a:off x="4780535" y="522216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53" name="object 553"/>
          <p:cNvSpPr/>
          <p:nvPr/>
        </p:nvSpPr>
        <p:spPr>
          <a:xfrm>
            <a:off x="4743535" y="5162704"/>
            <a:ext cx="42719" cy="71386"/>
          </a:xfrm>
          <a:custGeom>
            <a:avLst/>
            <a:gdLst/>
            <a:ahLst/>
            <a:cxnLst/>
            <a:rect l="l" t="t" r="r" b="b"/>
            <a:pathLst>
              <a:path w="48260" h="80645">
                <a:moveTo>
                  <a:pt x="11941" y="0"/>
                </a:moveTo>
                <a:lnTo>
                  <a:pt x="0" y="0"/>
                </a:lnTo>
                <a:lnTo>
                  <a:pt x="0" y="13434"/>
                </a:lnTo>
                <a:lnTo>
                  <a:pt x="35826" y="80608"/>
                </a:lnTo>
                <a:lnTo>
                  <a:pt x="47769" y="80608"/>
                </a:lnTo>
                <a:lnTo>
                  <a:pt x="47769" y="67173"/>
                </a:lnTo>
                <a:lnTo>
                  <a:pt x="11941" y="0"/>
                </a:lnTo>
                <a:close/>
              </a:path>
            </a:pathLst>
          </a:custGeom>
          <a:solidFill>
            <a:srgbClr val="000000"/>
          </a:solidFill>
        </p:spPr>
        <p:txBody>
          <a:bodyPr wrap="square" lIns="0" tIns="0" rIns="0" bIns="0" rtlCol="0"/>
          <a:lstStyle/>
          <a:p>
            <a:endParaRPr sz="1593"/>
          </a:p>
        </p:txBody>
      </p:sp>
      <p:sp>
        <p:nvSpPr>
          <p:cNvPr id="554" name="object 554"/>
          <p:cNvSpPr/>
          <p:nvPr/>
        </p:nvSpPr>
        <p:spPr>
          <a:xfrm>
            <a:off x="4748822" y="51627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55" name="object 555"/>
          <p:cNvSpPr/>
          <p:nvPr/>
        </p:nvSpPr>
        <p:spPr>
          <a:xfrm>
            <a:off x="4722394" y="5103243"/>
            <a:ext cx="32039" cy="71386"/>
          </a:xfrm>
          <a:custGeom>
            <a:avLst/>
            <a:gdLst/>
            <a:ahLst/>
            <a:cxnLst/>
            <a:rect l="l" t="t" r="r" b="b"/>
            <a:pathLst>
              <a:path w="36195" h="80645">
                <a:moveTo>
                  <a:pt x="11943" y="0"/>
                </a:moveTo>
                <a:lnTo>
                  <a:pt x="0" y="0"/>
                </a:lnTo>
                <a:lnTo>
                  <a:pt x="0" y="13434"/>
                </a:lnTo>
                <a:lnTo>
                  <a:pt x="23884" y="80608"/>
                </a:lnTo>
                <a:lnTo>
                  <a:pt x="35826" y="80608"/>
                </a:lnTo>
                <a:lnTo>
                  <a:pt x="35826" y="67173"/>
                </a:lnTo>
                <a:lnTo>
                  <a:pt x="11943" y="0"/>
                </a:lnTo>
                <a:close/>
              </a:path>
            </a:pathLst>
          </a:custGeom>
          <a:solidFill>
            <a:srgbClr val="000000"/>
          </a:solidFill>
        </p:spPr>
        <p:txBody>
          <a:bodyPr wrap="square" lIns="0" tIns="0" rIns="0" bIns="0" rtlCol="0"/>
          <a:lstStyle/>
          <a:p>
            <a:endParaRPr sz="1593"/>
          </a:p>
        </p:txBody>
      </p:sp>
      <p:sp>
        <p:nvSpPr>
          <p:cNvPr id="556" name="object 556"/>
          <p:cNvSpPr/>
          <p:nvPr/>
        </p:nvSpPr>
        <p:spPr>
          <a:xfrm>
            <a:off x="4727679" y="510324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57" name="object 557"/>
          <p:cNvSpPr/>
          <p:nvPr/>
        </p:nvSpPr>
        <p:spPr>
          <a:xfrm>
            <a:off x="4711822" y="5043782"/>
            <a:ext cx="21360" cy="71386"/>
          </a:xfrm>
          <a:custGeom>
            <a:avLst/>
            <a:gdLst/>
            <a:ahLst/>
            <a:cxnLst/>
            <a:rect l="l" t="t" r="r" b="b"/>
            <a:pathLst>
              <a:path w="24129" h="80645">
                <a:moveTo>
                  <a:pt x="11941" y="0"/>
                </a:moveTo>
                <a:lnTo>
                  <a:pt x="0" y="0"/>
                </a:lnTo>
                <a:lnTo>
                  <a:pt x="0" y="13434"/>
                </a:lnTo>
                <a:lnTo>
                  <a:pt x="11941" y="80608"/>
                </a:lnTo>
                <a:lnTo>
                  <a:pt x="23884" y="80608"/>
                </a:lnTo>
                <a:lnTo>
                  <a:pt x="23884" y="67173"/>
                </a:lnTo>
                <a:lnTo>
                  <a:pt x="11941" y="0"/>
                </a:lnTo>
                <a:close/>
              </a:path>
            </a:pathLst>
          </a:custGeom>
          <a:solidFill>
            <a:srgbClr val="000000"/>
          </a:solidFill>
        </p:spPr>
        <p:txBody>
          <a:bodyPr wrap="square" lIns="0" tIns="0" rIns="0" bIns="0" rtlCol="0"/>
          <a:lstStyle/>
          <a:p>
            <a:endParaRPr sz="1593"/>
          </a:p>
        </p:txBody>
      </p:sp>
      <p:sp>
        <p:nvSpPr>
          <p:cNvPr id="558" name="object 558"/>
          <p:cNvSpPr/>
          <p:nvPr/>
        </p:nvSpPr>
        <p:spPr>
          <a:xfrm>
            <a:off x="4711823" y="504378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59" name="object 559"/>
          <p:cNvSpPr/>
          <p:nvPr/>
        </p:nvSpPr>
        <p:spPr>
          <a:xfrm>
            <a:off x="4711823" y="504378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60" name="object 560"/>
          <p:cNvSpPr/>
          <p:nvPr/>
        </p:nvSpPr>
        <p:spPr>
          <a:xfrm>
            <a:off x="4711823" y="504378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61" name="object 561"/>
          <p:cNvSpPr/>
          <p:nvPr/>
        </p:nvSpPr>
        <p:spPr>
          <a:xfrm>
            <a:off x="4711822" y="4984321"/>
            <a:ext cx="21360" cy="71386"/>
          </a:xfrm>
          <a:custGeom>
            <a:avLst/>
            <a:gdLst/>
            <a:ahLst/>
            <a:cxnLst/>
            <a:rect l="l" t="t" r="r" b="b"/>
            <a:pathLst>
              <a:path w="24129" h="80645">
                <a:moveTo>
                  <a:pt x="23884" y="0"/>
                </a:moveTo>
                <a:lnTo>
                  <a:pt x="11941" y="0"/>
                </a:lnTo>
                <a:lnTo>
                  <a:pt x="0" y="67173"/>
                </a:lnTo>
                <a:lnTo>
                  <a:pt x="0" y="80608"/>
                </a:lnTo>
                <a:lnTo>
                  <a:pt x="11941" y="80608"/>
                </a:lnTo>
                <a:lnTo>
                  <a:pt x="23884" y="13434"/>
                </a:lnTo>
                <a:lnTo>
                  <a:pt x="23884" y="0"/>
                </a:lnTo>
                <a:close/>
              </a:path>
            </a:pathLst>
          </a:custGeom>
          <a:solidFill>
            <a:srgbClr val="000000"/>
          </a:solidFill>
        </p:spPr>
        <p:txBody>
          <a:bodyPr wrap="square" lIns="0" tIns="0" rIns="0" bIns="0" rtlCol="0"/>
          <a:lstStyle/>
          <a:p>
            <a:endParaRPr sz="1593"/>
          </a:p>
        </p:txBody>
      </p:sp>
      <p:sp>
        <p:nvSpPr>
          <p:cNvPr id="562" name="object 562"/>
          <p:cNvSpPr/>
          <p:nvPr/>
        </p:nvSpPr>
        <p:spPr>
          <a:xfrm>
            <a:off x="4727679" y="498432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63" name="object 563"/>
          <p:cNvSpPr/>
          <p:nvPr/>
        </p:nvSpPr>
        <p:spPr>
          <a:xfrm>
            <a:off x="4722394" y="4924860"/>
            <a:ext cx="32039" cy="71386"/>
          </a:xfrm>
          <a:custGeom>
            <a:avLst/>
            <a:gdLst/>
            <a:ahLst/>
            <a:cxnLst/>
            <a:rect l="l" t="t" r="r" b="b"/>
            <a:pathLst>
              <a:path w="36195" h="80645">
                <a:moveTo>
                  <a:pt x="35826" y="0"/>
                </a:moveTo>
                <a:lnTo>
                  <a:pt x="23884" y="0"/>
                </a:lnTo>
                <a:lnTo>
                  <a:pt x="0" y="67173"/>
                </a:lnTo>
                <a:lnTo>
                  <a:pt x="0" y="80608"/>
                </a:lnTo>
                <a:lnTo>
                  <a:pt x="11943" y="80608"/>
                </a:lnTo>
                <a:lnTo>
                  <a:pt x="35826" y="13435"/>
                </a:lnTo>
                <a:lnTo>
                  <a:pt x="35826" y="0"/>
                </a:lnTo>
                <a:close/>
              </a:path>
            </a:pathLst>
          </a:custGeom>
          <a:solidFill>
            <a:srgbClr val="000000"/>
          </a:solidFill>
        </p:spPr>
        <p:txBody>
          <a:bodyPr wrap="square" lIns="0" tIns="0" rIns="0" bIns="0" rtlCol="0"/>
          <a:lstStyle/>
          <a:p>
            <a:endParaRPr sz="1593"/>
          </a:p>
        </p:txBody>
      </p:sp>
      <p:sp>
        <p:nvSpPr>
          <p:cNvPr id="564" name="object 564"/>
          <p:cNvSpPr/>
          <p:nvPr/>
        </p:nvSpPr>
        <p:spPr>
          <a:xfrm>
            <a:off x="4748822" y="492485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65" name="object 565"/>
          <p:cNvSpPr/>
          <p:nvPr/>
        </p:nvSpPr>
        <p:spPr>
          <a:xfrm>
            <a:off x="4743535" y="4877291"/>
            <a:ext cx="42719" cy="59582"/>
          </a:xfrm>
          <a:custGeom>
            <a:avLst/>
            <a:gdLst/>
            <a:ahLst/>
            <a:cxnLst/>
            <a:rect l="l" t="t" r="r" b="b"/>
            <a:pathLst>
              <a:path w="48260" h="67310">
                <a:moveTo>
                  <a:pt x="47769" y="0"/>
                </a:moveTo>
                <a:lnTo>
                  <a:pt x="35826" y="0"/>
                </a:lnTo>
                <a:lnTo>
                  <a:pt x="0" y="53738"/>
                </a:lnTo>
                <a:lnTo>
                  <a:pt x="0" y="67174"/>
                </a:lnTo>
                <a:lnTo>
                  <a:pt x="11941" y="67174"/>
                </a:lnTo>
                <a:lnTo>
                  <a:pt x="47769" y="13435"/>
                </a:lnTo>
                <a:lnTo>
                  <a:pt x="47769" y="0"/>
                </a:lnTo>
                <a:close/>
              </a:path>
            </a:pathLst>
          </a:custGeom>
          <a:solidFill>
            <a:srgbClr val="000000"/>
          </a:solidFill>
        </p:spPr>
        <p:txBody>
          <a:bodyPr wrap="square" lIns="0" tIns="0" rIns="0" bIns="0" rtlCol="0"/>
          <a:lstStyle/>
          <a:p>
            <a:endParaRPr sz="1593"/>
          </a:p>
        </p:txBody>
      </p:sp>
      <p:sp>
        <p:nvSpPr>
          <p:cNvPr id="566" name="object 566"/>
          <p:cNvSpPr/>
          <p:nvPr/>
        </p:nvSpPr>
        <p:spPr>
          <a:xfrm>
            <a:off x="4780535" y="487729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67" name="object 567"/>
          <p:cNvSpPr/>
          <p:nvPr/>
        </p:nvSpPr>
        <p:spPr>
          <a:xfrm>
            <a:off x="4775249" y="4829722"/>
            <a:ext cx="63516" cy="59582"/>
          </a:xfrm>
          <a:custGeom>
            <a:avLst/>
            <a:gdLst/>
            <a:ahLst/>
            <a:cxnLst/>
            <a:rect l="l" t="t" r="r" b="b"/>
            <a:pathLst>
              <a:path w="71754" h="67310">
                <a:moveTo>
                  <a:pt x="71654" y="0"/>
                </a:moveTo>
                <a:lnTo>
                  <a:pt x="59711" y="0"/>
                </a:lnTo>
                <a:lnTo>
                  <a:pt x="0" y="53738"/>
                </a:lnTo>
                <a:lnTo>
                  <a:pt x="0" y="67174"/>
                </a:lnTo>
                <a:lnTo>
                  <a:pt x="11943" y="67174"/>
                </a:lnTo>
                <a:lnTo>
                  <a:pt x="71654" y="13435"/>
                </a:lnTo>
                <a:lnTo>
                  <a:pt x="71654" y="0"/>
                </a:lnTo>
                <a:close/>
              </a:path>
            </a:pathLst>
          </a:custGeom>
          <a:solidFill>
            <a:srgbClr val="000000"/>
          </a:solidFill>
        </p:spPr>
        <p:txBody>
          <a:bodyPr wrap="square" lIns="0" tIns="0" rIns="0" bIns="0" rtlCol="0"/>
          <a:lstStyle/>
          <a:p>
            <a:endParaRPr sz="1593"/>
          </a:p>
        </p:txBody>
      </p:sp>
      <p:sp>
        <p:nvSpPr>
          <p:cNvPr id="568" name="object 568"/>
          <p:cNvSpPr/>
          <p:nvPr/>
        </p:nvSpPr>
        <p:spPr>
          <a:xfrm>
            <a:off x="4833390" y="482972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69" name="object 569"/>
          <p:cNvSpPr/>
          <p:nvPr/>
        </p:nvSpPr>
        <p:spPr>
          <a:xfrm>
            <a:off x="4828105" y="4758369"/>
            <a:ext cx="137713" cy="83752"/>
          </a:xfrm>
          <a:custGeom>
            <a:avLst/>
            <a:gdLst/>
            <a:ahLst/>
            <a:cxnLst/>
            <a:rect l="l" t="t" r="r" b="b"/>
            <a:pathLst>
              <a:path w="155575" h="94614">
                <a:moveTo>
                  <a:pt x="155251" y="0"/>
                </a:moveTo>
                <a:lnTo>
                  <a:pt x="143308" y="0"/>
                </a:lnTo>
                <a:lnTo>
                  <a:pt x="0" y="80608"/>
                </a:lnTo>
                <a:lnTo>
                  <a:pt x="0" y="94043"/>
                </a:lnTo>
                <a:lnTo>
                  <a:pt x="11943" y="94043"/>
                </a:lnTo>
                <a:lnTo>
                  <a:pt x="155251" y="13435"/>
                </a:lnTo>
                <a:lnTo>
                  <a:pt x="155251" y="0"/>
                </a:lnTo>
                <a:close/>
              </a:path>
            </a:pathLst>
          </a:custGeom>
          <a:solidFill>
            <a:srgbClr val="000000"/>
          </a:solidFill>
        </p:spPr>
        <p:txBody>
          <a:bodyPr wrap="square" lIns="0" tIns="0" rIns="0" bIns="0" rtlCol="0"/>
          <a:lstStyle/>
          <a:p>
            <a:endParaRPr sz="1593"/>
          </a:p>
        </p:txBody>
      </p:sp>
      <p:sp>
        <p:nvSpPr>
          <p:cNvPr id="570" name="object 570"/>
          <p:cNvSpPr/>
          <p:nvPr/>
        </p:nvSpPr>
        <p:spPr>
          <a:xfrm>
            <a:off x="4960244" y="475836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71" name="object 571"/>
          <p:cNvSpPr/>
          <p:nvPr/>
        </p:nvSpPr>
        <p:spPr>
          <a:xfrm>
            <a:off x="4954960" y="4734585"/>
            <a:ext cx="159072" cy="35974"/>
          </a:xfrm>
          <a:custGeom>
            <a:avLst/>
            <a:gdLst/>
            <a:ahLst/>
            <a:cxnLst/>
            <a:rect l="l" t="t" r="r" b="b"/>
            <a:pathLst>
              <a:path w="179704" h="40639">
                <a:moveTo>
                  <a:pt x="179134" y="0"/>
                </a:moveTo>
                <a:lnTo>
                  <a:pt x="167192" y="0"/>
                </a:lnTo>
                <a:lnTo>
                  <a:pt x="0" y="26869"/>
                </a:lnTo>
                <a:lnTo>
                  <a:pt x="0" y="40304"/>
                </a:lnTo>
                <a:lnTo>
                  <a:pt x="11943" y="40304"/>
                </a:lnTo>
                <a:lnTo>
                  <a:pt x="179134" y="13435"/>
                </a:lnTo>
                <a:lnTo>
                  <a:pt x="179134" y="0"/>
                </a:lnTo>
                <a:close/>
              </a:path>
            </a:pathLst>
          </a:custGeom>
          <a:solidFill>
            <a:srgbClr val="000000"/>
          </a:solidFill>
        </p:spPr>
        <p:txBody>
          <a:bodyPr wrap="square" lIns="0" tIns="0" rIns="0" bIns="0" rtlCol="0"/>
          <a:lstStyle/>
          <a:p>
            <a:endParaRPr sz="1593"/>
          </a:p>
        </p:txBody>
      </p:sp>
      <p:sp>
        <p:nvSpPr>
          <p:cNvPr id="572" name="object 572"/>
          <p:cNvSpPr/>
          <p:nvPr/>
        </p:nvSpPr>
        <p:spPr>
          <a:xfrm>
            <a:off x="5102956" y="473458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73" name="object 573"/>
          <p:cNvSpPr/>
          <p:nvPr/>
        </p:nvSpPr>
        <p:spPr>
          <a:xfrm>
            <a:off x="5102956" y="473458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74" name="object 574"/>
          <p:cNvSpPr/>
          <p:nvPr/>
        </p:nvSpPr>
        <p:spPr>
          <a:xfrm>
            <a:off x="5102956" y="473458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575" name="object 575"/>
          <p:cNvSpPr/>
          <p:nvPr/>
        </p:nvSpPr>
        <p:spPr>
          <a:xfrm>
            <a:off x="5102956" y="4734585"/>
            <a:ext cx="159072" cy="35974"/>
          </a:xfrm>
          <a:custGeom>
            <a:avLst/>
            <a:gdLst/>
            <a:ahLst/>
            <a:cxnLst/>
            <a:rect l="l" t="t" r="r" b="b"/>
            <a:pathLst>
              <a:path w="179704" h="40639">
                <a:moveTo>
                  <a:pt x="11941" y="0"/>
                </a:moveTo>
                <a:lnTo>
                  <a:pt x="0" y="0"/>
                </a:lnTo>
                <a:lnTo>
                  <a:pt x="0" y="13435"/>
                </a:lnTo>
                <a:lnTo>
                  <a:pt x="167192" y="40304"/>
                </a:lnTo>
                <a:lnTo>
                  <a:pt x="179134" y="40304"/>
                </a:lnTo>
                <a:lnTo>
                  <a:pt x="179134" y="26869"/>
                </a:lnTo>
                <a:lnTo>
                  <a:pt x="11941" y="0"/>
                </a:lnTo>
                <a:close/>
              </a:path>
            </a:pathLst>
          </a:custGeom>
          <a:solidFill>
            <a:srgbClr val="000000"/>
          </a:solidFill>
        </p:spPr>
        <p:txBody>
          <a:bodyPr wrap="square" lIns="0" tIns="0" rIns="0" bIns="0" rtlCol="0"/>
          <a:lstStyle/>
          <a:p>
            <a:endParaRPr sz="1593"/>
          </a:p>
        </p:txBody>
      </p:sp>
      <p:sp>
        <p:nvSpPr>
          <p:cNvPr id="576" name="object 576"/>
          <p:cNvSpPr/>
          <p:nvPr/>
        </p:nvSpPr>
        <p:spPr>
          <a:xfrm>
            <a:off x="5256237" y="475836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77" name="object 577"/>
          <p:cNvSpPr/>
          <p:nvPr/>
        </p:nvSpPr>
        <p:spPr>
          <a:xfrm>
            <a:off x="5250953" y="4758369"/>
            <a:ext cx="137713" cy="83752"/>
          </a:xfrm>
          <a:custGeom>
            <a:avLst/>
            <a:gdLst/>
            <a:ahLst/>
            <a:cxnLst/>
            <a:rect l="l" t="t" r="r" b="b"/>
            <a:pathLst>
              <a:path w="155575" h="94614">
                <a:moveTo>
                  <a:pt x="11941" y="0"/>
                </a:moveTo>
                <a:lnTo>
                  <a:pt x="0" y="0"/>
                </a:lnTo>
                <a:lnTo>
                  <a:pt x="0" y="13435"/>
                </a:lnTo>
                <a:lnTo>
                  <a:pt x="143308" y="94043"/>
                </a:lnTo>
                <a:lnTo>
                  <a:pt x="155249" y="94043"/>
                </a:lnTo>
                <a:lnTo>
                  <a:pt x="155249" y="80608"/>
                </a:lnTo>
                <a:lnTo>
                  <a:pt x="11941" y="0"/>
                </a:lnTo>
                <a:close/>
              </a:path>
            </a:pathLst>
          </a:custGeom>
          <a:solidFill>
            <a:srgbClr val="000000"/>
          </a:solidFill>
        </p:spPr>
        <p:txBody>
          <a:bodyPr wrap="square" lIns="0" tIns="0" rIns="0" bIns="0" rtlCol="0"/>
          <a:lstStyle/>
          <a:p>
            <a:endParaRPr sz="1593"/>
          </a:p>
        </p:txBody>
      </p:sp>
      <p:sp>
        <p:nvSpPr>
          <p:cNvPr id="578" name="object 578"/>
          <p:cNvSpPr/>
          <p:nvPr/>
        </p:nvSpPr>
        <p:spPr>
          <a:xfrm>
            <a:off x="5383091" y="482972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79" name="object 579"/>
          <p:cNvSpPr/>
          <p:nvPr/>
        </p:nvSpPr>
        <p:spPr>
          <a:xfrm>
            <a:off x="5377807" y="4829722"/>
            <a:ext cx="53399" cy="59582"/>
          </a:xfrm>
          <a:custGeom>
            <a:avLst/>
            <a:gdLst/>
            <a:ahLst/>
            <a:cxnLst/>
            <a:rect l="l" t="t" r="r" b="b"/>
            <a:pathLst>
              <a:path w="60325" h="67310">
                <a:moveTo>
                  <a:pt x="11941" y="0"/>
                </a:moveTo>
                <a:lnTo>
                  <a:pt x="0" y="0"/>
                </a:lnTo>
                <a:lnTo>
                  <a:pt x="0" y="13435"/>
                </a:lnTo>
                <a:lnTo>
                  <a:pt x="47768" y="67174"/>
                </a:lnTo>
                <a:lnTo>
                  <a:pt x="59711" y="67174"/>
                </a:lnTo>
                <a:lnTo>
                  <a:pt x="59711" y="53738"/>
                </a:lnTo>
                <a:lnTo>
                  <a:pt x="11941" y="0"/>
                </a:lnTo>
                <a:close/>
              </a:path>
            </a:pathLst>
          </a:custGeom>
          <a:solidFill>
            <a:srgbClr val="000000"/>
          </a:solidFill>
        </p:spPr>
        <p:txBody>
          <a:bodyPr wrap="square" lIns="0" tIns="0" rIns="0" bIns="0" rtlCol="0"/>
          <a:lstStyle/>
          <a:p>
            <a:endParaRPr sz="1593"/>
          </a:p>
        </p:txBody>
      </p:sp>
      <p:sp>
        <p:nvSpPr>
          <p:cNvPr id="580" name="object 580"/>
          <p:cNvSpPr/>
          <p:nvPr/>
        </p:nvSpPr>
        <p:spPr>
          <a:xfrm>
            <a:off x="5425377" y="487729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81" name="object 581"/>
          <p:cNvSpPr/>
          <p:nvPr/>
        </p:nvSpPr>
        <p:spPr>
          <a:xfrm>
            <a:off x="5420091" y="4877291"/>
            <a:ext cx="53399" cy="59582"/>
          </a:xfrm>
          <a:custGeom>
            <a:avLst/>
            <a:gdLst/>
            <a:ahLst/>
            <a:cxnLst/>
            <a:rect l="l" t="t" r="r" b="b"/>
            <a:pathLst>
              <a:path w="60325" h="67310">
                <a:moveTo>
                  <a:pt x="11943" y="0"/>
                </a:moveTo>
                <a:lnTo>
                  <a:pt x="0" y="0"/>
                </a:lnTo>
                <a:lnTo>
                  <a:pt x="0" y="13435"/>
                </a:lnTo>
                <a:lnTo>
                  <a:pt x="47769" y="67174"/>
                </a:lnTo>
                <a:lnTo>
                  <a:pt x="59711" y="67174"/>
                </a:lnTo>
                <a:lnTo>
                  <a:pt x="59711" y="53738"/>
                </a:lnTo>
                <a:lnTo>
                  <a:pt x="11943" y="0"/>
                </a:lnTo>
                <a:close/>
              </a:path>
            </a:pathLst>
          </a:custGeom>
          <a:solidFill>
            <a:srgbClr val="000000"/>
          </a:solidFill>
        </p:spPr>
        <p:txBody>
          <a:bodyPr wrap="square" lIns="0" tIns="0" rIns="0" bIns="0" rtlCol="0"/>
          <a:lstStyle/>
          <a:p>
            <a:endParaRPr sz="1593"/>
          </a:p>
        </p:txBody>
      </p:sp>
      <p:sp>
        <p:nvSpPr>
          <p:cNvPr id="582" name="object 582"/>
          <p:cNvSpPr/>
          <p:nvPr/>
        </p:nvSpPr>
        <p:spPr>
          <a:xfrm>
            <a:off x="5467661" y="492485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83" name="object 583"/>
          <p:cNvSpPr/>
          <p:nvPr/>
        </p:nvSpPr>
        <p:spPr>
          <a:xfrm>
            <a:off x="5462376" y="4924860"/>
            <a:ext cx="32039" cy="71386"/>
          </a:xfrm>
          <a:custGeom>
            <a:avLst/>
            <a:gdLst/>
            <a:ahLst/>
            <a:cxnLst/>
            <a:rect l="l" t="t" r="r" b="b"/>
            <a:pathLst>
              <a:path w="36195" h="80645">
                <a:moveTo>
                  <a:pt x="11941" y="0"/>
                </a:moveTo>
                <a:lnTo>
                  <a:pt x="0" y="0"/>
                </a:lnTo>
                <a:lnTo>
                  <a:pt x="0" y="13435"/>
                </a:lnTo>
                <a:lnTo>
                  <a:pt x="23884" y="80608"/>
                </a:lnTo>
                <a:lnTo>
                  <a:pt x="35826" y="80608"/>
                </a:lnTo>
                <a:lnTo>
                  <a:pt x="35826" y="67173"/>
                </a:lnTo>
                <a:lnTo>
                  <a:pt x="11941" y="0"/>
                </a:lnTo>
                <a:close/>
              </a:path>
            </a:pathLst>
          </a:custGeom>
          <a:solidFill>
            <a:srgbClr val="000000"/>
          </a:solidFill>
        </p:spPr>
        <p:txBody>
          <a:bodyPr wrap="square" lIns="0" tIns="0" rIns="0" bIns="0" rtlCol="0"/>
          <a:lstStyle/>
          <a:p>
            <a:endParaRPr sz="1593"/>
          </a:p>
        </p:txBody>
      </p:sp>
      <p:sp>
        <p:nvSpPr>
          <p:cNvPr id="584" name="object 584"/>
          <p:cNvSpPr/>
          <p:nvPr/>
        </p:nvSpPr>
        <p:spPr>
          <a:xfrm>
            <a:off x="5488804" y="498432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85" name="object 585"/>
          <p:cNvSpPr/>
          <p:nvPr/>
        </p:nvSpPr>
        <p:spPr>
          <a:xfrm>
            <a:off x="5483518" y="4984321"/>
            <a:ext cx="21360" cy="71386"/>
          </a:xfrm>
          <a:custGeom>
            <a:avLst/>
            <a:gdLst/>
            <a:ahLst/>
            <a:cxnLst/>
            <a:rect l="l" t="t" r="r" b="b"/>
            <a:pathLst>
              <a:path w="24129" h="80645">
                <a:moveTo>
                  <a:pt x="11941" y="0"/>
                </a:moveTo>
                <a:lnTo>
                  <a:pt x="0" y="0"/>
                </a:lnTo>
                <a:lnTo>
                  <a:pt x="0" y="13434"/>
                </a:lnTo>
                <a:lnTo>
                  <a:pt x="11941" y="80608"/>
                </a:lnTo>
                <a:lnTo>
                  <a:pt x="23883" y="80608"/>
                </a:lnTo>
                <a:lnTo>
                  <a:pt x="23883" y="67173"/>
                </a:lnTo>
                <a:lnTo>
                  <a:pt x="11941" y="0"/>
                </a:lnTo>
                <a:close/>
              </a:path>
            </a:pathLst>
          </a:custGeom>
          <a:solidFill>
            <a:srgbClr val="000000"/>
          </a:solidFill>
        </p:spPr>
        <p:txBody>
          <a:bodyPr wrap="square" lIns="0" tIns="0" rIns="0" bIns="0" rtlCol="0"/>
          <a:lstStyle/>
          <a:p>
            <a:endParaRPr sz="1593"/>
          </a:p>
        </p:txBody>
      </p:sp>
      <p:sp>
        <p:nvSpPr>
          <p:cNvPr id="586" name="object 586"/>
          <p:cNvSpPr/>
          <p:nvPr/>
        </p:nvSpPr>
        <p:spPr>
          <a:xfrm>
            <a:off x="5499374" y="504378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87" name="object 587"/>
          <p:cNvSpPr txBox="1"/>
          <p:nvPr/>
        </p:nvSpPr>
        <p:spPr>
          <a:xfrm>
            <a:off x="4764008" y="4842264"/>
            <a:ext cx="651465" cy="308302"/>
          </a:xfrm>
          <a:prstGeom prst="rect">
            <a:avLst/>
          </a:prstGeom>
        </p:spPr>
        <p:txBody>
          <a:bodyPr vert="horz" wrap="square" lIns="0" tIns="10680" rIns="0" bIns="0" rtlCol="0">
            <a:spAutoFit/>
          </a:bodyPr>
          <a:lstStyle/>
          <a:p>
            <a:pPr marL="11242" marR="4497" indent="211350">
              <a:lnSpc>
                <a:spcPct val="109100"/>
              </a:lnSpc>
              <a:spcBef>
                <a:spcPts val="84"/>
              </a:spcBef>
            </a:pPr>
            <a:r>
              <a:rPr sz="929" spc="-101" dirty="0">
                <a:latin typeface="Verdana"/>
                <a:cs typeface="Verdana"/>
              </a:rPr>
              <a:t>new  </a:t>
            </a:r>
            <a:r>
              <a:rPr sz="929" spc="-31" dirty="0">
                <a:latin typeface="Verdana"/>
                <a:cs typeface="Verdana"/>
              </a:rPr>
              <a:t>c</a:t>
            </a:r>
            <a:r>
              <a:rPr sz="929" spc="-101" dirty="0">
                <a:latin typeface="Verdana"/>
                <a:cs typeface="Verdana"/>
              </a:rPr>
              <a:t>omp</a:t>
            </a:r>
            <a:r>
              <a:rPr sz="929" spc="-84" dirty="0">
                <a:latin typeface="Verdana"/>
                <a:cs typeface="Verdana"/>
              </a:rPr>
              <a:t>on</a:t>
            </a:r>
            <a:r>
              <a:rPr sz="929" spc="-75" dirty="0">
                <a:latin typeface="Verdana"/>
                <a:cs typeface="Verdana"/>
              </a:rPr>
              <a:t>e</a:t>
            </a:r>
            <a:r>
              <a:rPr sz="929" spc="-106" dirty="0">
                <a:latin typeface="Verdana"/>
                <a:cs typeface="Verdana"/>
              </a:rPr>
              <a:t>n</a:t>
            </a:r>
            <a:r>
              <a:rPr sz="929" dirty="0">
                <a:latin typeface="Verdana"/>
                <a:cs typeface="Verdana"/>
              </a:rPr>
              <a:t>t</a:t>
            </a:r>
            <a:r>
              <a:rPr sz="929" spc="-62" dirty="0">
                <a:latin typeface="Verdana"/>
                <a:cs typeface="Verdana"/>
              </a:rPr>
              <a:t>s</a:t>
            </a:r>
            <a:endParaRPr sz="929">
              <a:latin typeface="Verdana"/>
              <a:cs typeface="Verdana"/>
            </a:endParaRPr>
          </a:p>
        </p:txBody>
      </p:sp>
      <p:sp>
        <p:nvSpPr>
          <p:cNvPr id="588" name="object 588"/>
          <p:cNvSpPr/>
          <p:nvPr/>
        </p:nvSpPr>
        <p:spPr>
          <a:xfrm>
            <a:off x="4246691" y="5305410"/>
            <a:ext cx="888106" cy="618864"/>
          </a:xfrm>
          <a:custGeom>
            <a:avLst/>
            <a:gdLst/>
            <a:ahLst/>
            <a:cxnLst/>
            <a:rect l="l" t="t" r="r" b="b"/>
            <a:pathLst>
              <a:path w="1003300" h="699134">
                <a:moveTo>
                  <a:pt x="501577" y="0"/>
                </a:moveTo>
                <a:lnTo>
                  <a:pt x="310499" y="26869"/>
                </a:lnTo>
                <a:lnTo>
                  <a:pt x="143308" y="107477"/>
                </a:lnTo>
                <a:lnTo>
                  <a:pt x="83596" y="161216"/>
                </a:lnTo>
                <a:lnTo>
                  <a:pt x="35826" y="214955"/>
                </a:lnTo>
                <a:lnTo>
                  <a:pt x="11941" y="282128"/>
                </a:lnTo>
                <a:lnTo>
                  <a:pt x="0" y="349302"/>
                </a:lnTo>
                <a:lnTo>
                  <a:pt x="11941" y="416476"/>
                </a:lnTo>
                <a:lnTo>
                  <a:pt x="35826" y="483649"/>
                </a:lnTo>
                <a:lnTo>
                  <a:pt x="83596" y="550823"/>
                </a:lnTo>
                <a:lnTo>
                  <a:pt x="143308" y="604562"/>
                </a:lnTo>
                <a:lnTo>
                  <a:pt x="310499" y="671735"/>
                </a:lnTo>
                <a:lnTo>
                  <a:pt x="501577" y="698605"/>
                </a:lnTo>
                <a:lnTo>
                  <a:pt x="692654" y="671735"/>
                </a:lnTo>
                <a:lnTo>
                  <a:pt x="847905" y="604562"/>
                </a:lnTo>
                <a:lnTo>
                  <a:pt x="907616" y="550823"/>
                </a:lnTo>
                <a:lnTo>
                  <a:pt x="955385" y="483649"/>
                </a:lnTo>
                <a:lnTo>
                  <a:pt x="991213" y="416476"/>
                </a:lnTo>
                <a:lnTo>
                  <a:pt x="1003155" y="349302"/>
                </a:lnTo>
                <a:lnTo>
                  <a:pt x="991213" y="282128"/>
                </a:lnTo>
                <a:lnTo>
                  <a:pt x="955385" y="214955"/>
                </a:lnTo>
                <a:lnTo>
                  <a:pt x="907616" y="161216"/>
                </a:lnTo>
                <a:lnTo>
                  <a:pt x="847905" y="107477"/>
                </a:lnTo>
                <a:lnTo>
                  <a:pt x="692654" y="26869"/>
                </a:lnTo>
                <a:lnTo>
                  <a:pt x="501577" y="0"/>
                </a:lnTo>
                <a:close/>
              </a:path>
            </a:pathLst>
          </a:custGeom>
          <a:solidFill>
            <a:srgbClr val="FFFFFF"/>
          </a:solidFill>
        </p:spPr>
        <p:txBody>
          <a:bodyPr wrap="square" lIns="0" tIns="0" rIns="0" bIns="0" rtlCol="0"/>
          <a:lstStyle/>
          <a:p>
            <a:endParaRPr sz="1593"/>
          </a:p>
        </p:txBody>
      </p:sp>
      <p:sp>
        <p:nvSpPr>
          <p:cNvPr id="589" name="object 589"/>
          <p:cNvSpPr/>
          <p:nvPr/>
        </p:nvSpPr>
        <p:spPr>
          <a:xfrm>
            <a:off x="5124098" y="5614608"/>
            <a:ext cx="21360" cy="71386"/>
          </a:xfrm>
          <a:custGeom>
            <a:avLst/>
            <a:gdLst/>
            <a:ahLst/>
            <a:cxnLst/>
            <a:rect l="l" t="t" r="r" b="b"/>
            <a:pathLst>
              <a:path w="24129" h="80645">
                <a:moveTo>
                  <a:pt x="23884" y="0"/>
                </a:moveTo>
                <a:lnTo>
                  <a:pt x="11941" y="0"/>
                </a:lnTo>
                <a:lnTo>
                  <a:pt x="0" y="67173"/>
                </a:lnTo>
                <a:lnTo>
                  <a:pt x="0" y="80608"/>
                </a:lnTo>
                <a:lnTo>
                  <a:pt x="11941" y="80608"/>
                </a:lnTo>
                <a:lnTo>
                  <a:pt x="23884" y="13434"/>
                </a:lnTo>
                <a:lnTo>
                  <a:pt x="23884" y="0"/>
                </a:lnTo>
                <a:close/>
              </a:path>
            </a:pathLst>
          </a:custGeom>
          <a:solidFill>
            <a:srgbClr val="000000"/>
          </a:solidFill>
        </p:spPr>
        <p:txBody>
          <a:bodyPr wrap="square" lIns="0" tIns="0" rIns="0" bIns="0" rtlCol="0"/>
          <a:lstStyle/>
          <a:p>
            <a:endParaRPr sz="1593"/>
          </a:p>
        </p:txBody>
      </p:sp>
      <p:sp>
        <p:nvSpPr>
          <p:cNvPr id="590" name="object 590"/>
          <p:cNvSpPr/>
          <p:nvPr/>
        </p:nvSpPr>
        <p:spPr>
          <a:xfrm>
            <a:off x="5129384" y="567406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91" name="object 591"/>
          <p:cNvSpPr/>
          <p:nvPr/>
        </p:nvSpPr>
        <p:spPr>
          <a:xfrm>
            <a:off x="5092384" y="5674068"/>
            <a:ext cx="42719" cy="71386"/>
          </a:xfrm>
          <a:custGeom>
            <a:avLst/>
            <a:gdLst/>
            <a:ahLst/>
            <a:cxnLst/>
            <a:rect l="l" t="t" r="r" b="b"/>
            <a:pathLst>
              <a:path w="48260" h="80645">
                <a:moveTo>
                  <a:pt x="47769" y="0"/>
                </a:moveTo>
                <a:lnTo>
                  <a:pt x="35827" y="0"/>
                </a:lnTo>
                <a:lnTo>
                  <a:pt x="0" y="67173"/>
                </a:lnTo>
                <a:lnTo>
                  <a:pt x="0" y="80608"/>
                </a:lnTo>
                <a:lnTo>
                  <a:pt x="11943" y="80608"/>
                </a:lnTo>
                <a:lnTo>
                  <a:pt x="47769" y="13434"/>
                </a:lnTo>
                <a:lnTo>
                  <a:pt x="47769" y="0"/>
                </a:lnTo>
                <a:close/>
              </a:path>
            </a:pathLst>
          </a:custGeom>
          <a:solidFill>
            <a:srgbClr val="000000"/>
          </a:solidFill>
        </p:spPr>
        <p:txBody>
          <a:bodyPr wrap="square" lIns="0" tIns="0" rIns="0" bIns="0" rtlCol="0"/>
          <a:lstStyle/>
          <a:p>
            <a:endParaRPr sz="1593"/>
          </a:p>
        </p:txBody>
      </p:sp>
      <p:sp>
        <p:nvSpPr>
          <p:cNvPr id="592" name="object 592"/>
          <p:cNvSpPr/>
          <p:nvPr/>
        </p:nvSpPr>
        <p:spPr>
          <a:xfrm>
            <a:off x="5097670" y="573352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93" name="object 593"/>
          <p:cNvSpPr/>
          <p:nvPr/>
        </p:nvSpPr>
        <p:spPr>
          <a:xfrm>
            <a:off x="5050100" y="5733530"/>
            <a:ext cx="53399" cy="71386"/>
          </a:xfrm>
          <a:custGeom>
            <a:avLst/>
            <a:gdLst/>
            <a:ahLst/>
            <a:cxnLst/>
            <a:rect l="l" t="t" r="r" b="b"/>
            <a:pathLst>
              <a:path w="60325" h="80645">
                <a:moveTo>
                  <a:pt x="59711" y="0"/>
                </a:moveTo>
                <a:lnTo>
                  <a:pt x="47768" y="0"/>
                </a:lnTo>
                <a:lnTo>
                  <a:pt x="0" y="67173"/>
                </a:lnTo>
                <a:lnTo>
                  <a:pt x="0" y="80608"/>
                </a:lnTo>
                <a:lnTo>
                  <a:pt x="11941" y="80608"/>
                </a:lnTo>
                <a:lnTo>
                  <a:pt x="59711" y="13434"/>
                </a:lnTo>
                <a:lnTo>
                  <a:pt x="59711" y="0"/>
                </a:lnTo>
                <a:close/>
              </a:path>
            </a:pathLst>
          </a:custGeom>
          <a:solidFill>
            <a:srgbClr val="000000"/>
          </a:solidFill>
        </p:spPr>
        <p:txBody>
          <a:bodyPr wrap="square" lIns="0" tIns="0" rIns="0" bIns="0" rtlCol="0"/>
          <a:lstStyle/>
          <a:p>
            <a:endParaRPr sz="1593"/>
          </a:p>
        </p:txBody>
      </p:sp>
      <p:sp>
        <p:nvSpPr>
          <p:cNvPr id="594" name="object 594"/>
          <p:cNvSpPr/>
          <p:nvPr/>
        </p:nvSpPr>
        <p:spPr>
          <a:xfrm>
            <a:off x="5055385" y="579298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95" name="object 595"/>
          <p:cNvSpPr/>
          <p:nvPr/>
        </p:nvSpPr>
        <p:spPr>
          <a:xfrm>
            <a:off x="4997245" y="5792991"/>
            <a:ext cx="63516" cy="59582"/>
          </a:xfrm>
          <a:custGeom>
            <a:avLst/>
            <a:gdLst/>
            <a:ahLst/>
            <a:cxnLst/>
            <a:rect l="l" t="t" r="r" b="b"/>
            <a:pathLst>
              <a:path w="71754" h="67309">
                <a:moveTo>
                  <a:pt x="71653" y="0"/>
                </a:moveTo>
                <a:lnTo>
                  <a:pt x="59711" y="0"/>
                </a:lnTo>
                <a:lnTo>
                  <a:pt x="0" y="53738"/>
                </a:lnTo>
                <a:lnTo>
                  <a:pt x="0" y="67173"/>
                </a:lnTo>
                <a:lnTo>
                  <a:pt x="11941" y="67173"/>
                </a:lnTo>
                <a:lnTo>
                  <a:pt x="71653" y="13434"/>
                </a:lnTo>
                <a:lnTo>
                  <a:pt x="71653" y="0"/>
                </a:lnTo>
                <a:close/>
              </a:path>
            </a:pathLst>
          </a:custGeom>
          <a:solidFill>
            <a:srgbClr val="000000"/>
          </a:solidFill>
        </p:spPr>
        <p:txBody>
          <a:bodyPr wrap="square" lIns="0" tIns="0" rIns="0" bIns="0" rtlCol="0"/>
          <a:lstStyle/>
          <a:p>
            <a:endParaRPr sz="1593"/>
          </a:p>
        </p:txBody>
      </p:sp>
      <p:sp>
        <p:nvSpPr>
          <p:cNvPr id="596" name="object 596"/>
          <p:cNvSpPr/>
          <p:nvPr/>
        </p:nvSpPr>
        <p:spPr>
          <a:xfrm>
            <a:off x="5002530" y="584055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97" name="object 597"/>
          <p:cNvSpPr/>
          <p:nvPr/>
        </p:nvSpPr>
        <p:spPr>
          <a:xfrm>
            <a:off x="4859819" y="5840560"/>
            <a:ext cx="148392" cy="71386"/>
          </a:xfrm>
          <a:custGeom>
            <a:avLst/>
            <a:gdLst/>
            <a:ahLst/>
            <a:cxnLst/>
            <a:rect l="l" t="t" r="r" b="b"/>
            <a:pathLst>
              <a:path w="167639" h="80645">
                <a:moveTo>
                  <a:pt x="167192" y="0"/>
                </a:moveTo>
                <a:lnTo>
                  <a:pt x="155251" y="0"/>
                </a:lnTo>
                <a:lnTo>
                  <a:pt x="0" y="67173"/>
                </a:lnTo>
                <a:lnTo>
                  <a:pt x="0" y="80608"/>
                </a:lnTo>
                <a:lnTo>
                  <a:pt x="11943" y="80608"/>
                </a:lnTo>
                <a:lnTo>
                  <a:pt x="167192" y="13434"/>
                </a:lnTo>
                <a:lnTo>
                  <a:pt x="167192" y="0"/>
                </a:lnTo>
                <a:close/>
              </a:path>
            </a:pathLst>
          </a:custGeom>
          <a:solidFill>
            <a:srgbClr val="000000"/>
          </a:solidFill>
        </p:spPr>
        <p:txBody>
          <a:bodyPr wrap="square" lIns="0" tIns="0" rIns="0" bIns="0" rtlCol="0"/>
          <a:lstStyle/>
          <a:p>
            <a:endParaRPr sz="1593"/>
          </a:p>
        </p:txBody>
      </p:sp>
      <p:sp>
        <p:nvSpPr>
          <p:cNvPr id="598" name="object 598"/>
          <p:cNvSpPr/>
          <p:nvPr/>
        </p:nvSpPr>
        <p:spPr>
          <a:xfrm>
            <a:off x="4865104" y="590002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599" name="object 599"/>
          <p:cNvSpPr/>
          <p:nvPr/>
        </p:nvSpPr>
        <p:spPr>
          <a:xfrm>
            <a:off x="4690680" y="5900020"/>
            <a:ext cx="179870" cy="35974"/>
          </a:xfrm>
          <a:custGeom>
            <a:avLst/>
            <a:gdLst/>
            <a:ahLst/>
            <a:cxnLst/>
            <a:rect l="l" t="t" r="r" b="b"/>
            <a:pathLst>
              <a:path w="203200" h="40640">
                <a:moveTo>
                  <a:pt x="203019" y="0"/>
                </a:moveTo>
                <a:lnTo>
                  <a:pt x="191076" y="0"/>
                </a:lnTo>
                <a:lnTo>
                  <a:pt x="0" y="26869"/>
                </a:lnTo>
                <a:lnTo>
                  <a:pt x="0" y="40304"/>
                </a:lnTo>
                <a:lnTo>
                  <a:pt x="11941" y="40304"/>
                </a:lnTo>
                <a:lnTo>
                  <a:pt x="203019" y="13434"/>
                </a:lnTo>
                <a:lnTo>
                  <a:pt x="203019" y="0"/>
                </a:lnTo>
                <a:close/>
              </a:path>
            </a:pathLst>
          </a:custGeom>
          <a:solidFill>
            <a:srgbClr val="000000"/>
          </a:solidFill>
        </p:spPr>
        <p:txBody>
          <a:bodyPr wrap="square" lIns="0" tIns="0" rIns="0" bIns="0" rtlCol="0"/>
          <a:lstStyle/>
          <a:p>
            <a:endParaRPr sz="1593"/>
          </a:p>
        </p:txBody>
      </p:sp>
      <p:sp>
        <p:nvSpPr>
          <p:cNvPr id="600" name="object 600"/>
          <p:cNvSpPr/>
          <p:nvPr/>
        </p:nvSpPr>
        <p:spPr>
          <a:xfrm>
            <a:off x="4690680" y="59238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01" name="object 601"/>
          <p:cNvSpPr/>
          <p:nvPr/>
        </p:nvSpPr>
        <p:spPr>
          <a:xfrm>
            <a:off x="4690680" y="59238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02" name="object 602"/>
          <p:cNvSpPr/>
          <p:nvPr/>
        </p:nvSpPr>
        <p:spPr>
          <a:xfrm>
            <a:off x="4690680" y="5923804"/>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03" name="object 603"/>
          <p:cNvSpPr/>
          <p:nvPr/>
        </p:nvSpPr>
        <p:spPr>
          <a:xfrm>
            <a:off x="4521540" y="5900020"/>
            <a:ext cx="179870" cy="35974"/>
          </a:xfrm>
          <a:custGeom>
            <a:avLst/>
            <a:gdLst/>
            <a:ahLst/>
            <a:cxnLst/>
            <a:rect l="l" t="t" r="r" b="b"/>
            <a:pathLst>
              <a:path w="203200" h="40640">
                <a:moveTo>
                  <a:pt x="11943" y="0"/>
                </a:moveTo>
                <a:lnTo>
                  <a:pt x="0" y="0"/>
                </a:lnTo>
                <a:lnTo>
                  <a:pt x="0" y="13434"/>
                </a:lnTo>
                <a:lnTo>
                  <a:pt x="191077" y="40304"/>
                </a:lnTo>
                <a:lnTo>
                  <a:pt x="203019" y="40304"/>
                </a:lnTo>
                <a:lnTo>
                  <a:pt x="203019" y="26869"/>
                </a:lnTo>
                <a:lnTo>
                  <a:pt x="11943" y="0"/>
                </a:lnTo>
                <a:close/>
              </a:path>
            </a:pathLst>
          </a:custGeom>
          <a:solidFill>
            <a:srgbClr val="000000"/>
          </a:solidFill>
        </p:spPr>
        <p:txBody>
          <a:bodyPr wrap="square" lIns="0" tIns="0" rIns="0" bIns="0" rtlCol="0"/>
          <a:lstStyle/>
          <a:p>
            <a:endParaRPr sz="1593"/>
          </a:p>
        </p:txBody>
      </p:sp>
      <p:sp>
        <p:nvSpPr>
          <p:cNvPr id="604" name="object 604"/>
          <p:cNvSpPr/>
          <p:nvPr/>
        </p:nvSpPr>
        <p:spPr>
          <a:xfrm>
            <a:off x="4526827" y="590002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05" name="object 605"/>
          <p:cNvSpPr/>
          <p:nvPr/>
        </p:nvSpPr>
        <p:spPr>
          <a:xfrm>
            <a:off x="4373545" y="5840560"/>
            <a:ext cx="159072" cy="71386"/>
          </a:xfrm>
          <a:custGeom>
            <a:avLst/>
            <a:gdLst/>
            <a:ahLst/>
            <a:cxnLst/>
            <a:rect l="l" t="t" r="r" b="b"/>
            <a:pathLst>
              <a:path w="179704" h="80645">
                <a:moveTo>
                  <a:pt x="11941" y="0"/>
                </a:moveTo>
                <a:lnTo>
                  <a:pt x="0" y="0"/>
                </a:lnTo>
                <a:lnTo>
                  <a:pt x="0" y="13434"/>
                </a:lnTo>
                <a:lnTo>
                  <a:pt x="167191" y="80608"/>
                </a:lnTo>
                <a:lnTo>
                  <a:pt x="179134" y="80608"/>
                </a:lnTo>
                <a:lnTo>
                  <a:pt x="179134" y="67173"/>
                </a:lnTo>
                <a:lnTo>
                  <a:pt x="11941" y="0"/>
                </a:lnTo>
                <a:close/>
              </a:path>
            </a:pathLst>
          </a:custGeom>
          <a:solidFill>
            <a:srgbClr val="000000"/>
          </a:solidFill>
        </p:spPr>
        <p:txBody>
          <a:bodyPr wrap="square" lIns="0" tIns="0" rIns="0" bIns="0" rtlCol="0"/>
          <a:lstStyle/>
          <a:p>
            <a:endParaRPr sz="1593"/>
          </a:p>
        </p:txBody>
      </p:sp>
      <p:sp>
        <p:nvSpPr>
          <p:cNvPr id="606" name="object 606"/>
          <p:cNvSpPr/>
          <p:nvPr/>
        </p:nvSpPr>
        <p:spPr>
          <a:xfrm>
            <a:off x="4378830" y="584055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07" name="object 607"/>
          <p:cNvSpPr/>
          <p:nvPr/>
        </p:nvSpPr>
        <p:spPr>
          <a:xfrm>
            <a:off x="4320690" y="5792991"/>
            <a:ext cx="63516" cy="59582"/>
          </a:xfrm>
          <a:custGeom>
            <a:avLst/>
            <a:gdLst/>
            <a:ahLst/>
            <a:cxnLst/>
            <a:rect l="l" t="t" r="r" b="b"/>
            <a:pathLst>
              <a:path w="71754" h="67309">
                <a:moveTo>
                  <a:pt x="11941" y="0"/>
                </a:moveTo>
                <a:lnTo>
                  <a:pt x="0" y="0"/>
                </a:lnTo>
                <a:lnTo>
                  <a:pt x="0" y="13434"/>
                </a:lnTo>
                <a:lnTo>
                  <a:pt x="59711" y="67173"/>
                </a:lnTo>
                <a:lnTo>
                  <a:pt x="71653" y="67173"/>
                </a:lnTo>
                <a:lnTo>
                  <a:pt x="71653" y="53738"/>
                </a:lnTo>
                <a:lnTo>
                  <a:pt x="11941" y="0"/>
                </a:lnTo>
                <a:close/>
              </a:path>
            </a:pathLst>
          </a:custGeom>
          <a:solidFill>
            <a:srgbClr val="000000"/>
          </a:solidFill>
        </p:spPr>
        <p:txBody>
          <a:bodyPr wrap="square" lIns="0" tIns="0" rIns="0" bIns="0" rtlCol="0"/>
          <a:lstStyle/>
          <a:p>
            <a:endParaRPr sz="1593"/>
          </a:p>
        </p:txBody>
      </p:sp>
      <p:sp>
        <p:nvSpPr>
          <p:cNvPr id="608" name="object 608"/>
          <p:cNvSpPr/>
          <p:nvPr/>
        </p:nvSpPr>
        <p:spPr>
          <a:xfrm>
            <a:off x="4325974" y="579298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09" name="object 609"/>
          <p:cNvSpPr/>
          <p:nvPr/>
        </p:nvSpPr>
        <p:spPr>
          <a:xfrm>
            <a:off x="4278404" y="5733530"/>
            <a:ext cx="53399" cy="71386"/>
          </a:xfrm>
          <a:custGeom>
            <a:avLst/>
            <a:gdLst/>
            <a:ahLst/>
            <a:cxnLst/>
            <a:rect l="l" t="t" r="r" b="b"/>
            <a:pathLst>
              <a:path w="60325" h="80645">
                <a:moveTo>
                  <a:pt x="11941" y="0"/>
                </a:moveTo>
                <a:lnTo>
                  <a:pt x="0" y="0"/>
                </a:lnTo>
                <a:lnTo>
                  <a:pt x="0" y="13434"/>
                </a:lnTo>
                <a:lnTo>
                  <a:pt x="47769" y="80608"/>
                </a:lnTo>
                <a:lnTo>
                  <a:pt x="59711" y="80608"/>
                </a:lnTo>
                <a:lnTo>
                  <a:pt x="59711" y="67173"/>
                </a:lnTo>
                <a:lnTo>
                  <a:pt x="11941" y="0"/>
                </a:lnTo>
                <a:close/>
              </a:path>
            </a:pathLst>
          </a:custGeom>
          <a:solidFill>
            <a:srgbClr val="000000"/>
          </a:solidFill>
        </p:spPr>
        <p:txBody>
          <a:bodyPr wrap="square" lIns="0" tIns="0" rIns="0" bIns="0" rtlCol="0"/>
          <a:lstStyle/>
          <a:p>
            <a:endParaRPr sz="1593"/>
          </a:p>
        </p:txBody>
      </p:sp>
      <p:sp>
        <p:nvSpPr>
          <p:cNvPr id="610" name="object 610"/>
          <p:cNvSpPr/>
          <p:nvPr/>
        </p:nvSpPr>
        <p:spPr>
          <a:xfrm>
            <a:off x="4283689" y="573352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11" name="object 611"/>
          <p:cNvSpPr/>
          <p:nvPr/>
        </p:nvSpPr>
        <p:spPr>
          <a:xfrm>
            <a:off x="4257262" y="5674068"/>
            <a:ext cx="32039" cy="71386"/>
          </a:xfrm>
          <a:custGeom>
            <a:avLst/>
            <a:gdLst/>
            <a:ahLst/>
            <a:cxnLst/>
            <a:rect l="l" t="t" r="r" b="b"/>
            <a:pathLst>
              <a:path w="36195" h="80645">
                <a:moveTo>
                  <a:pt x="11943" y="0"/>
                </a:moveTo>
                <a:lnTo>
                  <a:pt x="0" y="0"/>
                </a:lnTo>
                <a:lnTo>
                  <a:pt x="0" y="13434"/>
                </a:lnTo>
                <a:lnTo>
                  <a:pt x="23884" y="80608"/>
                </a:lnTo>
                <a:lnTo>
                  <a:pt x="35826" y="80608"/>
                </a:lnTo>
                <a:lnTo>
                  <a:pt x="35826" y="67173"/>
                </a:lnTo>
                <a:lnTo>
                  <a:pt x="11943" y="0"/>
                </a:lnTo>
                <a:close/>
              </a:path>
            </a:pathLst>
          </a:custGeom>
          <a:solidFill>
            <a:srgbClr val="000000"/>
          </a:solidFill>
        </p:spPr>
        <p:txBody>
          <a:bodyPr wrap="square" lIns="0" tIns="0" rIns="0" bIns="0" rtlCol="0"/>
          <a:lstStyle/>
          <a:p>
            <a:endParaRPr sz="1593"/>
          </a:p>
        </p:txBody>
      </p:sp>
      <p:sp>
        <p:nvSpPr>
          <p:cNvPr id="612" name="object 612"/>
          <p:cNvSpPr/>
          <p:nvPr/>
        </p:nvSpPr>
        <p:spPr>
          <a:xfrm>
            <a:off x="4262548" y="5674068"/>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13" name="object 613"/>
          <p:cNvSpPr/>
          <p:nvPr/>
        </p:nvSpPr>
        <p:spPr>
          <a:xfrm>
            <a:off x="4246690" y="5614608"/>
            <a:ext cx="21360" cy="71386"/>
          </a:xfrm>
          <a:custGeom>
            <a:avLst/>
            <a:gdLst/>
            <a:ahLst/>
            <a:cxnLst/>
            <a:rect l="l" t="t" r="r" b="b"/>
            <a:pathLst>
              <a:path w="24129" h="80645">
                <a:moveTo>
                  <a:pt x="11941" y="0"/>
                </a:moveTo>
                <a:lnTo>
                  <a:pt x="0" y="0"/>
                </a:lnTo>
                <a:lnTo>
                  <a:pt x="0" y="13434"/>
                </a:lnTo>
                <a:lnTo>
                  <a:pt x="11941" y="80608"/>
                </a:lnTo>
                <a:lnTo>
                  <a:pt x="23884" y="80608"/>
                </a:lnTo>
                <a:lnTo>
                  <a:pt x="23884" y="67173"/>
                </a:lnTo>
                <a:lnTo>
                  <a:pt x="11941" y="0"/>
                </a:lnTo>
                <a:close/>
              </a:path>
            </a:pathLst>
          </a:custGeom>
          <a:solidFill>
            <a:srgbClr val="000000"/>
          </a:solidFill>
        </p:spPr>
        <p:txBody>
          <a:bodyPr wrap="square" lIns="0" tIns="0" rIns="0" bIns="0" rtlCol="0"/>
          <a:lstStyle/>
          <a:p>
            <a:endParaRPr sz="1593"/>
          </a:p>
        </p:txBody>
      </p:sp>
      <p:sp>
        <p:nvSpPr>
          <p:cNvPr id="614" name="object 614"/>
          <p:cNvSpPr/>
          <p:nvPr/>
        </p:nvSpPr>
        <p:spPr>
          <a:xfrm>
            <a:off x="4246691" y="561460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15" name="object 615"/>
          <p:cNvSpPr/>
          <p:nvPr/>
        </p:nvSpPr>
        <p:spPr>
          <a:xfrm>
            <a:off x="4246691" y="561460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16" name="object 616"/>
          <p:cNvSpPr/>
          <p:nvPr/>
        </p:nvSpPr>
        <p:spPr>
          <a:xfrm>
            <a:off x="4246691" y="561460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17" name="object 617"/>
          <p:cNvSpPr/>
          <p:nvPr/>
        </p:nvSpPr>
        <p:spPr>
          <a:xfrm>
            <a:off x="4246690" y="5555147"/>
            <a:ext cx="21360" cy="71386"/>
          </a:xfrm>
          <a:custGeom>
            <a:avLst/>
            <a:gdLst/>
            <a:ahLst/>
            <a:cxnLst/>
            <a:rect l="l" t="t" r="r" b="b"/>
            <a:pathLst>
              <a:path w="24129" h="80645">
                <a:moveTo>
                  <a:pt x="23884" y="0"/>
                </a:moveTo>
                <a:lnTo>
                  <a:pt x="11941" y="0"/>
                </a:lnTo>
                <a:lnTo>
                  <a:pt x="0" y="67173"/>
                </a:lnTo>
                <a:lnTo>
                  <a:pt x="0" y="80608"/>
                </a:lnTo>
                <a:lnTo>
                  <a:pt x="11941" y="80608"/>
                </a:lnTo>
                <a:lnTo>
                  <a:pt x="23884" y="13434"/>
                </a:lnTo>
                <a:lnTo>
                  <a:pt x="23884" y="0"/>
                </a:lnTo>
                <a:close/>
              </a:path>
            </a:pathLst>
          </a:custGeom>
          <a:solidFill>
            <a:srgbClr val="000000"/>
          </a:solidFill>
        </p:spPr>
        <p:txBody>
          <a:bodyPr wrap="square" lIns="0" tIns="0" rIns="0" bIns="0" rtlCol="0"/>
          <a:lstStyle/>
          <a:p>
            <a:endParaRPr sz="1593"/>
          </a:p>
        </p:txBody>
      </p:sp>
      <p:sp>
        <p:nvSpPr>
          <p:cNvPr id="618" name="object 618"/>
          <p:cNvSpPr/>
          <p:nvPr/>
        </p:nvSpPr>
        <p:spPr>
          <a:xfrm>
            <a:off x="4262548" y="555514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19" name="object 619"/>
          <p:cNvSpPr/>
          <p:nvPr/>
        </p:nvSpPr>
        <p:spPr>
          <a:xfrm>
            <a:off x="4257262" y="5495686"/>
            <a:ext cx="32039" cy="71386"/>
          </a:xfrm>
          <a:custGeom>
            <a:avLst/>
            <a:gdLst/>
            <a:ahLst/>
            <a:cxnLst/>
            <a:rect l="l" t="t" r="r" b="b"/>
            <a:pathLst>
              <a:path w="36195" h="80645">
                <a:moveTo>
                  <a:pt x="35826" y="0"/>
                </a:moveTo>
                <a:lnTo>
                  <a:pt x="23884" y="0"/>
                </a:lnTo>
                <a:lnTo>
                  <a:pt x="0" y="67173"/>
                </a:lnTo>
                <a:lnTo>
                  <a:pt x="0" y="80608"/>
                </a:lnTo>
                <a:lnTo>
                  <a:pt x="11943" y="80608"/>
                </a:lnTo>
                <a:lnTo>
                  <a:pt x="35826" y="13434"/>
                </a:lnTo>
                <a:lnTo>
                  <a:pt x="35826" y="0"/>
                </a:lnTo>
                <a:close/>
              </a:path>
            </a:pathLst>
          </a:custGeom>
          <a:solidFill>
            <a:srgbClr val="000000"/>
          </a:solidFill>
        </p:spPr>
        <p:txBody>
          <a:bodyPr wrap="square" lIns="0" tIns="0" rIns="0" bIns="0" rtlCol="0"/>
          <a:lstStyle/>
          <a:p>
            <a:endParaRPr sz="1593"/>
          </a:p>
        </p:txBody>
      </p:sp>
      <p:sp>
        <p:nvSpPr>
          <p:cNvPr id="620" name="object 620"/>
          <p:cNvSpPr/>
          <p:nvPr/>
        </p:nvSpPr>
        <p:spPr>
          <a:xfrm>
            <a:off x="4283689" y="549568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21" name="object 621"/>
          <p:cNvSpPr/>
          <p:nvPr/>
        </p:nvSpPr>
        <p:spPr>
          <a:xfrm>
            <a:off x="4278404" y="5448116"/>
            <a:ext cx="53399" cy="59582"/>
          </a:xfrm>
          <a:custGeom>
            <a:avLst/>
            <a:gdLst/>
            <a:ahLst/>
            <a:cxnLst/>
            <a:rect l="l" t="t" r="r" b="b"/>
            <a:pathLst>
              <a:path w="60325" h="67310">
                <a:moveTo>
                  <a:pt x="59711" y="0"/>
                </a:moveTo>
                <a:lnTo>
                  <a:pt x="47769" y="0"/>
                </a:lnTo>
                <a:lnTo>
                  <a:pt x="0" y="53738"/>
                </a:lnTo>
                <a:lnTo>
                  <a:pt x="0" y="67173"/>
                </a:lnTo>
                <a:lnTo>
                  <a:pt x="11941" y="67173"/>
                </a:lnTo>
                <a:lnTo>
                  <a:pt x="59711" y="13434"/>
                </a:lnTo>
                <a:lnTo>
                  <a:pt x="59711" y="0"/>
                </a:lnTo>
                <a:close/>
              </a:path>
            </a:pathLst>
          </a:custGeom>
          <a:solidFill>
            <a:srgbClr val="000000"/>
          </a:solidFill>
        </p:spPr>
        <p:txBody>
          <a:bodyPr wrap="square" lIns="0" tIns="0" rIns="0" bIns="0" rtlCol="0"/>
          <a:lstStyle/>
          <a:p>
            <a:endParaRPr sz="1593"/>
          </a:p>
        </p:txBody>
      </p:sp>
      <p:sp>
        <p:nvSpPr>
          <p:cNvPr id="622" name="object 622"/>
          <p:cNvSpPr/>
          <p:nvPr/>
        </p:nvSpPr>
        <p:spPr>
          <a:xfrm>
            <a:off x="4325974" y="544811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23" name="object 623"/>
          <p:cNvSpPr/>
          <p:nvPr/>
        </p:nvSpPr>
        <p:spPr>
          <a:xfrm>
            <a:off x="4320690" y="5400547"/>
            <a:ext cx="63516" cy="59582"/>
          </a:xfrm>
          <a:custGeom>
            <a:avLst/>
            <a:gdLst/>
            <a:ahLst/>
            <a:cxnLst/>
            <a:rect l="l" t="t" r="r" b="b"/>
            <a:pathLst>
              <a:path w="71754" h="67310">
                <a:moveTo>
                  <a:pt x="71653" y="0"/>
                </a:moveTo>
                <a:lnTo>
                  <a:pt x="59711" y="0"/>
                </a:lnTo>
                <a:lnTo>
                  <a:pt x="0" y="53738"/>
                </a:lnTo>
                <a:lnTo>
                  <a:pt x="0" y="67173"/>
                </a:lnTo>
                <a:lnTo>
                  <a:pt x="11941" y="67173"/>
                </a:lnTo>
                <a:lnTo>
                  <a:pt x="71653" y="13434"/>
                </a:lnTo>
                <a:lnTo>
                  <a:pt x="71653" y="0"/>
                </a:lnTo>
                <a:close/>
              </a:path>
            </a:pathLst>
          </a:custGeom>
          <a:solidFill>
            <a:srgbClr val="000000"/>
          </a:solidFill>
        </p:spPr>
        <p:txBody>
          <a:bodyPr wrap="square" lIns="0" tIns="0" rIns="0" bIns="0" rtlCol="0"/>
          <a:lstStyle/>
          <a:p>
            <a:endParaRPr sz="1593"/>
          </a:p>
        </p:txBody>
      </p:sp>
      <p:sp>
        <p:nvSpPr>
          <p:cNvPr id="624" name="object 624"/>
          <p:cNvSpPr/>
          <p:nvPr/>
        </p:nvSpPr>
        <p:spPr>
          <a:xfrm>
            <a:off x="4378830" y="540054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25" name="object 625"/>
          <p:cNvSpPr/>
          <p:nvPr/>
        </p:nvSpPr>
        <p:spPr>
          <a:xfrm>
            <a:off x="4373545" y="5329195"/>
            <a:ext cx="159072" cy="83752"/>
          </a:xfrm>
          <a:custGeom>
            <a:avLst/>
            <a:gdLst/>
            <a:ahLst/>
            <a:cxnLst/>
            <a:rect l="l" t="t" r="r" b="b"/>
            <a:pathLst>
              <a:path w="179704" h="94614">
                <a:moveTo>
                  <a:pt x="179134" y="0"/>
                </a:moveTo>
                <a:lnTo>
                  <a:pt x="167191" y="0"/>
                </a:lnTo>
                <a:lnTo>
                  <a:pt x="0" y="80608"/>
                </a:lnTo>
                <a:lnTo>
                  <a:pt x="0" y="94042"/>
                </a:lnTo>
                <a:lnTo>
                  <a:pt x="11941" y="94042"/>
                </a:lnTo>
                <a:lnTo>
                  <a:pt x="179134" y="13434"/>
                </a:lnTo>
                <a:lnTo>
                  <a:pt x="179134" y="0"/>
                </a:lnTo>
                <a:close/>
              </a:path>
            </a:pathLst>
          </a:custGeom>
          <a:solidFill>
            <a:srgbClr val="000000"/>
          </a:solidFill>
        </p:spPr>
        <p:txBody>
          <a:bodyPr wrap="square" lIns="0" tIns="0" rIns="0" bIns="0" rtlCol="0"/>
          <a:lstStyle/>
          <a:p>
            <a:endParaRPr sz="1593"/>
          </a:p>
        </p:txBody>
      </p:sp>
      <p:sp>
        <p:nvSpPr>
          <p:cNvPr id="626" name="object 626"/>
          <p:cNvSpPr/>
          <p:nvPr/>
        </p:nvSpPr>
        <p:spPr>
          <a:xfrm>
            <a:off x="4526827" y="532919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27" name="object 627"/>
          <p:cNvSpPr/>
          <p:nvPr/>
        </p:nvSpPr>
        <p:spPr>
          <a:xfrm>
            <a:off x="4521540" y="5305410"/>
            <a:ext cx="179870" cy="35974"/>
          </a:xfrm>
          <a:custGeom>
            <a:avLst/>
            <a:gdLst/>
            <a:ahLst/>
            <a:cxnLst/>
            <a:rect l="l" t="t" r="r" b="b"/>
            <a:pathLst>
              <a:path w="203200" h="40639">
                <a:moveTo>
                  <a:pt x="203019" y="0"/>
                </a:moveTo>
                <a:lnTo>
                  <a:pt x="191077" y="0"/>
                </a:lnTo>
                <a:lnTo>
                  <a:pt x="0" y="26869"/>
                </a:lnTo>
                <a:lnTo>
                  <a:pt x="0" y="40304"/>
                </a:lnTo>
                <a:lnTo>
                  <a:pt x="11943" y="40304"/>
                </a:lnTo>
                <a:lnTo>
                  <a:pt x="203019" y="13434"/>
                </a:lnTo>
                <a:lnTo>
                  <a:pt x="203019" y="0"/>
                </a:lnTo>
                <a:close/>
              </a:path>
            </a:pathLst>
          </a:custGeom>
          <a:solidFill>
            <a:srgbClr val="000000"/>
          </a:solidFill>
        </p:spPr>
        <p:txBody>
          <a:bodyPr wrap="square" lIns="0" tIns="0" rIns="0" bIns="0" rtlCol="0"/>
          <a:lstStyle/>
          <a:p>
            <a:endParaRPr sz="1593"/>
          </a:p>
        </p:txBody>
      </p:sp>
      <p:sp>
        <p:nvSpPr>
          <p:cNvPr id="628" name="object 628"/>
          <p:cNvSpPr/>
          <p:nvPr/>
        </p:nvSpPr>
        <p:spPr>
          <a:xfrm>
            <a:off x="4690680" y="530541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29" name="object 629"/>
          <p:cNvSpPr/>
          <p:nvPr/>
        </p:nvSpPr>
        <p:spPr>
          <a:xfrm>
            <a:off x="4690680" y="530541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30" name="object 630"/>
          <p:cNvSpPr/>
          <p:nvPr/>
        </p:nvSpPr>
        <p:spPr>
          <a:xfrm>
            <a:off x="4690680" y="5305410"/>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31" name="object 631"/>
          <p:cNvSpPr/>
          <p:nvPr/>
        </p:nvSpPr>
        <p:spPr>
          <a:xfrm>
            <a:off x="4690680" y="5305410"/>
            <a:ext cx="179870" cy="35974"/>
          </a:xfrm>
          <a:custGeom>
            <a:avLst/>
            <a:gdLst/>
            <a:ahLst/>
            <a:cxnLst/>
            <a:rect l="l" t="t" r="r" b="b"/>
            <a:pathLst>
              <a:path w="203200" h="40639">
                <a:moveTo>
                  <a:pt x="11941" y="0"/>
                </a:moveTo>
                <a:lnTo>
                  <a:pt x="0" y="0"/>
                </a:lnTo>
                <a:lnTo>
                  <a:pt x="0" y="13434"/>
                </a:lnTo>
                <a:lnTo>
                  <a:pt x="191076" y="40304"/>
                </a:lnTo>
                <a:lnTo>
                  <a:pt x="203019" y="40304"/>
                </a:lnTo>
                <a:lnTo>
                  <a:pt x="203019" y="26869"/>
                </a:lnTo>
                <a:lnTo>
                  <a:pt x="11941" y="0"/>
                </a:lnTo>
                <a:close/>
              </a:path>
            </a:pathLst>
          </a:custGeom>
          <a:solidFill>
            <a:srgbClr val="000000"/>
          </a:solidFill>
        </p:spPr>
        <p:txBody>
          <a:bodyPr wrap="square" lIns="0" tIns="0" rIns="0" bIns="0" rtlCol="0"/>
          <a:lstStyle/>
          <a:p>
            <a:endParaRPr sz="1593"/>
          </a:p>
        </p:txBody>
      </p:sp>
      <p:sp>
        <p:nvSpPr>
          <p:cNvPr id="632" name="object 632"/>
          <p:cNvSpPr/>
          <p:nvPr/>
        </p:nvSpPr>
        <p:spPr>
          <a:xfrm>
            <a:off x="4865104" y="532919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33" name="object 633"/>
          <p:cNvSpPr/>
          <p:nvPr/>
        </p:nvSpPr>
        <p:spPr>
          <a:xfrm>
            <a:off x="4859819" y="5329195"/>
            <a:ext cx="148392" cy="83752"/>
          </a:xfrm>
          <a:custGeom>
            <a:avLst/>
            <a:gdLst/>
            <a:ahLst/>
            <a:cxnLst/>
            <a:rect l="l" t="t" r="r" b="b"/>
            <a:pathLst>
              <a:path w="167639" h="94614">
                <a:moveTo>
                  <a:pt x="11943" y="0"/>
                </a:moveTo>
                <a:lnTo>
                  <a:pt x="0" y="0"/>
                </a:lnTo>
                <a:lnTo>
                  <a:pt x="0" y="13434"/>
                </a:lnTo>
                <a:lnTo>
                  <a:pt x="155251" y="94042"/>
                </a:lnTo>
                <a:lnTo>
                  <a:pt x="167192" y="94042"/>
                </a:lnTo>
                <a:lnTo>
                  <a:pt x="167192" y="80608"/>
                </a:lnTo>
                <a:lnTo>
                  <a:pt x="11943" y="0"/>
                </a:lnTo>
                <a:close/>
              </a:path>
            </a:pathLst>
          </a:custGeom>
          <a:solidFill>
            <a:srgbClr val="000000"/>
          </a:solidFill>
        </p:spPr>
        <p:txBody>
          <a:bodyPr wrap="square" lIns="0" tIns="0" rIns="0" bIns="0" rtlCol="0"/>
          <a:lstStyle/>
          <a:p>
            <a:endParaRPr sz="1593"/>
          </a:p>
        </p:txBody>
      </p:sp>
      <p:sp>
        <p:nvSpPr>
          <p:cNvPr id="634" name="object 634"/>
          <p:cNvSpPr/>
          <p:nvPr/>
        </p:nvSpPr>
        <p:spPr>
          <a:xfrm>
            <a:off x="5002530" y="540054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35" name="object 635"/>
          <p:cNvSpPr/>
          <p:nvPr/>
        </p:nvSpPr>
        <p:spPr>
          <a:xfrm>
            <a:off x="4997245" y="5400547"/>
            <a:ext cx="63516" cy="59582"/>
          </a:xfrm>
          <a:custGeom>
            <a:avLst/>
            <a:gdLst/>
            <a:ahLst/>
            <a:cxnLst/>
            <a:rect l="l" t="t" r="r" b="b"/>
            <a:pathLst>
              <a:path w="71754" h="67310">
                <a:moveTo>
                  <a:pt x="11941" y="0"/>
                </a:moveTo>
                <a:lnTo>
                  <a:pt x="0" y="0"/>
                </a:lnTo>
                <a:lnTo>
                  <a:pt x="0" y="13434"/>
                </a:lnTo>
                <a:lnTo>
                  <a:pt x="59711" y="67173"/>
                </a:lnTo>
                <a:lnTo>
                  <a:pt x="71653" y="67173"/>
                </a:lnTo>
                <a:lnTo>
                  <a:pt x="71653" y="53738"/>
                </a:lnTo>
                <a:lnTo>
                  <a:pt x="11941" y="0"/>
                </a:lnTo>
                <a:close/>
              </a:path>
            </a:pathLst>
          </a:custGeom>
          <a:solidFill>
            <a:srgbClr val="000000"/>
          </a:solidFill>
        </p:spPr>
        <p:txBody>
          <a:bodyPr wrap="square" lIns="0" tIns="0" rIns="0" bIns="0" rtlCol="0"/>
          <a:lstStyle/>
          <a:p>
            <a:endParaRPr sz="1593"/>
          </a:p>
        </p:txBody>
      </p:sp>
      <p:sp>
        <p:nvSpPr>
          <p:cNvPr id="636" name="object 636"/>
          <p:cNvSpPr/>
          <p:nvPr/>
        </p:nvSpPr>
        <p:spPr>
          <a:xfrm>
            <a:off x="5055385" y="544811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37" name="object 637"/>
          <p:cNvSpPr/>
          <p:nvPr/>
        </p:nvSpPr>
        <p:spPr>
          <a:xfrm>
            <a:off x="5050100" y="5448116"/>
            <a:ext cx="53399" cy="59582"/>
          </a:xfrm>
          <a:custGeom>
            <a:avLst/>
            <a:gdLst/>
            <a:ahLst/>
            <a:cxnLst/>
            <a:rect l="l" t="t" r="r" b="b"/>
            <a:pathLst>
              <a:path w="60325" h="67310">
                <a:moveTo>
                  <a:pt x="11941" y="0"/>
                </a:moveTo>
                <a:lnTo>
                  <a:pt x="0" y="0"/>
                </a:lnTo>
                <a:lnTo>
                  <a:pt x="0" y="13434"/>
                </a:lnTo>
                <a:lnTo>
                  <a:pt x="47768" y="67173"/>
                </a:lnTo>
                <a:lnTo>
                  <a:pt x="59711" y="67173"/>
                </a:lnTo>
                <a:lnTo>
                  <a:pt x="59711" y="53738"/>
                </a:lnTo>
                <a:lnTo>
                  <a:pt x="11941" y="0"/>
                </a:lnTo>
                <a:close/>
              </a:path>
            </a:pathLst>
          </a:custGeom>
          <a:solidFill>
            <a:srgbClr val="000000"/>
          </a:solidFill>
        </p:spPr>
        <p:txBody>
          <a:bodyPr wrap="square" lIns="0" tIns="0" rIns="0" bIns="0" rtlCol="0"/>
          <a:lstStyle/>
          <a:p>
            <a:endParaRPr sz="1593"/>
          </a:p>
        </p:txBody>
      </p:sp>
      <p:sp>
        <p:nvSpPr>
          <p:cNvPr id="638" name="object 638"/>
          <p:cNvSpPr/>
          <p:nvPr/>
        </p:nvSpPr>
        <p:spPr>
          <a:xfrm>
            <a:off x="5097670" y="5495685"/>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39" name="object 639"/>
          <p:cNvSpPr/>
          <p:nvPr/>
        </p:nvSpPr>
        <p:spPr>
          <a:xfrm>
            <a:off x="5092384" y="5495686"/>
            <a:ext cx="42719" cy="71386"/>
          </a:xfrm>
          <a:custGeom>
            <a:avLst/>
            <a:gdLst/>
            <a:ahLst/>
            <a:cxnLst/>
            <a:rect l="l" t="t" r="r" b="b"/>
            <a:pathLst>
              <a:path w="48260" h="80645">
                <a:moveTo>
                  <a:pt x="11943" y="0"/>
                </a:moveTo>
                <a:lnTo>
                  <a:pt x="0" y="0"/>
                </a:lnTo>
                <a:lnTo>
                  <a:pt x="0" y="13434"/>
                </a:lnTo>
                <a:lnTo>
                  <a:pt x="35827" y="80608"/>
                </a:lnTo>
                <a:lnTo>
                  <a:pt x="47769" y="80608"/>
                </a:lnTo>
                <a:lnTo>
                  <a:pt x="47769" y="67173"/>
                </a:lnTo>
                <a:lnTo>
                  <a:pt x="11943" y="0"/>
                </a:lnTo>
                <a:close/>
              </a:path>
            </a:pathLst>
          </a:custGeom>
          <a:solidFill>
            <a:srgbClr val="000000"/>
          </a:solidFill>
        </p:spPr>
        <p:txBody>
          <a:bodyPr wrap="square" lIns="0" tIns="0" rIns="0" bIns="0" rtlCol="0"/>
          <a:lstStyle/>
          <a:p>
            <a:endParaRPr sz="1593"/>
          </a:p>
        </p:txBody>
      </p:sp>
      <p:sp>
        <p:nvSpPr>
          <p:cNvPr id="640" name="object 640"/>
          <p:cNvSpPr/>
          <p:nvPr/>
        </p:nvSpPr>
        <p:spPr>
          <a:xfrm>
            <a:off x="5129384" y="555514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41" name="object 641"/>
          <p:cNvSpPr/>
          <p:nvPr/>
        </p:nvSpPr>
        <p:spPr>
          <a:xfrm>
            <a:off x="5124098" y="5555147"/>
            <a:ext cx="21360" cy="71386"/>
          </a:xfrm>
          <a:custGeom>
            <a:avLst/>
            <a:gdLst/>
            <a:ahLst/>
            <a:cxnLst/>
            <a:rect l="l" t="t" r="r" b="b"/>
            <a:pathLst>
              <a:path w="24129" h="80645">
                <a:moveTo>
                  <a:pt x="11941" y="0"/>
                </a:moveTo>
                <a:lnTo>
                  <a:pt x="0" y="0"/>
                </a:lnTo>
                <a:lnTo>
                  <a:pt x="0" y="13434"/>
                </a:lnTo>
                <a:lnTo>
                  <a:pt x="11941" y="80608"/>
                </a:lnTo>
                <a:lnTo>
                  <a:pt x="23884" y="80608"/>
                </a:lnTo>
                <a:lnTo>
                  <a:pt x="23884" y="67173"/>
                </a:lnTo>
                <a:lnTo>
                  <a:pt x="11941" y="0"/>
                </a:lnTo>
                <a:close/>
              </a:path>
            </a:pathLst>
          </a:custGeom>
          <a:solidFill>
            <a:srgbClr val="000000"/>
          </a:solidFill>
        </p:spPr>
        <p:txBody>
          <a:bodyPr wrap="square" lIns="0" tIns="0" rIns="0" bIns="0" rtlCol="0"/>
          <a:lstStyle/>
          <a:p>
            <a:endParaRPr sz="1593"/>
          </a:p>
        </p:txBody>
      </p:sp>
      <p:sp>
        <p:nvSpPr>
          <p:cNvPr id="642" name="object 642"/>
          <p:cNvSpPr/>
          <p:nvPr/>
        </p:nvSpPr>
        <p:spPr>
          <a:xfrm>
            <a:off x="5139955" y="5614607"/>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43" name="object 643"/>
          <p:cNvSpPr txBox="1"/>
          <p:nvPr/>
        </p:nvSpPr>
        <p:spPr>
          <a:xfrm>
            <a:off x="4267162" y="5460659"/>
            <a:ext cx="852694" cy="308302"/>
          </a:xfrm>
          <a:prstGeom prst="rect">
            <a:avLst/>
          </a:prstGeom>
        </p:spPr>
        <p:txBody>
          <a:bodyPr vert="horz" wrap="square" lIns="0" tIns="10680" rIns="0" bIns="0" rtlCol="0">
            <a:spAutoFit/>
          </a:bodyPr>
          <a:lstStyle/>
          <a:p>
            <a:pPr marL="106236" marR="4497" indent="-95557">
              <a:lnSpc>
                <a:spcPct val="109100"/>
              </a:lnSpc>
              <a:spcBef>
                <a:spcPts val="84"/>
              </a:spcBef>
            </a:pPr>
            <a:r>
              <a:rPr sz="929" spc="-75" dirty="0">
                <a:latin typeface="Verdana"/>
                <a:cs typeface="Verdana"/>
              </a:rPr>
              <a:t>part.-experience  components</a:t>
            </a:r>
            <a:endParaRPr sz="929">
              <a:latin typeface="Verdana"/>
              <a:cs typeface="Verdana"/>
            </a:endParaRPr>
          </a:p>
        </p:txBody>
      </p:sp>
      <p:sp>
        <p:nvSpPr>
          <p:cNvPr id="644" name="object 644"/>
          <p:cNvSpPr/>
          <p:nvPr/>
        </p:nvSpPr>
        <p:spPr>
          <a:xfrm>
            <a:off x="4436972" y="2213436"/>
            <a:ext cx="1237166" cy="1355767"/>
          </a:xfrm>
          <a:custGeom>
            <a:avLst/>
            <a:gdLst/>
            <a:ahLst/>
            <a:cxnLst/>
            <a:rect l="l" t="t" r="r" b="b"/>
            <a:pathLst>
              <a:path w="1397635" h="1531620">
                <a:moveTo>
                  <a:pt x="704597" y="0"/>
                </a:moveTo>
                <a:lnTo>
                  <a:pt x="561289" y="13435"/>
                </a:lnTo>
                <a:lnTo>
                  <a:pt x="429924" y="67174"/>
                </a:lnTo>
                <a:lnTo>
                  <a:pt x="310501" y="134348"/>
                </a:lnTo>
                <a:lnTo>
                  <a:pt x="214961" y="228390"/>
                </a:lnTo>
                <a:lnTo>
                  <a:pt x="119423" y="335868"/>
                </a:lnTo>
                <a:lnTo>
                  <a:pt x="59711" y="470214"/>
                </a:lnTo>
                <a:lnTo>
                  <a:pt x="23884" y="617997"/>
                </a:lnTo>
                <a:lnTo>
                  <a:pt x="0" y="765779"/>
                </a:lnTo>
                <a:lnTo>
                  <a:pt x="23884" y="913560"/>
                </a:lnTo>
                <a:lnTo>
                  <a:pt x="59711" y="1061342"/>
                </a:lnTo>
                <a:lnTo>
                  <a:pt x="119423" y="1195689"/>
                </a:lnTo>
                <a:lnTo>
                  <a:pt x="214961" y="1303167"/>
                </a:lnTo>
                <a:lnTo>
                  <a:pt x="310501" y="1397210"/>
                </a:lnTo>
                <a:lnTo>
                  <a:pt x="429924" y="1477818"/>
                </a:lnTo>
                <a:lnTo>
                  <a:pt x="561289" y="1518122"/>
                </a:lnTo>
                <a:lnTo>
                  <a:pt x="704597" y="1531557"/>
                </a:lnTo>
                <a:lnTo>
                  <a:pt x="835963" y="1518122"/>
                </a:lnTo>
                <a:lnTo>
                  <a:pt x="967328" y="1477818"/>
                </a:lnTo>
                <a:lnTo>
                  <a:pt x="1086751" y="1397210"/>
                </a:lnTo>
                <a:lnTo>
                  <a:pt x="1194233" y="1303167"/>
                </a:lnTo>
                <a:lnTo>
                  <a:pt x="1277829" y="1195689"/>
                </a:lnTo>
                <a:lnTo>
                  <a:pt x="1337541" y="1061342"/>
                </a:lnTo>
                <a:lnTo>
                  <a:pt x="1385310" y="913560"/>
                </a:lnTo>
                <a:lnTo>
                  <a:pt x="1397252" y="765779"/>
                </a:lnTo>
                <a:lnTo>
                  <a:pt x="1385310" y="617997"/>
                </a:lnTo>
                <a:lnTo>
                  <a:pt x="1337541" y="470214"/>
                </a:lnTo>
                <a:lnTo>
                  <a:pt x="1277829" y="335868"/>
                </a:lnTo>
                <a:lnTo>
                  <a:pt x="1194233" y="228390"/>
                </a:lnTo>
                <a:lnTo>
                  <a:pt x="1086751" y="134348"/>
                </a:lnTo>
                <a:lnTo>
                  <a:pt x="967328" y="67174"/>
                </a:lnTo>
                <a:lnTo>
                  <a:pt x="835963" y="13435"/>
                </a:lnTo>
                <a:lnTo>
                  <a:pt x="704597" y="0"/>
                </a:lnTo>
                <a:close/>
              </a:path>
            </a:pathLst>
          </a:custGeom>
          <a:solidFill>
            <a:srgbClr val="000000"/>
          </a:solidFill>
        </p:spPr>
        <p:txBody>
          <a:bodyPr wrap="square" lIns="0" tIns="0" rIns="0" bIns="0" rtlCol="0"/>
          <a:lstStyle/>
          <a:p>
            <a:endParaRPr sz="1593"/>
          </a:p>
        </p:txBody>
      </p:sp>
      <p:sp>
        <p:nvSpPr>
          <p:cNvPr id="645" name="object 645"/>
          <p:cNvSpPr/>
          <p:nvPr/>
        </p:nvSpPr>
        <p:spPr>
          <a:xfrm>
            <a:off x="5663228" y="2891293"/>
            <a:ext cx="21360" cy="142772"/>
          </a:xfrm>
          <a:custGeom>
            <a:avLst/>
            <a:gdLst/>
            <a:ahLst/>
            <a:cxnLst/>
            <a:rect l="l" t="t" r="r" b="b"/>
            <a:pathLst>
              <a:path w="24129" h="161289">
                <a:moveTo>
                  <a:pt x="23883" y="0"/>
                </a:moveTo>
                <a:lnTo>
                  <a:pt x="11941" y="0"/>
                </a:lnTo>
                <a:lnTo>
                  <a:pt x="0" y="147781"/>
                </a:lnTo>
                <a:lnTo>
                  <a:pt x="0" y="161216"/>
                </a:lnTo>
                <a:lnTo>
                  <a:pt x="11941" y="161216"/>
                </a:lnTo>
                <a:lnTo>
                  <a:pt x="23883" y="13434"/>
                </a:lnTo>
                <a:lnTo>
                  <a:pt x="23883" y="0"/>
                </a:lnTo>
                <a:close/>
              </a:path>
            </a:pathLst>
          </a:custGeom>
          <a:solidFill>
            <a:srgbClr val="000000"/>
          </a:solidFill>
        </p:spPr>
        <p:txBody>
          <a:bodyPr wrap="square" lIns="0" tIns="0" rIns="0" bIns="0" rtlCol="0"/>
          <a:lstStyle/>
          <a:p>
            <a:endParaRPr sz="1593"/>
          </a:p>
        </p:txBody>
      </p:sp>
      <p:sp>
        <p:nvSpPr>
          <p:cNvPr id="646" name="object 646"/>
          <p:cNvSpPr/>
          <p:nvPr/>
        </p:nvSpPr>
        <p:spPr>
          <a:xfrm>
            <a:off x="5668514" y="302210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47" name="object 647"/>
          <p:cNvSpPr/>
          <p:nvPr/>
        </p:nvSpPr>
        <p:spPr>
          <a:xfrm>
            <a:off x="5620943" y="3022106"/>
            <a:ext cx="53399" cy="142772"/>
          </a:xfrm>
          <a:custGeom>
            <a:avLst/>
            <a:gdLst/>
            <a:ahLst/>
            <a:cxnLst/>
            <a:rect l="l" t="t" r="r" b="b"/>
            <a:pathLst>
              <a:path w="60325" h="161289">
                <a:moveTo>
                  <a:pt x="59711" y="0"/>
                </a:moveTo>
                <a:lnTo>
                  <a:pt x="47769" y="0"/>
                </a:lnTo>
                <a:lnTo>
                  <a:pt x="0" y="147782"/>
                </a:lnTo>
                <a:lnTo>
                  <a:pt x="0" y="161216"/>
                </a:lnTo>
                <a:lnTo>
                  <a:pt x="11941" y="161216"/>
                </a:lnTo>
                <a:lnTo>
                  <a:pt x="59711" y="13435"/>
                </a:lnTo>
                <a:lnTo>
                  <a:pt x="59711" y="0"/>
                </a:lnTo>
                <a:close/>
              </a:path>
            </a:pathLst>
          </a:custGeom>
          <a:solidFill>
            <a:srgbClr val="000000"/>
          </a:solidFill>
        </p:spPr>
        <p:txBody>
          <a:bodyPr wrap="square" lIns="0" tIns="0" rIns="0" bIns="0" rtlCol="0"/>
          <a:lstStyle/>
          <a:p>
            <a:endParaRPr sz="1593"/>
          </a:p>
        </p:txBody>
      </p:sp>
      <p:sp>
        <p:nvSpPr>
          <p:cNvPr id="648" name="object 648"/>
          <p:cNvSpPr/>
          <p:nvPr/>
        </p:nvSpPr>
        <p:spPr>
          <a:xfrm>
            <a:off x="5626229" y="315292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49" name="object 649"/>
          <p:cNvSpPr/>
          <p:nvPr/>
        </p:nvSpPr>
        <p:spPr>
          <a:xfrm>
            <a:off x="5568089" y="3152921"/>
            <a:ext cx="63516" cy="130968"/>
          </a:xfrm>
          <a:custGeom>
            <a:avLst/>
            <a:gdLst/>
            <a:ahLst/>
            <a:cxnLst/>
            <a:rect l="l" t="t" r="r" b="b"/>
            <a:pathLst>
              <a:path w="71754" h="147954">
                <a:moveTo>
                  <a:pt x="71653" y="0"/>
                </a:moveTo>
                <a:lnTo>
                  <a:pt x="59711" y="0"/>
                </a:lnTo>
                <a:lnTo>
                  <a:pt x="0" y="134346"/>
                </a:lnTo>
                <a:lnTo>
                  <a:pt x="0" y="147782"/>
                </a:lnTo>
                <a:lnTo>
                  <a:pt x="11941" y="147782"/>
                </a:lnTo>
                <a:lnTo>
                  <a:pt x="71653" y="13434"/>
                </a:lnTo>
                <a:lnTo>
                  <a:pt x="71653" y="0"/>
                </a:lnTo>
                <a:close/>
              </a:path>
            </a:pathLst>
          </a:custGeom>
          <a:solidFill>
            <a:srgbClr val="000000"/>
          </a:solidFill>
        </p:spPr>
        <p:txBody>
          <a:bodyPr wrap="square" lIns="0" tIns="0" rIns="0" bIns="0" rtlCol="0"/>
          <a:lstStyle/>
          <a:p>
            <a:endParaRPr sz="1593"/>
          </a:p>
        </p:txBody>
      </p:sp>
      <p:sp>
        <p:nvSpPr>
          <p:cNvPr id="650" name="object 650"/>
          <p:cNvSpPr/>
          <p:nvPr/>
        </p:nvSpPr>
        <p:spPr>
          <a:xfrm>
            <a:off x="5573372" y="327184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51" name="object 651"/>
          <p:cNvSpPr/>
          <p:nvPr/>
        </p:nvSpPr>
        <p:spPr>
          <a:xfrm>
            <a:off x="5494089" y="3271843"/>
            <a:ext cx="84876" cy="107360"/>
          </a:xfrm>
          <a:custGeom>
            <a:avLst/>
            <a:gdLst/>
            <a:ahLst/>
            <a:cxnLst/>
            <a:rect l="l" t="t" r="r" b="b"/>
            <a:pathLst>
              <a:path w="95885" h="121285">
                <a:moveTo>
                  <a:pt x="95538" y="0"/>
                </a:moveTo>
                <a:lnTo>
                  <a:pt x="83596" y="0"/>
                </a:lnTo>
                <a:lnTo>
                  <a:pt x="0" y="107477"/>
                </a:lnTo>
                <a:lnTo>
                  <a:pt x="0" y="120912"/>
                </a:lnTo>
                <a:lnTo>
                  <a:pt x="11941" y="120912"/>
                </a:lnTo>
                <a:lnTo>
                  <a:pt x="95538" y="13435"/>
                </a:lnTo>
                <a:lnTo>
                  <a:pt x="95538" y="0"/>
                </a:lnTo>
                <a:close/>
              </a:path>
            </a:pathLst>
          </a:custGeom>
          <a:solidFill>
            <a:srgbClr val="000000"/>
          </a:solidFill>
        </p:spPr>
        <p:txBody>
          <a:bodyPr wrap="square" lIns="0" tIns="0" rIns="0" bIns="0" rtlCol="0"/>
          <a:lstStyle/>
          <a:p>
            <a:endParaRPr sz="1593"/>
          </a:p>
        </p:txBody>
      </p:sp>
      <p:sp>
        <p:nvSpPr>
          <p:cNvPr id="652" name="object 652"/>
          <p:cNvSpPr/>
          <p:nvPr/>
        </p:nvSpPr>
        <p:spPr>
          <a:xfrm>
            <a:off x="5499374" y="3366980"/>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53" name="object 653"/>
          <p:cNvSpPr/>
          <p:nvPr/>
        </p:nvSpPr>
        <p:spPr>
          <a:xfrm>
            <a:off x="5398948" y="3366980"/>
            <a:ext cx="106235" cy="95556"/>
          </a:xfrm>
          <a:custGeom>
            <a:avLst/>
            <a:gdLst/>
            <a:ahLst/>
            <a:cxnLst/>
            <a:rect l="l" t="t" r="r" b="b"/>
            <a:pathLst>
              <a:path w="120014" h="107950">
                <a:moveTo>
                  <a:pt x="119423" y="0"/>
                </a:moveTo>
                <a:lnTo>
                  <a:pt x="107481" y="0"/>
                </a:lnTo>
                <a:lnTo>
                  <a:pt x="0" y="94043"/>
                </a:lnTo>
                <a:lnTo>
                  <a:pt x="0" y="107477"/>
                </a:lnTo>
                <a:lnTo>
                  <a:pt x="11943" y="107477"/>
                </a:lnTo>
                <a:lnTo>
                  <a:pt x="119423" y="13435"/>
                </a:lnTo>
                <a:lnTo>
                  <a:pt x="119423" y="0"/>
                </a:lnTo>
                <a:close/>
              </a:path>
            </a:pathLst>
          </a:custGeom>
          <a:solidFill>
            <a:srgbClr val="000000"/>
          </a:solidFill>
        </p:spPr>
        <p:txBody>
          <a:bodyPr wrap="square" lIns="0" tIns="0" rIns="0" bIns="0" rtlCol="0"/>
          <a:lstStyle/>
          <a:p>
            <a:endParaRPr sz="1593"/>
          </a:p>
        </p:txBody>
      </p:sp>
      <p:sp>
        <p:nvSpPr>
          <p:cNvPr id="654" name="object 654"/>
          <p:cNvSpPr/>
          <p:nvPr/>
        </p:nvSpPr>
        <p:spPr>
          <a:xfrm>
            <a:off x="5404234" y="345022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55" name="object 655"/>
          <p:cNvSpPr/>
          <p:nvPr/>
        </p:nvSpPr>
        <p:spPr>
          <a:xfrm>
            <a:off x="5293237" y="3450226"/>
            <a:ext cx="116353" cy="83752"/>
          </a:xfrm>
          <a:custGeom>
            <a:avLst/>
            <a:gdLst/>
            <a:ahLst/>
            <a:cxnLst/>
            <a:rect l="l" t="t" r="r" b="b"/>
            <a:pathLst>
              <a:path w="131445" h="94614">
                <a:moveTo>
                  <a:pt x="131366" y="0"/>
                </a:moveTo>
                <a:lnTo>
                  <a:pt x="119423" y="0"/>
                </a:lnTo>
                <a:lnTo>
                  <a:pt x="0" y="80608"/>
                </a:lnTo>
                <a:lnTo>
                  <a:pt x="0" y="94042"/>
                </a:lnTo>
                <a:lnTo>
                  <a:pt x="11943" y="94042"/>
                </a:lnTo>
                <a:lnTo>
                  <a:pt x="131366" y="13434"/>
                </a:lnTo>
                <a:lnTo>
                  <a:pt x="131366" y="0"/>
                </a:lnTo>
                <a:close/>
              </a:path>
            </a:pathLst>
          </a:custGeom>
          <a:solidFill>
            <a:srgbClr val="000000"/>
          </a:solidFill>
        </p:spPr>
        <p:txBody>
          <a:bodyPr wrap="square" lIns="0" tIns="0" rIns="0" bIns="0" rtlCol="0"/>
          <a:lstStyle/>
          <a:p>
            <a:endParaRPr sz="1593"/>
          </a:p>
        </p:txBody>
      </p:sp>
      <p:sp>
        <p:nvSpPr>
          <p:cNvPr id="656" name="object 656"/>
          <p:cNvSpPr/>
          <p:nvPr/>
        </p:nvSpPr>
        <p:spPr>
          <a:xfrm>
            <a:off x="5298522" y="352157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57" name="object 657"/>
          <p:cNvSpPr/>
          <p:nvPr/>
        </p:nvSpPr>
        <p:spPr>
          <a:xfrm>
            <a:off x="5176954" y="3521580"/>
            <a:ext cx="127033" cy="47778"/>
          </a:xfrm>
          <a:custGeom>
            <a:avLst/>
            <a:gdLst/>
            <a:ahLst/>
            <a:cxnLst/>
            <a:rect l="l" t="t" r="r" b="b"/>
            <a:pathLst>
              <a:path w="143510" h="53975">
                <a:moveTo>
                  <a:pt x="143308" y="0"/>
                </a:moveTo>
                <a:lnTo>
                  <a:pt x="131364" y="0"/>
                </a:lnTo>
                <a:lnTo>
                  <a:pt x="0" y="40303"/>
                </a:lnTo>
                <a:lnTo>
                  <a:pt x="0" y="53738"/>
                </a:lnTo>
                <a:lnTo>
                  <a:pt x="11941" y="53738"/>
                </a:lnTo>
                <a:lnTo>
                  <a:pt x="143308" y="13434"/>
                </a:lnTo>
                <a:lnTo>
                  <a:pt x="143308" y="0"/>
                </a:lnTo>
                <a:close/>
              </a:path>
            </a:pathLst>
          </a:custGeom>
          <a:solidFill>
            <a:srgbClr val="000000"/>
          </a:solidFill>
        </p:spPr>
        <p:txBody>
          <a:bodyPr wrap="square" lIns="0" tIns="0" rIns="0" bIns="0" rtlCol="0"/>
          <a:lstStyle/>
          <a:p>
            <a:endParaRPr sz="1593"/>
          </a:p>
        </p:txBody>
      </p:sp>
      <p:sp>
        <p:nvSpPr>
          <p:cNvPr id="658" name="object 658"/>
          <p:cNvSpPr/>
          <p:nvPr/>
        </p:nvSpPr>
        <p:spPr>
          <a:xfrm>
            <a:off x="5182239" y="355725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59" name="object 659"/>
          <p:cNvSpPr/>
          <p:nvPr/>
        </p:nvSpPr>
        <p:spPr>
          <a:xfrm>
            <a:off x="5060670" y="3557256"/>
            <a:ext cx="127033" cy="24170"/>
          </a:xfrm>
          <a:custGeom>
            <a:avLst/>
            <a:gdLst/>
            <a:ahLst/>
            <a:cxnLst/>
            <a:rect l="l" t="t" r="r" b="b"/>
            <a:pathLst>
              <a:path w="143510" h="27304">
                <a:moveTo>
                  <a:pt x="143308" y="0"/>
                </a:moveTo>
                <a:lnTo>
                  <a:pt x="131366" y="0"/>
                </a:lnTo>
                <a:lnTo>
                  <a:pt x="0" y="13435"/>
                </a:lnTo>
                <a:lnTo>
                  <a:pt x="0" y="26869"/>
                </a:lnTo>
                <a:lnTo>
                  <a:pt x="11943" y="26869"/>
                </a:lnTo>
                <a:lnTo>
                  <a:pt x="143308" y="13435"/>
                </a:lnTo>
                <a:lnTo>
                  <a:pt x="143308" y="0"/>
                </a:lnTo>
                <a:close/>
              </a:path>
            </a:pathLst>
          </a:custGeom>
          <a:solidFill>
            <a:srgbClr val="000000"/>
          </a:solidFill>
        </p:spPr>
        <p:txBody>
          <a:bodyPr wrap="square" lIns="0" tIns="0" rIns="0" bIns="0" rtlCol="0"/>
          <a:lstStyle/>
          <a:p>
            <a:endParaRPr sz="1593"/>
          </a:p>
        </p:txBody>
      </p:sp>
      <p:sp>
        <p:nvSpPr>
          <p:cNvPr id="660" name="object 660"/>
          <p:cNvSpPr/>
          <p:nvPr/>
        </p:nvSpPr>
        <p:spPr>
          <a:xfrm>
            <a:off x="5060671" y="356914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61" name="object 661"/>
          <p:cNvSpPr/>
          <p:nvPr/>
        </p:nvSpPr>
        <p:spPr>
          <a:xfrm>
            <a:off x="5060671" y="356914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62" name="object 662"/>
          <p:cNvSpPr/>
          <p:nvPr/>
        </p:nvSpPr>
        <p:spPr>
          <a:xfrm>
            <a:off x="5060671" y="3569147"/>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63" name="object 663"/>
          <p:cNvSpPr/>
          <p:nvPr/>
        </p:nvSpPr>
        <p:spPr>
          <a:xfrm>
            <a:off x="4933817" y="3557256"/>
            <a:ext cx="137713" cy="24170"/>
          </a:xfrm>
          <a:custGeom>
            <a:avLst/>
            <a:gdLst/>
            <a:ahLst/>
            <a:cxnLst/>
            <a:rect l="l" t="t" r="r" b="b"/>
            <a:pathLst>
              <a:path w="155575" h="27304">
                <a:moveTo>
                  <a:pt x="11943" y="0"/>
                </a:moveTo>
                <a:lnTo>
                  <a:pt x="0" y="0"/>
                </a:lnTo>
                <a:lnTo>
                  <a:pt x="0" y="13435"/>
                </a:lnTo>
                <a:lnTo>
                  <a:pt x="143308" y="26869"/>
                </a:lnTo>
                <a:lnTo>
                  <a:pt x="155251" y="26869"/>
                </a:lnTo>
                <a:lnTo>
                  <a:pt x="155251" y="13435"/>
                </a:lnTo>
                <a:lnTo>
                  <a:pt x="11943" y="0"/>
                </a:lnTo>
                <a:close/>
              </a:path>
            </a:pathLst>
          </a:custGeom>
          <a:solidFill>
            <a:srgbClr val="000000"/>
          </a:solidFill>
        </p:spPr>
        <p:txBody>
          <a:bodyPr wrap="square" lIns="0" tIns="0" rIns="0" bIns="0" rtlCol="0"/>
          <a:lstStyle/>
          <a:p>
            <a:endParaRPr sz="1593"/>
          </a:p>
        </p:txBody>
      </p:sp>
      <p:sp>
        <p:nvSpPr>
          <p:cNvPr id="664" name="object 664"/>
          <p:cNvSpPr/>
          <p:nvPr/>
        </p:nvSpPr>
        <p:spPr>
          <a:xfrm>
            <a:off x="4939102" y="355725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65" name="object 665"/>
          <p:cNvSpPr/>
          <p:nvPr/>
        </p:nvSpPr>
        <p:spPr>
          <a:xfrm>
            <a:off x="4817534" y="3521580"/>
            <a:ext cx="127033" cy="47778"/>
          </a:xfrm>
          <a:custGeom>
            <a:avLst/>
            <a:gdLst/>
            <a:ahLst/>
            <a:cxnLst/>
            <a:rect l="l" t="t" r="r" b="b"/>
            <a:pathLst>
              <a:path w="143510" h="53975">
                <a:moveTo>
                  <a:pt x="11941" y="0"/>
                </a:moveTo>
                <a:lnTo>
                  <a:pt x="0" y="0"/>
                </a:lnTo>
                <a:lnTo>
                  <a:pt x="0" y="13434"/>
                </a:lnTo>
                <a:lnTo>
                  <a:pt x="131364" y="53738"/>
                </a:lnTo>
                <a:lnTo>
                  <a:pt x="143308" y="53738"/>
                </a:lnTo>
                <a:lnTo>
                  <a:pt x="143308" y="40303"/>
                </a:lnTo>
                <a:lnTo>
                  <a:pt x="11941" y="0"/>
                </a:lnTo>
                <a:close/>
              </a:path>
            </a:pathLst>
          </a:custGeom>
          <a:solidFill>
            <a:srgbClr val="000000"/>
          </a:solidFill>
        </p:spPr>
        <p:txBody>
          <a:bodyPr wrap="square" lIns="0" tIns="0" rIns="0" bIns="0" rtlCol="0"/>
          <a:lstStyle/>
          <a:p>
            <a:endParaRPr sz="1593"/>
          </a:p>
        </p:txBody>
      </p:sp>
      <p:sp>
        <p:nvSpPr>
          <p:cNvPr id="666" name="object 666"/>
          <p:cNvSpPr/>
          <p:nvPr/>
        </p:nvSpPr>
        <p:spPr>
          <a:xfrm>
            <a:off x="4822819" y="352157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67" name="object 667"/>
          <p:cNvSpPr/>
          <p:nvPr/>
        </p:nvSpPr>
        <p:spPr>
          <a:xfrm>
            <a:off x="4711823" y="3450226"/>
            <a:ext cx="116353" cy="83752"/>
          </a:xfrm>
          <a:custGeom>
            <a:avLst/>
            <a:gdLst/>
            <a:ahLst/>
            <a:cxnLst/>
            <a:rect l="l" t="t" r="r" b="b"/>
            <a:pathLst>
              <a:path w="131445" h="94614">
                <a:moveTo>
                  <a:pt x="11941" y="0"/>
                </a:moveTo>
                <a:lnTo>
                  <a:pt x="0" y="0"/>
                </a:lnTo>
                <a:lnTo>
                  <a:pt x="0" y="13434"/>
                </a:lnTo>
                <a:lnTo>
                  <a:pt x="119423" y="94042"/>
                </a:lnTo>
                <a:lnTo>
                  <a:pt x="131364" y="94042"/>
                </a:lnTo>
                <a:lnTo>
                  <a:pt x="131364" y="80608"/>
                </a:lnTo>
                <a:lnTo>
                  <a:pt x="11941" y="0"/>
                </a:lnTo>
                <a:close/>
              </a:path>
            </a:pathLst>
          </a:custGeom>
          <a:solidFill>
            <a:srgbClr val="000000"/>
          </a:solidFill>
        </p:spPr>
        <p:txBody>
          <a:bodyPr wrap="square" lIns="0" tIns="0" rIns="0" bIns="0" rtlCol="0"/>
          <a:lstStyle/>
          <a:p>
            <a:endParaRPr sz="1593"/>
          </a:p>
        </p:txBody>
      </p:sp>
      <p:sp>
        <p:nvSpPr>
          <p:cNvPr id="668" name="object 668"/>
          <p:cNvSpPr/>
          <p:nvPr/>
        </p:nvSpPr>
        <p:spPr>
          <a:xfrm>
            <a:off x="4717108" y="345022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69" name="object 669"/>
          <p:cNvSpPr/>
          <p:nvPr/>
        </p:nvSpPr>
        <p:spPr>
          <a:xfrm>
            <a:off x="4627252" y="3366980"/>
            <a:ext cx="95556" cy="95556"/>
          </a:xfrm>
          <a:custGeom>
            <a:avLst/>
            <a:gdLst/>
            <a:ahLst/>
            <a:cxnLst/>
            <a:rect l="l" t="t" r="r" b="b"/>
            <a:pathLst>
              <a:path w="107950" h="107950">
                <a:moveTo>
                  <a:pt x="11943" y="0"/>
                </a:moveTo>
                <a:lnTo>
                  <a:pt x="0" y="0"/>
                </a:lnTo>
                <a:lnTo>
                  <a:pt x="0" y="13435"/>
                </a:lnTo>
                <a:lnTo>
                  <a:pt x="95539" y="107477"/>
                </a:lnTo>
                <a:lnTo>
                  <a:pt x="107481" y="107477"/>
                </a:lnTo>
                <a:lnTo>
                  <a:pt x="107481" y="94043"/>
                </a:lnTo>
                <a:lnTo>
                  <a:pt x="11943" y="0"/>
                </a:lnTo>
                <a:close/>
              </a:path>
            </a:pathLst>
          </a:custGeom>
          <a:solidFill>
            <a:srgbClr val="000000"/>
          </a:solidFill>
        </p:spPr>
        <p:txBody>
          <a:bodyPr wrap="square" lIns="0" tIns="0" rIns="0" bIns="0" rtlCol="0"/>
          <a:lstStyle/>
          <a:p>
            <a:endParaRPr sz="1593"/>
          </a:p>
        </p:txBody>
      </p:sp>
      <p:sp>
        <p:nvSpPr>
          <p:cNvPr id="670" name="object 670"/>
          <p:cNvSpPr/>
          <p:nvPr/>
        </p:nvSpPr>
        <p:spPr>
          <a:xfrm>
            <a:off x="4542683" y="3271843"/>
            <a:ext cx="95556" cy="107360"/>
          </a:xfrm>
          <a:custGeom>
            <a:avLst/>
            <a:gdLst/>
            <a:ahLst/>
            <a:cxnLst/>
            <a:rect l="l" t="t" r="r" b="b"/>
            <a:pathLst>
              <a:path w="107950" h="121285">
                <a:moveTo>
                  <a:pt x="11943" y="0"/>
                </a:moveTo>
                <a:lnTo>
                  <a:pt x="0" y="0"/>
                </a:lnTo>
                <a:lnTo>
                  <a:pt x="0" y="13435"/>
                </a:lnTo>
                <a:lnTo>
                  <a:pt x="95538" y="120912"/>
                </a:lnTo>
                <a:lnTo>
                  <a:pt x="107481" y="120912"/>
                </a:lnTo>
                <a:lnTo>
                  <a:pt x="107481" y="107477"/>
                </a:lnTo>
                <a:lnTo>
                  <a:pt x="11943" y="0"/>
                </a:lnTo>
                <a:close/>
              </a:path>
            </a:pathLst>
          </a:custGeom>
          <a:solidFill>
            <a:srgbClr val="000000"/>
          </a:solidFill>
        </p:spPr>
        <p:txBody>
          <a:bodyPr wrap="square" lIns="0" tIns="0" rIns="0" bIns="0" rtlCol="0"/>
          <a:lstStyle/>
          <a:p>
            <a:endParaRPr sz="1593"/>
          </a:p>
        </p:txBody>
      </p:sp>
      <p:sp>
        <p:nvSpPr>
          <p:cNvPr id="671" name="object 671"/>
          <p:cNvSpPr/>
          <p:nvPr/>
        </p:nvSpPr>
        <p:spPr>
          <a:xfrm>
            <a:off x="4547969" y="327184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72" name="object 672"/>
          <p:cNvSpPr/>
          <p:nvPr/>
        </p:nvSpPr>
        <p:spPr>
          <a:xfrm>
            <a:off x="4489828" y="3152921"/>
            <a:ext cx="63516" cy="130968"/>
          </a:xfrm>
          <a:custGeom>
            <a:avLst/>
            <a:gdLst/>
            <a:ahLst/>
            <a:cxnLst/>
            <a:rect l="l" t="t" r="r" b="b"/>
            <a:pathLst>
              <a:path w="71754" h="147954">
                <a:moveTo>
                  <a:pt x="11943" y="0"/>
                </a:moveTo>
                <a:lnTo>
                  <a:pt x="0" y="0"/>
                </a:lnTo>
                <a:lnTo>
                  <a:pt x="0" y="13434"/>
                </a:lnTo>
                <a:lnTo>
                  <a:pt x="59711" y="147782"/>
                </a:lnTo>
                <a:lnTo>
                  <a:pt x="71654" y="147782"/>
                </a:lnTo>
                <a:lnTo>
                  <a:pt x="71654" y="134346"/>
                </a:lnTo>
                <a:lnTo>
                  <a:pt x="11943" y="0"/>
                </a:lnTo>
                <a:close/>
              </a:path>
            </a:pathLst>
          </a:custGeom>
          <a:solidFill>
            <a:srgbClr val="000000"/>
          </a:solidFill>
        </p:spPr>
        <p:txBody>
          <a:bodyPr wrap="square" lIns="0" tIns="0" rIns="0" bIns="0" rtlCol="0"/>
          <a:lstStyle/>
          <a:p>
            <a:endParaRPr sz="1593"/>
          </a:p>
        </p:txBody>
      </p:sp>
      <p:sp>
        <p:nvSpPr>
          <p:cNvPr id="673" name="object 673"/>
          <p:cNvSpPr/>
          <p:nvPr/>
        </p:nvSpPr>
        <p:spPr>
          <a:xfrm>
            <a:off x="4495113" y="315292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74" name="object 674"/>
          <p:cNvSpPr/>
          <p:nvPr/>
        </p:nvSpPr>
        <p:spPr>
          <a:xfrm>
            <a:off x="4458114" y="3022106"/>
            <a:ext cx="42719" cy="142772"/>
          </a:xfrm>
          <a:custGeom>
            <a:avLst/>
            <a:gdLst/>
            <a:ahLst/>
            <a:cxnLst/>
            <a:rect l="l" t="t" r="r" b="b"/>
            <a:pathLst>
              <a:path w="48260" h="161289">
                <a:moveTo>
                  <a:pt x="11941" y="0"/>
                </a:moveTo>
                <a:lnTo>
                  <a:pt x="0" y="0"/>
                </a:lnTo>
                <a:lnTo>
                  <a:pt x="0" y="13435"/>
                </a:lnTo>
                <a:lnTo>
                  <a:pt x="35826" y="161216"/>
                </a:lnTo>
                <a:lnTo>
                  <a:pt x="47769" y="161216"/>
                </a:lnTo>
                <a:lnTo>
                  <a:pt x="47769" y="147782"/>
                </a:lnTo>
                <a:lnTo>
                  <a:pt x="11941" y="0"/>
                </a:lnTo>
                <a:close/>
              </a:path>
            </a:pathLst>
          </a:custGeom>
          <a:solidFill>
            <a:srgbClr val="000000"/>
          </a:solidFill>
        </p:spPr>
        <p:txBody>
          <a:bodyPr wrap="square" lIns="0" tIns="0" rIns="0" bIns="0" rtlCol="0"/>
          <a:lstStyle/>
          <a:p>
            <a:endParaRPr sz="1593"/>
          </a:p>
        </p:txBody>
      </p:sp>
      <p:sp>
        <p:nvSpPr>
          <p:cNvPr id="675" name="object 675"/>
          <p:cNvSpPr/>
          <p:nvPr/>
        </p:nvSpPr>
        <p:spPr>
          <a:xfrm>
            <a:off x="4463400" y="302210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676" name="object 676"/>
          <p:cNvSpPr/>
          <p:nvPr/>
        </p:nvSpPr>
        <p:spPr>
          <a:xfrm>
            <a:off x="4436972" y="2891293"/>
            <a:ext cx="32039" cy="142772"/>
          </a:xfrm>
          <a:custGeom>
            <a:avLst/>
            <a:gdLst/>
            <a:ahLst/>
            <a:cxnLst/>
            <a:rect l="l" t="t" r="r" b="b"/>
            <a:pathLst>
              <a:path w="36195" h="161289">
                <a:moveTo>
                  <a:pt x="11943" y="0"/>
                </a:moveTo>
                <a:lnTo>
                  <a:pt x="0" y="0"/>
                </a:lnTo>
                <a:lnTo>
                  <a:pt x="0" y="13434"/>
                </a:lnTo>
                <a:lnTo>
                  <a:pt x="23884" y="161216"/>
                </a:lnTo>
                <a:lnTo>
                  <a:pt x="35826" y="161216"/>
                </a:lnTo>
                <a:lnTo>
                  <a:pt x="35826" y="147781"/>
                </a:lnTo>
                <a:lnTo>
                  <a:pt x="11943" y="0"/>
                </a:lnTo>
                <a:close/>
              </a:path>
            </a:pathLst>
          </a:custGeom>
          <a:solidFill>
            <a:srgbClr val="000000"/>
          </a:solidFill>
        </p:spPr>
        <p:txBody>
          <a:bodyPr wrap="square" lIns="0" tIns="0" rIns="0" bIns="0" rtlCol="0"/>
          <a:lstStyle/>
          <a:p>
            <a:endParaRPr sz="1593"/>
          </a:p>
        </p:txBody>
      </p:sp>
      <p:sp>
        <p:nvSpPr>
          <p:cNvPr id="677" name="object 677"/>
          <p:cNvSpPr/>
          <p:nvPr/>
        </p:nvSpPr>
        <p:spPr>
          <a:xfrm>
            <a:off x="4436972" y="289129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78" name="object 678"/>
          <p:cNvSpPr/>
          <p:nvPr/>
        </p:nvSpPr>
        <p:spPr>
          <a:xfrm>
            <a:off x="4436972" y="289129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79" name="object 679"/>
          <p:cNvSpPr/>
          <p:nvPr/>
        </p:nvSpPr>
        <p:spPr>
          <a:xfrm>
            <a:off x="4436972" y="2891292"/>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80" name="object 680"/>
          <p:cNvSpPr/>
          <p:nvPr/>
        </p:nvSpPr>
        <p:spPr>
          <a:xfrm>
            <a:off x="4436972" y="2760477"/>
            <a:ext cx="32039" cy="142772"/>
          </a:xfrm>
          <a:custGeom>
            <a:avLst/>
            <a:gdLst/>
            <a:ahLst/>
            <a:cxnLst/>
            <a:rect l="l" t="t" r="r" b="b"/>
            <a:pathLst>
              <a:path w="36195" h="161289">
                <a:moveTo>
                  <a:pt x="35826" y="0"/>
                </a:moveTo>
                <a:lnTo>
                  <a:pt x="23884" y="0"/>
                </a:lnTo>
                <a:lnTo>
                  <a:pt x="0" y="147782"/>
                </a:lnTo>
                <a:lnTo>
                  <a:pt x="0" y="161216"/>
                </a:lnTo>
                <a:lnTo>
                  <a:pt x="11943" y="161216"/>
                </a:lnTo>
                <a:lnTo>
                  <a:pt x="35826" y="13434"/>
                </a:lnTo>
                <a:lnTo>
                  <a:pt x="35826" y="0"/>
                </a:lnTo>
                <a:close/>
              </a:path>
            </a:pathLst>
          </a:custGeom>
          <a:solidFill>
            <a:srgbClr val="000000"/>
          </a:solidFill>
        </p:spPr>
        <p:txBody>
          <a:bodyPr wrap="square" lIns="0" tIns="0" rIns="0" bIns="0" rtlCol="0"/>
          <a:lstStyle/>
          <a:p>
            <a:endParaRPr sz="1593"/>
          </a:p>
        </p:txBody>
      </p:sp>
      <p:sp>
        <p:nvSpPr>
          <p:cNvPr id="681" name="object 681"/>
          <p:cNvSpPr/>
          <p:nvPr/>
        </p:nvSpPr>
        <p:spPr>
          <a:xfrm>
            <a:off x="4463400" y="276047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82" name="object 682"/>
          <p:cNvSpPr/>
          <p:nvPr/>
        </p:nvSpPr>
        <p:spPr>
          <a:xfrm>
            <a:off x="4458114" y="2629663"/>
            <a:ext cx="42719" cy="142772"/>
          </a:xfrm>
          <a:custGeom>
            <a:avLst/>
            <a:gdLst/>
            <a:ahLst/>
            <a:cxnLst/>
            <a:rect l="l" t="t" r="r" b="b"/>
            <a:pathLst>
              <a:path w="48260" h="161289">
                <a:moveTo>
                  <a:pt x="47769" y="0"/>
                </a:moveTo>
                <a:lnTo>
                  <a:pt x="35826" y="0"/>
                </a:lnTo>
                <a:lnTo>
                  <a:pt x="0" y="147782"/>
                </a:lnTo>
                <a:lnTo>
                  <a:pt x="0" y="161216"/>
                </a:lnTo>
                <a:lnTo>
                  <a:pt x="11941" y="161216"/>
                </a:lnTo>
                <a:lnTo>
                  <a:pt x="47769" y="13435"/>
                </a:lnTo>
                <a:lnTo>
                  <a:pt x="47769" y="0"/>
                </a:lnTo>
                <a:close/>
              </a:path>
            </a:pathLst>
          </a:custGeom>
          <a:solidFill>
            <a:srgbClr val="000000"/>
          </a:solidFill>
        </p:spPr>
        <p:txBody>
          <a:bodyPr wrap="square" lIns="0" tIns="0" rIns="0" bIns="0" rtlCol="0"/>
          <a:lstStyle/>
          <a:p>
            <a:endParaRPr sz="1593"/>
          </a:p>
        </p:txBody>
      </p:sp>
      <p:sp>
        <p:nvSpPr>
          <p:cNvPr id="683" name="object 683"/>
          <p:cNvSpPr/>
          <p:nvPr/>
        </p:nvSpPr>
        <p:spPr>
          <a:xfrm>
            <a:off x="4495113" y="262966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84" name="object 684"/>
          <p:cNvSpPr/>
          <p:nvPr/>
        </p:nvSpPr>
        <p:spPr>
          <a:xfrm>
            <a:off x="4489828" y="2510741"/>
            <a:ext cx="63516" cy="130968"/>
          </a:xfrm>
          <a:custGeom>
            <a:avLst/>
            <a:gdLst/>
            <a:ahLst/>
            <a:cxnLst/>
            <a:rect l="l" t="t" r="r" b="b"/>
            <a:pathLst>
              <a:path w="71754" h="147955">
                <a:moveTo>
                  <a:pt x="71654" y="0"/>
                </a:moveTo>
                <a:lnTo>
                  <a:pt x="59711" y="0"/>
                </a:lnTo>
                <a:lnTo>
                  <a:pt x="0" y="134346"/>
                </a:lnTo>
                <a:lnTo>
                  <a:pt x="0" y="147782"/>
                </a:lnTo>
                <a:lnTo>
                  <a:pt x="11943" y="147782"/>
                </a:lnTo>
                <a:lnTo>
                  <a:pt x="71654" y="13435"/>
                </a:lnTo>
                <a:lnTo>
                  <a:pt x="71654" y="0"/>
                </a:lnTo>
                <a:close/>
              </a:path>
            </a:pathLst>
          </a:custGeom>
          <a:solidFill>
            <a:srgbClr val="000000"/>
          </a:solidFill>
        </p:spPr>
        <p:txBody>
          <a:bodyPr wrap="square" lIns="0" tIns="0" rIns="0" bIns="0" rtlCol="0"/>
          <a:lstStyle/>
          <a:p>
            <a:endParaRPr sz="1593"/>
          </a:p>
        </p:txBody>
      </p:sp>
      <p:sp>
        <p:nvSpPr>
          <p:cNvPr id="685" name="object 685"/>
          <p:cNvSpPr/>
          <p:nvPr/>
        </p:nvSpPr>
        <p:spPr>
          <a:xfrm>
            <a:off x="4547969" y="251074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86" name="object 686"/>
          <p:cNvSpPr/>
          <p:nvPr/>
        </p:nvSpPr>
        <p:spPr>
          <a:xfrm>
            <a:off x="4542683" y="2415604"/>
            <a:ext cx="95556" cy="107360"/>
          </a:xfrm>
          <a:custGeom>
            <a:avLst/>
            <a:gdLst/>
            <a:ahLst/>
            <a:cxnLst/>
            <a:rect l="l" t="t" r="r" b="b"/>
            <a:pathLst>
              <a:path w="107950" h="121285">
                <a:moveTo>
                  <a:pt x="107481" y="0"/>
                </a:moveTo>
                <a:lnTo>
                  <a:pt x="95538" y="0"/>
                </a:lnTo>
                <a:lnTo>
                  <a:pt x="0" y="107477"/>
                </a:lnTo>
                <a:lnTo>
                  <a:pt x="0" y="120912"/>
                </a:lnTo>
                <a:lnTo>
                  <a:pt x="11943" y="120912"/>
                </a:lnTo>
                <a:lnTo>
                  <a:pt x="107481" y="13435"/>
                </a:lnTo>
                <a:lnTo>
                  <a:pt x="107481" y="0"/>
                </a:lnTo>
                <a:close/>
              </a:path>
            </a:pathLst>
          </a:custGeom>
          <a:solidFill>
            <a:srgbClr val="000000"/>
          </a:solidFill>
        </p:spPr>
        <p:txBody>
          <a:bodyPr wrap="square" lIns="0" tIns="0" rIns="0" bIns="0" rtlCol="0"/>
          <a:lstStyle/>
          <a:p>
            <a:endParaRPr sz="1593"/>
          </a:p>
        </p:txBody>
      </p:sp>
      <p:sp>
        <p:nvSpPr>
          <p:cNvPr id="687" name="object 687"/>
          <p:cNvSpPr/>
          <p:nvPr/>
        </p:nvSpPr>
        <p:spPr>
          <a:xfrm>
            <a:off x="4632538" y="241560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88" name="object 688"/>
          <p:cNvSpPr/>
          <p:nvPr/>
        </p:nvSpPr>
        <p:spPr>
          <a:xfrm>
            <a:off x="4627252" y="2332358"/>
            <a:ext cx="95556" cy="95556"/>
          </a:xfrm>
          <a:custGeom>
            <a:avLst/>
            <a:gdLst/>
            <a:ahLst/>
            <a:cxnLst/>
            <a:rect l="l" t="t" r="r" b="b"/>
            <a:pathLst>
              <a:path w="107950" h="107950">
                <a:moveTo>
                  <a:pt x="107481" y="0"/>
                </a:moveTo>
                <a:lnTo>
                  <a:pt x="95539" y="0"/>
                </a:lnTo>
                <a:lnTo>
                  <a:pt x="0" y="94042"/>
                </a:lnTo>
                <a:lnTo>
                  <a:pt x="0" y="107477"/>
                </a:lnTo>
                <a:lnTo>
                  <a:pt x="11943" y="107477"/>
                </a:lnTo>
                <a:lnTo>
                  <a:pt x="107481" y="13434"/>
                </a:lnTo>
                <a:lnTo>
                  <a:pt x="107481" y="0"/>
                </a:lnTo>
                <a:close/>
              </a:path>
            </a:pathLst>
          </a:custGeom>
          <a:solidFill>
            <a:srgbClr val="000000"/>
          </a:solidFill>
        </p:spPr>
        <p:txBody>
          <a:bodyPr wrap="square" lIns="0" tIns="0" rIns="0" bIns="0" rtlCol="0"/>
          <a:lstStyle/>
          <a:p>
            <a:endParaRPr sz="1593"/>
          </a:p>
        </p:txBody>
      </p:sp>
      <p:sp>
        <p:nvSpPr>
          <p:cNvPr id="689" name="object 689"/>
          <p:cNvSpPr/>
          <p:nvPr/>
        </p:nvSpPr>
        <p:spPr>
          <a:xfrm>
            <a:off x="4717108" y="233235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90" name="object 690"/>
          <p:cNvSpPr/>
          <p:nvPr/>
        </p:nvSpPr>
        <p:spPr>
          <a:xfrm>
            <a:off x="4711823" y="2272897"/>
            <a:ext cx="116353" cy="71386"/>
          </a:xfrm>
          <a:custGeom>
            <a:avLst/>
            <a:gdLst/>
            <a:ahLst/>
            <a:cxnLst/>
            <a:rect l="l" t="t" r="r" b="b"/>
            <a:pathLst>
              <a:path w="131445" h="80644">
                <a:moveTo>
                  <a:pt x="131364" y="0"/>
                </a:moveTo>
                <a:lnTo>
                  <a:pt x="119423" y="0"/>
                </a:lnTo>
                <a:lnTo>
                  <a:pt x="0" y="67174"/>
                </a:lnTo>
                <a:lnTo>
                  <a:pt x="0" y="80608"/>
                </a:lnTo>
                <a:lnTo>
                  <a:pt x="11941" y="80608"/>
                </a:lnTo>
                <a:lnTo>
                  <a:pt x="131364" y="13435"/>
                </a:lnTo>
                <a:lnTo>
                  <a:pt x="131364" y="0"/>
                </a:lnTo>
                <a:close/>
              </a:path>
            </a:pathLst>
          </a:custGeom>
          <a:solidFill>
            <a:srgbClr val="000000"/>
          </a:solidFill>
        </p:spPr>
        <p:txBody>
          <a:bodyPr wrap="square" lIns="0" tIns="0" rIns="0" bIns="0" rtlCol="0"/>
          <a:lstStyle/>
          <a:p>
            <a:endParaRPr sz="1593"/>
          </a:p>
        </p:txBody>
      </p:sp>
      <p:sp>
        <p:nvSpPr>
          <p:cNvPr id="691" name="object 691"/>
          <p:cNvSpPr/>
          <p:nvPr/>
        </p:nvSpPr>
        <p:spPr>
          <a:xfrm>
            <a:off x="4822819" y="227289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92" name="object 692"/>
          <p:cNvSpPr/>
          <p:nvPr/>
        </p:nvSpPr>
        <p:spPr>
          <a:xfrm>
            <a:off x="4817534" y="2225328"/>
            <a:ext cx="127033" cy="59582"/>
          </a:xfrm>
          <a:custGeom>
            <a:avLst/>
            <a:gdLst/>
            <a:ahLst/>
            <a:cxnLst/>
            <a:rect l="l" t="t" r="r" b="b"/>
            <a:pathLst>
              <a:path w="143510" h="67310">
                <a:moveTo>
                  <a:pt x="143308" y="0"/>
                </a:moveTo>
                <a:lnTo>
                  <a:pt x="131364" y="0"/>
                </a:lnTo>
                <a:lnTo>
                  <a:pt x="0" y="53738"/>
                </a:lnTo>
                <a:lnTo>
                  <a:pt x="0" y="67174"/>
                </a:lnTo>
                <a:lnTo>
                  <a:pt x="11941" y="67174"/>
                </a:lnTo>
                <a:lnTo>
                  <a:pt x="143308" y="13434"/>
                </a:lnTo>
                <a:lnTo>
                  <a:pt x="143308" y="0"/>
                </a:lnTo>
                <a:close/>
              </a:path>
            </a:pathLst>
          </a:custGeom>
          <a:solidFill>
            <a:srgbClr val="000000"/>
          </a:solidFill>
        </p:spPr>
        <p:txBody>
          <a:bodyPr wrap="square" lIns="0" tIns="0" rIns="0" bIns="0" rtlCol="0"/>
          <a:lstStyle/>
          <a:p>
            <a:endParaRPr sz="1593"/>
          </a:p>
        </p:txBody>
      </p:sp>
      <p:sp>
        <p:nvSpPr>
          <p:cNvPr id="693" name="object 693"/>
          <p:cNvSpPr/>
          <p:nvPr/>
        </p:nvSpPr>
        <p:spPr>
          <a:xfrm>
            <a:off x="4939102" y="222532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694" name="object 694"/>
          <p:cNvSpPr/>
          <p:nvPr/>
        </p:nvSpPr>
        <p:spPr>
          <a:xfrm>
            <a:off x="4933817" y="2213436"/>
            <a:ext cx="137713" cy="24170"/>
          </a:xfrm>
          <a:custGeom>
            <a:avLst/>
            <a:gdLst/>
            <a:ahLst/>
            <a:cxnLst/>
            <a:rect l="l" t="t" r="r" b="b"/>
            <a:pathLst>
              <a:path w="155575" h="27305">
                <a:moveTo>
                  <a:pt x="155251" y="0"/>
                </a:moveTo>
                <a:lnTo>
                  <a:pt x="143308" y="0"/>
                </a:lnTo>
                <a:lnTo>
                  <a:pt x="0" y="13435"/>
                </a:lnTo>
                <a:lnTo>
                  <a:pt x="0" y="26869"/>
                </a:lnTo>
                <a:lnTo>
                  <a:pt x="11943" y="26869"/>
                </a:lnTo>
                <a:lnTo>
                  <a:pt x="155251" y="13435"/>
                </a:lnTo>
                <a:lnTo>
                  <a:pt x="155251" y="0"/>
                </a:lnTo>
                <a:close/>
              </a:path>
            </a:pathLst>
          </a:custGeom>
          <a:solidFill>
            <a:srgbClr val="000000"/>
          </a:solidFill>
        </p:spPr>
        <p:txBody>
          <a:bodyPr wrap="square" lIns="0" tIns="0" rIns="0" bIns="0" rtlCol="0"/>
          <a:lstStyle/>
          <a:p>
            <a:endParaRPr sz="1593"/>
          </a:p>
        </p:txBody>
      </p:sp>
      <p:sp>
        <p:nvSpPr>
          <p:cNvPr id="695" name="object 695"/>
          <p:cNvSpPr/>
          <p:nvPr/>
        </p:nvSpPr>
        <p:spPr>
          <a:xfrm>
            <a:off x="5060671" y="221343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96" name="object 696"/>
          <p:cNvSpPr/>
          <p:nvPr/>
        </p:nvSpPr>
        <p:spPr>
          <a:xfrm>
            <a:off x="5060671" y="221343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97" name="object 697"/>
          <p:cNvSpPr/>
          <p:nvPr/>
        </p:nvSpPr>
        <p:spPr>
          <a:xfrm>
            <a:off x="5060671" y="221343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698" name="object 698"/>
          <p:cNvSpPr/>
          <p:nvPr/>
        </p:nvSpPr>
        <p:spPr>
          <a:xfrm>
            <a:off x="5060670" y="2213436"/>
            <a:ext cx="127033" cy="24170"/>
          </a:xfrm>
          <a:custGeom>
            <a:avLst/>
            <a:gdLst/>
            <a:ahLst/>
            <a:cxnLst/>
            <a:rect l="l" t="t" r="r" b="b"/>
            <a:pathLst>
              <a:path w="143510" h="27305">
                <a:moveTo>
                  <a:pt x="11943" y="0"/>
                </a:moveTo>
                <a:lnTo>
                  <a:pt x="0" y="0"/>
                </a:lnTo>
                <a:lnTo>
                  <a:pt x="0" y="13435"/>
                </a:lnTo>
                <a:lnTo>
                  <a:pt x="131366" y="26869"/>
                </a:lnTo>
                <a:lnTo>
                  <a:pt x="143308" y="26869"/>
                </a:lnTo>
                <a:lnTo>
                  <a:pt x="143308" y="13435"/>
                </a:lnTo>
                <a:lnTo>
                  <a:pt x="11943" y="0"/>
                </a:lnTo>
                <a:close/>
              </a:path>
            </a:pathLst>
          </a:custGeom>
          <a:solidFill>
            <a:srgbClr val="000000"/>
          </a:solidFill>
        </p:spPr>
        <p:txBody>
          <a:bodyPr wrap="square" lIns="0" tIns="0" rIns="0" bIns="0" rtlCol="0"/>
          <a:lstStyle/>
          <a:p>
            <a:endParaRPr sz="1593"/>
          </a:p>
        </p:txBody>
      </p:sp>
      <p:sp>
        <p:nvSpPr>
          <p:cNvPr id="699" name="object 699"/>
          <p:cNvSpPr/>
          <p:nvPr/>
        </p:nvSpPr>
        <p:spPr>
          <a:xfrm>
            <a:off x="5182239" y="222532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00" name="object 700"/>
          <p:cNvSpPr/>
          <p:nvPr/>
        </p:nvSpPr>
        <p:spPr>
          <a:xfrm>
            <a:off x="5176954" y="2225328"/>
            <a:ext cx="127033" cy="59582"/>
          </a:xfrm>
          <a:custGeom>
            <a:avLst/>
            <a:gdLst/>
            <a:ahLst/>
            <a:cxnLst/>
            <a:rect l="l" t="t" r="r" b="b"/>
            <a:pathLst>
              <a:path w="143510" h="67310">
                <a:moveTo>
                  <a:pt x="11941" y="0"/>
                </a:moveTo>
                <a:lnTo>
                  <a:pt x="0" y="0"/>
                </a:lnTo>
                <a:lnTo>
                  <a:pt x="0" y="13434"/>
                </a:lnTo>
                <a:lnTo>
                  <a:pt x="131364" y="67174"/>
                </a:lnTo>
                <a:lnTo>
                  <a:pt x="143308" y="67174"/>
                </a:lnTo>
                <a:lnTo>
                  <a:pt x="143308" y="53738"/>
                </a:lnTo>
                <a:lnTo>
                  <a:pt x="11941" y="0"/>
                </a:lnTo>
                <a:close/>
              </a:path>
            </a:pathLst>
          </a:custGeom>
          <a:solidFill>
            <a:srgbClr val="000000"/>
          </a:solidFill>
        </p:spPr>
        <p:txBody>
          <a:bodyPr wrap="square" lIns="0" tIns="0" rIns="0" bIns="0" rtlCol="0"/>
          <a:lstStyle/>
          <a:p>
            <a:endParaRPr sz="1593"/>
          </a:p>
        </p:txBody>
      </p:sp>
      <p:sp>
        <p:nvSpPr>
          <p:cNvPr id="701" name="object 701"/>
          <p:cNvSpPr/>
          <p:nvPr/>
        </p:nvSpPr>
        <p:spPr>
          <a:xfrm>
            <a:off x="5298522" y="227289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02" name="object 702"/>
          <p:cNvSpPr/>
          <p:nvPr/>
        </p:nvSpPr>
        <p:spPr>
          <a:xfrm>
            <a:off x="5293237" y="2272897"/>
            <a:ext cx="116353" cy="71386"/>
          </a:xfrm>
          <a:custGeom>
            <a:avLst/>
            <a:gdLst/>
            <a:ahLst/>
            <a:cxnLst/>
            <a:rect l="l" t="t" r="r" b="b"/>
            <a:pathLst>
              <a:path w="131445" h="80644">
                <a:moveTo>
                  <a:pt x="11943" y="0"/>
                </a:moveTo>
                <a:lnTo>
                  <a:pt x="0" y="0"/>
                </a:lnTo>
                <a:lnTo>
                  <a:pt x="0" y="13435"/>
                </a:lnTo>
                <a:lnTo>
                  <a:pt x="119423" y="80608"/>
                </a:lnTo>
                <a:lnTo>
                  <a:pt x="131366" y="80608"/>
                </a:lnTo>
                <a:lnTo>
                  <a:pt x="131366" y="67174"/>
                </a:lnTo>
                <a:lnTo>
                  <a:pt x="11943" y="0"/>
                </a:lnTo>
                <a:close/>
              </a:path>
            </a:pathLst>
          </a:custGeom>
          <a:solidFill>
            <a:srgbClr val="000000"/>
          </a:solidFill>
        </p:spPr>
        <p:txBody>
          <a:bodyPr wrap="square" lIns="0" tIns="0" rIns="0" bIns="0" rtlCol="0"/>
          <a:lstStyle/>
          <a:p>
            <a:endParaRPr sz="1593"/>
          </a:p>
        </p:txBody>
      </p:sp>
      <p:sp>
        <p:nvSpPr>
          <p:cNvPr id="703" name="object 703"/>
          <p:cNvSpPr/>
          <p:nvPr/>
        </p:nvSpPr>
        <p:spPr>
          <a:xfrm>
            <a:off x="5404234" y="233235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04" name="object 704"/>
          <p:cNvSpPr/>
          <p:nvPr/>
        </p:nvSpPr>
        <p:spPr>
          <a:xfrm>
            <a:off x="5398948" y="2332358"/>
            <a:ext cx="106235" cy="95556"/>
          </a:xfrm>
          <a:custGeom>
            <a:avLst/>
            <a:gdLst/>
            <a:ahLst/>
            <a:cxnLst/>
            <a:rect l="l" t="t" r="r" b="b"/>
            <a:pathLst>
              <a:path w="120014" h="107950">
                <a:moveTo>
                  <a:pt x="11943" y="0"/>
                </a:moveTo>
                <a:lnTo>
                  <a:pt x="0" y="0"/>
                </a:lnTo>
                <a:lnTo>
                  <a:pt x="0" y="13434"/>
                </a:lnTo>
                <a:lnTo>
                  <a:pt x="107481" y="107477"/>
                </a:lnTo>
                <a:lnTo>
                  <a:pt x="119423" y="107477"/>
                </a:lnTo>
                <a:lnTo>
                  <a:pt x="119423" y="94042"/>
                </a:lnTo>
                <a:lnTo>
                  <a:pt x="11943" y="0"/>
                </a:lnTo>
                <a:close/>
              </a:path>
            </a:pathLst>
          </a:custGeom>
          <a:solidFill>
            <a:srgbClr val="000000"/>
          </a:solidFill>
        </p:spPr>
        <p:txBody>
          <a:bodyPr wrap="square" lIns="0" tIns="0" rIns="0" bIns="0" rtlCol="0"/>
          <a:lstStyle/>
          <a:p>
            <a:endParaRPr sz="1593"/>
          </a:p>
        </p:txBody>
      </p:sp>
      <p:sp>
        <p:nvSpPr>
          <p:cNvPr id="705" name="object 705"/>
          <p:cNvSpPr/>
          <p:nvPr/>
        </p:nvSpPr>
        <p:spPr>
          <a:xfrm>
            <a:off x="5499374" y="241560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06" name="object 706"/>
          <p:cNvSpPr/>
          <p:nvPr/>
        </p:nvSpPr>
        <p:spPr>
          <a:xfrm>
            <a:off x="5494089" y="2415604"/>
            <a:ext cx="84876" cy="107360"/>
          </a:xfrm>
          <a:custGeom>
            <a:avLst/>
            <a:gdLst/>
            <a:ahLst/>
            <a:cxnLst/>
            <a:rect l="l" t="t" r="r" b="b"/>
            <a:pathLst>
              <a:path w="95885" h="121285">
                <a:moveTo>
                  <a:pt x="11941" y="0"/>
                </a:moveTo>
                <a:lnTo>
                  <a:pt x="0" y="0"/>
                </a:lnTo>
                <a:lnTo>
                  <a:pt x="0" y="13435"/>
                </a:lnTo>
                <a:lnTo>
                  <a:pt x="83596" y="120912"/>
                </a:lnTo>
                <a:lnTo>
                  <a:pt x="95538" y="120912"/>
                </a:lnTo>
                <a:lnTo>
                  <a:pt x="95538" y="107477"/>
                </a:lnTo>
                <a:lnTo>
                  <a:pt x="11941" y="0"/>
                </a:lnTo>
                <a:close/>
              </a:path>
            </a:pathLst>
          </a:custGeom>
          <a:solidFill>
            <a:srgbClr val="000000"/>
          </a:solidFill>
        </p:spPr>
        <p:txBody>
          <a:bodyPr wrap="square" lIns="0" tIns="0" rIns="0" bIns="0" rtlCol="0"/>
          <a:lstStyle/>
          <a:p>
            <a:endParaRPr sz="1593"/>
          </a:p>
        </p:txBody>
      </p:sp>
      <p:sp>
        <p:nvSpPr>
          <p:cNvPr id="707" name="object 707"/>
          <p:cNvSpPr/>
          <p:nvPr/>
        </p:nvSpPr>
        <p:spPr>
          <a:xfrm>
            <a:off x="5573372" y="251074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08" name="object 708"/>
          <p:cNvSpPr/>
          <p:nvPr/>
        </p:nvSpPr>
        <p:spPr>
          <a:xfrm>
            <a:off x="5568089" y="2510741"/>
            <a:ext cx="63516" cy="130968"/>
          </a:xfrm>
          <a:custGeom>
            <a:avLst/>
            <a:gdLst/>
            <a:ahLst/>
            <a:cxnLst/>
            <a:rect l="l" t="t" r="r" b="b"/>
            <a:pathLst>
              <a:path w="71754" h="147955">
                <a:moveTo>
                  <a:pt x="11941" y="0"/>
                </a:moveTo>
                <a:lnTo>
                  <a:pt x="0" y="0"/>
                </a:lnTo>
                <a:lnTo>
                  <a:pt x="0" y="13435"/>
                </a:lnTo>
                <a:lnTo>
                  <a:pt x="59711" y="147782"/>
                </a:lnTo>
                <a:lnTo>
                  <a:pt x="71653" y="147782"/>
                </a:lnTo>
                <a:lnTo>
                  <a:pt x="71653" y="134346"/>
                </a:lnTo>
                <a:lnTo>
                  <a:pt x="11941" y="0"/>
                </a:lnTo>
                <a:close/>
              </a:path>
            </a:pathLst>
          </a:custGeom>
          <a:solidFill>
            <a:srgbClr val="000000"/>
          </a:solidFill>
        </p:spPr>
        <p:txBody>
          <a:bodyPr wrap="square" lIns="0" tIns="0" rIns="0" bIns="0" rtlCol="0"/>
          <a:lstStyle/>
          <a:p>
            <a:endParaRPr sz="1593"/>
          </a:p>
        </p:txBody>
      </p:sp>
      <p:sp>
        <p:nvSpPr>
          <p:cNvPr id="709" name="object 709"/>
          <p:cNvSpPr/>
          <p:nvPr/>
        </p:nvSpPr>
        <p:spPr>
          <a:xfrm>
            <a:off x="5626229" y="262966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10" name="object 710"/>
          <p:cNvSpPr/>
          <p:nvPr/>
        </p:nvSpPr>
        <p:spPr>
          <a:xfrm>
            <a:off x="5620943" y="2629663"/>
            <a:ext cx="53399" cy="142772"/>
          </a:xfrm>
          <a:custGeom>
            <a:avLst/>
            <a:gdLst/>
            <a:ahLst/>
            <a:cxnLst/>
            <a:rect l="l" t="t" r="r" b="b"/>
            <a:pathLst>
              <a:path w="60325" h="161289">
                <a:moveTo>
                  <a:pt x="11941" y="0"/>
                </a:moveTo>
                <a:lnTo>
                  <a:pt x="0" y="0"/>
                </a:lnTo>
                <a:lnTo>
                  <a:pt x="0" y="13435"/>
                </a:lnTo>
                <a:lnTo>
                  <a:pt x="47769" y="161216"/>
                </a:lnTo>
                <a:lnTo>
                  <a:pt x="59711" y="161216"/>
                </a:lnTo>
                <a:lnTo>
                  <a:pt x="59711" y="147782"/>
                </a:lnTo>
                <a:lnTo>
                  <a:pt x="11941" y="0"/>
                </a:lnTo>
                <a:close/>
              </a:path>
            </a:pathLst>
          </a:custGeom>
          <a:solidFill>
            <a:srgbClr val="000000"/>
          </a:solidFill>
        </p:spPr>
        <p:txBody>
          <a:bodyPr wrap="square" lIns="0" tIns="0" rIns="0" bIns="0" rtlCol="0"/>
          <a:lstStyle/>
          <a:p>
            <a:endParaRPr sz="1593"/>
          </a:p>
        </p:txBody>
      </p:sp>
      <p:sp>
        <p:nvSpPr>
          <p:cNvPr id="711" name="object 711"/>
          <p:cNvSpPr/>
          <p:nvPr/>
        </p:nvSpPr>
        <p:spPr>
          <a:xfrm>
            <a:off x="5668514" y="276047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12" name="object 712"/>
          <p:cNvSpPr/>
          <p:nvPr/>
        </p:nvSpPr>
        <p:spPr>
          <a:xfrm>
            <a:off x="5663228" y="2760477"/>
            <a:ext cx="21360" cy="142772"/>
          </a:xfrm>
          <a:custGeom>
            <a:avLst/>
            <a:gdLst/>
            <a:ahLst/>
            <a:cxnLst/>
            <a:rect l="l" t="t" r="r" b="b"/>
            <a:pathLst>
              <a:path w="24129" h="161289">
                <a:moveTo>
                  <a:pt x="11941" y="0"/>
                </a:moveTo>
                <a:lnTo>
                  <a:pt x="0" y="0"/>
                </a:lnTo>
                <a:lnTo>
                  <a:pt x="0" y="13434"/>
                </a:lnTo>
                <a:lnTo>
                  <a:pt x="11941" y="161216"/>
                </a:lnTo>
                <a:lnTo>
                  <a:pt x="23883" y="161216"/>
                </a:lnTo>
                <a:lnTo>
                  <a:pt x="23883" y="147782"/>
                </a:lnTo>
                <a:lnTo>
                  <a:pt x="11941" y="0"/>
                </a:lnTo>
                <a:close/>
              </a:path>
            </a:pathLst>
          </a:custGeom>
          <a:solidFill>
            <a:srgbClr val="000000"/>
          </a:solidFill>
        </p:spPr>
        <p:txBody>
          <a:bodyPr wrap="square" lIns="0" tIns="0" rIns="0" bIns="0" rtlCol="0"/>
          <a:lstStyle/>
          <a:p>
            <a:endParaRPr sz="1593"/>
          </a:p>
        </p:txBody>
      </p:sp>
      <p:sp>
        <p:nvSpPr>
          <p:cNvPr id="713" name="object 713"/>
          <p:cNvSpPr/>
          <p:nvPr/>
        </p:nvSpPr>
        <p:spPr>
          <a:xfrm>
            <a:off x="5679085" y="289129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14" name="object 714"/>
          <p:cNvSpPr/>
          <p:nvPr/>
        </p:nvSpPr>
        <p:spPr>
          <a:xfrm>
            <a:off x="4394686" y="2177760"/>
            <a:ext cx="1226486" cy="1355767"/>
          </a:xfrm>
          <a:custGeom>
            <a:avLst/>
            <a:gdLst/>
            <a:ahLst/>
            <a:cxnLst/>
            <a:rect l="l" t="t" r="r" b="b"/>
            <a:pathLst>
              <a:path w="1385570" h="1531620">
                <a:moveTo>
                  <a:pt x="692655" y="0"/>
                </a:moveTo>
                <a:lnTo>
                  <a:pt x="549347" y="13435"/>
                </a:lnTo>
                <a:lnTo>
                  <a:pt x="417982" y="67172"/>
                </a:lnTo>
                <a:lnTo>
                  <a:pt x="298559" y="134346"/>
                </a:lnTo>
                <a:lnTo>
                  <a:pt x="203019" y="228390"/>
                </a:lnTo>
                <a:lnTo>
                  <a:pt x="119424" y="335868"/>
                </a:lnTo>
                <a:lnTo>
                  <a:pt x="47769" y="470214"/>
                </a:lnTo>
                <a:lnTo>
                  <a:pt x="11943" y="617997"/>
                </a:lnTo>
                <a:lnTo>
                  <a:pt x="0" y="765778"/>
                </a:lnTo>
                <a:lnTo>
                  <a:pt x="11943" y="926994"/>
                </a:lnTo>
                <a:lnTo>
                  <a:pt x="47769" y="1061341"/>
                </a:lnTo>
                <a:lnTo>
                  <a:pt x="119424" y="1195689"/>
                </a:lnTo>
                <a:lnTo>
                  <a:pt x="203019" y="1303167"/>
                </a:lnTo>
                <a:lnTo>
                  <a:pt x="298559" y="1397209"/>
                </a:lnTo>
                <a:lnTo>
                  <a:pt x="417982" y="1477817"/>
                </a:lnTo>
                <a:lnTo>
                  <a:pt x="549347" y="1518122"/>
                </a:lnTo>
                <a:lnTo>
                  <a:pt x="692655" y="1531556"/>
                </a:lnTo>
                <a:lnTo>
                  <a:pt x="835963" y="1518122"/>
                </a:lnTo>
                <a:lnTo>
                  <a:pt x="967329" y="1477817"/>
                </a:lnTo>
                <a:lnTo>
                  <a:pt x="1074809" y="1397209"/>
                </a:lnTo>
                <a:lnTo>
                  <a:pt x="1182291" y="1303167"/>
                </a:lnTo>
                <a:lnTo>
                  <a:pt x="1265887" y="1195689"/>
                </a:lnTo>
                <a:lnTo>
                  <a:pt x="1337541" y="1061341"/>
                </a:lnTo>
                <a:lnTo>
                  <a:pt x="1373369" y="926994"/>
                </a:lnTo>
                <a:lnTo>
                  <a:pt x="1385310" y="765778"/>
                </a:lnTo>
                <a:lnTo>
                  <a:pt x="1373369" y="617997"/>
                </a:lnTo>
                <a:lnTo>
                  <a:pt x="1337541" y="470214"/>
                </a:lnTo>
                <a:lnTo>
                  <a:pt x="1265887" y="335868"/>
                </a:lnTo>
                <a:lnTo>
                  <a:pt x="1182291" y="228390"/>
                </a:lnTo>
                <a:lnTo>
                  <a:pt x="1074809" y="134346"/>
                </a:lnTo>
                <a:lnTo>
                  <a:pt x="967329" y="67172"/>
                </a:lnTo>
                <a:lnTo>
                  <a:pt x="835963" y="13435"/>
                </a:lnTo>
                <a:lnTo>
                  <a:pt x="692655" y="0"/>
                </a:lnTo>
                <a:close/>
              </a:path>
            </a:pathLst>
          </a:custGeom>
          <a:solidFill>
            <a:srgbClr val="DBDBDB"/>
          </a:solidFill>
        </p:spPr>
        <p:txBody>
          <a:bodyPr wrap="square" lIns="0" tIns="0" rIns="0" bIns="0" rtlCol="0"/>
          <a:lstStyle/>
          <a:p>
            <a:endParaRPr sz="1593"/>
          </a:p>
        </p:txBody>
      </p:sp>
      <p:sp>
        <p:nvSpPr>
          <p:cNvPr id="715" name="object 715"/>
          <p:cNvSpPr/>
          <p:nvPr/>
        </p:nvSpPr>
        <p:spPr>
          <a:xfrm>
            <a:off x="5610372" y="2855615"/>
            <a:ext cx="21360" cy="155138"/>
          </a:xfrm>
          <a:custGeom>
            <a:avLst/>
            <a:gdLst/>
            <a:ahLst/>
            <a:cxnLst/>
            <a:rect l="l" t="t" r="r" b="b"/>
            <a:pathLst>
              <a:path w="24129" h="175260">
                <a:moveTo>
                  <a:pt x="23883" y="0"/>
                </a:moveTo>
                <a:lnTo>
                  <a:pt x="11941" y="0"/>
                </a:lnTo>
                <a:lnTo>
                  <a:pt x="0" y="161216"/>
                </a:lnTo>
                <a:lnTo>
                  <a:pt x="0" y="174651"/>
                </a:lnTo>
                <a:lnTo>
                  <a:pt x="11941" y="174651"/>
                </a:lnTo>
                <a:lnTo>
                  <a:pt x="23883" y="13435"/>
                </a:lnTo>
                <a:lnTo>
                  <a:pt x="23883" y="0"/>
                </a:lnTo>
                <a:close/>
              </a:path>
            </a:pathLst>
          </a:custGeom>
          <a:solidFill>
            <a:srgbClr val="000000"/>
          </a:solidFill>
        </p:spPr>
        <p:txBody>
          <a:bodyPr wrap="square" lIns="0" tIns="0" rIns="0" bIns="0" rtlCol="0"/>
          <a:lstStyle/>
          <a:p>
            <a:endParaRPr sz="1593"/>
          </a:p>
        </p:txBody>
      </p:sp>
      <p:sp>
        <p:nvSpPr>
          <p:cNvPr id="716" name="object 716"/>
          <p:cNvSpPr/>
          <p:nvPr/>
        </p:nvSpPr>
        <p:spPr>
          <a:xfrm>
            <a:off x="5615658" y="299832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17" name="object 717"/>
          <p:cNvSpPr/>
          <p:nvPr/>
        </p:nvSpPr>
        <p:spPr>
          <a:xfrm>
            <a:off x="5578658" y="2998322"/>
            <a:ext cx="42719" cy="130968"/>
          </a:xfrm>
          <a:custGeom>
            <a:avLst/>
            <a:gdLst/>
            <a:ahLst/>
            <a:cxnLst/>
            <a:rect l="l" t="t" r="r" b="b"/>
            <a:pathLst>
              <a:path w="48260" h="147954">
                <a:moveTo>
                  <a:pt x="47769" y="0"/>
                </a:moveTo>
                <a:lnTo>
                  <a:pt x="35827" y="0"/>
                </a:lnTo>
                <a:lnTo>
                  <a:pt x="0" y="134346"/>
                </a:lnTo>
                <a:lnTo>
                  <a:pt x="0" y="147782"/>
                </a:lnTo>
                <a:lnTo>
                  <a:pt x="11943" y="147782"/>
                </a:lnTo>
                <a:lnTo>
                  <a:pt x="47769" y="13435"/>
                </a:lnTo>
                <a:lnTo>
                  <a:pt x="47769" y="0"/>
                </a:lnTo>
                <a:close/>
              </a:path>
            </a:pathLst>
          </a:custGeom>
          <a:solidFill>
            <a:srgbClr val="000000"/>
          </a:solidFill>
        </p:spPr>
        <p:txBody>
          <a:bodyPr wrap="square" lIns="0" tIns="0" rIns="0" bIns="0" rtlCol="0"/>
          <a:lstStyle/>
          <a:p>
            <a:endParaRPr sz="1593"/>
          </a:p>
        </p:txBody>
      </p:sp>
      <p:sp>
        <p:nvSpPr>
          <p:cNvPr id="718" name="object 718"/>
          <p:cNvSpPr/>
          <p:nvPr/>
        </p:nvSpPr>
        <p:spPr>
          <a:xfrm>
            <a:off x="5583944" y="311724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19" name="object 719"/>
          <p:cNvSpPr/>
          <p:nvPr/>
        </p:nvSpPr>
        <p:spPr>
          <a:xfrm>
            <a:off x="5515232" y="3117244"/>
            <a:ext cx="74196" cy="130968"/>
          </a:xfrm>
          <a:custGeom>
            <a:avLst/>
            <a:gdLst/>
            <a:ahLst/>
            <a:cxnLst/>
            <a:rect l="l" t="t" r="r" b="b"/>
            <a:pathLst>
              <a:path w="83820" h="147954">
                <a:moveTo>
                  <a:pt x="83596" y="0"/>
                </a:moveTo>
                <a:lnTo>
                  <a:pt x="71653" y="0"/>
                </a:lnTo>
                <a:lnTo>
                  <a:pt x="0" y="134348"/>
                </a:lnTo>
                <a:lnTo>
                  <a:pt x="0" y="147782"/>
                </a:lnTo>
                <a:lnTo>
                  <a:pt x="11941" y="147782"/>
                </a:lnTo>
                <a:lnTo>
                  <a:pt x="83596" y="13435"/>
                </a:lnTo>
                <a:lnTo>
                  <a:pt x="83596" y="0"/>
                </a:lnTo>
                <a:close/>
              </a:path>
            </a:pathLst>
          </a:custGeom>
          <a:solidFill>
            <a:srgbClr val="000000"/>
          </a:solidFill>
        </p:spPr>
        <p:txBody>
          <a:bodyPr wrap="square" lIns="0" tIns="0" rIns="0" bIns="0" rtlCol="0"/>
          <a:lstStyle/>
          <a:p>
            <a:endParaRPr sz="1593"/>
          </a:p>
        </p:txBody>
      </p:sp>
      <p:sp>
        <p:nvSpPr>
          <p:cNvPr id="720" name="object 720"/>
          <p:cNvSpPr/>
          <p:nvPr/>
        </p:nvSpPr>
        <p:spPr>
          <a:xfrm>
            <a:off x="5520517" y="323616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21" name="object 721"/>
          <p:cNvSpPr/>
          <p:nvPr/>
        </p:nvSpPr>
        <p:spPr>
          <a:xfrm>
            <a:off x="5441233" y="3236167"/>
            <a:ext cx="84876" cy="107360"/>
          </a:xfrm>
          <a:custGeom>
            <a:avLst/>
            <a:gdLst/>
            <a:ahLst/>
            <a:cxnLst/>
            <a:rect l="l" t="t" r="r" b="b"/>
            <a:pathLst>
              <a:path w="95885" h="121285">
                <a:moveTo>
                  <a:pt x="95538" y="0"/>
                </a:moveTo>
                <a:lnTo>
                  <a:pt x="83596" y="0"/>
                </a:lnTo>
                <a:lnTo>
                  <a:pt x="0" y="107477"/>
                </a:lnTo>
                <a:lnTo>
                  <a:pt x="0" y="120911"/>
                </a:lnTo>
                <a:lnTo>
                  <a:pt x="11941" y="120911"/>
                </a:lnTo>
                <a:lnTo>
                  <a:pt x="95538" y="13434"/>
                </a:lnTo>
                <a:lnTo>
                  <a:pt x="95538" y="0"/>
                </a:lnTo>
                <a:close/>
              </a:path>
            </a:pathLst>
          </a:custGeom>
          <a:solidFill>
            <a:srgbClr val="000000"/>
          </a:solidFill>
        </p:spPr>
        <p:txBody>
          <a:bodyPr wrap="square" lIns="0" tIns="0" rIns="0" bIns="0" rtlCol="0"/>
          <a:lstStyle/>
          <a:p>
            <a:endParaRPr sz="1593"/>
          </a:p>
        </p:txBody>
      </p:sp>
      <p:sp>
        <p:nvSpPr>
          <p:cNvPr id="722" name="object 722"/>
          <p:cNvSpPr/>
          <p:nvPr/>
        </p:nvSpPr>
        <p:spPr>
          <a:xfrm>
            <a:off x="5446519" y="33313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23" name="object 723"/>
          <p:cNvSpPr/>
          <p:nvPr/>
        </p:nvSpPr>
        <p:spPr>
          <a:xfrm>
            <a:off x="5346092" y="3331304"/>
            <a:ext cx="106235" cy="95556"/>
          </a:xfrm>
          <a:custGeom>
            <a:avLst/>
            <a:gdLst/>
            <a:ahLst/>
            <a:cxnLst/>
            <a:rect l="l" t="t" r="r" b="b"/>
            <a:pathLst>
              <a:path w="120014" h="107950">
                <a:moveTo>
                  <a:pt x="119423" y="0"/>
                </a:moveTo>
                <a:lnTo>
                  <a:pt x="107481" y="0"/>
                </a:lnTo>
                <a:lnTo>
                  <a:pt x="0" y="94042"/>
                </a:lnTo>
                <a:lnTo>
                  <a:pt x="0" y="107477"/>
                </a:lnTo>
                <a:lnTo>
                  <a:pt x="11943" y="107477"/>
                </a:lnTo>
                <a:lnTo>
                  <a:pt x="119423" y="13434"/>
                </a:lnTo>
                <a:lnTo>
                  <a:pt x="119423" y="0"/>
                </a:lnTo>
                <a:close/>
              </a:path>
            </a:pathLst>
          </a:custGeom>
          <a:solidFill>
            <a:srgbClr val="000000"/>
          </a:solidFill>
        </p:spPr>
        <p:txBody>
          <a:bodyPr wrap="square" lIns="0" tIns="0" rIns="0" bIns="0" rtlCol="0"/>
          <a:lstStyle/>
          <a:p>
            <a:endParaRPr sz="1593"/>
          </a:p>
        </p:txBody>
      </p:sp>
      <p:sp>
        <p:nvSpPr>
          <p:cNvPr id="724" name="object 724"/>
          <p:cNvSpPr/>
          <p:nvPr/>
        </p:nvSpPr>
        <p:spPr>
          <a:xfrm>
            <a:off x="5351379" y="341454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25" name="object 725"/>
          <p:cNvSpPr/>
          <p:nvPr/>
        </p:nvSpPr>
        <p:spPr>
          <a:xfrm>
            <a:off x="5250952" y="3414549"/>
            <a:ext cx="106235" cy="83752"/>
          </a:xfrm>
          <a:custGeom>
            <a:avLst/>
            <a:gdLst/>
            <a:ahLst/>
            <a:cxnLst/>
            <a:rect l="l" t="t" r="r" b="b"/>
            <a:pathLst>
              <a:path w="120014" h="94614">
                <a:moveTo>
                  <a:pt x="119423" y="0"/>
                </a:moveTo>
                <a:lnTo>
                  <a:pt x="107480" y="0"/>
                </a:lnTo>
                <a:lnTo>
                  <a:pt x="0" y="80608"/>
                </a:lnTo>
                <a:lnTo>
                  <a:pt x="0" y="94043"/>
                </a:lnTo>
                <a:lnTo>
                  <a:pt x="11941" y="94043"/>
                </a:lnTo>
                <a:lnTo>
                  <a:pt x="119423" y="13435"/>
                </a:lnTo>
                <a:lnTo>
                  <a:pt x="119423" y="0"/>
                </a:lnTo>
                <a:close/>
              </a:path>
            </a:pathLst>
          </a:custGeom>
          <a:solidFill>
            <a:srgbClr val="000000"/>
          </a:solidFill>
        </p:spPr>
        <p:txBody>
          <a:bodyPr wrap="square" lIns="0" tIns="0" rIns="0" bIns="0" rtlCol="0"/>
          <a:lstStyle/>
          <a:p>
            <a:endParaRPr sz="1593"/>
          </a:p>
        </p:txBody>
      </p:sp>
      <p:sp>
        <p:nvSpPr>
          <p:cNvPr id="726" name="object 726"/>
          <p:cNvSpPr/>
          <p:nvPr/>
        </p:nvSpPr>
        <p:spPr>
          <a:xfrm>
            <a:off x="5256237" y="34859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27" name="object 727"/>
          <p:cNvSpPr/>
          <p:nvPr/>
        </p:nvSpPr>
        <p:spPr>
          <a:xfrm>
            <a:off x="5134669" y="3485903"/>
            <a:ext cx="127033" cy="47778"/>
          </a:xfrm>
          <a:custGeom>
            <a:avLst/>
            <a:gdLst/>
            <a:ahLst/>
            <a:cxnLst/>
            <a:rect l="l" t="t" r="r" b="b"/>
            <a:pathLst>
              <a:path w="143510" h="53975">
                <a:moveTo>
                  <a:pt x="143308" y="0"/>
                </a:moveTo>
                <a:lnTo>
                  <a:pt x="131366" y="0"/>
                </a:lnTo>
                <a:lnTo>
                  <a:pt x="0" y="40304"/>
                </a:lnTo>
                <a:lnTo>
                  <a:pt x="0" y="53738"/>
                </a:lnTo>
                <a:lnTo>
                  <a:pt x="11943" y="53738"/>
                </a:lnTo>
                <a:lnTo>
                  <a:pt x="143308" y="13435"/>
                </a:lnTo>
                <a:lnTo>
                  <a:pt x="143308" y="0"/>
                </a:lnTo>
                <a:close/>
              </a:path>
            </a:pathLst>
          </a:custGeom>
          <a:solidFill>
            <a:srgbClr val="000000"/>
          </a:solidFill>
        </p:spPr>
        <p:txBody>
          <a:bodyPr wrap="square" lIns="0" tIns="0" rIns="0" bIns="0" rtlCol="0"/>
          <a:lstStyle/>
          <a:p>
            <a:endParaRPr sz="1593"/>
          </a:p>
        </p:txBody>
      </p:sp>
      <p:sp>
        <p:nvSpPr>
          <p:cNvPr id="728" name="object 728"/>
          <p:cNvSpPr/>
          <p:nvPr/>
        </p:nvSpPr>
        <p:spPr>
          <a:xfrm>
            <a:off x="5139955" y="352157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29" name="object 729"/>
          <p:cNvSpPr/>
          <p:nvPr/>
        </p:nvSpPr>
        <p:spPr>
          <a:xfrm>
            <a:off x="5007815" y="3521580"/>
            <a:ext cx="137713" cy="24170"/>
          </a:xfrm>
          <a:custGeom>
            <a:avLst/>
            <a:gdLst/>
            <a:ahLst/>
            <a:cxnLst/>
            <a:rect l="l" t="t" r="r" b="b"/>
            <a:pathLst>
              <a:path w="155575" h="27304">
                <a:moveTo>
                  <a:pt x="155251" y="0"/>
                </a:moveTo>
                <a:lnTo>
                  <a:pt x="143308" y="0"/>
                </a:lnTo>
                <a:lnTo>
                  <a:pt x="0" y="13434"/>
                </a:lnTo>
                <a:lnTo>
                  <a:pt x="0" y="26869"/>
                </a:lnTo>
                <a:lnTo>
                  <a:pt x="11943" y="26869"/>
                </a:lnTo>
                <a:lnTo>
                  <a:pt x="155251" y="13434"/>
                </a:lnTo>
                <a:lnTo>
                  <a:pt x="155251" y="0"/>
                </a:lnTo>
                <a:close/>
              </a:path>
            </a:pathLst>
          </a:custGeom>
          <a:solidFill>
            <a:srgbClr val="000000"/>
          </a:solidFill>
        </p:spPr>
        <p:txBody>
          <a:bodyPr wrap="square" lIns="0" tIns="0" rIns="0" bIns="0" rtlCol="0"/>
          <a:lstStyle/>
          <a:p>
            <a:endParaRPr sz="1593"/>
          </a:p>
        </p:txBody>
      </p:sp>
      <p:sp>
        <p:nvSpPr>
          <p:cNvPr id="730" name="object 730"/>
          <p:cNvSpPr/>
          <p:nvPr/>
        </p:nvSpPr>
        <p:spPr>
          <a:xfrm>
            <a:off x="5007816" y="353347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31" name="object 731"/>
          <p:cNvSpPr/>
          <p:nvPr/>
        </p:nvSpPr>
        <p:spPr>
          <a:xfrm>
            <a:off x="5007816" y="353347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32" name="object 732"/>
          <p:cNvSpPr/>
          <p:nvPr/>
        </p:nvSpPr>
        <p:spPr>
          <a:xfrm>
            <a:off x="5007816" y="353347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33" name="object 733"/>
          <p:cNvSpPr/>
          <p:nvPr/>
        </p:nvSpPr>
        <p:spPr>
          <a:xfrm>
            <a:off x="4880960" y="3521580"/>
            <a:ext cx="137713" cy="24170"/>
          </a:xfrm>
          <a:custGeom>
            <a:avLst/>
            <a:gdLst/>
            <a:ahLst/>
            <a:cxnLst/>
            <a:rect l="l" t="t" r="r" b="b"/>
            <a:pathLst>
              <a:path w="155575" h="27304">
                <a:moveTo>
                  <a:pt x="11943" y="0"/>
                </a:moveTo>
                <a:lnTo>
                  <a:pt x="0" y="0"/>
                </a:lnTo>
                <a:lnTo>
                  <a:pt x="0" y="13434"/>
                </a:lnTo>
                <a:lnTo>
                  <a:pt x="143308" y="26869"/>
                </a:lnTo>
                <a:lnTo>
                  <a:pt x="155251" y="26869"/>
                </a:lnTo>
                <a:lnTo>
                  <a:pt x="155251" y="13434"/>
                </a:lnTo>
                <a:lnTo>
                  <a:pt x="11943" y="0"/>
                </a:lnTo>
                <a:close/>
              </a:path>
            </a:pathLst>
          </a:custGeom>
          <a:solidFill>
            <a:srgbClr val="000000"/>
          </a:solidFill>
        </p:spPr>
        <p:txBody>
          <a:bodyPr wrap="square" lIns="0" tIns="0" rIns="0" bIns="0" rtlCol="0"/>
          <a:lstStyle/>
          <a:p>
            <a:endParaRPr sz="1593"/>
          </a:p>
        </p:txBody>
      </p:sp>
      <p:sp>
        <p:nvSpPr>
          <p:cNvPr id="734" name="object 734"/>
          <p:cNvSpPr/>
          <p:nvPr/>
        </p:nvSpPr>
        <p:spPr>
          <a:xfrm>
            <a:off x="4886247" y="352157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35" name="object 735"/>
          <p:cNvSpPr/>
          <p:nvPr/>
        </p:nvSpPr>
        <p:spPr>
          <a:xfrm>
            <a:off x="4764678" y="3485903"/>
            <a:ext cx="127033" cy="47778"/>
          </a:xfrm>
          <a:custGeom>
            <a:avLst/>
            <a:gdLst/>
            <a:ahLst/>
            <a:cxnLst/>
            <a:rect l="l" t="t" r="r" b="b"/>
            <a:pathLst>
              <a:path w="143510" h="53975">
                <a:moveTo>
                  <a:pt x="11941" y="0"/>
                </a:moveTo>
                <a:lnTo>
                  <a:pt x="0" y="0"/>
                </a:lnTo>
                <a:lnTo>
                  <a:pt x="0" y="13435"/>
                </a:lnTo>
                <a:lnTo>
                  <a:pt x="131364" y="53738"/>
                </a:lnTo>
                <a:lnTo>
                  <a:pt x="143308" y="53738"/>
                </a:lnTo>
                <a:lnTo>
                  <a:pt x="143308" y="40304"/>
                </a:lnTo>
                <a:lnTo>
                  <a:pt x="11941" y="0"/>
                </a:lnTo>
                <a:close/>
              </a:path>
            </a:pathLst>
          </a:custGeom>
          <a:solidFill>
            <a:srgbClr val="000000"/>
          </a:solidFill>
        </p:spPr>
        <p:txBody>
          <a:bodyPr wrap="square" lIns="0" tIns="0" rIns="0" bIns="0" rtlCol="0"/>
          <a:lstStyle/>
          <a:p>
            <a:endParaRPr sz="1593"/>
          </a:p>
        </p:txBody>
      </p:sp>
      <p:sp>
        <p:nvSpPr>
          <p:cNvPr id="736" name="object 736"/>
          <p:cNvSpPr/>
          <p:nvPr/>
        </p:nvSpPr>
        <p:spPr>
          <a:xfrm>
            <a:off x="4769963" y="34859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37" name="object 737"/>
          <p:cNvSpPr/>
          <p:nvPr/>
        </p:nvSpPr>
        <p:spPr>
          <a:xfrm>
            <a:off x="4658967" y="3414549"/>
            <a:ext cx="116353" cy="83752"/>
          </a:xfrm>
          <a:custGeom>
            <a:avLst/>
            <a:gdLst/>
            <a:ahLst/>
            <a:cxnLst/>
            <a:rect l="l" t="t" r="r" b="b"/>
            <a:pathLst>
              <a:path w="131445" h="94614">
                <a:moveTo>
                  <a:pt x="11941" y="0"/>
                </a:moveTo>
                <a:lnTo>
                  <a:pt x="0" y="0"/>
                </a:lnTo>
                <a:lnTo>
                  <a:pt x="0" y="13435"/>
                </a:lnTo>
                <a:lnTo>
                  <a:pt x="119423" y="94043"/>
                </a:lnTo>
                <a:lnTo>
                  <a:pt x="131364" y="94043"/>
                </a:lnTo>
                <a:lnTo>
                  <a:pt x="131364" y="80608"/>
                </a:lnTo>
                <a:lnTo>
                  <a:pt x="11941" y="0"/>
                </a:lnTo>
                <a:close/>
              </a:path>
            </a:pathLst>
          </a:custGeom>
          <a:solidFill>
            <a:srgbClr val="000000"/>
          </a:solidFill>
        </p:spPr>
        <p:txBody>
          <a:bodyPr wrap="square" lIns="0" tIns="0" rIns="0" bIns="0" rtlCol="0"/>
          <a:lstStyle/>
          <a:p>
            <a:endParaRPr sz="1593"/>
          </a:p>
        </p:txBody>
      </p:sp>
      <p:sp>
        <p:nvSpPr>
          <p:cNvPr id="738" name="object 738"/>
          <p:cNvSpPr/>
          <p:nvPr/>
        </p:nvSpPr>
        <p:spPr>
          <a:xfrm>
            <a:off x="4664252" y="3414549"/>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39" name="object 739"/>
          <p:cNvSpPr/>
          <p:nvPr/>
        </p:nvSpPr>
        <p:spPr>
          <a:xfrm>
            <a:off x="4574397" y="3331304"/>
            <a:ext cx="95556" cy="95556"/>
          </a:xfrm>
          <a:custGeom>
            <a:avLst/>
            <a:gdLst/>
            <a:ahLst/>
            <a:cxnLst/>
            <a:rect l="l" t="t" r="r" b="b"/>
            <a:pathLst>
              <a:path w="107950" h="107950">
                <a:moveTo>
                  <a:pt x="11943" y="0"/>
                </a:moveTo>
                <a:lnTo>
                  <a:pt x="0" y="0"/>
                </a:lnTo>
                <a:lnTo>
                  <a:pt x="0" y="13434"/>
                </a:lnTo>
                <a:lnTo>
                  <a:pt x="95539" y="107477"/>
                </a:lnTo>
                <a:lnTo>
                  <a:pt x="107481" y="107477"/>
                </a:lnTo>
                <a:lnTo>
                  <a:pt x="107481" y="94042"/>
                </a:lnTo>
                <a:lnTo>
                  <a:pt x="11943" y="0"/>
                </a:lnTo>
                <a:close/>
              </a:path>
            </a:pathLst>
          </a:custGeom>
          <a:solidFill>
            <a:srgbClr val="000000"/>
          </a:solidFill>
        </p:spPr>
        <p:txBody>
          <a:bodyPr wrap="square" lIns="0" tIns="0" rIns="0" bIns="0" rtlCol="0"/>
          <a:lstStyle/>
          <a:p>
            <a:endParaRPr sz="1593"/>
          </a:p>
        </p:txBody>
      </p:sp>
      <p:sp>
        <p:nvSpPr>
          <p:cNvPr id="740" name="object 740"/>
          <p:cNvSpPr/>
          <p:nvPr/>
        </p:nvSpPr>
        <p:spPr>
          <a:xfrm>
            <a:off x="4579682" y="333130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41" name="object 741"/>
          <p:cNvSpPr/>
          <p:nvPr/>
        </p:nvSpPr>
        <p:spPr>
          <a:xfrm>
            <a:off x="4500400" y="3236167"/>
            <a:ext cx="84876" cy="107360"/>
          </a:xfrm>
          <a:custGeom>
            <a:avLst/>
            <a:gdLst/>
            <a:ahLst/>
            <a:cxnLst/>
            <a:rect l="l" t="t" r="r" b="b"/>
            <a:pathLst>
              <a:path w="95885" h="121285">
                <a:moveTo>
                  <a:pt x="11941" y="0"/>
                </a:moveTo>
                <a:lnTo>
                  <a:pt x="0" y="0"/>
                </a:lnTo>
                <a:lnTo>
                  <a:pt x="0" y="13434"/>
                </a:lnTo>
                <a:lnTo>
                  <a:pt x="83595" y="120911"/>
                </a:lnTo>
                <a:lnTo>
                  <a:pt x="95538" y="120911"/>
                </a:lnTo>
                <a:lnTo>
                  <a:pt x="95538" y="107477"/>
                </a:lnTo>
                <a:lnTo>
                  <a:pt x="11941" y="0"/>
                </a:lnTo>
                <a:close/>
              </a:path>
            </a:pathLst>
          </a:custGeom>
          <a:solidFill>
            <a:srgbClr val="000000"/>
          </a:solidFill>
        </p:spPr>
        <p:txBody>
          <a:bodyPr wrap="square" lIns="0" tIns="0" rIns="0" bIns="0" rtlCol="0"/>
          <a:lstStyle/>
          <a:p>
            <a:endParaRPr sz="1593"/>
          </a:p>
        </p:txBody>
      </p:sp>
      <p:sp>
        <p:nvSpPr>
          <p:cNvPr id="742" name="object 742"/>
          <p:cNvSpPr/>
          <p:nvPr/>
        </p:nvSpPr>
        <p:spPr>
          <a:xfrm>
            <a:off x="4505684" y="3236166"/>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43" name="object 743"/>
          <p:cNvSpPr/>
          <p:nvPr/>
        </p:nvSpPr>
        <p:spPr>
          <a:xfrm>
            <a:off x="4436972" y="3117244"/>
            <a:ext cx="74196" cy="130968"/>
          </a:xfrm>
          <a:custGeom>
            <a:avLst/>
            <a:gdLst/>
            <a:ahLst/>
            <a:cxnLst/>
            <a:rect l="l" t="t" r="r" b="b"/>
            <a:pathLst>
              <a:path w="83820" h="147954">
                <a:moveTo>
                  <a:pt x="11943" y="0"/>
                </a:moveTo>
                <a:lnTo>
                  <a:pt x="0" y="0"/>
                </a:lnTo>
                <a:lnTo>
                  <a:pt x="0" y="13435"/>
                </a:lnTo>
                <a:lnTo>
                  <a:pt x="71654" y="147782"/>
                </a:lnTo>
                <a:lnTo>
                  <a:pt x="83596" y="147782"/>
                </a:lnTo>
                <a:lnTo>
                  <a:pt x="83596" y="134348"/>
                </a:lnTo>
                <a:lnTo>
                  <a:pt x="11943" y="0"/>
                </a:lnTo>
                <a:close/>
              </a:path>
            </a:pathLst>
          </a:custGeom>
          <a:solidFill>
            <a:srgbClr val="000000"/>
          </a:solidFill>
        </p:spPr>
        <p:txBody>
          <a:bodyPr wrap="square" lIns="0" tIns="0" rIns="0" bIns="0" rtlCol="0"/>
          <a:lstStyle/>
          <a:p>
            <a:endParaRPr sz="1593"/>
          </a:p>
        </p:txBody>
      </p:sp>
      <p:sp>
        <p:nvSpPr>
          <p:cNvPr id="744" name="object 744"/>
          <p:cNvSpPr/>
          <p:nvPr/>
        </p:nvSpPr>
        <p:spPr>
          <a:xfrm>
            <a:off x="4442257" y="311724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45" name="object 745"/>
          <p:cNvSpPr/>
          <p:nvPr/>
        </p:nvSpPr>
        <p:spPr>
          <a:xfrm>
            <a:off x="4405258" y="2998322"/>
            <a:ext cx="42719" cy="130968"/>
          </a:xfrm>
          <a:custGeom>
            <a:avLst/>
            <a:gdLst/>
            <a:ahLst/>
            <a:cxnLst/>
            <a:rect l="l" t="t" r="r" b="b"/>
            <a:pathLst>
              <a:path w="48260" h="147954">
                <a:moveTo>
                  <a:pt x="11941" y="0"/>
                </a:moveTo>
                <a:lnTo>
                  <a:pt x="0" y="0"/>
                </a:lnTo>
                <a:lnTo>
                  <a:pt x="0" y="13435"/>
                </a:lnTo>
                <a:lnTo>
                  <a:pt x="35826" y="147782"/>
                </a:lnTo>
                <a:lnTo>
                  <a:pt x="47769" y="147782"/>
                </a:lnTo>
                <a:lnTo>
                  <a:pt x="47769" y="134346"/>
                </a:lnTo>
                <a:lnTo>
                  <a:pt x="11941" y="0"/>
                </a:lnTo>
                <a:close/>
              </a:path>
            </a:pathLst>
          </a:custGeom>
          <a:solidFill>
            <a:srgbClr val="000000"/>
          </a:solidFill>
        </p:spPr>
        <p:txBody>
          <a:bodyPr wrap="square" lIns="0" tIns="0" rIns="0" bIns="0" rtlCol="0"/>
          <a:lstStyle/>
          <a:p>
            <a:endParaRPr sz="1593"/>
          </a:p>
        </p:txBody>
      </p:sp>
      <p:sp>
        <p:nvSpPr>
          <p:cNvPr id="746" name="object 746"/>
          <p:cNvSpPr/>
          <p:nvPr/>
        </p:nvSpPr>
        <p:spPr>
          <a:xfrm>
            <a:off x="4410544" y="299832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747" name="object 747"/>
          <p:cNvSpPr/>
          <p:nvPr/>
        </p:nvSpPr>
        <p:spPr>
          <a:xfrm>
            <a:off x="4394686" y="2855615"/>
            <a:ext cx="21360" cy="155138"/>
          </a:xfrm>
          <a:custGeom>
            <a:avLst/>
            <a:gdLst/>
            <a:ahLst/>
            <a:cxnLst/>
            <a:rect l="l" t="t" r="r" b="b"/>
            <a:pathLst>
              <a:path w="24129" h="175260">
                <a:moveTo>
                  <a:pt x="11943" y="0"/>
                </a:moveTo>
                <a:lnTo>
                  <a:pt x="0" y="0"/>
                </a:lnTo>
                <a:lnTo>
                  <a:pt x="0" y="13435"/>
                </a:lnTo>
                <a:lnTo>
                  <a:pt x="11943" y="174651"/>
                </a:lnTo>
                <a:lnTo>
                  <a:pt x="23884" y="174651"/>
                </a:lnTo>
                <a:lnTo>
                  <a:pt x="23884" y="161216"/>
                </a:lnTo>
                <a:lnTo>
                  <a:pt x="11943" y="0"/>
                </a:lnTo>
                <a:close/>
              </a:path>
            </a:pathLst>
          </a:custGeom>
          <a:solidFill>
            <a:srgbClr val="000000"/>
          </a:solidFill>
        </p:spPr>
        <p:txBody>
          <a:bodyPr wrap="square" lIns="0" tIns="0" rIns="0" bIns="0" rtlCol="0"/>
          <a:lstStyle/>
          <a:p>
            <a:endParaRPr sz="1593"/>
          </a:p>
        </p:txBody>
      </p:sp>
      <p:sp>
        <p:nvSpPr>
          <p:cNvPr id="748" name="object 748"/>
          <p:cNvSpPr/>
          <p:nvPr/>
        </p:nvSpPr>
        <p:spPr>
          <a:xfrm>
            <a:off x="4394688" y="2855615"/>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49" name="object 749"/>
          <p:cNvSpPr/>
          <p:nvPr/>
        </p:nvSpPr>
        <p:spPr>
          <a:xfrm>
            <a:off x="4394688" y="2855615"/>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50" name="object 750"/>
          <p:cNvSpPr/>
          <p:nvPr/>
        </p:nvSpPr>
        <p:spPr>
          <a:xfrm>
            <a:off x="4394688" y="2855615"/>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51" name="object 751"/>
          <p:cNvSpPr/>
          <p:nvPr/>
        </p:nvSpPr>
        <p:spPr>
          <a:xfrm>
            <a:off x="4394686" y="2724802"/>
            <a:ext cx="21360" cy="142772"/>
          </a:xfrm>
          <a:custGeom>
            <a:avLst/>
            <a:gdLst/>
            <a:ahLst/>
            <a:cxnLst/>
            <a:rect l="l" t="t" r="r" b="b"/>
            <a:pathLst>
              <a:path w="24129" h="161289">
                <a:moveTo>
                  <a:pt x="23884" y="0"/>
                </a:moveTo>
                <a:lnTo>
                  <a:pt x="11943" y="0"/>
                </a:lnTo>
                <a:lnTo>
                  <a:pt x="0" y="147781"/>
                </a:lnTo>
                <a:lnTo>
                  <a:pt x="0" y="161216"/>
                </a:lnTo>
                <a:lnTo>
                  <a:pt x="11943" y="161216"/>
                </a:lnTo>
                <a:lnTo>
                  <a:pt x="23884" y="13434"/>
                </a:lnTo>
                <a:lnTo>
                  <a:pt x="23884" y="0"/>
                </a:lnTo>
                <a:close/>
              </a:path>
            </a:pathLst>
          </a:custGeom>
          <a:solidFill>
            <a:srgbClr val="000000"/>
          </a:solidFill>
        </p:spPr>
        <p:txBody>
          <a:bodyPr wrap="square" lIns="0" tIns="0" rIns="0" bIns="0" rtlCol="0"/>
          <a:lstStyle/>
          <a:p>
            <a:endParaRPr sz="1593"/>
          </a:p>
        </p:txBody>
      </p:sp>
      <p:sp>
        <p:nvSpPr>
          <p:cNvPr id="752" name="object 752"/>
          <p:cNvSpPr/>
          <p:nvPr/>
        </p:nvSpPr>
        <p:spPr>
          <a:xfrm>
            <a:off x="4410544" y="272480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53" name="object 753"/>
          <p:cNvSpPr/>
          <p:nvPr/>
        </p:nvSpPr>
        <p:spPr>
          <a:xfrm>
            <a:off x="4405258" y="2593987"/>
            <a:ext cx="42719" cy="142772"/>
          </a:xfrm>
          <a:custGeom>
            <a:avLst/>
            <a:gdLst/>
            <a:ahLst/>
            <a:cxnLst/>
            <a:rect l="l" t="t" r="r" b="b"/>
            <a:pathLst>
              <a:path w="48260" h="161289">
                <a:moveTo>
                  <a:pt x="47769" y="0"/>
                </a:moveTo>
                <a:lnTo>
                  <a:pt x="35826" y="0"/>
                </a:lnTo>
                <a:lnTo>
                  <a:pt x="0" y="147782"/>
                </a:lnTo>
                <a:lnTo>
                  <a:pt x="0" y="161216"/>
                </a:lnTo>
                <a:lnTo>
                  <a:pt x="11941" y="161216"/>
                </a:lnTo>
                <a:lnTo>
                  <a:pt x="47769" y="13434"/>
                </a:lnTo>
                <a:lnTo>
                  <a:pt x="47769" y="0"/>
                </a:lnTo>
                <a:close/>
              </a:path>
            </a:pathLst>
          </a:custGeom>
          <a:solidFill>
            <a:srgbClr val="000000"/>
          </a:solidFill>
        </p:spPr>
        <p:txBody>
          <a:bodyPr wrap="square" lIns="0" tIns="0" rIns="0" bIns="0" rtlCol="0"/>
          <a:lstStyle/>
          <a:p>
            <a:endParaRPr sz="1593"/>
          </a:p>
        </p:txBody>
      </p:sp>
      <p:sp>
        <p:nvSpPr>
          <p:cNvPr id="754" name="object 754"/>
          <p:cNvSpPr/>
          <p:nvPr/>
        </p:nvSpPr>
        <p:spPr>
          <a:xfrm>
            <a:off x="4442257" y="259398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55" name="object 755"/>
          <p:cNvSpPr/>
          <p:nvPr/>
        </p:nvSpPr>
        <p:spPr>
          <a:xfrm>
            <a:off x="4436972" y="2475066"/>
            <a:ext cx="74196" cy="130968"/>
          </a:xfrm>
          <a:custGeom>
            <a:avLst/>
            <a:gdLst/>
            <a:ahLst/>
            <a:cxnLst/>
            <a:rect l="l" t="t" r="r" b="b"/>
            <a:pathLst>
              <a:path w="83820" h="147955">
                <a:moveTo>
                  <a:pt x="83596" y="0"/>
                </a:moveTo>
                <a:lnTo>
                  <a:pt x="71654" y="0"/>
                </a:lnTo>
                <a:lnTo>
                  <a:pt x="0" y="134346"/>
                </a:lnTo>
                <a:lnTo>
                  <a:pt x="0" y="147781"/>
                </a:lnTo>
                <a:lnTo>
                  <a:pt x="11943" y="147781"/>
                </a:lnTo>
                <a:lnTo>
                  <a:pt x="83596" y="13434"/>
                </a:lnTo>
                <a:lnTo>
                  <a:pt x="83596" y="0"/>
                </a:lnTo>
                <a:close/>
              </a:path>
            </a:pathLst>
          </a:custGeom>
          <a:solidFill>
            <a:srgbClr val="000000"/>
          </a:solidFill>
        </p:spPr>
        <p:txBody>
          <a:bodyPr wrap="square" lIns="0" tIns="0" rIns="0" bIns="0" rtlCol="0"/>
          <a:lstStyle/>
          <a:p>
            <a:endParaRPr sz="1593"/>
          </a:p>
        </p:txBody>
      </p:sp>
      <p:sp>
        <p:nvSpPr>
          <p:cNvPr id="756" name="object 756"/>
          <p:cNvSpPr/>
          <p:nvPr/>
        </p:nvSpPr>
        <p:spPr>
          <a:xfrm>
            <a:off x="4505684" y="247506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57" name="object 757"/>
          <p:cNvSpPr/>
          <p:nvPr/>
        </p:nvSpPr>
        <p:spPr>
          <a:xfrm>
            <a:off x="4500400" y="2379928"/>
            <a:ext cx="84876" cy="107360"/>
          </a:xfrm>
          <a:custGeom>
            <a:avLst/>
            <a:gdLst/>
            <a:ahLst/>
            <a:cxnLst/>
            <a:rect l="l" t="t" r="r" b="b"/>
            <a:pathLst>
              <a:path w="95885" h="121285">
                <a:moveTo>
                  <a:pt x="95538" y="0"/>
                </a:moveTo>
                <a:lnTo>
                  <a:pt x="83595" y="0"/>
                </a:lnTo>
                <a:lnTo>
                  <a:pt x="0" y="107477"/>
                </a:lnTo>
                <a:lnTo>
                  <a:pt x="0" y="120911"/>
                </a:lnTo>
                <a:lnTo>
                  <a:pt x="11941" y="120911"/>
                </a:lnTo>
                <a:lnTo>
                  <a:pt x="95538" y="13434"/>
                </a:lnTo>
                <a:lnTo>
                  <a:pt x="95538" y="0"/>
                </a:lnTo>
                <a:close/>
              </a:path>
            </a:pathLst>
          </a:custGeom>
          <a:solidFill>
            <a:srgbClr val="000000"/>
          </a:solidFill>
        </p:spPr>
        <p:txBody>
          <a:bodyPr wrap="square" lIns="0" tIns="0" rIns="0" bIns="0" rtlCol="0"/>
          <a:lstStyle/>
          <a:p>
            <a:endParaRPr sz="1593"/>
          </a:p>
        </p:txBody>
      </p:sp>
      <p:sp>
        <p:nvSpPr>
          <p:cNvPr id="758" name="object 758"/>
          <p:cNvSpPr/>
          <p:nvPr/>
        </p:nvSpPr>
        <p:spPr>
          <a:xfrm>
            <a:off x="4579682" y="237992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59" name="object 759"/>
          <p:cNvSpPr/>
          <p:nvPr/>
        </p:nvSpPr>
        <p:spPr>
          <a:xfrm>
            <a:off x="4574397" y="2296682"/>
            <a:ext cx="95556" cy="95556"/>
          </a:xfrm>
          <a:custGeom>
            <a:avLst/>
            <a:gdLst/>
            <a:ahLst/>
            <a:cxnLst/>
            <a:rect l="l" t="t" r="r" b="b"/>
            <a:pathLst>
              <a:path w="107950" h="107950">
                <a:moveTo>
                  <a:pt x="107481" y="0"/>
                </a:moveTo>
                <a:lnTo>
                  <a:pt x="95539" y="0"/>
                </a:lnTo>
                <a:lnTo>
                  <a:pt x="0" y="94043"/>
                </a:lnTo>
                <a:lnTo>
                  <a:pt x="0" y="107477"/>
                </a:lnTo>
                <a:lnTo>
                  <a:pt x="11943" y="107477"/>
                </a:lnTo>
                <a:lnTo>
                  <a:pt x="107481" y="13434"/>
                </a:lnTo>
                <a:lnTo>
                  <a:pt x="107481" y="0"/>
                </a:lnTo>
                <a:close/>
              </a:path>
            </a:pathLst>
          </a:custGeom>
          <a:solidFill>
            <a:srgbClr val="000000"/>
          </a:solidFill>
        </p:spPr>
        <p:txBody>
          <a:bodyPr wrap="square" lIns="0" tIns="0" rIns="0" bIns="0" rtlCol="0"/>
          <a:lstStyle/>
          <a:p>
            <a:endParaRPr sz="1593"/>
          </a:p>
        </p:txBody>
      </p:sp>
      <p:sp>
        <p:nvSpPr>
          <p:cNvPr id="760" name="object 760"/>
          <p:cNvSpPr/>
          <p:nvPr/>
        </p:nvSpPr>
        <p:spPr>
          <a:xfrm>
            <a:off x="4664252" y="229668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61" name="object 761"/>
          <p:cNvSpPr/>
          <p:nvPr/>
        </p:nvSpPr>
        <p:spPr>
          <a:xfrm>
            <a:off x="4658967" y="2237221"/>
            <a:ext cx="116353" cy="71386"/>
          </a:xfrm>
          <a:custGeom>
            <a:avLst/>
            <a:gdLst/>
            <a:ahLst/>
            <a:cxnLst/>
            <a:rect l="l" t="t" r="r" b="b"/>
            <a:pathLst>
              <a:path w="131445" h="80644">
                <a:moveTo>
                  <a:pt x="131364" y="0"/>
                </a:moveTo>
                <a:lnTo>
                  <a:pt x="119423" y="0"/>
                </a:lnTo>
                <a:lnTo>
                  <a:pt x="0" y="67174"/>
                </a:lnTo>
                <a:lnTo>
                  <a:pt x="0" y="80608"/>
                </a:lnTo>
                <a:lnTo>
                  <a:pt x="11941" y="80608"/>
                </a:lnTo>
                <a:lnTo>
                  <a:pt x="131364" y="13435"/>
                </a:lnTo>
                <a:lnTo>
                  <a:pt x="131364" y="0"/>
                </a:lnTo>
                <a:close/>
              </a:path>
            </a:pathLst>
          </a:custGeom>
          <a:solidFill>
            <a:srgbClr val="000000"/>
          </a:solidFill>
        </p:spPr>
        <p:txBody>
          <a:bodyPr wrap="square" lIns="0" tIns="0" rIns="0" bIns="0" rtlCol="0"/>
          <a:lstStyle/>
          <a:p>
            <a:endParaRPr sz="1593"/>
          </a:p>
        </p:txBody>
      </p:sp>
      <p:sp>
        <p:nvSpPr>
          <p:cNvPr id="762" name="object 762"/>
          <p:cNvSpPr/>
          <p:nvPr/>
        </p:nvSpPr>
        <p:spPr>
          <a:xfrm>
            <a:off x="4769963" y="223722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63" name="object 763"/>
          <p:cNvSpPr/>
          <p:nvPr/>
        </p:nvSpPr>
        <p:spPr>
          <a:xfrm>
            <a:off x="4764678" y="2189652"/>
            <a:ext cx="127033" cy="59582"/>
          </a:xfrm>
          <a:custGeom>
            <a:avLst/>
            <a:gdLst/>
            <a:ahLst/>
            <a:cxnLst/>
            <a:rect l="l" t="t" r="r" b="b"/>
            <a:pathLst>
              <a:path w="143510" h="67310">
                <a:moveTo>
                  <a:pt x="143308" y="0"/>
                </a:moveTo>
                <a:lnTo>
                  <a:pt x="131364" y="0"/>
                </a:lnTo>
                <a:lnTo>
                  <a:pt x="0" y="53737"/>
                </a:lnTo>
                <a:lnTo>
                  <a:pt x="0" y="67172"/>
                </a:lnTo>
                <a:lnTo>
                  <a:pt x="11941" y="67172"/>
                </a:lnTo>
                <a:lnTo>
                  <a:pt x="143308" y="13434"/>
                </a:lnTo>
                <a:lnTo>
                  <a:pt x="143308" y="0"/>
                </a:lnTo>
                <a:close/>
              </a:path>
            </a:pathLst>
          </a:custGeom>
          <a:solidFill>
            <a:srgbClr val="000000"/>
          </a:solidFill>
        </p:spPr>
        <p:txBody>
          <a:bodyPr wrap="square" lIns="0" tIns="0" rIns="0" bIns="0" rtlCol="0"/>
          <a:lstStyle/>
          <a:p>
            <a:endParaRPr sz="1593"/>
          </a:p>
        </p:txBody>
      </p:sp>
      <p:sp>
        <p:nvSpPr>
          <p:cNvPr id="764" name="object 764"/>
          <p:cNvSpPr/>
          <p:nvPr/>
        </p:nvSpPr>
        <p:spPr>
          <a:xfrm>
            <a:off x="4886247" y="21896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65" name="object 765"/>
          <p:cNvSpPr/>
          <p:nvPr/>
        </p:nvSpPr>
        <p:spPr>
          <a:xfrm>
            <a:off x="4880960" y="2177760"/>
            <a:ext cx="137713" cy="24170"/>
          </a:xfrm>
          <a:custGeom>
            <a:avLst/>
            <a:gdLst/>
            <a:ahLst/>
            <a:cxnLst/>
            <a:rect l="l" t="t" r="r" b="b"/>
            <a:pathLst>
              <a:path w="155575" h="27305">
                <a:moveTo>
                  <a:pt x="155251" y="0"/>
                </a:moveTo>
                <a:lnTo>
                  <a:pt x="143308" y="0"/>
                </a:lnTo>
                <a:lnTo>
                  <a:pt x="0" y="13435"/>
                </a:lnTo>
                <a:lnTo>
                  <a:pt x="0" y="26869"/>
                </a:lnTo>
                <a:lnTo>
                  <a:pt x="11943" y="26869"/>
                </a:lnTo>
                <a:lnTo>
                  <a:pt x="155251" y="13435"/>
                </a:lnTo>
                <a:lnTo>
                  <a:pt x="155251" y="0"/>
                </a:lnTo>
                <a:close/>
              </a:path>
            </a:pathLst>
          </a:custGeom>
          <a:solidFill>
            <a:srgbClr val="000000"/>
          </a:solidFill>
        </p:spPr>
        <p:txBody>
          <a:bodyPr wrap="square" lIns="0" tIns="0" rIns="0" bIns="0" rtlCol="0"/>
          <a:lstStyle/>
          <a:p>
            <a:endParaRPr sz="1593"/>
          </a:p>
        </p:txBody>
      </p:sp>
      <p:sp>
        <p:nvSpPr>
          <p:cNvPr id="766" name="object 766"/>
          <p:cNvSpPr/>
          <p:nvPr/>
        </p:nvSpPr>
        <p:spPr>
          <a:xfrm>
            <a:off x="5007816" y="2177760"/>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67" name="object 767"/>
          <p:cNvSpPr/>
          <p:nvPr/>
        </p:nvSpPr>
        <p:spPr>
          <a:xfrm>
            <a:off x="5007816" y="2177760"/>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68" name="object 768"/>
          <p:cNvSpPr/>
          <p:nvPr/>
        </p:nvSpPr>
        <p:spPr>
          <a:xfrm>
            <a:off x="5007816" y="2177760"/>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69" name="object 769"/>
          <p:cNvSpPr/>
          <p:nvPr/>
        </p:nvSpPr>
        <p:spPr>
          <a:xfrm>
            <a:off x="5007815" y="2177760"/>
            <a:ext cx="137713" cy="24170"/>
          </a:xfrm>
          <a:custGeom>
            <a:avLst/>
            <a:gdLst/>
            <a:ahLst/>
            <a:cxnLst/>
            <a:rect l="l" t="t" r="r" b="b"/>
            <a:pathLst>
              <a:path w="155575" h="27305">
                <a:moveTo>
                  <a:pt x="11943" y="0"/>
                </a:moveTo>
                <a:lnTo>
                  <a:pt x="0" y="0"/>
                </a:lnTo>
                <a:lnTo>
                  <a:pt x="0" y="13435"/>
                </a:lnTo>
                <a:lnTo>
                  <a:pt x="143308" y="26869"/>
                </a:lnTo>
                <a:lnTo>
                  <a:pt x="155251" y="26869"/>
                </a:lnTo>
                <a:lnTo>
                  <a:pt x="155251" y="13435"/>
                </a:lnTo>
                <a:lnTo>
                  <a:pt x="11943" y="0"/>
                </a:lnTo>
                <a:close/>
              </a:path>
            </a:pathLst>
          </a:custGeom>
          <a:solidFill>
            <a:srgbClr val="000000"/>
          </a:solidFill>
        </p:spPr>
        <p:txBody>
          <a:bodyPr wrap="square" lIns="0" tIns="0" rIns="0" bIns="0" rtlCol="0"/>
          <a:lstStyle/>
          <a:p>
            <a:endParaRPr sz="1593"/>
          </a:p>
        </p:txBody>
      </p:sp>
      <p:sp>
        <p:nvSpPr>
          <p:cNvPr id="770" name="object 770"/>
          <p:cNvSpPr/>
          <p:nvPr/>
        </p:nvSpPr>
        <p:spPr>
          <a:xfrm>
            <a:off x="5139955" y="21896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71" name="object 771"/>
          <p:cNvSpPr/>
          <p:nvPr/>
        </p:nvSpPr>
        <p:spPr>
          <a:xfrm>
            <a:off x="5134669" y="2189652"/>
            <a:ext cx="127033" cy="59582"/>
          </a:xfrm>
          <a:custGeom>
            <a:avLst/>
            <a:gdLst/>
            <a:ahLst/>
            <a:cxnLst/>
            <a:rect l="l" t="t" r="r" b="b"/>
            <a:pathLst>
              <a:path w="143510" h="67310">
                <a:moveTo>
                  <a:pt x="11943" y="0"/>
                </a:moveTo>
                <a:lnTo>
                  <a:pt x="0" y="0"/>
                </a:lnTo>
                <a:lnTo>
                  <a:pt x="0" y="13434"/>
                </a:lnTo>
                <a:lnTo>
                  <a:pt x="131366" y="67172"/>
                </a:lnTo>
                <a:lnTo>
                  <a:pt x="143308" y="67172"/>
                </a:lnTo>
                <a:lnTo>
                  <a:pt x="143308" y="53737"/>
                </a:lnTo>
                <a:lnTo>
                  <a:pt x="11943" y="0"/>
                </a:lnTo>
                <a:close/>
              </a:path>
            </a:pathLst>
          </a:custGeom>
          <a:solidFill>
            <a:srgbClr val="000000"/>
          </a:solidFill>
        </p:spPr>
        <p:txBody>
          <a:bodyPr wrap="square" lIns="0" tIns="0" rIns="0" bIns="0" rtlCol="0"/>
          <a:lstStyle/>
          <a:p>
            <a:endParaRPr sz="1593"/>
          </a:p>
        </p:txBody>
      </p:sp>
      <p:sp>
        <p:nvSpPr>
          <p:cNvPr id="772" name="object 772"/>
          <p:cNvSpPr/>
          <p:nvPr/>
        </p:nvSpPr>
        <p:spPr>
          <a:xfrm>
            <a:off x="5256237" y="223722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73" name="object 773"/>
          <p:cNvSpPr/>
          <p:nvPr/>
        </p:nvSpPr>
        <p:spPr>
          <a:xfrm>
            <a:off x="5250952" y="2237221"/>
            <a:ext cx="106235" cy="71386"/>
          </a:xfrm>
          <a:custGeom>
            <a:avLst/>
            <a:gdLst/>
            <a:ahLst/>
            <a:cxnLst/>
            <a:rect l="l" t="t" r="r" b="b"/>
            <a:pathLst>
              <a:path w="120014" h="80644">
                <a:moveTo>
                  <a:pt x="11941" y="0"/>
                </a:moveTo>
                <a:lnTo>
                  <a:pt x="0" y="0"/>
                </a:lnTo>
                <a:lnTo>
                  <a:pt x="0" y="13435"/>
                </a:lnTo>
                <a:lnTo>
                  <a:pt x="107480" y="80608"/>
                </a:lnTo>
                <a:lnTo>
                  <a:pt x="119423" y="80608"/>
                </a:lnTo>
                <a:lnTo>
                  <a:pt x="119423" y="67174"/>
                </a:lnTo>
                <a:lnTo>
                  <a:pt x="11941" y="0"/>
                </a:lnTo>
                <a:close/>
              </a:path>
            </a:pathLst>
          </a:custGeom>
          <a:solidFill>
            <a:srgbClr val="000000"/>
          </a:solidFill>
        </p:spPr>
        <p:txBody>
          <a:bodyPr wrap="square" lIns="0" tIns="0" rIns="0" bIns="0" rtlCol="0"/>
          <a:lstStyle/>
          <a:p>
            <a:endParaRPr sz="1593"/>
          </a:p>
        </p:txBody>
      </p:sp>
      <p:sp>
        <p:nvSpPr>
          <p:cNvPr id="774" name="object 774"/>
          <p:cNvSpPr/>
          <p:nvPr/>
        </p:nvSpPr>
        <p:spPr>
          <a:xfrm>
            <a:off x="5351379" y="229668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75" name="object 775"/>
          <p:cNvSpPr/>
          <p:nvPr/>
        </p:nvSpPr>
        <p:spPr>
          <a:xfrm>
            <a:off x="5346092" y="2296682"/>
            <a:ext cx="106235" cy="95556"/>
          </a:xfrm>
          <a:custGeom>
            <a:avLst/>
            <a:gdLst/>
            <a:ahLst/>
            <a:cxnLst/>
            <a:rect l="l" t="t" r="r" b="b"/>
            <a:pathLst>
              <a:path w="120014" h="107950">
                <a:moveTo>
                  <a:pt x="11943" y="0"/>
                </a:moveTo>
                <a:lnTo>
                  <a:pt x="0" y="0"/>
                </a:lnTo>
                <a:lnTo>
                  <a:pt x="0" y="13434"/>
                </a:lnTo>
                <a:lnTo>
                  <a:pt x="107481" y="107477"/>
                </a:lnTo>
                <a:lnTo>
                  <a:pt x="119423" y="107477"/>
                </a:lnTo>
                <a:lnTo>
                  <a:pt x="119423" y="94043"/>
                </a:lnTo>
                <a:lnTo>
                  <a:pt x="11943" y="0"/>
                </a:lnTo>
                <a:close/>
              </a:path>
            </a:pathLst>
          </a:custGeom>
          <a:solidFill>
            <a:srgbClr val="000000"/>
          </a:solidFill>
        </p:spPr>
        <p:txBody>
          <a:bodyPr wrap="square" lIns="0" tIns="0" rIns="0" bIns="0" rtlCol="0"/>
          <a:lstStyle/>
          <a:p>
            <a:endParaRPr sz="1593"/>
          </a:p>
        </p:txBody>
      </p:sp>
      <p:sp>
        <p:nvSpPr>
          <p:cNvPr id="776" name="object 776"/>
          <p:cNvSpPr/>
          <p:nvPr/>
        </p:nvSpPr>
        <p:spPr>
          <a:xfrm>
            <a:off x="5446519" y="237992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77" name="object 777"/>
          <p:cNvSpPr/>
          <p:nvPr/>
        </p:nvSpPr>
        <p:spPr>
          <a:xfrm>
            <a:off x="5441233" y="2379928"/>
            <a:ext cx="84876" cy="107360"/>
          </a:xfrm>
          <a:custGeom>
            <a:avLst/>
            <a:gdLst/>
            <a:ahLst/>
            <a:cxnLst/>
            <a:rect l="l" t="t" r="r" b="b"/>
            <a:pathLst>
              <a:path w="95885" h="121285">
                <a:moveTo>
                  <a:pt x="11941" y="0"/>
                </a:moveTo>
                <a:lnTo>
                  <a:pt x="0" y="0"/>
                </a:lnTo>
                <a:lnTo>
                  <a:pt x="0" y="13434"/>
                </a:lnTo>
                <a:lnTo>
                  <a:pt x="83596" y="120911"/>
                </a:lnTo>
                <a:lnTo>
                  <a:pt x="95538" y="120911"/>
                </a:lnTo>
                <a:lnTo>
                  <a:pt x="95538" y="107477"/>
                </a:lnTo>
                <a:lnTo>
                  <a:pt x="11941" y="0"/>
                </a:lnTo>
                <a:close/>
              </a:path>
            </a:pathLst>
          </a:custGeom>
          <a:solidFill>
            <a:srgbClr val="000000"/>
          </a:solidFill>
        </p:spPr>
        <p:txBody>
          <a:bodyPr wrap="square" lIns="0" tIns="0" rIns="0" bIns="0" rtlCol="0"/>
          <a:lstStyle/>
          <a:p>
            <a:endParaRPr sz="1593"/>
          </a:p>
        </p:txBody>
      </p:sp>
      <p:sp>
        <p:nvSpPr>
          <p:cNvPr id="778" name="object 778"/>
          <p:cNvSpPr/>
          <p:nvPr/>
        </p:nvSpPr>
        <p:spPr>
          <a:xfrm>
            <a:off x="5520517" y="247506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79" name="object 779"/>
          <p:cNvSpPr/>
          <p:nvPr/>
        </p:nvSpPr>
        <p:spPr>
          <a:xfrm>
            <a:off x="5515232" y="2475066"/>
            <a:ext cx="74196" cy="130968"/>
          </a:xfrm>
          <a:custGeom>
            <a:avLst/>
            <a:gdLst/>
            <a:ahLst/>
            <a:cxnLst/>
            <a:rect l="l" t="t" r="r" b="b"/>
            <a:pathLst>
              <a:path w="83820" h="147955">
                <a:moveTo>
                  <a:pt x="11941" y="0"/>
                </a:moveTo>
                <a:lnTo>
                  <a:pt x="0" y="0"/>
                </a:lnTo>
                <a:lnTo>
                  <a:pt x="0" y="13434"/>
                </a:lnTo>
                <a:lnTo>
                  <a:pt x="71653" y="147781"/>
                </a:lnTo>
                <a:lnTo>
                  <a:pt x="83596" y="147781"/>
                </a:lnTo>
                <a:lnTo>
                  <a:pt x="83596" y="134346"/>
                </a:lnTo>
                <a:lnTo>
                  <a:pt x="11941" y="0"/>
                </a:lnTo>
                <a:close/>
              </a:path>
            </a:pathLst>
          </a:custGeom>
          <a:solidFill>
            <a:srgbClr val="000000"/>
          </a:solidFill>
        </p:spPr>
        <p:txBody>
          <a:bodyPr wrap="square" lIns="0" tIns="0" rIns="0" bIns="0" rtlCol="0"/>
          <a:lstStyle/>
          <a:p>
            <a:endParaRPr sz="1593"/>
          </a:p>
        </p:txBody>
      </p:sp>
      <p:sp>
        <p:nvSpPr>
          <p:cNvPr id="780" name="object 780"/>
          <p:cNvSpPr/>
          <p:nvPr/>
        </p:nvSpPr>
        <p:spPr>
          <a:xfrm>
            <a:off x="5583944" y="259398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81" name="object 781"/>
          <p:cNvSpPr/>
          <p:nvPr/>
        </p:nvSpPr>
        <p:spPr>
          <a:xfrm>
            <a:off x="5578658" y="2593987"/>
            <a:ext cx="42719" cy="142772"/>
          </a:xfrm>
          <a:custGeom>
            <a:avLst/>
            <a:gdLst/>
            <a:ahLst/>
            <a:cxnLst/>
            <a:rect l="l" t="t" r="r" b="b"/>
            <a:pathLst>
              <a:path w="48260" h="161289">
                <a:moveTo>
                  <a:pt x="11943" y="0"/>
                </a:moveTo>
                <a:lnTo>
                  <a:pt x="0" y="0"/>
                </a:lnTo>
                <a:lnTo>
                  <a:pt x="0" y="13434"/>
                </a:lnTo>
                <a:lnTo>
                  <a:pt x="35827" y="161216"/>
                </a:lnTo>
                <a:lnTo>
                  <a:pt x="47769" y="161216"/>
                </a:lnTo>
                <a:lnTo>
                  <a:pt x="47769" y="147782"/>
                </a:lnTo>
                <a:lnTo>
                  <a:pt x="11943" y="0"/>
                </a:lnTo>
                <a:close/>
              </a:path>
            </a:pathLst>
          </a:custGeom>
          <a:solidFill>
            <a:srgbClr val="000000"/>
          </a:solidFill>
        </p:spPr>
        <p:txBody>
          <a:bodyPr wrap="square" lIns="0" tIns="0" rIns="0" bIns="0" rtlCol="0"/>
          <a:lstStyle/>
          <a:p>
            <a:endParaRPr sz="1593"/>
          </a:p>
        </p:txBody>
      </p:sp>
      <p:sp>
        <p:nvSpPr>
          <p:cNvPr id="782" name="object 782"/>
          <p:cNvSpPr/>
          <p:nvPr/>
        </p:nvSpPr>
        <p:spPr>
          <a:xfrm>
            <a:off x="5615658" y="272480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83" name="object 783"/>
          <p:cNvSpPr/>
          <p:nvPr/>
        </p:nvSpPr>
        <p:spPr>
          <a:xfrm>
            <a:off x="5610372" y="2724802"/>
            <a:ext cx="21360" cy="142772"/>
          </a:xfrm>
          <a:custGeom>
            <a:avLst/>
            <a:gdLst/>
            <a:ahLst/>
            <a:cxnLst/>
            <a:rect l="l" t="t" r="r" b="b"/>
            <a:pathLst>
              <a:path w="24129" h="161289">
                <a:moveTo>
                  <a:pt x="11941" y="0"/>
                </a:moveTo>
                <a:lnTo>
                  <a:pt x="0" y="0"/>
                </a:lnTo>
                <a:lnTo>
                  <a:pt x="0" y="13434"/>
                </a:lnTo>
                <a:lnTo>
                  <a:pt x="11941" y="161216"/>
                </a:lnTo>
                <a:lnTo>
                  <a:pt x="23883" y="161216"/>
                </a:lnTo>
                <a:lnTo>
                  <a:pt x="23883" y="147781"/>
                </a:lnTo>
                <a:lnTo>
                  <a:pt x="11941" y="0"/>
                </a:lnTo>
                <a:close/>
              </a:path>
            </a:pathLst>
          </a:custGeom>
          <a:solidFill>
            <a:srgbClr val="000000"/>
          </a:solidFill>
        </p:spPr>
        <p:txBody>
          <a:bodyPr wrap="square" lIns="0" tIns="0" rIns="0" bIns="0" rtlCol="0"/>
          <a:lstStyle/>
          <a:p>
            <a:endParaRPr sz="1593"/>
          </a:p>
        </p:txBody>
      </p:sp>
      <p:sp>
        <p:nvSpPr>
          <p:cNvPr id="784" name="object 784"/>
          <p:cNvSpPr/>
          <p:nvPr/>
        </p:nvSpPr>
        <p:spPr>
          <a:xfrm>
            <a:off x="5626229" y="285561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85" name="object 785"/>
          <p:cNvSpPr txBox="1"/>
          <p:nvPr/>
        </p:nvSpPr>
        <p:spPr>
          <a:xfrm>
            <a:off x="4616011" y="2749236"/>
            <a:ext cx="788053" cy="183989"/>
          </a:xfrm>
          <a:prstGeom prst="rect">
            <a:avLst/>
          </a:prstGeom>
        </p:spPr>
        <p:txBody>
          <a:bodyPr vert="horz" wrap="square" lIns="0" tIns="13490" rIns="0" bIns="0" rtlCol="0">
            <a:spAutoFit/>
          </a:bodyPr>
          <a:lstStyle/>
          <a:p>
            <a:pPr marL="11242">
              <a:spcBef>
                <a:spcPts val="106"/>
              </a:spcBef>
            </a:pPr>
            <a:r>
              <a:rPr sz="1107" spc="-84" dirty="0">
                <a:latin typeface="Verdana"/>
                <a:cs typeface="Verdana"/>
              </a:rPr>
              <a:t>e</a:t>
            </a:r>
            <a:r>
              <a:rPr sz="1107" spc="-120" dirty="0">
                <a:latin typeface="Verdana"/>
                <a:cs typeface="Verdana"/>
              </a:rPr>
              <a:t>n</a:t>
            </a:r>
            <a:r>
              <a:rPr sz="1107" spc="-93" dirty="0">
                <a:latin typeface="Verdana"/>
                <a:cs typeface="Verdana"/>
              </a:rPr>
              <a:t>v</a:t>
            </a:r>
            <a:r>
              <a:rPr sz="1107" spc="-71" dirty="0">
                <a:latin typeface="Verdana"/>
                <a:cs typeface="Verdana"/>
              </a:rPr>
              <a:t>i</a:t>
            </a:r>
            <a:r>
              <a:rPr sz="1107" spc="-89" dirty="0">
                <a:latin typeface="Verdana"/>
                <a:cs typeface="Verdana"/>
              </a:rPr>
              <a:t>r</a:t>
            </a:r>
            <a:r>
              <a:rPr sz="1107" spc="-93" dirty="0">
                <a:latin typeface="Verdana"/>
                <a:cs typeface="Verdana"/>
              </a:rPr>
              <a:t>on</a:t>
            </a:r>
            <a:r>
              <a:rPr sz="1107" spc="-168" dirty="0">
                <a:latin typeface="Verdana"/>
                <a:cs typeface="Verdana"/>
              </a:rPr>
              <a:t>m</a:t>
            </a:r>
            <a:r>
              <a:rPr sz="1107" spc="-106" dirty="0">
                <a:latin typeface="Verdana"/>
                <a:cs typeface="Verdana"/>
              </a:rPr>
              <a:t>e</a:t>
            </a:r>
            <a:r>
              <a:rPr sz="1107" spc="-120" dirty="0">
                <a:latin typeface="Verdana"/>
                <a:cs typeface="Verdana"/>
              </a:rPr>
              <a:t>n</a:t>
            </a:r>
            <a:r>
              <a:rPr sz="1107" spc="4" dirty="0">
                <a:latin typeface="Verdana"/>
                <a:cs typeface="Verdana"/>
              </a:rPr>
              <a:t>t</a:t>
            </a:r>
            <a:endParaRPr sz="1107">
              <a:latin typeface="Verdana"/>
              <a:cs typeface="Verdana"/>
            </a:endParaRPr>
          </a:p>
        </p:txBody>
      </p:sp>
      <p:sp>
        <p:nvSpPr>
          <p:cNvPr id="786" name="object 786"/>
          <p:cNvSpPr/>
          <p:nvPr/>
        </p:nvSpPr>
        <p:spPr>
          <a:xfrm>
            <a:off x="5303808" y="1999377"/>
            <a:ext cx="581766" cy="618864"/>
          </a:xfrm>
          <a:custGeom>
            <a:avLst/>
            <a:gdLst/>
            <a:ahLst/>
            <a:cxnLst/>
            <a:rect l="l" t="t" r="r" b="b"/>
            <a:pathLst>
              <a:path w="657225" h="699135">
                <a:moveTo>
                  <a:pt x="334384" y="0"/>
                </a:moveTo>
                <a:lnTo>
                  <a:pt x="203019" y="26869"/>
                </a:lnTo>
                <a:lnTo>
                  <a:pt x="95538" y="107477"/>
                </a:lnTo>
                <a:lnTo>
                  <a:pt x="23883" y="214956"/>
                </a:lnTo>
                <a:lnTo>
                  <a:pt x="0" y="349302"/>
                </a:lnTo>
                <a:lnTo>
                  <a:pt x="23883" y="483650"/>
                </a:lnTo>
                <a:lnTo>
                  <a:pt x="95538" y="604561"/>
                </a:lnTo>
                <a:lnTo>
                  <a:pt x="203019" y="671736"/>
                </a:lnTo>
                <a:lnTo>
                  <a:pt x="334384" y="698605"/>
                </a:lnTo>
                <a:lnTo>
                  <a:pt x="453807" y="671736"/>
                </a:lnTo>
                <a:lnTo>
                  <a:pt x="561289" y="604561"/>
                </a:lnTo>
                <a:lnTo>
                  <a:pt x="632942" y="483650"/>
                </a:lnTo>
                <a:lnTo>
                  <a:pt x="656827" y="349302"/>
                </a:lnTo>
                <a:lnTo>
                  <a:pt x="632942" y="214956"/>
                </a:lnTo>
                <a:lnTo>
                  <a:pt x="561289" y="107477"/>
                </a:lnTo>
                <a:lnTo>
                  <a:pt x="453807" y="26869"/>
                </a:lnTo>
                <a:lnTo>
                  <a:pt x="334384" y="0"/>
                </a:lnTo>
                <a:close/>
              </a:path>
            </a:pathLst>
          </a:custGeom>
          <a:solidFill>
            <a:srgbClr val="FFFFFF"/>
          </a:solidFill>
        </p:spPr>
        <p:txBody>
          <a:bodyPr wrap="square" lIns="0" tIns="0" rIns="0" bIns="0" rtlCol="0"/>
          <a:lstStyle/>
          <a:p>
            <a:endParaRPr sz="1593"/>
          </a:p>
        </p:txBody>
      </p:sp>
      <p:sp>
        <p:nvSpPr>
          <p:cNvPr id="787" name="object 787"/>
          <p:cNvSpPr/>
          <p:nvPr/>
        </p:nvSpPr>
        <p:spPr>
          <a:xfrm>
            <a:off x="5864080" y="2308574"/>
            <a:ext cx="32039" cy="130968"/>
          </a:xfrm>
          <a:custGeom>
            <a:avLst/>
            <a:gdLst/>
            <a:ahLst/>
            <a:cxnLst/>
            <a:rect l="l" t="t" r="r" b="b"/>
            <a:pathLst>
              <a:path w="36195" h="147955">
                <a:moveTo>
                  <a:pt x="35827" y="0"/>
                </a:moveTo>
                <a:lnTo>
                  <a:pt x="23884" y="0"/>
                </a:lnTo>
                <a:lnTo>
                  <a:pt x="0" y="134348"/>
                </a:lnTo>
                <a:lnTo>
                  <a:pt x="0" y="147782"/>
                </a:lnTo>
                <a:lnTo>
                  <a:pt x="11943" y="147782"/>
                </a:lnTo>
                <a:lnTo>
                  <a:pt x="35827" y="13435"/>
                </a:lnTo>
                <a:lnTo>
                  <a:pt x="35827" y="0"/>
                </a:lnTo>
                <a:close/>
              </a:path>
            </a:pathLst>
          </a:custGeom>
          <a:solidFill>
            <a:srgbClr val="000000"/>
          </a:solidFill>
        </p:spPr>
        <p:txBody>
          <a:bodyPr wrap="square" lIns="0" tIns="0" rIns="0" bIns="0" rtlCol="0"/>
          <a:lstStyle/>
          <a:p>
            <a:endParaRPr sz="1593"/>
          </a:p>
        </p:txBody>
      </p:sp>
      <p:sp>
        <p:nvSpPr>
          <p:cNvPr id="788" name="object 788"/>
          <p:cNvSpPr/>
          <p:nvPr/>
        </p:nvSpPr>
        <p:spPr>
          <a:xfrm>
            <a:off x="5869366" y="242749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89" name="object 789"/>
          <p:cNvSpPr/>
          <p:nvPr/>
        </p:nvSpPr>
        <p:spPr>
          <a:xfrm>
            <a:off x="5800653" y="2427496"/>
            <a:ext cx="74196" cy="119164"/>
          </a:xfrm>
          <a:custGeom>
            <a:avLst/>
            <a:gdLst/>
            <a:ahLst/>
            <a:cxnLst/>
            <a:rect l="l" t="t" r="r" b="b"/>
            <a:pathLst>
              <a:path w="83820" h="134619">
                <a:moveTo>
                  <a:pt x="83596" y="0"/>
                </a:moveTo>
                <a:lnTo>
                  <a:pt x="71653" y="0"/>
                </a:lnTo>
                <a:lnTo>
                  <a:pt x="0" y="120911"/>
                </a:lnTo>
                <a:lnTo>
                  <a:pt x="0" y="134346"/>
                </a:lnTo>
                <a:lnTo>
                  <a:pt x="11941" y="134346"/>
                </a:lnTo>
                <a:lnTo>
                  <a:pt x="83596" y="13434"/>
                </a:lnTo>
                <a:lnTo>
                  <a:pt x="83596" y="0"/>
                </a:lnTo>
                <a:close/>
              </a:path>
            </a:pathLst>
          </a:custGeom>
          <a:solidFill>
            <a:srgbClr val="000000"/>
          </a:solidFill>
        </p:spPr>
        <p:txBody>
          <a:bodyPr wrap="square" lIns="0" tIns="0" rIns="0" bIns="0" rtlCol="0"/>
          <a:lstStyle/>
          <a:p>
            <a:endParaRPr sz="1593"/>
          </a:p>
        </p:txBody>
      </p:sp>
      <p:sp>
        <p:nvSpPr>
          <p:cNvPr id="790" name="object 790"/>
          <p:cNvSpPr/>
          <p:nvPr/>
        </p:nvSpPr>
        <p:spPr>
          <a:xfrm>
            <a:off x="5805938" y="253452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91" name="object 791"/>
          <p:cNvSpPr/>
          <p:nvPr/>
        </p:nvSpPr>
        <p:spPr>
          <a:xfrm>
            <a:off x="5705512" y="2534526"/>
            <a:ext cx="106235" cy="71386"/>
          </a:xfrm>
          <a:custGeom>
            <a:avLst/>
            <a:gdLst/>
            <a:ahLst/>
            <a:cxnLst/>
            <a:rect l="l" t="t" r="r" b="b"/>
            <a:pathLst>
              <a:path w="120015" h="80644">
                <a:moveTo>
                  <a:pt x="119423" y="0"/>
                </a:moveTo>
                <a:lnTo>
                  <a:pt x="107481" y="0"/>
                </a:lnTo>
                <a:lnTo>
                  <a:pt x="0" y="67174"/>
                </a:lnTo>
                <a:lnTo>
                  <a:pt x="0" y="80608"/>
                </a:lnTo>
                <a:lnTo>
                  <a:pt x="11941" y="80608"/>
                </a:lnTo>
                <a:lnTo>
                  <a:pt x="119423" y="13435"/>
                </a:lnTo>
                <a:lnTo>
                  <a:pt x="119423" y="0"/>
                </a:lnTo>
                <a:close/>
              </a:path>
            </a:pathLst>
          </a:custGeom>
          <a:solidFill>
            <a:srgbClr val="000000"/>
          </a:solidFill>
        </p:spPr>
        <p:txBody>
          <a:bodyPr wrap="square" lIns="0" tIns="0" rIns="0" bIns="0" rtlCol="0"/>
          <a:lstStyle/>
          <a:p>
            <a:endParaRPr sz="1593"/>
          </a:p>
        </p:txBody>
      </p:sp>
      <p:sp>
        <p:nvSpPr>
          <p:cNvPr id="792" name="object 792"/>
          <p:cNvSpPr/>
          <p:nvPr/>
        </p:nvSpPr>
        <p:spPr>
          <a:xfrm>
            <a:off x="5710798" y="259398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93" name="object 793"/>
          <p:cNvSpPr/>
          <p:nvPr/>
        </p:nvSpPr>
        <p:spPr>
          <a:xfrm>
            <a:off x="5599801" y="2593987"/>
            <a:ext cx="116353" cy="35974"/>
          </a:xfrm>
          <a:custGeom>
            <a:avLst/>
            <a:gdLst/>
            <a:ahLst/>
            <a:cxnLst/>
            <a:rect l="l" t="t" r="r" b="b"/>
            <a:pathLst>
              <a:path w="131445" h="40639">
                <a:moveTo>
                  <a:pt x="131364" y="0"/>
                </a:moveTo>
                <a:lnTo>
                  <a:pt x="119423" y="0"/>
                </a:lnTo>
                <a:lnTo>
                  <a:pt x="0" y="26869"/>
                </a:lnTo>
                <a:lnTo>
                  <a:pt x="0" y="40303"/>
                </a:lnTo>
                <a:lnTo>
                  <a:pt x="11943" y="40303"/>
                </a:lnTo>
                <a:lnTo>
                  <a:pt x="131364" y="13434"/>
                </a:lnTo>
                <a:lnTo>
                  <a:pt x="131364" y="0"/>
                </a:lnTo>
                <a:close/>
              </a:path>
            </a:pathLst>
          </a:custGeom>
          <a:solidFill>
            <a:srgbClr val="000000"/>
          </a:solidFill>
        </p:spPr>
        <p:txBody>
          <a:bodyPr wrap="square" lIns="0" tIns="0" rIns="0" bIns="0" rtlCol="0"/>
          <a:lstStyle/>
          <a:p>
            <a:endParaRPr sz="1593"/>
          </a:p>
        </p:txBody>
      </p:sp>
      <p:sp>
        <p:nvSpPr>
          <p:cNvPr id="794" name="object 794"/>
          <p:cNvSpPr/>
          <p:nvPr/>
        </p:nvSpPr>
        <p:spPr>
          <a:xfrm>
            <a:off x="5599801" y="261777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95" name="object 795"/>
          <p:cNvSpPr/>
          <p:nvPr/>
        </p:nvSpPr>
        <p:spPr>
          <a:xfrm>
            <a:off x="5599801" y="261777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96" name="object 796"/>
          <p:cNvSpPr/>
          <p:nvPr/>
        </p:nvSpPr>
        <p:spPr>
          <a:xfrm>
            <a:off x="5599801" y="2617771"/>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797" name="object 797"/>
          <p:cNvSpPr/>
          <p:nvPr/>
        </p:nvSpPr>
        <p:spPr>
          <a:xfrm>
            <a:off x="5483518" y="2593987"/>
            <a:ext cx="127033" cy="35974"/>
          </a:xfrm>
          <a:custGeom>
            <a:avLst/>
            <a:gdLst/>
            <a:ahLst/>
            <a:cxnLst/>
            <a:rect l="l" t="t" r="r" b="b"/>
            <a:pathLst>
              <a:path w="143510" h="40639">
                <a:moveTo>
                  <a:pt x="11941" y="0"/>
                </a:moveTo>
                <a:lnTo>
                  <a:pt x="0" y="0"/>
                </a:lnTo>
                <a:lnTo>
                  <a:pt x="0" y="13434"/>
                </a:lnTo>
                <a:lnTo>
                  <a:pt x="131364" y="40303"/>
                </a:lnTo>
                <a:lnTo>
                  <a:pt x="143308" y="40303"/>
                </a:lnTo>
                <a:lnTo>
                  <a:pt x="143308" y="26869"/>
                </a:lnTo>
                <a:lnTo>
                  <a:pt x="11941" y="0"/>
                </a:lnTo>
                <a:close/>
              </a:path>
            </a:pathLst>
          </a:custGeom>
          <a:solidFill>
            <a:srgbClr val="000000"/>
          </a:solidFill>
        </p:spPr>
        <p:txBody>
          <a:bodyPr wrap="square" lIns="0" tIns="0" rIns="0" bIns="0" rtlCol="0"/>
          <a:lstStyle/>
          <a:p>
            <a:endParaRPr sz="1593"/>
          </a:p>
        </p:txBody>
      </p:sp>
      <p:sp>
        <p:nvSpPr>
          <p:cNvPr id="798" name="object 798"/>
          <p:cNvSpPr/>
          <p:nvPr/>
        </p:nvSpPr>
        <p:spPr>
          <a:xfrm>
            <a:off x="5488804" y="2593987"/>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799" name="object 799"/>
          <p:cNvSpPr/>
          <p:nvPr/>
        </p:nvSpPr>
        <p:spPr>
          <a:xfrm>
            <a:off x="5388377" y="2534526"/>
            <a:ext cx="106235" cy="71386"/>
          </a:xfrm>
          <a:custGeom>
            <a:avLst/>
            <a:gdLst/>
            <a:ahLst/>
            <a:cxnLst/>
            <a:rect l="l" t="t" r="r" b="b"/>
            <a:pathLst>
              <a:path w="120014" h="80644">
                <a:moveTo>
                  <a:pt x="11941" y="0"/>
                </a:moveTo>
                <a:lnTo>
                  <a:pt x="0" y="0"/>
                </a:lnTo>
                <a:lnTo>
                  <a:pt x="0" y="13435"/>
                </a:lnTo>
                <a:lnTo>
                  <a:pt x="107481" y="80608"/>
                </a:lnTo>
                <a:lnTo>
                  <a:pt x="119423" y="80608"/>
                </a:lnTo>
                <a:lnTo>
                  <a:pt x="119423" y="67174"/>
                </a:lnTo>
                <a:lnTo>
                  <a:pt x="11941" y="0"/>
                </a:lnTo>
                <a:close/>
              </a:path>
            </a:pathLst>
          </a:custGeom>
          <a:solidFill>
            <a:srgbClr val="000000"/>
          </a:solidFill>
        </p:spPr>
        <p:txBody>
          <a:bodyPr wrap="square" lIns="0" tIns="0" rIns="0" bIns="0" rtlCol="0"/>
          <a:lstStyle/>
          <a:p>
            <a:endParaRPr sz="1593"/>
          </a:p>
        </p:txBody>
      </p:sp>
      <p:sp>
        <p:nvSpPr>
          <p:cNvPr id="800" name="object 800"/>
          <p:cNvSpPr/>
          <p:nvPr/>
        </p:nvSpPr>
        <p:spPr>
          <a:xfrm>
            <a:off x="5393663" y="253452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01" name="object 801"/>
          <p:cNvSpPr/>
          <p:nvPr/>
        </p:nvSpPr>
        <p:spPr>
          <a:xfrm>
            <a:off x="5324950" y="2427496"/>
            <a:ext cx="74196" cy="119164"/>
          </a:xfrm>
          <a:custGeom>
            <a:avLst/>
            <a:gdLst/>
            <a:ahLst/>
            <a:cxnLst/>
            <a:rect l="l" t="t" r="r" b="b"/>
            <a:pathLst>
              <a:path w="83820" h="134619">
                <a:moveTo>
                  <a:pt x="11943" y="0"/>
                </a:moveTo>
                <a:lnTo>
                  <a:pt x="0" y="0"/>
                </a:lnTo>
                <a:lnTo>
                  <a:pt x="0" y="13434"/>
                </a:lnTo>
                <a:lnTo>
                  <a:pt x="71654" y="134346"/>
                </a:lnTo>
                <a:lnTo>
                  <a:pt x="83596" y="134346"/>
                </a:lnTo>
                <a:lnTo>
                  <a:pt x="83596" y="120911"/>
                </a:lnTo>
                <a:lnTo>
                  <a:pt x="11943" y="0"/>
                </a:lnTo>
                <a:close/>
              </a:path>
            </a:pathLst>
          </a:custGeom>
          <a:solidFill>
            <a:srgbClr val="000000"/>
          </a:solidFill>
        </p:spPr>
        <p:txBody>
          <a:bodyPr wrap="square" lIns="0" tIns="0" rIns="0" bIns="0" rtlCol="0"/>
          <a:lstStyle/>
          <a:p>
            <a:endParaRPr sz="1593"/>
          </a:p>
        </p:txBody>
      </p:sp>
      <p:sp>
        <p:nvSpPr>
          <p:cNvPr id="802" name="object 802"/>
          <p:cNvSpPr/>
          <p:nvPr/>
        </p:nvSpPr>
        <p:spPr>
          <a:xfrm>
            <a:off x="5330236" y="242749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03" name="object 803"/>
          <p:cNvSpPr/>
          <p:nvPr/>
        </p:nvSpPr>
        <p:spPr>
          <a:xfrm>
            <a:off x="5303808" y="2308574"/>
            <a:ext cx="32039" cy="130968"/>
          </a:xfrm>
          <a:custGeom>
            <a:avLst/>
            <a:gdLst/>
            <a:ahLst/>
            <a:cxnLst/>
            <a:rect l="l" t="t" r="r" b="b"/>
            <a:pathLst>
              <a:path w="36195" h="147955">
                <a:moveTo>
                  <a:pt x="11941" y="0"/>
                </a:moveTo>
                <a:lnTo>
                  <a:pt x="0" y="0"/>
                </a:lnTo>
                <a:lnTo>
                  <a:pt x="0" y="13435"/>
                </a:lnTo>
                <a:lnTo>
                  <a:pt x="23883" y="147782"/>
                </a:lnTo>
                <a:lnTo>
                  <a:pt x="35826" y="147782"/>
                </a:lnTo>
                <a:lnTo>
                  <a:pt x="35826" y="134348"/>
                </a:lnTo>
                <a:lnTo>
                  <a:pt x="11941" y="0"/>
                </a:lnTo>
                <a:close/>
              </a:path>
            </a:pathLst>
          </a:custGeom>
          <a:solidFill>
            <a:srgbClr val="000000"/>
          </a:solidFill>
        </p:spPr>
        <p:txBody>
          <a:bodyPr wrap="square" lIns="0" tIns="0" rIns="0" bIns="0" rtlCol="0"/>
          <a:lstStyle/>
          <a:p>
            <a:endParaRPr sz="1593"/>
          </a:p>
        </p:txBody>
      </p:sp>
      <p:sp>
        <p:nvSpPr>
          <p:cNvPr id="804" name="object 804"/>
          <p:cNvSpPr/>
          <p:nvPr/>
        </p:nvSpPr>
        <p:spPr>
          <a:xfrm>
            <a:off x="5303808" y="230857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05" name="object 805"/>
          <p:cNvSpPr/>
          <p:nvPr/>
        </p:nvSpPr>
        <p:spPr>
          <a:xfrm>
            <a:off x="5303808" y="230857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06" name="object 806"/>
          <p:cNvSpPr/>
          <p:nvPr/>
        </p:nvSpPr>
        <p:spPr>
          <a:xfrm>
            <a:off x="5303808" y="2308574"/>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07" name="object 807"/>
          <p:cNvSpPr/>
          <p:nvPr/>
        </p:nvSpPr>
        <p:spPr>
          <a:xfrm>
            <a:off x="5303808" y="2189653"/>
            <a:ext cx="32039" cy="130968"/>
          </a:xfrm>
          <a:custGeom>
            <a:avLst/>
            <a:gdLst/>
            <a:ahLst/>
            <a:cxnLst/>
            <a:rect l="l" t="t" r="r" b="b"/>
            <a:pathLst>
              <a:path w="36195" h="147955">
                <a:moveTo>
                  <a:pt x="35826" y="0"/>
                </a:moveTo>
                <a:lnTo>
                  <a:pt x="23883" y="0"/>
                </a:lnTo>
                <a:lnTo>
                  <a:pt x="0" y="134345"/>
                </a:lnTo>
                <a:lnTo>
                  <a:pt x="0" y="147781"/>
                </a:lnTo>
                <a:lnTo>
                  <a:pt x="11941" y="147781"/>
                </a:lnTo>
                <a:lnTo>
                  <a:pt x="35826" y="13434"/>
                </a:lnTo>
                <a:lnTo>
                  <a:pt x="35826" y="0"/>
                </a:lnTo>
                <a:close/>
              </a:path>
            </a:pathLst>
          </a:custGeom>
          <a:solidFill>
            <a:srgbClr val="000000"/>
          </a:solidFill>
        </p:spPr>
        <p:txBody>
          <a:bodyPr wrap="square" lIns="0" tIns="0" rIns="0" bIns="0" rtlCol="0"/>
          <a:lstStyle/>
          <a:p>
            <a:endParaRPr sz="1593"/>
          </a:p>
        </p:txBody>
      </p:sp>
      <p:sp>
        <p:nvSpPr>
          <p:cNvPr id="808" name="object 808"/>
          <p:cNvSpPr/>
          <p:nvPr/>
        </p:nvSpPr>
        <p:spPr>
          <a:xfrm>
            <a:off x="5330236" y="21896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09" name="object 809"/>
          <p:cNvSpPr/>
          <p:nvPr/>
        </p:nvSpPr>
        <p:spPr>
          <a:xfrm>
            <a:off x="5324950" y="2094514"/>
            <a:ext cx="74196" cy="107360"/>
          </a:xfrm>
          <a:custGeom>
            <a:avLst/>
            <a:gdLst/>
            <a:ahLst/>
            <a:cxnLst/>
            <a:rect l="l" t="t" r="r" b="b"/>
            <a:pathLst>
              <a:path w="83820" h="121285">
                <a:moveTo>
                  <a:pt x="83596" y="0"/>
                </a:moveTo>
                <a:lnTo>
                  <a:pt x="71654" y="0"/>
                </a:lnTo>
                <a:lnTo>
                  <a:pt x="0" y="107478"/>
                </a:lnTo>
                <a:lnTo>
                  <a:pt x="0" y="120912"/>
                </a:lnTo>
                <a:lnTo>
                  <a:pt x="11943" y="120912"/>
                </a:lnTo>
                <a:lnTo>
                  <a:pt x="83596" y="13435"/>
                </a:lnTo>
                <a:lnTo>
                  <a:pt x="83596" y="0"/>
                </a:lnTo>
                <a:close/>
              </a:path>
            </a:pathLst>
          </a:custGeom>
          <a:solidFill>
            <a:srgbClr val="000000"/>
          </a:solidFill>
        </p:spPr>
        <p:txBody>
          <a:bodyPr wrap="square" lIns="0" tIns="0" rIns="0" bIns="0" rtlCol="0"/>
          <a:lstStyle/>
          <a:p>
            <a:endParaRPr sz="1593"/>
          </a:p>
        </p:txBody>
      </p:sp>
      <p:sp>
        <p:nvSpPr>
          <p:cNvPr id="810" name="object 810"/>
          <p:cNvSpPr/>
          <p:nvPr/>
        </p:nvSpPr>
        <p:spPr>
          <a:xfrm>
            <a:off x="5393663" y="209451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11" name="object 811"/>
          <p:cNvSpPr/>
          <p:nvPr/>
        </p:nvSpPr>
        <p:spPr>
          <a:xfrm>
            <a:off x="5388377" y="2023161"/>
            <a:ext cx="106235" cy="83752"/>
          </a:xfrm>
          <a:custGeom>
            <a:avLst/>
            <a:gdLst/>
            <a:ahLst/>
            <a:cxnLst/>
            <a:rect l="l" t="t" r="r" b="b"/>
            <a:pathLst>
              <a:path w="120014" h="94614">
                <a:moveTo>
                  <a:pt x="119423" y="0"/>
                </a:moveTo>
                <a:lnTo>
                  <a:pt x="107481" y="0"/>
                </a:lnTo>
                <a:lnTo>
                  <a:pt x="0" y="80608"/>
                </a:lnTo>
                <a:lnTo>
                  <a:pt x="0" y="94043"/>
                </a:lnTo>
                <a:lnTo>
                  <a:pt x="11941" y="94043"/>
                </a:lnTo>
                <a:lnTo>
                  <a:pt x="119423" y="13435"/>
                </a:lnTo>
                <a:lnTo>
                  <a:pt x="119423" y="0"/>
                </a:lnTo>
                <a:close/>
              </a:path>
            </a:pathLst>
          </a:custGeom>
          <a:solidFill>
            <a:srgbClr val="000000"/>
          </a:solidFill>
        </p:spPr>
        <p:txBody>
          <a:bodyPr wrap="square" lIns="0" tIns="0" rIns="0" bIns="0" rtlCol="0"/>
          <a:lstStyle/>
          <a:p>
            <a:endParaRPr sz="1593"/>
          </a:p>
        </p:txBody>
      </p:sp>
      <p:sp>
        <p:nvSpPr>
          <p:cNvPr id="812" name="object 812"/>
          <p:cNvSpPr/>
          <p:nvPr/>
        </p:nvSpPr>
        <p:spPr>
          <a:xfrm>
            <a:off x="5488804" y="202316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13" name="object 813"/>
          <p:cNvSpPr/>
          <p:nvPr/>
        </p:nvSpPr>
        <p:spPr>
          <a:xfrm>
            <a:off x="5483518" y="1999377"/>
            <a:ext cx="127033" cy="35974"/>
          </a:xfrm>
          <a:custGeom>
            <a:avLst/>
            <a:gdLst/>
            <a:ahLst/>
            <a:cxnLst/>
            <a:rect l="l" t="t" r="r" b="b"/>
            <a:pathLst>
              <a:path w="143510" h="40639">
                <a:moveTo>
                  <a:pt x="143308" y="0"/>
                </a:moveTo>
                <a:lnTo>
                  <a:pt x="131364" y="0"/>
                </a:lnTo>
                <a:lnTo>
                  <a:pt x="0" y="26869"/>
                </a:lnTo>
                <a:lnTo>
                  <a:pt x="0" y="40304"/>
                </a:lnTo>
                <a:lnTo>
                  <a:pt x="11941" y="40304"/>
                </a:lnTo>
                <a:lnTo>
                  <a:pt x="143308" y="13435"/>
                </a:lnTo>
                <a:lnTo>
                  <a:pt x="143308" y="0"/>
                </a:lnTo>
                <a:close/>
              </a:path>
            </a:pathLst>
          </a:custGeom>
          <a:solidFill>
            <a:srgbClr val="000000"/>
          </a:solidFill>
        </p:spPr>
        <p:txBody>
          <a:bodyPr wrap="square" lIns="0" tIns="0" rIns="0" bIns="0" rtlCol="0"/>
          <a:lstStyle/>
          <a:p>
            <a:endParaRPr sz="1593"/>
          </a:p>
        </p:txBody>
      </p:sp>
      <p:sp>
        <p:nvSpPr>
          <p:cNvPr id="814" name="object 814"/>
          <p:cNvSpPr/>
          <p:nvPr/>
        </p:nvSpPr>
        <p:spPr>
          <a:xfrm>
            <a:off x="5599801" y="199937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15" name="object 815"/>
          <p:cNvSpPr/>
          <p:nvPr/>
        </p:nvSpPr>
        <p:spPr>
          <a:xfrm>
            <a:off x="5599801" y="199937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16" name="object 816"/>
          <p:cNvSpPr/>
          <p:nvPr/>
        </p:nvSpPr>
        <p:spPr>
          <a:xfrm>
            <a:off x="5599801" y="1999377"/>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17" name="object 817"/>
          <p:cNvSpPr/>
          <p:nvPr/>
        </p:nvSpPr>
        <p:spPr>
          <a:xfrm>
            <a:off x="5599801" y="1999377"/>
            <a:ext cx="116353" cy="35974"/>
          </a:xfrm>
          <a:custGeom>
            <a:avLst/>
            <a:gdLst/>
            <a:ahLst/>
            <a:cxnLst/>
            <a:rect l="l" t="t" r="r" b="b"/>
            <a:pathLst>
              <a:path w="131445" h="40639">
                <a:moveTo>
                  <a:pt x="11943" y="0"/>
                </a:moveTo>
                <a:lnTo>
                  <a:pt x="0" y="0"/>
                </a:lnTo>
                <a:lnTo>
                  <a:pt x="0" y="13435"/>
                </a:lnTo>
                <a:lnTo>
                  <a:pt x="119423" y="40304"/>
                </a:lnTo>
                <a:lnTo>
                  <a:pt x="131364" y="40304"/>
                </a:lnTo>
                <a:lnTo>
                  <a:pt x="131364" y="26869"/>
                </a:lnTo>
                <a:lnTo>
                  <a:pt x="11943" y="0"/>
                </a:lnTo>
                <a:close/>
              </a:path>
            </a:pathLst>
          </a:custGeom>
          <a:solidFill>
            <a:srgbClr val="000000"/>
          </a:solidFill>
        </p:spPr>
        <p:txBody>
          <a:bodyPr wrap="square" lIns="0" tIns="0" rIns="0" bIns="0" rtlCol="0"/>
          <a:lstStyle/>
          <a:p>
            <a:endParaRPr sz="1593"/>
          </a:p>
        </p:txBody>
      </p:sp>
      <p:sp>
        <p:nvSpPr>
          <p:cNvPr id="818" name="object 818"/>
          <p:cNvSpPr/>
          <p:nvPr/>
        </p:nvSpPr>
        <p:spPr>
          <a:xfrm>
            <a:off x="5710798" y="2023162"/>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19" name="object 819"/>
          <p:cNvSpPr/>
          <p:nvPr/>
        </p:nvSpPr>
        <p:spPr>
          <a:xfrm>
            <a:off x="5705512" y="2023161"/>
            <a:ext cx="106235" cy="83752"/>
          </a:xfrm>
          <a:custGeom>
            <a:avLst/>
            <a:gdLst/>
            <a:ahLst/>
            <a:cxnLst/>
            <a:rect l="l" t="t" r="r" b="b"/>
            <a:pathLst>
              <a:path w="120015" h="94614">
                <a:moveTo>
                  <a:pt x="11941" y="0"/>
                </a:moveTo>
                <a:lnTo>
                  <a:pt x="0" y="0"/>
                </a:lnTo>
                <a:lnTo>
                  <a:pt x="0" y="13435"/>
                </a:lnTo>
                <a:lnTo>
                  <a:pt x="107481" y="94043"/>
                </a:lnTo>
                <a:lnTo>
                  <a:pt x="119423" y="94043"/>
                </a:lnTo>
                <a:lnTo>
                  <a:pt x="119423" y="80608"/>
                </a:lnTo>
                <a:lnTo>
                  <a:pt x="11941" y="0"/>
                </a:lnTo>
                <a:close/>
              </a:path>
            </a:pathLst>
          </a:custGeom>
          <a:solidFill>
            <a:srgbClr val="000000"/>
          </a:solidFill>
        </p:spPr>
        <p:txBody>
          <a:bodyPr wrap="square" lIns="0" tIns="0" rIns="0" bIns="0" rtlCol="0"/>
          <a:lstStyle/>
          <a:p>
            <a:endParaRPr sz="1593"/>
          </a:p>
        </p:txBody>
      </p:sp>
      <p:sp>
        <p:nvSpPr>
          <p:cNvPr id="820" name="object 820"/>
          <p:cNvSpPr/>
          <p:nvPr/>
        </p:nvSpPr>
        <p:spPr>
          <a:xfrm>
            <a:off x="5805938" y="209451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21" name="object 821"/>
          <p:cNvSpPr/>
          <p:nvPr/>
        </p:nvSpPr>
        <p:spPr>
          <a:xfrm>
            <a:off x="5800653" y="2094514"/>
            <a:ext cx="74196" cy="107360"/>
          </a:xfrm>
          <a:custGeom>
            <a:avLst/>
            <a:gdLst/>
            <a:ahLst/>
            <a:cxnLst/>
            <a:rect l="l" t="t" r="r" b="b"/>
            <a:pathLst>
              <a:path w="83820" h="121285">
                <a:moveTo>
                  <a:pt x="11941" y="0"/>
                </a:moveTo>
                <a:lnTo>
                  <a:pt x="0" y="0"/>
                </a:lnTo>
                <a:lnTo>
                  <a:pt x="0" y="13435"/>
                </a:lnTo>
                <a:lnTo>
                  <a:pt x="71653" y="120912"/>
                </a:lnTo>
                <a:lnTo>
                  <a:pt x="83596" y="120912"/>
                </a:lnTo>
                <a:lnTo>
                  <a:pt x="83596" y="107478"/>
                </a:lnTo>
                <a:lnTo>
                  <a:pt x="11941" y="0"/>
                </a:lnTo>
                <a:close/>
              </a:path>
            </a:pathLst>
          </a:custGeom>
          <a:solidFill>
            <a:srgbClr val="000000"/>
          </a:solidFill>
        </p:spPr>
        <p:txBody>
          <a:bodyPr wrap="square" lIns="0" tIns="0" rIns="0" bIns="0" rtlCol="0"/>
          <a:lstStyle/>
          <a:p>
            <a:endParaRPr sz="1593"/>
          </a:p>
        </p:txBody>
      </p:sp>
      <p:sp>
        <p:nvSpPr>
          <p:cNvPr id="822" name="object 822"/>
          <p:cNvSpPr/>
          <p:nvPr/>
        </p:nvSpPr>
        <p:spPr>
          <a:xfrm>
            <a:off x="5869366" y="218965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23" name="object 823"/>
          <p:cNvSpPr/>
          <p:nvPr/>
        </p:nvSpPr>
        <p:spPr>
          <a:xfrm>
            <a:off x="5864080" y="2189653"/>
            <a:ext cx="32039" cy="130968"/>
          </a:xfrm>
          <a:custGeom>
            <a:avLst/>
            <a:gdLst/>
            <a:ahLst/>
            <a:cxnLst/>
            <a:rect l="l" t="t" r="r" b="b"/>
            <a:pathLst>
              <a:path w="36195" h="147955">
                <a:moveTo>
                  <a:pt x="11943" y="0"/>
                </a:moveTo>
                <a:lnTo>
                  <a:pt x="0" y="0"/>
                </a:lnTo>
                <a:lnTo>
                  <a:pt x="0" y="13434"/>
                </a:lnTo>
                <a:lnTo>
                  <a:pt x="23884" y="147781"/>
                </a:lnTo>
                <a:lnTo>
                  <a:pt x="35827" y="147781"/>
                </a:lnTo>
                <a:lnTo>
                  <a:pt x="35827" y="134345"/>
                </a:lnTo>
                <a:lnTo>
                  <a:pt x="11943" y="0"/>
                </a:lnTo>
                <a:close/>
              </a:path>
            </a:pathLst>
          </a:custGeom>
          <a:solidFill>
            <a:srgbClr val="000000"/>
          </a:solidFill>
        </p:spPr>
        <p:txBody>
          <a:bodyPr wrap="square" lIns="0" tIns="0" rIns="0" bIns="0" rtlCol="0"/>
          <a:lstStyle/>
          <a:p>
            <a:endParaRPr sz="1593"/>
          </a:p>
        </p:txBody>
      </p:sp>
      <p:sp>
        <p:nvSpPr>
          <p:cNvPr id="824" name="object 824"/>
          <p:cNvSpPr/>
          <p:nvPr/>
        </p:nvSpPr>
        <p:spPr>
          <a:xfrm>
            <a:off x="5890508" y="230857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25" name="object 825"/>
          <p:cNvSpPr txBox="1"/>
          <p:nvPr/>
        </p:nvSpPr>
        <p:spPr>
          <a:xfrm>
            <a:off x="5377136" y="2225979"/>
            <a:ext cx="490145" cy="154907"/>
          </a:xfrm>
          <a:prstGeom prst="rect">
            <a:avLst/>
          </a:prstGeom>
        </p:spPr>
        <p:txBody>
          <a:bodyPr vert="horz" wrap="square" lIns="0" tIns="11804" rIns="0" bIns="0" rtlCol="0">
            <a:spAutoFit/>
          </a:bodyPr>
          <a:lstStyle/>
          <a:p>
            <a:pPr marL="11242">
              <a:spcBef>
                <a:spcPts val="93"/>
              </a:spcBef>
            </a:pPr>
            <a:r>
              <a:rPr sz="929" spc="-93" dirty="0">
                <a:latin typeface="Verdana"/>
                <a:cs typeface="Verdana"/>
              </a:rPr>
              <a:t>hardware</a:t>
            </a:r>
            <a:endParaRPr sz="929">
              <a:latin typeface="Verdana"/>
              <a:cs typeface="Verdana"/>
            </a:endParaRPr>
          </a:p>
        </p:txBody>
      </p:sp>
      <p:sp>
        <p:nvSpPr>
          <p:cNvPr id="826" name="object 826"/>
          <p:cNvSpPr/>
          <p:nvPr/>
        </p:nvSpPr>
        <p:spPr>
          <a:xfrm>
            <a:off x="4743536" y="1666395"/>
            <a:ext cx="581766" cy="618864"/>
          </a:xfrm>
          <a:custGeom>
            <a:avLst/>
            <a:gdLst/>
            <a:ahLst/>
            <a:cxnLst/>
            <a:rect l="l" t="t" r="r" b="b"/>
            <a:pathLst>
              <a:path w="657225" h="699135">
                <a:moveTo>
                  <a:pt x="322442" y="0"/>
                </a:moveTo>
                <a:lnTo>
                  <a:pt x="203019" y="26869"/>
                </a:lnTo>
                <a:lnTo>
                  <a:pt x="95538" y="107477"/>
                </a:lnTo>
                <a:lnTo>
                  <a:pt x="23884" y="214955"/>
                </a:lnTo>
                <a:lnTo>
                  <a:pt x="0" y="349302"/>
                </a:lnTo>
                <a:lnTo>
                  <a:pt x="23884" y="483649"/>
                </a:lnTo>
                <a:lnTo>
                  <a:pt x="95538" y="604561"/>
                </a:lnTo>
                <a:lnTo>
                  <a:pt x="203019" y="671736"/>
                </a:lnTo>
                <a:lnTo>
                  <a:pt x="322442" y="698605"/>
                </a:lnTo>
                <a:lnTo>
                  <a:pt x="453809" y="671736"/>
                </a:lnTo>
                <a:lnTo>
                  <a:pt x="561289" y="604561"/>
                </a:lnTo>
                <a:lnTo>
                  <a:pt x="621000" y="483649"/>
                </a:lnTo>
                <a:lnTo>
                  <a:pt x="656827" y="349302"/>
                </a:lnTo>
                <a:lnTo>
                  <a:pt x="621000" y="214955"/>
                </a:lnTo>
                <a:lnTo>
                  <a:pt x="561289" y="107477"/>
                </a:lnTo>
                <a:lnTo>
                  <a:pt x="453809" y="26869"/>
                </a:lnTo>
                <a:lnTo>
                  <a:pt x="322442" y="0"/>
                </a:lnTo>
                <a:close/>
              </a:path>
            </a:pathLst>
          </a:custGeom>
          <a:solidFill>
            <a:srgbClr val="FFFFFF"/>
          </a:solidFill>
        </p:spPr>
        <p:txBody>
          <a:bodyPr wrap="square" lIns="0" tIns="0" rIns="0" bIns="0" rtlCol="0"/>
          <a:lstStyle/>
          <a:p>
            <a:endParaRPr sz="1593"/>
          </a:p>
        </p:txBody>
      </p:sp>
      <p:sp>
        <p:nvSpPr>
          <p:cNvPr id="827" name="object 827"/>
          <p:cNvSpPr/>
          <p:nvPr/>
        </p:nvSpPr>
        <p:spPr>
          <a:xfrm>
            <a:off x="5293236" y="1975592"/>
            <a:ext cx="42719" cy="130968"/>
          </a:xfrm>
          <a:custGeom>
            <a:avLst/>
            <a:gdLst/>
            <a:ahLst/>
            <a:cxnLst/>
            <a:rect l="l" t="t" r="r" b="b"/>
            <a:pathLst>
              <a:path w="48260" h="147955">
                <a:moveTo>
                  <a:pt x="47769" y="0"/>
                </a:moveTo>
                <a:lnTo>
                  <a:pt x="35826" y="0"/>
                </a:lnTo>
                <a:lnTo>
                  <a:pt x="0" y="134346"/>
                </a:lnTo>
                <a:lnTo>
                  <a:pt x="0" y="147782"/>
                </a:lnTo>
                <a:lnTo>
                  <a:pt x="11943" y="147782"/>
                </a:lnTo>
                <a:lnTo>
                  <a:pt x="47769" y="13435"/>
                </a:lnTo>
                <a:lnTo>
                  <a:pt x="47769" y="0"/>
                </a:lnTo>
                <a:close/>
              </a:path>
            </a:pathLst>
          </a:custGeom>
          <a:solidFill>
            <a:srgbClr val="000000"/>
          </a:solidFill>
        </p:spPr>
        <p:txBody>
          <a:bodyPr wrap="square" lIns="0" tIns="0" rIns="0" bIns="0" rtlCol="0"/>
          <a:lstStyle/>
          <a:p>
            <a:endParaRPr sz="1593"/>
          </a:p>
        </p:txBody>
      </p:sp>
      <p:sp>
        <p:nvSpPr>
          <p:cNvPr id="828" name="object 828"/>
          <p:cNvSpPr/>
          <p:nvPr/>
        </p:nvSpPr>
        <p:spPr>
          <a:xfrm>
            <a:off x="5298522" y="209451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29" name="object 829"/>
          <p:cNvSpPr/>
          <p:nvPr/>
        </p:nvSpPr>
        <p:spPr>
          <a:xfrm>
            <a:off x="5240381" y="2094513"/>
            <a:ext cx="63516" cy="119164"/>
          </a:xfrm>
          <a:custGeom>
            <a:avLst/>
            <a:gdLst/>
            <a:ahLst/>
            <a:cxnLst/>
            <a:rect l="l" t="t" r="r" b="b"/>
            <a:pathLst>
              <a:path w="71754" h="134619">
                <a:moveTo>
                  <a:pt x="71654" y="0"/>
                </a:moveTo>
                <a:lnTo>
                  <a:pt x="59711" y="0"/>
                </a:lnTo>
                <a:lnTo>
                  <a:pt x="0" y="120912"/>
                </a:lnTo>
                <a:lnTo>
                  <a:pt x="0" y="134346"/>
                </a:lnTo>
                <a:lnTo>
                  <a:pt x="11943" y="134346"/>
                </a:lnTo>
                <a:lnTo>
                  <a:pt x="71654" y="13435"/>
                </a:lnTo>
                <a:lnTo>
                  <a:pt x="71654" y="0"/>
                </a:lnTo>
                <a:close/>
              </a:path>
            </a:pathLst>
          </a:custGeom>
          <a:solidFill>
            <a:srgbClr val="000000"/>
          </a:solidFill>
        </p:spPr>
        <p:txBody>
          <a:bodyPr wrap="square" lIns="0" tIns="0" rIns="0" bIns="0" rtlCol="0"/>
          <a:lstStyle/>
          <a:p>
            <a:endParaRPr sz="1593"/>
          </a:p>
        </p:txBody>
      </p:sp>
      <p:sp>
        <p:nvSpPr>
          <p:cNvPr id="830" name="object 830"/>
          <p:cNvSpPr/>
          <p:nvPr/>
        </p:nvSpPr>
        <p:spPr>
          <a:xfrm>
            <a:off x="5245666" y="220154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31" name="object 831"/>
          <p:cNvSpPr/>
          <p:nvPr/>
        </p:nvSpPr>
        <p:spPr>
          <a:xfrm>
            <a:off x="5145241" y="2201544"/>
            <a:ext cx="106235" cy="71386"/>
          </a:xfrm>
          <a:custGeom>
            <a:avLst/>
            <a:gdLst/>
            <a:ahLst/>
            <a:cxnLst/>
            <a:rect l="l" t="t" r="r" b="b"/>
            <a:pathLst>
              <a:path w="120014" h="80644">
                <a:moveTo>
                  <a:pt x="119423" y="0"/>
                </a:moveTo>
                <a:lnTo>
                  <a:pt x="107480" y="0"/>
                </a:lnTo>
                <a:lnTo>
                  <a:pt x="0" y="67174"/>
                </a:lnTo>
                <a:lnTo>
                  <a:pt x="0" y="80608"/>
                </a:lnTo>
                <a:lnTo>
                  <a:pt x="11941" y="80608"/>
                </a:lnTo>
                <a:lnTo>
                  <a:pt x="119423" y="13434"/>
                </a:lnTo>
                <a:lnTo>
                  <a:pt x="119423" y="0"/>
                </a:lnTo>
                <a:close/>
              </a:path>
            </a:pathLst>
          </a:custGeom>
          <a:solidFill>
            <a:srgbClr val="000000"/>
          </a:solidFill>
        </p:spPr>
        <p:txBody>
          <a:bodyPr wrap="square" lIns="0" tIns="0" rIns="0" bIns="0" rtlCol="0"/>
          <a:lstStyle/>
          <a:p>
            <a:endParaRPr sz="1593"/>
          </a:p>
        </p:txBody>
      </p:sp>
      <p:sp>
        <p:nvSpPr>
          <p:cNvPr id="832" name="object 832"/>
          <p:cNvSpPr/>
          <p:nvPr/>
        </p:nvSpPr>
        <p:spPr>
          <a:xfrm>
            <a:off x="5150526" y="226100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33" name="object 833"/>
          <p:cNvSpPr/>
          <p:nvPr/>
        </p:nvSpPr>
        <p:spPr>
          <a:xfrm>
            <a:off x="5028958" y="2261005"/>
            <a:ext cx="127033" cy="35974"/>
          </a:xfrm>
          <a:custGeom>
            <a:avLst/>
            <a:gdLst/>
            <a:ahLst/>
            <a:cxnLst/>
            <a:rect l="l" t="t" r="r" b="b"/>
            <a:pathLst>
              <a:path w="143510" h="40639">
                <a:moveTo>
                  <a:pt x="143308" y="0"/>
                </a:moveTo>
                <a:lnTo>
                  <a:pt x="131366" y="0"/>
                </a:lnTo>
                <a:lnTo>
                  <a:pt x="0" y="26869"/>
                </a:lnTo>
                <a:lnTo>
                  <a:pt x="0" y="40303"/>
                </a:lnTo>
                <a:lnTo>
                  <a:pt x="11941" y="40303"/>
                </a:lnTo>
                <a:lnTo>
                  <a:pt x="143308" y="13434"/>
                </a:lnTo>
                <a:lnTo>
                  <a:pt x="143308" y="0"/>
                </a:lnTo>
                <a:close/>
              </a:path>
            </a:pathLst>
          </a:custGeom>
          <a:solidFill>
            <a:srgbClr val="000000"/>
          </a:solidFill>
        </p:spPr>
        <p:txBody>
          <a:bodyPr wrap="square" lIns="0" tIns="0" rIns="0" bIns="0" rtlCol="0"/>
          <a:lstStyle/>
          <a:p>
            <a:endParaRPr sz="1593"/>
          </a:p>
        </p:txBody>
      </p:sp>
      <p:sp>
        <p:nvSpPr>
          <p:cNvPr id="834" name="object 834"/>
          <p:cNvSpPr/>
          <p:nvPr/>
        </p:nvSpPr>
        <p:spPr>
          <a:xfrm>
            <a:off x="5028958" y="2284790"/>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35" name="object 835"/>
          <p:cNvSpPr/>
          <p:nvPr/>
        </p:nvSpPr>
        <p:spPr>
          <a:xfrm>
            <a:off x="5028958" y="2284790"/>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36" name="object 836"/>
          <p:cNvSpPr/>
          <p:nvPr/>
        </p:nvSpPr>
        <p:spPr>
          <a:xfrm>
            <a:off x="5028958" y="2284790"/>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37" name="object 837"/>
          <p:cNvSpPr/>
          <p:nvPr/>
        </p:nvSpPr>
        <p:spPr>
          <a:xfrm>
            <a:off x="4923246" y="2261005"/>
            <a:ext cx="116353" cy="35974"/>
          </a:xfrm>
          <a:custGeom>
            <a:avLst/>
            <a:gdLst/>
            <a:ahLst/>
            <a:cxnLst/>
            <a:rect l="l" t="t" r="r" b="b"/>
            <a:pathLst>
              <a:path w="131445" h="40639">
                <a:moveTo>
                  <a:pt x="11941" y="0"/>
                </a:moveTo>
                <a:lnTo>
                  <a:pt x="0" y="0"/>
                </a:lnTo>
                <a:lnTo>
                  <a:pt x="0" y="13434"/>
                </a:lnTo>
                <a:lnTo>
                  <a:pt x="119423" y="40303"/>
                </a:lnTo>
                <a:lnTo>
                  <a:pt x="131364" y="40303"/>
                </a:lnTo>
                <a:lnTo>
                  <a:pt x="131364" y="26869"/>
                </a:lnTo>
                <a:lnTo>
                  <a:pt x="11941" y="0"/>
                </a:lnTo>
                <a:close/>
              </a:path>
            </a:pathLst>
          </a:custGeom>
          <a:solidFill>
            <a:srgbClr val="000000"/>
          </a:solidFill>
        </p:spPr>
        <p:txBody>
          <a:bodyPr wrap="square" lIns="0" tIns="0" rIns="0" bIns="0" rtlCol="0"/>
          <a:lstStyle/>
          <a:p>
            <a:endParaRPr sz="1593"/>
          </a:p>
        </p:txBody>
      </p:sp>
      <p:sp>
        <p:nvSpPr>
          <p:cNvPr id="838" name="object 838"/>
          <p:cNvSpPr/>
          <p:nvPr/>
        </p:nvSpPr>
        <p:spPr>
          <a:xfrm>
            <a:off x="4928531" y="2261006"/>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39" name="object 839"/>
          <p:cNvSpPr/>
          <p:nvPr/>
        </p:nvSpPr>
        <p:spPr>
          <a:xfrm>
            <a:off x="4828105" y="2201544"/>
            <a:ext cx="106235" cy="71386"/>
          </a:xfrm>
          <a:custGeom>
            <a:avLst/>
            <a:gdLst/>
            <a:ahLst/>
            <a:cxnLst/>
            <a:rect l="l" t="t" r="r" b="b"/>
            <a:pathLst>
              <a:path w="120014" h="80644">
                <a:moveTo>
                  <a:pt x="11943" y="0"/>
                </a:moveTo>
                <a:lnTo>
                  <a:pt x="0" y="0"/>
                </a:lnTo>
                <a:lnTo>
                  <a:pt x="0" y="13434"/>
                </a:lnTo>
                <a:lnTo>
                  <a:pt x="107481" y="80608"/>
                </a:lnTo>
                <a:lnTo>
                  <a:pt x="119423" y="80608"/>
                </a:lnTo>
                <a:lnTo>
                  <a:pt x="119423" y="67174"/>
                </a:lnTo>
                <a:lnTo>
                  <a:pt x="11943" y="0"/>
                </a:lnTo>
                <a:close/>
              </a:path>
            </a:pathLst>
          </a:custGeom>
          <a:solidFill>
            <a:srgbClr val="000000"/>
          </a:solidFill>
        </p:spPr>
        <p:txBody>
          <a:bodyPr wrap="square" lIns="0" tIns="0" rIns="0" bIns="0" rtlCol="0"/>
          <a:lstStyle/>
          <a:p>
            <a:endParaRPr sz="1593"/>
          </a:p>
        </p:txBody>
      </p:sp>
      <p:sp>
        <p:nvSpPr>
          <p:cNvPr id="840" name="object 840"/>
          <p:cNvSpPr/>
          <p:nvPr/>
        </p:nvSpPr>
        <p:spPr>
          <a:xfrm>
            <a:off x="4833390" y="2201544"/>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41" name="object 841"/>
          <p:cNvSpPr/>
          <p:nvPr/>
        </p:nvSpPr>
        <p:spPr>
          <a:xfrm>
            <a:off x="4764678" y="2094513"/>
            <a:ext cx="74196" cy="119164"/>
          </a:xfrm>
          <a:custGeom>
            <a:avLst/>
            <a:gdLst/>
            <a:ahLst/>
            <a:cxnLst/>
            <a:rect l="l" t="t" r="r" b="b"/>
            <a:pathLst>
              <a:path w="83820" h="134619">
                <a:moveTo>
                  <a:pt x="11941" y="0"/>
                </a:moveTo>
                <a:lnTo>
                  <a:pt x="0" y="0"/>
                </a:lnTo>
                <a:lnTo>
                  <a:pt x="0" y="13435"/>
                </a:lnTo>
                <a:lnTo>
                  <a:pt x="71653" y="134346"/>
                </a:lnTo>
                <a:lnTo>
                  <a:pt x="83596" y="134346"/>
                </a:lnTo>
                <a:lnTo>
                  <a:pt x="83596" y="120912"/>
                </a:lnTo>
                <a:lnTo>
                  <a:pt x="11941" y="0"/>
                </a:lnTo>
                <a:close/>
              </a:path>
            </a:pathLst>
          </a:custGeom>
          <a:solidFill>
            <a:srgbClr val="000000"/>
          </a:solidFill>
        </p:spPr>
        <p:txBody>
          <a:bodyPr wrap="square" lIns="0" tIns="0" rIns="0" bIns="0" rtlCol="0"/>
          <a:lstStyle/>
          <a:p>
            <a:endParaRPr sz="1593"/>
          </a:p>
        </p:txBody>
      </p:sp>
      <p:sp>
        <p:nvSpPr>
          <p:cNvPr id="842" name="object 842"/>
          <p:cNvSpPr/>
          <p:nvPr/>
        </p:nvSpPr>
        <p:spPr>
          <a:xfrm>
            <a:off x="4769963" y="2094515"/>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43" name="object 843"/>
          <p:cNvSpPr/>
          <p:nvPr/>
        </p:nvSpPr>
        <p:spPr>
          <a:xfrm>
            <a:off x="4743536" y="1975592"/>
            <a:ext cx="32039" cy="130968"/>
          </a:xfrm>
          <a:custGeom>
            <a:avLst/>
            <a:gdLst/>
            <a:ahLst/>
            <a:cxnLst/>
            <a:rect l="l" t="t" r="r" b="b"/>
            <a:pathLst>
              <a:path w="36195" h="147955">
                <a:moveTo>
                  <a:pt x="11941" y="0"/>
                </a:moveTo>
                <a:lnTo>
                  <a:pt x="0" y="0"/>
                </a:lnTo>
                <a:lnTo>
                  <a:pt x="0" y="13435"/>
                </a:lnTo>
                <a:lnTo>
                  <a:pt x="23884" y="147782"/>
                </a:lnTo>
                <a:lnTo>
                  <a:pt x="35826" y="147782"/>
                </a:lnTo>
                <a:lnTo>
                  <a:pt x="35826" y="134346"/>
                </a:lnTo>
                <a:lnTo>
                  <a:pt x="11941" y="0"/>
                </a:lnTo>
                <a:close/>
              </a:path>
            </a:pathLst>
          </a:custGeom>
          <a:solidFill>
            <a:srgbClr val="000000"/>
          </a:solidFill>
        </p:spPr>
        <p:txBody>
          <a:bodyPr wrap="square" lIns="0" tIns="0" rIns="0" bIns="0" rtlCol="0"/>
          <a:lstStyle/>
          <a:p>
            <a:endParaRPr sz="1593"/>
          </a:p>
        </p:txBody>
      </p:sp>
      <p:sp>
        <p:nvSpPr>
          <p:cNvPr id="844" name="object 844"/>
          <p:cNvSpPr/>
          <p:nvPr/>
        </p:nvSpPr>
        <p:spPr>
          <a:xfrm>
            <a:off x="4743535" y="197559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45" name="object 845"/>
          <p:cNvSpPr/>
          <p:nvPr/>
        </p:nvSpPr>
        <p:spPr>
          <a:xfrm>
            <a:off x="4743535" y="197559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46" name="object 846"/>
          <p:cNvSpPr/>
          <p:nvPr/>
        </p:nvSpPr>
        <p:spPr>
          <a:xfrm>
            <a:off x="4743535" y="1975593"/>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47" name="object 847"/>
          <p:cNvSpPr/>
          <p:nvPr/>
        </p:nvSpPr>
        <p:spPr>
          <a:xfrm>
            <a:off x="4743536" y="1856670"/>
            <a:ext cx="32039" cy="130968"/>
          </a:xfrm>
          <a:custGeom>
            <a:avLst/>
            <a:gdLst/>
            <a:ahLst/>
            <a:cxnLst/>
            <a:rect l="l" t="t" r="r" b="b"/>
            <a:pathLst>
              <a:path w="36195" h="147955">
                <a:moveTo>
                  <a:pt x="35826" y="0"/>
                </a:moveTo>
                <a:lnTo>
                  <a:pt x="23884" y="0"/>
                </a:lnTo>
                <a:lnTo>
                  <a:pt x="0" y="134346"/>
                </a:lnTo>
                <a:lnTo>
                  <a:pt x="0" y="147782"/>
                </a:lnTo>
                <a:lnTo>
                  <a:pt x="11941" y="147782"/>
                </a:lnTo>
                <a:lnTo>
                  <a:pt x="35826" y="13435"/>
                </a:lnTo>
                <a:lnTo>
                  <a:pt x="35826" y="0"/>
                </a:lnTo>
                <a:close/>
              </a:path>
            </a:pathLst>
          </a:custGeom>
          <a:solidFill>
            <a:srgbClr val="000000"/>
          </a:solidFill>
        </p:spPr>
        <p:txBody>
          <a:bodyPr wrap="square" lIns="0" tIns="0" rIns="0" bIns="0" rtlCol="0"/>
          <a:lstStyle/>
          <a:p>
            <a:endParaRPr sz="1593"/>
          </a:p>
        </p:txBody>
      </p:sp>
      <p:sp>
        <p:nvSpPr>
          <p:cNvPr id="848" name="object 848"/>
          <p:cNvSpPr/>
          <p:nvPr/>
        </p:nvSpPr>
        <p:spPr>
          <a:xfrm>
            <a:off x="4769963" y="185667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49" name="object 849"/>
          <p:cNvSpPr/>
          <p:nvPr/>
        </p:nvSpPr>
        <p:spPr>
          <a:xfrm>
            <a:off x="4764678" y="1761533"/>
            <a:ext cx="74196" cy="107360"/>
          </a:xfrm>
          <a:custGeom>
            <a:avLst/>
            <a:gdLst/>
            <a:ahLst/>
            <a:cxnLst/>
            <a:rect l="l" t="t" r="r" b="b"/>
            <a:pathLst>
              <a:path w="83820" h="121285">
                <a:moveTo>
                  <a:pt x="83596" y="0"/>
                </a:moveTo>
                <a:lnTo>
                  <a:pt x="71653" y="0"/>
                </a:lnTo>
                <a:lnTo>
                  <a:pt x="0" y="107477"/>
                </a:lnTo>
                <a:lnTo>
                  <a:pt x="0" y="120912"/>
                </a:lnTo>
                <a:lnTo>
                  <a:pt x="11941" y="120912"/>
                </a:lnTo>
                <a:lnTo>
                  <a:pt x="83596" y="13434"/>
                </a:lnTo>
                <a:lnTo>
                  <a:pt x="83596" y="0"/>
                </a:lnTo>
                <a:close/>
              </a:path>
            </a:pathLst>
          </a:custGeom>
          <a:solidFill>
            <a:srgbClr val="000000"/>
          </a:solidFill>
        </p:spPr>
        <p:txBody>
          <a:bodyPr wrap="square" lIns="0" tIns="0" rIns="0" bIns="0" rtlCol="0"/>
          <a:lstStyle/>
          <a:p>
            <a:endParaRPr sz="1593"/>
          </a:p>
        </p:txBody>
      </p:sp>
      <p:sp>
        <p:nvSpPr>
          <p:cNvPr id="850" name="object 850"/>
          <p:cNvSpPr/>
          <p:nvPr/>
        </p:nvSpPr>
        <p:spPr>
          <a:xfrm>
            <a:off x="4833390" y="176153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51" name="object 851"/>
          <p:cNvSpPr/>
          <p:nvPr/>
        </p:nvSpPr>
        <p:spPr>
          <a:xfrm>
            <a:off x="4828105" y="1690180"/>
            <a:ext cx="106235" cy="83752"/>
          </a:xfrm>
          <a:custGeom>
            <a:avLst/>
            <a:gdLst/>
            <a:ahLst/>
            <a:cxnLst/>
            <a:rect l="l" t="t" r="r" b="b"/>
            <a:pathLst>
              <a:path w="120014" h="94614">
                <a:moveTo>
                  <a:pt x="119423" y="0"/>
                </a:moveTo>
                <a:lnTo>
                  <a:pt x="107481" y="0"/>
                </a:lnTo>
                <a:lnTo>
                  <a:pt x="0" y="80608"/>
                </a:lnTo>
                <a:lnTo>
                  <a:pt x="0" y="94042"/>
                </a:lnTo>
                <a:lnTo>
                  <a:pt x="11943" y="94042"/>
                </a:lnTo>
                <a:lnTo>
                  <a:pt x="119423" y="13434"/>
                </a:lnTo>
                <a:lnTo>
                  <a:pt x="119423" y="0"/>
                </a:lnTo>
                <a:close/>
              </a:path>
            </a:pathLst>
          </a:custGeom>
          <a:solidFill>
            <a:srgbClr val="000000"/>
          </a:solidFill>
        </p:spPr>
        <p:txBody>
          <a:bodyPr wrap="square" lIns="0" tIns="0" rIns="0" bIns="0" rtlCol="0"/>
          <a:lstStyle/>
          <a:p>
            <a:endParaRPr sz="1593"/>
          </a:p>
        </p:txBody>
      </p:sp>
      <p:sp>
        <p:nvSpPr>
          <p:cNvPr id="852" name="object 852"/>
          <p:cNvSpPr/>
          <p:nvPr/>
        </p:nvSpPr>
        <p:spPr>
          <a:xfrm>
            <a:off x="4928531" y="1690180"/>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53" name="object 853"/>
          <p:cNvSpPr/>
          <p:nvPr/>
        </p:nvSpPr>
        <p:spPr>
          <a:xfrm>
            <a:off x="4923246" y="1666395"/>
            <a:ext cx="116353" cy="35974"/>
          </a:xfrm>
          <a:custGeom>
            <a:avLst/>
            <a:gdLst/>
            <a:ahLst/>
            <a:cxnLst/>
            <a:rect l="l" t="t" r="r" b="b"/>
            <a:pathLst>
              <a:path w="131445" h="40639">
                <a:moveTo>
                  <a:pt x="131364" y="0"/>
                </a:moveTo>
                <a:lnTo>
                  <a:pt x="119423" y="0"/>
                </a:lnTo>
                <a:lnTo>
                  <a:pt x="0" y="26869"/>
                </a:lnTo>
                <a:lnTo>
                  <a:pt x="0" y="40303"/>
                </a:lnTo>
                <a:lnTo>
                  <a:pt x="11941" y="40303"/>
                </a:lnTo>
                <a:lnTo>
                  <a:pt x="131364" y="13434"/>
                </a:lnTo>
                <a:lnTo>
                  <a:pt x="131364" y="0"/>
                </a:lnTo>
                <a:close/>
              </a:path>
            </a:pathLst>
          </a:custGeom>
          <a:solidFill>
            <a:srgbClr val="000000"/>
          </a:solidFill>
        </p:spPr>
        <p:txBody>
          <a:bodyPr wrap="square" lIns="0" tIns="0" rIns="0" bIns="0" rtlCol="0"/>
          <a:lstStyle/>
          <a:p>
            <a:endParaRPr sz="1593"/>
          </a:p>
        </p:txBody>
      </p:sp>
      <p:sp>
        <p:nvSpPr>
          <p:cNvPr id="854" name="object 854"/>
          <p:cNvSpPr/>
          <p:nvPr/>
        </p:nvSpPr>
        <p:spPr>
          <a:xfrm>
            <a:off x="5028958" y="1666395"/>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55" name="object 855"/>
          <p:cNvSpPr/>
          <p:nvPr/>
        </p:nvSpPr>
        <p:spPr>
          <a:xfrm>
            <a:off x="5028958" y="1666395"/>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56" name="object 856"/>
          <p:cNvSpPr/>
          <p:nvPr/>
        </p:nvSpPr>
        <p:spPr>
          <a:xfrm>
            <a:off x="5028958" y="1666395"/>
            <a:ext cx="10680" cy="12366"/>
          </a:xfrm>
          <a:custGeom>
            <a:avLst/>
            <a:gdLst/>
            <a:ahLst/>
            <a:cxnLst/>
            <a:rect l="l" t="t" r="r" b="b"/>
            <a:pathLst>
              <a:path w="12064"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57" name="object 857"/>
          <p:cNvSpPr/>
          <p:nvPr/>
        </p:nvSpPr>
        <p:spPr>
          <a:xfrm>
            <a:off x="5028958" y="1666395"/>
            <a:ext cx="127033" cy="35974"/>
          </a:xfrm>
          <a:custGeom>
            <a:avLst/>
            <a:gdLst/>
            <a:ahLst/>
            <a:cxnLst/>
            <a:rect l="l" t="t" r="r" b="b"/>
            <a:pathLst>
              <a:path w="143510" h="40639">
                <a:moveTo>
                  <a:pt x="11941" y="0"/>
                </a:moveTo>
                <a:lnTo>
                  <a:pt x="0" y="0"/>
                </a:lnTo>
                <a:lnTo>
                  <a:pt x="0" y="13434"/>
                </a:lnTo>
                <a:lnTo>
                  <a:pt x="131366" y="40303"/>
                </a:lnTo>
                <a:lnTo>
                  <a:pt x="143308" y="40303"/>
                </a:lnTo>
                <a:lnTo>
                  <a:pt x="143308" y="26869"/>
                </a:lnTo>
                <a:lnTo>
                  <a:pt x="11941" y="0"/>
                </a:lnTo>
                <a:close/>
              </a:path>
            </a:pathLst>
          </a:custGeom>
          <a:solidFill>
            <a:srgbClr val="000000"/>
          </a:solidFill>
        </p:spPr>
        <p:txBody>
          <a:bodyPr wrap="square" lIns="0" tIns="0" rIns="0" bIns="0" rtlCol="0"/>
          <a:lstStyle/>
          <a:p>
            <a:endParaRPr sz="1593"/>
          </a:p>
        </p:txBody>
      </p:sp>
      <p:sp>
        <p:nvSpPr>
          <p:cNvPr id="858" name="object 858"/>
          <p:cNvSpPr/>
          <p:nvPr/>
        </p:nvSpPr>
        <p:spPr>
          <a:xfrm>
            <a:off x="5150526" y="1690180"/>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59" name="object 859"/>
          <p:cNvSpPr/>
          <p:nvPr/>
        </p:nvSpPr>
        <p:spPr>
          <a:xfrm>
            <a:off x="5145241" y="1690180"/>
            <a:ext cx="106235" cy="83752"/>
          </a:xfrm>
          <a:custGeom>
            <a:avLst/>
            <a:gdLst/>
            <a:ahLst/>
            <a:cxnLst/>
            <a:rect l="l" t="t" r="r" b="b"/>
            <a:pathLst>
              <a:path w="120014" h="94614">
                <a:moveTo>
                  <a:pt x="11941" y="0"/>
                </a:moveTo>
                <a:lnTo>
                  <a:pt x="0" y="0"/>
                </a:lnTo>
                <a:lnTo>
                  <a:pt x="0" y="13434"/>
                </a:lnTo>
                <a:lnTo>
                  <a:pt x="107480" y="94042"/>
                </a:lnTo>
                <a:lnTo>
                  <a:pt x="119423" y="94042"/>
                </a:lnTo>
                <a:lnTo>
                  <a:pt x="119423" y="80608"/>
                </a:lnTo>
                <a:lnTo>
                  <a:pt x="11941" y="0"/>
                </a:lnTo>
                <a:close/>
              </a:path>
            </a:pathLst>
          </a:custGeom>
          <a:solidFill>
            <a:srgbClr val="000000"/>
          </a:solidFill>
        </p:spPr>
        <p:txBody>
          <a:bodyPr wrap="square" lIns="0" tIns="0" rIns="0" bIns="0" rtlCol="0"/>
          <a:lstStyle/>
          <a:p>
            <a:endParaRPr sz="1593"/>
          </a:p>
        </p:txBody>
      </p:sp>
      <p:sp>
        <p:nvSpPr>
          <p:cNvPr id="860" name="object 860"/>
          <p:cNvSpPr/>
          <p:nvPr/>
        </p:nvSpPr>
        <p:spPr>
          <a:xfrm>
            <a:off x="5245666" y="176153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61" name="object 861"/>
          <p:cNvSpPr/>
          <p:nvPr/>
        </p:nvSpPr>
        <p:spPr>
          <a:xfrm>
            <a:off x="5240381" y="1761533"/>
            <a:ext cx="63516" cy="107360"/>
          </a:xfrm>
          <a:custGeom>
            <a:avLst/>
            <a:gdLst/>
            <a:ahLst/>
            <a:cxnLst/>
            <a:rect l="l" t="t" r="r" b="b"/>
            <a:pathLst>
              <a:path w="71754" h="121285">
                <a:moveTo>
                  <a:pt x="11943" y="0"/>
                </a:moveTo>
                <a:lnTo>
                  <a:pt x="0" y="0"/>
                </a:lnTo>
                <a:lnTo>
                  <a:pt x="0" y="13434"/>
                </a:lnTo>
                <a:lnTo>
                  <a:pt x="59711" y="120912"/>
                </a:lnTo>
                <a:lnTo>
                  <a:pt x="71654" y="120912"/>
                </a:lnTo>
                <a:lnTo>
                  <a:pt x="71654" y="107477"/>
                </a:lnTo>
                <a:lnTo>
                  <a:pt x="11943" y="0"/>
                </a:lnTo>
                <a:close/>
              </a:path>
            </a:pathLst>
          </a:custGeom>
          <a:solidFill>
            <a:srgbClr val="000000"/>
          </a:solidFill>
        </p:spPr>
        <p:txBody>
          <a:bodyPr wrap="square" lIns="0" tIns="0" rIns="0" bIns="0" rtlCol="0"/>
          <a:lstStyle/>
          <a:p>
            <a:endParaRPr sz="1593"/>
          </a:p>
        </p:txBody>
      </p:sp>
      <p:sp>
        <p:nvSpPr>
          <p:cNvPr id="862" name="object 862"/>
          <p:cNvSpPr/>
          <p:nvPr/>
        </p:nvSpPr>
        <p:spPr>
          <a:xfrm>
            <a:off x="5298522" y="185667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63" name="object 863"/>
          <p:cNvSpPr/>
          <p:nvPr/>
        </p:nvSpPr>
        <p:spPr>
          <a:xfrm>
            <a:off x="5293236" y="1856670"/>
            <a:ext cx="42719" cy="130968"/>
          </a:xfrm>
          <a:custGeom>
            <a:avLst/>
            <a:gdLst/>
            <a:ahLst/>
            <a:cxnLst/>
            <a:rect l="l" t="t" r="r" b="b"/>
            <a:pathLst>
              <a:path w="48260" h="147955">
                <a:moveTo>
                  <a:pt x="11943" y="0"/>
                </a:moveTo>
                <a:lnTo>
                  <a:pt x="0" y="0"/>
                </a:lnTo>
                <a:lnTo>
                  <a:pt x="0" y="13435"/>
                </a:lnTo>
                <a:lnTo>
                  <a:pt x="35826" y="147782"/>
                </a:lnTo>
                <a:lnTo>
                  <a:pt x="47769" y="147782"/>
                </a:lnTo>
                <a:lnTo>
                  <a:pt x="47769" y="134346"/>
                </a:lnTo>
                <a:lnTo>
                  <a:pt x="11943" y="0"/>
                </a:lnTo>
                <a:close/>
              </a:path>
            </a:pathLst>
          </a:custGeom>
          <a:solidFill>
            <a:srgbClr val="000000"/>
          </a:solidFill>
        </p:spPr>
        <p:txBody>
          <a:bodyPr wrap="square" lIns="0" tIns="0" rIns="0" bIns="0" rtlCol="0"/>
          <a:lstStyle/>
          <a:p>
            <a:endParaRPr sz="1593"/>
          </a:p>
        </p:txBody>
      </p:sp>
      <p:sp>
        <p:nvSpPr>
          <p:cNvPr id="864" name="object 864"/>
          <p:cNvSpPr/>
          <p:nvPr/>
        </p:nvSpPr>
        <p:spPr>
          <a:xfrm>
            <a:off x="5330236" y="1975593"/>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65" name="object 865"/>
          <p:cNvSpPr txBox="1"/>
          <p:nvPr/>
        </p:nvSpPr>
        <p:spPr>
          <a:xfrm>
            <a:off x="4806292" y="1821644"/>
            <a:ext cx="471596" cy="308302"/>
          </a:xfrm>
          <a:prstGeom prst="rect">
            <a:avLst/>
          </a:prstGeom>
        </p:spPr>
        <p:txBody>
          <a:bodyPr vert="horz" wrap="square" lIns="0" tIns="10680" rIns="0" bIns="0" rtlCol="0">
            <a:spAutoFit/>
          </a:bodyPr>
          <a:lstStyle/>
          <a:p>
            <a:pPr marL="106236" marR="4497" indent="-95557">
              <a:lnSpc>
                <a:spcPct val="109100"/>
              </a:lnSpc>
              <a:spcBef>
                <a:spcPts val="84"/>
              </a:spcBef>
            </a:pPr>
            <a:r>
              <a:rPr sz="929" spc="-62" dirty="0">
                <a:latin typeface="Verdana"/>
                <a:cs typeface="Verdana"/>
              </a:rPr>
              <a:t>s</a:t>
            </a:r>
            <a:r>
              <a:rPr sz="929" spc="-31" dirty="0">
                <a:latin typeface="Verdana"/>
                <a:cs typeface="Verdana"/>
              </a:rPr>
              <a:t>of</a:t>
            </a:r>
            <a:r>
              <a:rPr sz="929" dirty="0">
                <a:latin typeface="Verdana"/>
                <a:cs typeface="Verdana"/>
              </a:rPr>
              <a:t>t</a:t>
            </a:r>
            <a:r>
              <a:rPr sz="929" spc="-115" dirty="0">
                <a:latin typeface="Verdana"/>
                <a:cs typeface="Verdana"/>
              </a:rPr>
              <a:t>w</a:t>
            </a:r>
            <a:r>
              <a:rPr sz="929" spc="-101" dirty="0">
                <a:latin typeface="Verdana"/>
                <a:cs typeface="Verdana"/>
              </a:rPr>
              <a:t>a</a:t>
            </a:r>
            <a:r>
              <a:rPr sz="929" spc="-75" dirty="0">
                <a:latin typeface="Verdana"/>
                <a:cs typeface="Verdana"/>
              </a:rPr>
              <a:t>r</a:t>
            </a:r>
            <a:r>
              <a:rPr sz="929" spc="-58" dirty="0">
                <a:latin typeface="Verdana"/>
                <a:cs typeface="Verdana"/>
              </a:rPr>
              <a:t>e  </a:t>
            </a:r>
            <a:r>
              <a:rPr sz="929" spc="-49" dirty="0">
                <a:latin typeface="Verdana"/>
                <a:cs typeface="Verdana"/>
              </a:rPr>
              <a:t>tools</a:t>
            </a:r>
            <a:endParaRPr sz="929">
              <a:latin typeface="Verdana"/>
              <a:cs typeface="Verdana"/>
            </a:endParaRPr>
          </a:p>
        </p:txBody>
      </p:sp>
      <p:sp>
        <p:nvSpPr>
          <p:cNvPr id="866" name="object 866"/>
          <p:cNvSpPr/>
          <p:nvPr/>
        </p:nvSpPr>
        <p:spPr>
          <a:xfrm>
            <a:off x="5494089" y="2629663"/>
            <a:ext cx="581766" cy="618864"/>
          </a:xfrm>
          <a:custGeom>
            <a:avLst/>
            <a:gdLst/>
            <a:ahLst/>
            <a:cxnLst/>
            <a:rect l="l" t="t" r="r" b="b"/>
            <a:pathLst>
              <a:path w="657225" h="699135">
                <a:moveTo>
                  <a:pt x="322442" y="0"/>
                </a:moveTo>
                <a:lnTo>
                  <a:pt x="203019" y="26870"/>
                </a:lnTo>
                <a:lnTo>
                  <a:pt x="95538" y="107478"/>
                </a:lnTo>
                <a:lnTo>
                  <a:pt x="23884" y="214956"/>
                </a:lnTo>
                <a:lnTo>
                  <a:pt x="0" y="349303"/>
                </a:lnTo>
                <a:lnTo>
                  <a:pt x="23884" y="483650"/>
                </a:lnTo>
                <a:lnTo>
                  <a:pt x="95538" y="604561"/>
                </a:lnTo>
                <a:lnTo>
                  <a:pt x="203019" y="671736"/>
                </a:lnTo>
                <a:lnTo>
                  <a:pt x="322442" y="698605"/>
                </a:lnTo>
                <a:lnTo>
                  <a:pt x="453809" y="671736"/>
                </a:lnTo>
                <a:lnTo>
                  <a:pt x="561289" y="604561"/>
                </a:lnTo>
                <a:lnTo>
                  <a:pt x="621000" y="483650"/>
                </a:lnTo>
                <a:lnTo>
                  <a:pt x="656827" y="349303"/>
                </a:lnTo>
                <a:lnTo>
                  <a:pt x="621000" y="214956"/>
                </a:lnTo>
                <a:lnTo>
                  <a:pt x="561289" y="107478"/>
                </a:lnTo>
                <a:lnTo>
                  <a:pt x="453809" y="26870"/>
                </a:lnTo>
                <a:lnTo>
                  <a:pt x="322442" y="0"/>
                </a:lnTo>
                <a:close/>
              </a:path>
            </a:pathLst>
          </a:custGeom>
          <a:solidFill>
            <a:srgbClr val="FFFFFF"/>
          </a:solidFill>
        </p:spPr>
        <p:txBody>
          <a:bodyPr wrap="square" lIns="0" tIns="0" rIns="0" bIns="0" rtlCol="0"/>
          <a:lstStyle/>
          <a:p>
            <a:endParaRPr sz="1593"/>
          </a:p>
        </p:txBody>
      </p:sp>
      <p:sp>
        <p:nvSpPr>
          <p:cNvPr id="867" name="object 867"/>
          <p:cNvSpPr/>
          <p:nvPr/>
        </p:nvSpPr>
        <p:spPr>
          <a:xfrm>
            <a:off x="6043790" y="2938862"/>
            <a:ext cx="42719" cy="130968"/>
          </a:xfrm>
          <a:custGeom>
            <a:avLst/>
            <a:gdLst/>
            <a:ahLst/>
            <a:cxnLst/>
            <a:rect l="l" t="t" r="r" b="b"/>
            <a:pathLst>
              <a:path w="48259" h="147954">
                <a:moveTo>
                  <a:pt x="47769" y="0"/>
                </a:moveTo>
                <a:lnTo>
                  <a:pt x="35826" y="0"/>
                </a:lnTo>
                <a:lnTo>
                  <a:pt x="0" y="134346"/>
                </a:lnTo>
                <a:lnTo>
                  <a:pt x="0" y="147781"/>
                </a:lnTo>
                <a:lnTo>
                  <a:pt x="11943" y="147781"/>
                </a:lnTo>
                <a:lnTo>
                  <a:pt x="47769" y="13434"/>
                </a:lnTo>
                <a:lnTo>
                  <a:pt x="47769" y="0"/>
                </a:lnTo>
                <a:close/>
              </a:path>
            </a:pathLst>
          </a:custGeom>
          <a:solidFill>
            <a:srgbClr val="000000"/>
          </a:solidFill>
        </p:spPr>
        <p:txBody>
          <a:bodyPr wrap="square" lIns="0" tIns="0" rIns="0" bIns="0" rtlCol="0"/>
          <a:lstStyle/>
          <a:p>
            <a:endParaRPr sz="1593"/>
          </a:p>
        </p:txBody>
      </p:sp>
      <p:sp>
        <p:nvSpPr>
          <p:cNvPr id="868" name="object 868"/>
          <p:cNvSpPr/>
          <p:nvPr/>
        </p:nvSpPr>
        <p:spPr>
          <a:xfrm>
            <a:off x="6049075" y="305778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869" name="object 869"/>
          <p:cNvSpPr/>
          <p:nvPr/>
        </p:nvSpPr>
        <p:spPr>
          <a:xfrm>
            <a:off x="5990934" y="3057784"/>
            <a:ext cx="63516" cy="119164"/>
          </a:xfrm>
          <a:custGeom>
            <a:avLst/>
            <a:gdLst/>
            <a:ahLst/>
            <a:cxnLst/>
            <a:rect l="l" t="t" r="r" b="b"/>
            <a:pathLst>
              <a:path w="71754" h="134620">
                <a:moveTo>
                  <a:pt x="71654" y="0"/>
                </a:moveTo>
                <a:lnTo>
                  <a:pt x="59711" y="0"/>
                </a:lnTo>
                <a:lnTo>
                  <a:pt x="0" y="120911"/>
                </a:lnTo>
                <a:lnTo>
                  <a:pt x="0" y="134346"/>
                </a:lnTo>
                <a:lnTo>
                  <a:pt x="11941" y="134346"/>
                </a:lnTo>
                <a:lnTo>
                  <a:pt x="71654" y="13434"/>
                </a:lnTo>
                <a:lnTo>
                  <a:pt x="71654" y="0"/>
                </a:lnTo>
                <a:close/>
              </a:path>
            </a:pathLst>
          </a:custGeom>
          <a:solidFill>
            <a:srgbClr val="000000"/>
          </a:solidFill>
        </p:spPr>
        <p:txBody>
          <a:bodyPr wrap="square" lIns="0" tIns="0" rIns="0" bIns="0" rtlCol="0"/>
          <a:lstStyle/>
          <a:p>
            <a:endParaRPr sz="1593"/>
          </a:p>
        </p:txBody>
      </p:sp>
      <p:sp>
        <p:nvSpPr>
          <p:cNvPr id="870" name="object 870"/>
          <p:cNvSpPr/>
          <p:nvPr/>
        </p:nvSpPr>
        <p:spPr>
          <a:xfrm>
            <a:off x="5996219" y="316481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871" name="object 871"/>
          <p:cNvSpPr/>
          <p:nvPr/>
        </p:nvSpPr>
        <p:spPr>
          <a:xfrm>
            <a:off x="5895794" y="3164813"/>
            <a:ext cx="106235" cy="71386"/>
          </a:xfrm>
          <a:custGeom>
            <a:avLst/>
            <a:gdLst/>
            <a:ahLst/>
            <a:cxnLst/>
            <a:rect l="l" t="t" r="r" b="b"/>
            <a:pathLst>
              <a:path w="120015" h="80645">
                <a:moveTo>
                  <a:pt x="119421" y="0"/>
                </a:moveTo>
                <a:lnTo>
                  <a:pt x="107480" y="0"/>
                </a:lnTo>
                <a:lnTo>
                  <a:pt x="0" y="67174"/>
                </a:lnTo>
                <a:lnTo>
                  <a:pt x="0" y="80609"/>
                </a:lnTo>
                <a:lnTo>
                  <a:pt x="11941" y="80609"/>
                </a:lnTo>
                <a:lnTo>
                  <a:pt x="119421" y="13435"/>
                </a:lnTo>
                <a:lnTo>
                  <a:pt x="119421" y="0"/>
                </a:lnTo>
                <a:close/>
              </a:path>
            </a:pathLst>
          </a:custGeom>
          <a:solidFill>
            <a:srgbClr val="000000"/>
          </a:solidFill>
        </p:spPr>
        <p:txBody>
          <a:bodyPr wrap="square" lIns="0" tIns="0" rIns="0" bIns="0" rtlCol="0"/>
          <a:lstStyle/>
          <a:p>
            <a:endParaRPr sz="1593"/>
          </a:p>
        </p:txBody>
      </p:sp>
      <p:sp>
        <p:nvSpPr>
          <p:cNvPr id="872" name="object 872"/>
          <p:cNvSpPr/>
          <p:nvPr/>
        </p:nvSpPr>
        <p:spPr>
          <a:xfrm>
            <a:off x="5901079" y="322427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873" name="object 873"/>
          <p:cNvSpPr/>
          <p:nvPr/>
        </p:nvSpPr>
        <p:spPr>
          <a:xfrm>
            <a:off x="5779511" y="3224274"/>
            <a:ext cx="127033" cy="35974"/>
          </a:xfrm>
          <a:custGeom>
            <a:avLst/>
            <a:gdLst/>
            <a:ahLst/>
            <a:cxnLst/>
            <a:rect l="l" t="t" r="r" b="b"/>
            <a:pathLst>
              <a:path w="143509" h="40639">
                <a:moveTo>
                  <a:pt x="143308" y="0"/>
                </a:moveTo>
                <a:lnTo>
                  <a:pt x="131366" y="0"/>
                </a:lnTo>
                <a:lnTo>
                  <a:pt x="0" y="26869"/>
                </a:lnTo>
                <a:lnTo>
                  <a:pt x="0" y="40303"/>
                </a:lnTo>
                <a:lnTo>
                  <a:pt x="11943" y="40303"/>
                </a:lnTo>
                <a:lnTo>
                  <a:pt x="143308" y="13435"/>
                </a:lnTo>
                <a:lnTo>
                  <a:pt x="143308" y="0"/>
                </a:lnTo>
                <a:close/>
              </a:path>
            </a:pathLst>
          </a:custGeom>
          <a:solidFill>
            <a:srgbClr val="000000"/>
          </a:solidFill>
        </p:spPr>
        <p:txBody>
          <a:bodyPr wrap="square" lIns="0" tIns="0" rIns="0" bIns="0" rtlCol="0"/>
          <a:lstStyle/>
          <a:p>
            <a:endParaRPr sz="1593"/>
          </a:p>
        </p:txBody>
      </p:sp>
      <p:sp>
        <p:nvSpPr>
          <p:cNvPr id="874" name="object 874"/>
          <p:cNvSpPr/>
          <p:nvPr/>
        </p:nvSpPr>
        <p:spPr>
          <a:xfrm>
            <a:off x="5779511" y="3248058"/>
            <a:ext cx="10680" cy="12366"/>
          </a:xfrm>
          <a:custGeom>
            <a:avLst/>
            <a:gdLst/>
            <a:ahLst/>
            <a:cxnLst/>
            <a:rect l="l" t="t" r="r" b="b"/>
            <a:pathLst>
              <a:path w="12065"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75" name="object 875"/>
          <p:cNvSpPr/>
          <p:nvPr/>
        </p:nvSpPr>
        <p:spPr>
          <a:xfrm>
            <a:off x="5779511" y="3248058"/>
            <a:ext cx="10680" cy="12366"/>
          </a:xfrm>
          <a:custGeom>
            <a:avLst/>
            <a:gdLst/>
            <a:ahLst/>
            <a:cxnLst/>
            <a:rect l="l" t="t" r="r" b="b"/>
            <a:pathLst>
              <a:path w="12065"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76" name="object 876"/>
          <p:cNvSpPr/>
          <p:nvPr/>
        </p:nvSpPr>
        <p:spPr>
          <a:xfrm>
            <a:off x="5779511" y="3248058"/>
            <a:ext cx="10680" cy="12366"/>
          </a:xfrm>
          <a:custGeom>
            <a:avLst/>
            <a:gdLst/>
            <a:ahLst/>
            <a:cxnLst/>
            <a:rect l="l" t="t" r="r" b="b"/>
            <a:pathLst>
              <a:path w="12065"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77" name="object 877"/>
          <p:cNvSpPr/>
          <p:nvPr/>
        </p:nvSpPr>
        <p:spPr>
          <a:xfrm>
            <a:off x="5673799" y="3224274"/>
            <a:ext cx="116353" cy="35974"/>
          </a:xfrm>
          <a:custGeom>
            <a:avLst/>
            <a:gdLst/>
            <a:ahLst/>
            <a:cxnLst/>
            <a:rect l="l" t="t" r="r" b="b"/>
            <a:pathLst>
              <a:path w="131445" h="40639">
                <a:moveTo>
                  <a:pt x="11941" y="0"/>
                </a:moveTo>
                <a:lnTo>
                  <a:pt x="0" y="0"/>
                </a:lnTo>
                <a:lnTo>
                  <a:pt x="0" y="13435"/>
                </a:lnTo>
                <a:lnTo>
                  <a:pt x="119423" y="40303"/>
                </a:lnTo>
                <a:lnTo>
                  <a:pt x="131366" y="40303"/>
                </a:lnTo>
                <a:lnTo>
                  <a:pt x="131366" y="26869"/>
                </a:lnTo>
                <a:lnTo>
                  <a:pt x="11941" y="0"/>
                </a:lnTo>
                <a:close/>
              </a:path>
            </a:pathLst>
          </a:custGeom>
          <a:solidFill>
            <a:srgbClr val="000000"/>
          </a:solidFill>
        </p:spPr>
        <p:txBody>
          <a:bodyPr wrap="square" lIns="0" tIns="0" rIns="0" bIns="0" rtlCol="0"/>
          <a:lstStyle/>
          <a:p>
            <a:endParaRPr sz="1593"/>
          </a:p>
        </p:txBody>
      </p:sp>
      <p:sp>
        <p:nvSpPr>
          <p:cNvPr id="878" name="object 878"/>
          <p:cNvSpPr/>
          <p:nvPr/>
        </p:nvSpPr>
        <p:spPr>
          <a:xfrm>
            <a:off x="5679085" y="3224274"/>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879" name="object 879"/>
          <p:cNvSpPr/>
          <p:nvPr/>
        </p:nvSpPr>
        <p:spPr>
          <a:xfrm>
            <a:off x="5578658" y="3164813"/>
            <a:ext cx="106235" cy="71386"/>
          </a:xfrm>
          <a:custGeom>
            <a:avLst/>
            <a:gdLst/>
            <a:ahLst/>
            <a:cxnLst/>
            <a:rect l="l" t="t" r="r" b="b"/>
            <a:pathLst>
              <a:path w="120014" h="80645">
                <a:moveTo>
                  <a:pt x="11943" y="0"/>
                </a:moveTo>
                <a:lnTo>
                  <a:pt x="0" y="0"/>
                </a:lnTo>
                <a:lnTo>
                  <a:pt x="0" y="13435"/>
                </a:lnTo>
                <a:lnTo>
                  <a:pt x="107481" y="80609"/>
                </a:lnTo>
                <a:lnTo>
                  <a:pt x="119423" y="80609"/>
                </a:lnTo>
                <a:lnTo>
                  <a:pt x="119423" y="67174"/>
                </a:lnTo>
                <a:lnTo>
                  <a:pt x="11943" y="0"/>
                </a:lnTo>
                <a:close/>
              </a:path>
            </a:pathLst>
          </a:custGeom>
          <a:solidFill>
            <a:srgbClr val="000000"/>
          </a:solidFill>
        </p:spPr>
        <p:txBody>
          <a:bodyPr wrap="square" lIns="0" tIns="0" rIns="0" bIns="0" rtlCol="0"/>
          <a:lstStyle/>
          <a:p>
            <a:endParaRPr sz="1593"/>
          </a:p>
        </p:txBody>
      </p:sp>
      <p:sp>
        <p:nvSpPr>
          <p:cNvPr id="880" name="object 880"/>
          <p:cNvSpPr/>
          <p:nvPr/>
        </p:nvSpPr>
        <p:spPr>
          <a:xfrm>
            <a:off x="5583944" y="3164812"/>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881" name="object 881"/>
          <p:cNvSpPr/>
          <p:nvPr/>
        </p:nvSpPr>
        <p:spPr>
          <a:xfrm>
            <a:off x="5515232" y="3057784"/>
            <a:ext cx="74196" cy="119164"/>
          </a:xfrm>
          <a:custGeom>
            <a:avLst/>
            <a:gdLst/>
            <a:ahLst/>
            <a:cxnLst/>
            <a:rect l="l" t="t" r="r" b="b"/>
            <a:pathLst>
              <a:path w="83820" h="134620">
                <a:moveTo>
                  <a:pt x="11941" y="0"/>
                </a:moveTo>
                <a:lnTo>
                  <a:pt x="0" y="0"/>
                </a:lnTo>
                <a:lnTo>
                  <a:pt x="0" y="13434"/>
                </a:lnTo>
                <a:lnTo>
                  <a:pt x="71653" y="134346"/>
                </a:lnTo>
                <a:lnTo>
                  <a:pt x="83596" y="134346"/>
                </a:lnTo>
                <a:lnTo>
                  <a:pt x="83596" y="120911"/>
                </a:lnTo>
                <a:lnTo>
                  <a:pt x="11941" y="0"/>
                </a:lnTo>
                <a:close/>
              </a:path>
            </a:pathLst>
          </a:custGeom>
          <a:solidFill>
            <a:srgbClr val="000000"/>
          </a:solidFill>
        </p:spPr>
        <p:txBody>
          <a:bodyPr wrap="square" lIns="0" tIns="0" rIns="0" bIns="0" rtlCol="0"/>
          <a:lstStyle/>
          <a:p>
            <a:endParaRPr sz="1593"/>
          </a:p>
        </p:txBody>
      </p:sp>
      <p:sp>
        <p:nvSpPr>
          <p:cNvPr id="882" name="object 882"/>
          <p:cNvSpPr/>
          <p:nvPr/>
        </p:nvSpPr>
        <p:spPr>
          <a:xfrm>
            <a:off x="5520517" y="3057783"/>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883" name="object 883"/>
          <p:cNvSpPr/>
          <p:nvPr/>
        </p:nvSpPr>
        <p:spPr>
          <a:xfrm>
            <a:off x="5494090" y="2938862"/>
            <a:ext cx="32039" cy="130968"/>
          </a:xfrm>
          <a:custGeom>
            <a:avLst/>
            <a:gdLst/>
            <a:ahLst/>
            <a:cxnLst/>
            <a:rect l="l" t="t" r="r" b="b"/>
            <a:pathLst>
              <a:path w="36195" h="147954">
                <a:moveTo>
                  <a:pt x="11941" y="0"/>
                </a:moveTo>
                <a:lnTo>
                  <a:pt x="0" y="0"/>
                </a:lnTo>
                <a:lnTo>
                  <a:pt x="0" y="13434"/>
                </a:lnTo>
                <a:lnTo>
                  <a:pt x="23884" y="147781"/>
                </a:lnTo>
                <a:lnTo>
                  <a:pt x="35826" y="147781"/>
                </a:lnTo>
                <a:lnTo>
                  <a:pt x="35826" y="134346"/>
                </a:lnTo>
                <a:lnTo>
                  <a:pt x="11941" y="0"/>
                </a:lnTo>
                <a:close/>
              </a:path>
            </a:pathLst>
          </a:custGeom>
          <a:solidFill>
            <a:srgbClr val="000000"/>
          </a:solidFill>
        </p:spPr>
        <p:txBody>
          <a:bodyPr wrap="square" lIns="0" tIns="0" rIns="0" bIns="0" rtlCol="0"/>
          <a:lstStyle/>
          <a:p>
            <a:endParaRPr sz="1593"/>
          </a:p>
        </p:txBody>
      </p:sp>
      <p:sp>
        <p:nvSpPr>
          <p:cNvPr id="884" name="object 884"/>
          <p:cNvSpPr/>
          <p:nvPr/>
        </p:nvSpPr>
        <p:spPr>
          <a:xfrm>
            <a:off x="5494089" y="293886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85" name="object 885"/>
          <p:cNvSpPr/>
          <p:nvPr/>
        </p:nvSpPr>
        <p:spPr>
          <a:xfrm>
            <a:off x="5494089" y="293886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86" name="object 886"/>
          <p:cNvSpPr/>
          <p:nvPr/>
        </p:nvSpPr>
        <p:spPr>
          <a:xfrm>
            <a:off x="5494089" y="2938861"/>
            <a:ext cx="10680" cy="12366"/>
          </a:xfrm>
          <a:custGeom>
            <a:avLst/>
            <a:gdLst/>
            <a:ahLst/>
            <a:cxnLst/>
            <a:rect l="l" t="t" r="r" b="b"/>
            <a:pathLst>
              <a:path w="12064" h="13970">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87" name="object 887"/>
          <p:cNvSpPr/>
          <p:nvPr/>
        </p:nvSpPr>
        <p:spPr>
          <a:xfrm>
            <a:off x="5494090" y="2819940"/>
            <a:ext cx="32039" cy="130968"/>
          </a:xfrm>
          <a:custGeom>
            <a:avLst/>
            <a:gdLst/>
            <a:ahLst/>
            <a:cxnLst/>
            <a:rect l="l" t="t" r="r" b="b"/>
            <a:pathLst>
              <a:path w="36195" h="147954">
                <a:moveTo>
                  <a:pt x="35826" y="0"/>
                </a:moveTo>
                <a:lnTo>
                  <a:pt x="23884" y="0"/>
                </a:lnTo>
                <a:lnTo>
                  <a:pt x="0" y="134346"/>
                </a:lnTo>
                <a:lnTo>
                  <a:pt x="0" y="147781"/>
                </a:lnTo>
                <a:lnTo>
                  <a:pt x="11941" y="147781"/>
                </a:lnTo>
                <a:lnTo>
                  <a:pt x="35826" y="13434"/>
                </a:lnTo>
                <a:lnTo>
                  <a:pt x="35826" y="0"/>
                </a:lnTo>
                <a:close/>
              </a:path>
            </a:pathLst>
          </a:custGeom>
          <a:solidFill>
            <a:srgbClr val="000000"/>
          </a:solidFill>
        </p:spPr>
        <p:txBody>
          <a:bodyPr wrap="square" lIns="0" tIns="0" rIns="0" bIns="0" rtlCol="0"/>
          <a:lstStyle/>
          <a:p>
            <a:endParaRPr sz="1593"/>
          </a:p>
        </p:txBody>
      </p:sp>
      <p:sp>
        <p:nvSpPr>
          <p:cNvPr id="888" name="object 888"/>
          <p:cNvSpPr/>
          <p:nvPr/>
        </p:nvSpPr>
        <p:spPr>
          <a:xfrm>
            <a:off x="5520517" y="281993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89" name="object 889"/>
          <p:cNvSpPr/>
          <p:nvPr/>
        </p:nvSpPr>
        <p:spPr>
          <a:xfrm>
            <a:off x="5515232" y="2724802"/>
            <a:ext cx="74196" cy="107360"/>
          </a:xfrm>
          <a:custGeom>
            <a:avLst/>
            <a:gdLst/>
            <a:ahLst/>
            <a:cxnLst/>
            <a:rect l="l" t="t" r="r" b="b"/>
            <a:pathLst>
              <a:path w="83820" h="121285">
                <a:moveTo>
                  <a:pt x="83596" y="0"/>
                </a:moveTo>
                <a:lnTo>
                  <a:pt x="71653" y="0"/>
                </a:lnTo>
                <a:lnTo>
                  <a:pt x="0" y="107477"/>
                </a:lnTo>
                <a:lnTo>
                  <a:pt x="0" y="120911"/>
                </a:lnTo>
                <a:lnTo>
                  <a:pt x="11941" y="120911"/>
                </a:lnTo>
                <a:lnTo>
                  <a:pt x="83596" y="13434"/>
                </a:lnTo>
                <a:lnTo>
                  <a:pt x="83596" y="0"/>
                </a:lnTo>
                <a:close/>
              </a:path>
            </a:pathLst>
          </a:custGeom>
          <a:solidFill>
            <a:srgbClr val="000000"/>
          </a:solidFill>
        </p:spPr>
        <p:txBody>
          <a:bodyPr wrap="square" lIns="0" tIns="0" rIns="0" bIns="0" rtlCol="0"/>
          <a:lstStyle/>
          <a:p>
            <a:endParaRPr sz="1593"/>
          </a:p>
        </p:txBody>
      </p:sp>
      <p:sp>
        <p:nvSpPr>
          <p:cNvPr id="890" name="object 890"/>
          <p:cNvSpPr/>
          <p:nvPr/>
        </p:nvSpPr>
        <p:spPr>
          <a:xfrm>
            <a:off x="5583944" y="272480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91" name="object 891"/>
          <p:cNvSpPr/>
          <p:nvPr/>
        </p:nvSpPr>
        <p:spPr>
          <a:xfrm>
            <a:off x="5578658" y="2653449"/>
            <a:ext cx="106235" cy="83752"/>
          </a:xfrm>
          <a:custGeom>
            <a:avLst/>
            <a:gdLst/>
            <a:ahLst/>
            <a:cxnLst/>
            <a:rect l="l" t="t" r="r" b="b"/>
            <a:pathLst>
              <a:path w="120014" h="94614">
                <a:moveTo>
                  <a:pt x="119423" y="0"/>
                </a:moveTo>
                <a:lnTo>
                  <a:pt x="107481" y="0"/>
                </a:lnTo>
                <a:lnTo>
                  <a:pt x="0" y="80608"/>
                </a:lnTo>
                <a:lnTo>
                  <a:pt x="0" y="94042"/>
                </a:lnTo>
                <a:lnTo>
                  <a:pt x="11943" y="94042"/>
                </a:lnTo>
                <a:lnTo>
                  <a:pt x="119423" y="13434"/>
                </a:lnTo>
                <a:lnTo>
                  <a:pt x="119423" y="0"/>
                </a:lnTo>
                <a:close/>
              </a:path>
            </a:pathLst>
          </a:custGeom>
          <a:solidFill>
            <a:srgbClr val="000000"/>
          </a:solidFill>
        </p:spPr>
        <p:txBody>
          <a:bodyPr wrap="square" lIns="0" tIns="0" rIns="0" bIns="0" rtlCol="0"/>
          <a:lstStyle/>
          <a:p>
            <a:endParaRPr sz="1593"/>
          </a:p>
        </p:txBody>
      </p:sp>
      <p:sp>
        <p:nvSpPr>
          <p:cNvPr id="892" name="object 892"/>
          <p:cNvSpPr/>
          <p:nvPr/>
        </p:nvSpPr>
        <p:spPr>
          <a:xfrm>
            <a:off x="5679085" y="265344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93" name="object 893"/>
          <p:cNvSpPr/>
          <p:nvPr/>
        </p:nvSpPr>
        <p:spPr>
          <a:xfrm>
            <a:off x="5673799" y="2629663"/>
            <a:ext cx="116353" cy="35974"/>
          </a:xfrm>
          <a:custGeom>
            <a:avLst/>
            <a:gdLst/>
            <a:ahLst/>
            <a:cxnLst/>
            <a:rect l="l" t="t" r="r" b="b"/>
            <a:pathLst>
              <a:path w="131445" h="40639">
                <a:moveTo>
                  <a:pt x="131366" y="0"/>
                </a:moveTo>
                <a:lnTo>
                  <a:pt x="119423" y="0"/>
                </a:lnTo>
                <a:lnTo>
                  <a:pt x="0" y="26870"/>
                </a:lnTo>
                <a:lnTo>
                  <a:pt x="0" y="40304"/>
                </a:lnTo>
                <a:lnTo>
                  <a:pt x="11941" y="40304"/>
                </a:lnTo>
                <a:lnTo>
                  <a:pt x="131366" y="13435"/>
                </a:lnTo>
                <a:lnTo>
                  <a:pt x="131366" y="0"/>
                </a:lnTo>
                <a:close/>
              </a:path>
            </a:pathLst>
          </a:custGeom>
          <a:solidFill>
            <a:srgbClr val="000000"/>
          </a:solidFill>
        </p:spPr>
        <p:txBody>
          <a:bodyPr wrap="square" lIns="0" tIns="0" rIns="0" bIns="0" rtlCol="0"/>
          <a:lstStyle/>
          <a:p>
            <a:endParaRPr sz="1593"/>
          </a:p>
        </p:txBody>
      </p:sp>
      <p:sp>
        <p:nvSpPr>
          <p:cNvPr id="894" name="object 894"/>
          <p:cNvSpPr/>
          <p:nvPr/>
        </p:nvSpPr>
        <p:spPr>
          <a:xfrm>
            <a:off x="5779511" y="2629664"/>
            <a:ext cx="10680" cy="12366"/>
          </a:xfrm>
          <a:custGeom>
            <a:avLst/>
            <a:gdLst/>
            <a:ahLst/>
            <a:cxnLst/>
            <a:rect l="l" t="t" r="r" b="b"/>
            <a:pathLst>
              <a:path w="12065"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95" name="object 895"/>
          <p:cNvSpPr/>
          <p:nvPr/>
        </p:nvSpPr>
        <p:spPr>
          <a:xfrm>
            <a:off x="5779511" y="2629664"/>
            <a:ext cx="10680" cy="12366"/>
          </a:xfrm>
          <a:custGeom>
            <a:avLst/>
            <a:gdLst/>
            <a:ahLst/>
            <a:cxnLst/>
            <a:rect l="l" t="t" r="r" b="b"/>
            <a:pathLst>
              <a:path w="12065"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96" name="object 896"/>
          <p:cNvSpPr/>
          <p:nvPr/>
        </p:nvSpPr>
        <p:spPr>
          <a:xfrm>
            <a:off x="5779511" y="2629664"/>
            <a:ext cx="10680" cy="12366"/>
          </a:xfrm>
          <a:custGeom>
            <a:avLst/>
            <a:gdLst/>
            <a:ahLst/>
            <a:cxnLst/>
            <a:rect l="l" t="t" r="r" b="b"/>
            <a:pathLst>
              <a:path w="12065" h="13969">
                <a:moveTo>
                  <a:pt x="0" y="13434"/>
                </a:moveTo>
                <a:lnTo>
                  <a:pt x="11942" y="13434"/>
                </a:lnTo>
                <a:lnTo>
                  <a:pt x="11942" y="0"/>
                </a:lnTo>
                <a:lnTo>
                  <a:pt x="0" y="0"/>
                </a:lnTo>
                <a:lnTo>
                  <a:pt x="0" y="13434"/>
                </a:lnTo>
                <a:close/>
              </a:path>
            </a:pathLst>
          </a:custGeom>
          <a:solidFill>
            <a:srgbClr val="000000"/>
          </a:solidFill>
        </p:spPr>
        <p:txBody>
          <a:bodyPr wrap="square" lIns="0" tIns="0" rIns="0" bIns="0" rtlCol="0"/>
          <a:lstStyle/>
          <a:p>
            <a:endParaRPr sz="1593"/>
          </a:p>
        </p:txBody>
      </p:sp>
      <p:sp>
        <p:nvSpPr>
          <p:cNvPr id="897" name="object 897"/>
          <p:cNvSpPr/>
          <p:nvPr/>
        </p:nvSpPr>
        <p:spPr>
          <a:xfrm>
            <a:off x="5779511" y="2629663"/>
            <a:ext cx="127033" cy="35974"/>
          </a:xfrm>
          <a:custGeom>
            <a:avLst/>
            <a:gdLst/>
            <a:ahLst/>
            <a:cxnLst/>
            <a:rect l="l" t="t" r="r" b="b"/>
            <a:pathLst>
              <a:path w="143509" h="40639">
                <a:moveTo>
                  <a:pt x="11943" y="0"/>
                </a:moveTo>
                <a:lnTo>
                  <a:pt x="0" y="0"/>
                </a:lnTo>
                <a:lnTo>
                  <a:pt x="0" y="13435"/>
                </a:lnTo>
                <a:lnTo>
                  <a:pt x="131366" y="40304"/>
                </a:lnTo>
                <a:lnTo>
                  <a:pt x="143308" y="40304"/>
                </a:lnTo>
                <a:lnTo>
                  <a:pt x="143308" y="26870"/>
                </a:lnTo>
                <a:lnTo>
                  <a:pt x="11943" y="0"/>
                </a:lnTo>
                <a:close/>
              </a:path>
            </a:pathLst>
          </a:custGeom>
          <a:solidFill>
            <a:srgbClr val="000000"/>
          </a:solidFill>
        </p:spPr>
        <p:txBody>
          <a:bodyPr wrap="square" lIns="0" tIns="0" rIns="0" bIns="0" rtlCol="0"/>
          <a:lstStyle/>
          <a:p>
            <a:endParaRPr sz="1593"/>
          </a:p>
        </p:txBody>
      </p:sp>
      <p:sp>
        <p:nvSpPr>
          <p:cNvPr id="898" name="object 898"/>
          <p:cNvSpPr/>
          <p:nvPr/>
        </p:nvSpPr>
        <p:spPr>
          <a:xfrm>
            <a:off x="5901079" y="2653448"/>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899" name="object 899"/>
          <p:cNvSpPr/>
          <p:nvPr/>
        </p:nvSpPr>
        <p:spPr>
          <a:xfrm>
            <a:off x="5895794" y="2653449"/>
            <a:ext cx="106235" cy="83752"/>
          </a:xfrm>
          <a:custGeom>
            <a:avLst/>
            <a:gdLst/>
            <a:ahLst/>
            <a:cxnLst/>
            <a:rect l="l" t="t" r="r" b="b"/>
            <a:pathLst>
              <a:path w="120015" h="94614">
                <a:moveTo>
                  <a:pt x="11941" y="0"/>
                </a:moveTo>
                <a:lnTo>
                  <a:pt x="0" y="0"/>
                </a:lnTo>
                <a:lnTo>
                  <a:pt x="0" y="13434"/>
                </a:lnTo>
                <a:lnTo>
                  <a:pt x="107480" y="94042"/>
                </a:lnTo>
                <a:lnTo>
                  <a:pt x="119421" y="94042"/>
                </a:lnTo>
                <a:lnTo>
                  <a:pt x="119421" y="80608"/>
                </a:lnTo>
                <a:lnTo>
                  <a:pt x="11941" y="0"/>
                </a:lnTo>
                <a:close/>
              </a:path>
            </a:pathLst>
          </a:custGeom>
          <a:solidFill>
            <a:srgbClr val="000000"/>
          </a:solidFill>
        </p:spPr>
        <p:txBody>
          <a:bodyPr wrap="square" lIns="0" tIns="0" rIns="0" bIns="0" rtlCol="0"/>
          <a:lstStyle/>
          <a:p>
            <a:endParaRPr sz="1593"/>
          </a:p>
        </p:txBody>
      </p:sp>
      <p:sp>
        <p:nvSpPr>
          <p:cNvPr id="900" name="object 900"/>
          <p:cNvSpPr/>
          <p:nvPr/>
        </p:nvSpPr>
        <p:spPr>
          <a:xfrm>
            <a:off x="5996219" y="2724801"/>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901" name="object 901"/>
          <p:cNvSpPr/>
          <p:nvPr/>
        </p:nvSpPr>
        <p:spPr>
          <a:xfrm>
            <a:off x="5990934" y="2724802"/>
            <a:ext cx="63516" cy="107360"/>
          </a:xfrm>
          <a:custGeom>
            <a:avLst/>
            <a:gdLst/>
            <a:ahLst/>
            <a:cxnLst/>
            <a:rect l="l" t="t" r="r" b="b"/>
            <a:pathLst>
              <a:path w="71754" h="121285">
                <a:moveTo>
                  <a:pt x="11941" y="0"/>
                </a:moveTo>
                <a:lnTo>
                  <a:pt x="0" y="0"/>
                </a:lnTo>
                <a:lnTo>
                  <a:pt x="0" y="13434"/>
                </a:lnTo>
                <a:lnTo>
                  <a:pt x="59711" y="120911"/>
                </a:lnTo>
                <a:lnTo>
                  <a:pt x="71654" y="120911"/>
                </a:lnTo>
                <a:lnTo>
                  <a:pt x="71654" y="107477"/>
                </a:lnTo>
                <a:lnTo>
                  <a:pt x="11941" y="0"/>
                </a:lnTo>
                <a:close/>
              </a:path>
            </a:pathLst>
          </a:custGeom>
          <a:solidFill>
            <a:srgbClr val="000000"/>
          </a:solidFill>
        </p:spPr>
        <p:txBody>
          <a:bodyPr wrap="square" lIns="0" tIns="0" rIns="0" bIns="0" rtlCol="0"/>
          <a:lstStyle/>
          <a:p>
            <a:endParaRPr sz="1593"/>
          </a:p>
        </p:txBody>
      </p:sp>
      <p:sp>
        <p:nvSpPr>
          <p:cNvPr id="902" name="object 902"/>
          <p:cNvSpPr/>
          <p:nvPr/>
        </p:nvSpPr>
        <p:spPr>
          <a:xfrm>
            <a:off x="6049075" y="2819939"/>
            <a:ext cx="0" cy="12366"/>
          </a:xfrm>
          <a:custGeom>
            <a:avLst/>
            <a:gdLst/>
            <a:ahLst/>
            <a:cxnLst/>
            <a:rect l="l" t="t" r="r" b="b"/>
            <a:pathLst>
              <a:path h="13969">
                <a:moveTo>
                  <a:pt x="-5971" y="6717"/>
                </a:moveTo>
                <a:lnTo>
                  <a:pt x="5971" y="6717"/>
                </a:lnTo>
              </a:path>
            </a:pathLst>
          </a:custGeom>
          <a:ln w="13434">
            <a:solidFill>
              <a:srgbClr val="000000"/>
            </a:solidFill>
          </a:ln>
        </p:spPr>
        <p:txBody>
          <a:bodyPr wrap="square" lIns="0" tIns="0" rIns="0" bIns="0" rtlCol="0"/>
          <a:lstStyle/>
          <a:p>
            <a:endParaRPr sz="1593"/>
          </a:p>
        </p:txBody>
      </p:sp>
      <p:sp>
        <p:nvSpPr>
          <p:cNvPr id="903" name="object 903"/>
          <p:cNvSpPr/>
          <p:nvPr/>
        </p:nvSpPr>
        <p:spPr>
          <a:xfrm>
            <a:off x="6043790" y="2819940"/>
            <a:ext cx="42719" cy="130968"/>
          </a:xfrm>
          <a:custGeom>
            <a:avLst/>
            <a:gdLst/>
            <a:ahLst/>
            <a:cxnLst/>
            <a:rect l="l" t="t" r="r" b="b"/>
            <a:pathLst>
              <a:path w="48259" h="147954">
                <a:moveTo>
                  <a:pt x="11943" y="0"/>
                </a:moveTo>
                <a:lnTo>
                  <a:pt x="0" y="0"/>
                </a:lnTo>
                <a:lnTo>
                  <a:pt x="0" y="13434"/>
                </a:lnTo>
                <a:lnTo>
                  <a:pt x="35826" y="147781"/>
                </a:lnTo>
                <a:lnTo>
                  <a:pt x="47769" y="147781"/>
                </a:lnTo>
                <a:lnTo>
                  <a:pt x="47769" y="134346"/>
                </a:lnTo>
                <a:lnTo>
                  <a:pt x="11943" y="0"/>
                </a:lnTo>
                <a:close/>
              </a:path>
            </a:pathLst>
          </a:custGeom>
          <a:solidFill>
            <a:srgbClr val="000000"/>
          </a:solidFill>
        </p:spPr>
        <p:txBody>
          <a:bodyPr wrap="square" lIns="0" tIns="0" rIns="0" bIns="0" rtlCol="0"/>
          <a:lstStyle/>
          <a:p>
            <a:endParaRPr sz="1593"/>
          </a:p>
        </p:txBody>
      </p:sp>
      <p:sp>
        <p:nvSpPr>
          <p:cNvPr id="904" name="object 904"/>
          <p:cNvSpPr/>
          <p:nvPr/>
        </p:nvSpPr>
        <p:spPr>
          <a:xfrm>
            <a:off x="6080790" y="2938861"/>
            <a:ext cx="0" cy="12366"/>
          </a:xfrm>
          <a:custGeom>
            <a:avLst/>
            <a:gdLst/>
            <a:ahLst/>
            <a:cxnLst/>
            <a:rect l="l" t="t" r="r" b="b"/>
            <a:pathLst>
              <a:path h="13970">
                <a:moveTo>
                  <a:pt x="-5971" y="6717"/>
                </a:moveTo>
                <a:lnTo>
                  <a:pt x="5971" y="6717"/>
                </a:lnTo>
              </a:path>
            </a:pathLst>
          </a:custGeom>
          <a:ln w="13434">
            <a:solidFill>
              <a:srgbClr val="000000"/>
            </a:solidFill>
          </a:ln>
        </p:spPr>
        <p:txBody>
          <a:bodyPr wrap="square" lIns="0" tIns="0" rIns="0" bIns="0" rtlCol="0"/>
          <a:lstStyle/>
          <a:p>
            <a:endParaRPr sz="1593"/>
          </a:p>
        </p:txBody>
      </p:sp>
      <p:sp>
        <p:nvSpPr>
          <p:cNvPr id="905" name="object 905"/>
          <p:cNvSpPr txBox="1"/>
          <p:nvPr/>
        </p:nvSpPr>
        <p:spPr>
          <a:xfrm>
            <a:off x="5546274" y="2749236"/>
            <a:ext cx="517125" cy="308302"/>
          </a:xfrm>
          <a:prstGeom prst="rect">
            <a:avLst/>
          </a:prstGeom>
        </p:spPr>
        <p:txBody>
          <a:bodyPr vert="horz" wrap="square" lIns="0" tIns="10680" rIns="0" bIns="0" rtlCol="0">
            <a:spAutoFit/>
          </a:bodyPr>
          <a:lstStyle/>
          <a:p>
            <a:pPr marL="11242" marR="4497" indent="42158">
              <a:lnSpc>
                <a:spcPct val="109100"/>
              </a:lnSpc>
              <a:spcBef>
                <a:spcPts val="84"/>
              </a:spcBef>
            </a:pPr>
            <a:r>
              <a:rPr sz="929" spc="-75" dirty="0">
                <a:latin typeface="Verdana"/>
                <a:cs typeface="Verdana"/>
              </a:rPr>
              <a:t>network  re</a:t>
            </a:r>
            <a:r>
              <a:rPr sz="929" spc="-62" dirty="0">
                <a:latin typeface="Verdana"/>
                <a:cs typeface="Verdana"/>
              </a:rPr>
              <a:t>s</a:t>
            </a:r>
            <a:r>
              <a:rPr sz="929" spc="-84" dirty="0">
                <a:latin typeface="Verdana"/>
                <a:cs typeface="Verdana"/>
              </a:rPr>
              <a:t>ou</a:t>
            </a:r>
            <a:r>
              <a:rPr sz="929" spc="-75" dirty="0">
                <a:latin typeface="Verdana"/>
                <a:cs typeface="Verdana"/>
              </a:rPr>
              <a:t>r</a:t>
            </a:r>
            <a:r>
              <a:rPr sz="929" spc="-31" dirty="0">
                <a:latin typeface="Verdana"/>
                <a:cs typeface="Verdana"/>
              </a:rPr>
              <a:t>c</a:t>
            </a:r>
            <a:r>
              <a:rPr sz="929" spc="-75" dirty="0">
                <a:latin typeface="Verdana"/>
                <a:cs typeface="Verdana"/>
              </a:rPr>
              <a:t>e</a:t>
            </a:r>
            <a:r>
              <a:rPr sz="929" spc="-62" dirty="0">
                <a:latin typeface="Verdana"/>
                <a:cs typeface="Verdana"/>
              </a:rPr>
              <a:t>s</a:t>
            </a:r>
            <a:endParaRPr sz="929">
              <a:latin typeface="Verdana"/>
              <a:cs typeface="Verdan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91491-7E95-4F62-859C-7ECA7D8BA546}"/>
              </a:ext>
            </a:extLst>
          </p:cNvPr>
          <p:cNvSpPr>
            <a:spLocks noGrp="1"/>
          </p:cNvSpPr>
          <p:nvPr>
            <p:ph type="title"/>
          </p:nvPr>
        </p:nvSpPr>
        <p:spPr/>
        <p:txBody>
          <a:bodyPr/>
          <a:lstStyle/>
          <a:p>
            <a:r>
              <a:rPr lang="en-US" dirty="0"/>
              <a:t>Reusable Software Resources</a:t>
            </a:r>
            <a:endParaRPr lang="en-IN" dirty="0"/>
          </a:p>
        </p:txBody>
      </p:sp>
      <p:sp>
        <p:nvSpPr>
          <p:cNvPr id="3" name="Content Placeholder 2">
            <a:extLst>
              <a:ext uri="{FF2B5EF4-FFF2-40B4-BE49-F238E27FC236}">
                <a16:creationId xmlns:a16="http://schemas.microsoft.com/office/drawing/2014/main" id="{57278C9E-41A8-4908-ACC4-F230F55FED9D}"/>
              </a:ext>
            </a:extLst>
          </p:cNvPr>
          <p:cNvSpPr>
            <a:spLocks noGrp="1"/>
          </p:cNvSpPr>
          <p:nvPr>
            <p:ph idx="1"/>
          </p:nvPr>
        </p:nvSpPr>
        <p:spPr>
          <a:xfrm>
            <a:off x="408940" y="1416474"/>
            <a:ext cx="7284720" cy="4519224"/>
          </a:xfrm>
        </p:spPr>
        <p:txBody>
          <a:bodyPr>
            <a:normAutofit lnSpcReduction="10000"/>
          </a:bodyPr>
          <a:lstStyle/>
          <a:p>
            <a:r>
              <a:rPr lang="en-US" dirty="0"/>
              <a:t>Component based software Engineering emphasizes reusability – creation and reuse of software building blocks called as components</a:t>
            </a:r>
          </a:p>
          <a:p>
            <a:r>
              <a:rPr lang="en-US" dirty="0"/>
              <a:t>Four software resource categories</a:t>
            </a:r>
          </a:p>
          <a:p>
            <a:pPr lvl="1"/>
            <a:r>
              <a:rPr lang="en-US" dirty="0"/>
              <a:t>Off – the shelf components : acquired from 3</a:t>
            </a:r>
            <a:r>
              <a:rPr lang="en-US" baseline="30000" dirty="0"/>
              <a:t>rd</a:t>
            </a:r>
            <a:r>
              <a:rPr lang="en-US" dirty="0"/>
              <a:t> party</a:t>
            </a:r>
          </a:p>
          <a:p>
            <a:pPr lvl="1"/>
            <a:r>
              <a:rPr lang="en-US" dirty="0"/>
              <a:t>Full – Experienced components : Existing specifications , design , code or test data developed for past projects – related to current project with substantial modification. Current team have full experience</a:t>
            </a:r>
          </a:p>
          <a:p>
            <a:pPr marL="404713" lvl="1" indent="0">
              <a:buNone/>
            </a:pPr>
            <a:endParaRPr lang="en-US" dirty="0"/>
          </a:p>
          <a:p>
            <a:pPr lvl="1"/>
            <a:endParaRPr lang="en-US" dirty="0"/>
          </a:p>
          <a:p>
            <a:endParaRPr lang="en-US" dirty="0"/>
          </a:p>
          <a:p>
            <a:endParaRPr lang="en-IN" dirty="0"/>
          </a:p>
        </p:txBody>
      </p:sp>
    </p:spTree>
    <p:extLst>
      <p:ext uri="{BB962C8B-B14F-4D97-AF65-F5344CB8AC3E}">
        <p14:creationId xmlns:p14="http://schemas.microsoft.com/office/powerpoint/2010/main" val="5142994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007F8D-D4F6-4D1B-9064-C02E7796CBCB}"/>
              </a:ext>
            </a:extLst>
          </p:cNvPr>
          <p:cNvSpPr>
            <a:spLocks noGrp="1"/>
          </p:cNvSpPr>
          <p:nvPr>
            <p:ph idx="1"/>
          </p:nvPr>
        </p:nvSpPr>
        <p:spPr>
          <a:xfrm>
            <a:off x="274038" y="674511"/>
            <a:ext cx="7419622" cy="4748278"/>
          </a:xfrm>
        </p:spPr>
        <p:txBody>
          <a:bodyPr/>
          <a:lstStyle/>
          <a:p>
            <a:pPr lvl="1"/>
            <a:r>
              <a:rPr lang="en-US" dirty="0"/>
              <a:t>Partial experience components : Existing specifications , design , code or test data developed for past projects – related to current project with substantial modification. Current team have limited experience</a:t>
            </a:r>
          </a:p>
          <a:p>
            <a:pPr lvl="1"/>
            <a:endParaRPr lang="en-US" dirty="0"/>
          </a:p>
          <a:p>
            <a:pPr lvl="1"/>
            <a:r>
              <a:rPr lang="en-US" dirty="0"/>
              <a:t>New Components : Need to be built by the software team specifically for the needs of the current project</a:t>
            </a:r>
            <a:endParaRPr lang="en-IN" dirty="0"/>
          </a:p>
        </p:txBody>
      </p:sp>
    </p:spTree>
    <p:extLst>
      <p:ext uri="{BB962C8B-B14F-4D97-AF65-F5344CB8AC3E}">
        <p14:creationId xmlns:p14="http://schemas.microsoft.com/office/powerpoint/2010/main" val="13597902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294" y="634867"/>
            <a:ext cx="4188151" cy="610747"/>
          </a:xfrm>
          <a:prstGeom prst="rect">
            <a:avLst/>
          </a:prstGeom>
        </p:spPr>
        <p:txBody>
          <a:bodyPr vert="horz" wrap="square" lIns="0" tIns="11242" rIns="0" bIns="0" rtlCol="0" anchor="ctr">
            <a:spAutoFit/>
          </a:bodyPr>
          <a:lstStyle/>
          <a:p>
            <a:pPr marL="11242">
              <a:spcBef>
                <a:spcPts val="89"/>
              </a:spcBef>
            </a:pPr>
            <a:r>
              <a:rPr dirty="0"/>
              <a:t>Project</a:t>
            </a:r>
            <a:r>
              <a:rPr spc="-53" dirty="0"/>
              <a:t> </a:t>
            </a:r>
            <a:r>
              <a:rPr spc="-4" dirty="0"/>
              <a:t>Estimation</a:t>
            </a:r>
          </a:p>
        </p:txBody>
      </p:sp>
      <p:sp>
        <p:nvSpPr>
          <p:cNvPr id="5" name="object 5"/>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73</a:t>
            </a:fld>
            <a:endParaRPr dirty="0"/>
          </a:p>
        </p:txBody>
      </p:sp>
      <p:sp>
        <p:nvSpPr>
          <p:cNvPr id="3" name="object 3"/>
          <p:cNvSpPr txBox="1"/>
          <p:nvPr/>
        </p:nvSpPr>
        <p:spPr>
          <a:xfrm>
            <a:off x="2972083" y="1850409"/>
            <a:ext cx="5126284" cy="1851599"/>
          </a:xfrm>
          <a:prstGeom prst="rect">
            <a:avLst/>
          </a:prstGeom>
        </p:spPr>
        <p:txBody>
          <a:bodyPr vert="horz" wrap="square" lIns="0" tIns="11242" rIns="0" bIns="0" rtlCol="0">
            <a:spAutoFit/>
          </a:bodyPr>
          <a:lstStyle/>
          <a:p>
            <a:pPr marL="314777" marR="1091040" indent="-303535">
              <a:spcBef>
                <a:spcPts val="89"/>
              </a:spcBef>
              <a:tabLst>
                <a:tab pos="314215" algn="l"/>
              </a:tabLst>
            </a:pPr>
            <a:r>
              <a:rPr sz="1328" spc="-496" dirty="0">
                <a:solidFill>
                  <a:srgbClr val="9A0000"/>
                </a:solidFill>
                <a:latin typeface="Wingdings"/>
                <a:cs typeface="Wingdings"/>
              </a:rPr>
              <a:t></a:t>
            </a:r>
            <a:r>
              <a:rPr sz="1328" spc="-496" dirty="0">
                <a:solidFill>
                  <a:srgbClr val="9A0000"/>
                </a:solidFill>
                <a:latin typeface="Times New Roman"/>
                <a:cs typeface="Times New Roman"/>
              </a:rPr>
              <a:t>	</a:t>
            </a:r>
            <a:r>
              <a:rPr sz="1770" dirty="0">
                <a:latin typeface="Arial"/>
                <a:cs typeface="Arial"/>
              </a:rPr>
              <a:t>Project scope must</a:t>
            </a:r>
            <a:r>
              <a:rPr sz="1770" spc="-97" dirty="0">
                <a:latin typeface="Arial"/>
                <a:cs typeface="Arial"/>
              </a:rPr>
              <a:t> </a:t>
            </a:r>
            <a:r>
              <a:rPr sz="1770" dirty="0">
                <a:latin typeface="Arial"/>
                <a:cs typeface="Arial"/>
              </a:rPr>
              <a:t>be  </a:t>
            </a:r>
            <a:r>
              <a:rPr sz="1770" spc="-4" dirty="0">
                <a:latin typeface="Arial"/>
                <a:cs typeface="Arial"/>
              </a:rPr>
              <a:t>understood</a:t>
            </a:r>
            <a:endParaRPr sz="1770" dirty="0">
              <a:latin typeface="Arial"/>
              <a:cs typeface="Arial"/>
            </a:endParaRPr>
          </a:p>
          <a:p>
            <a:pPr marL="314777" marR="290607" indent="-303535">
              <a:lnSpc>
                <a:spcPts val="2054"/>
              </a:lnSpc>
              <a:spcBef>
                <a:spcPts val="549"/>
              </a:spcBef>
              <a:tabLst>
                <a:tab pos="314215" algn="l"/>
              </a:tabLst>
            </a:pPr>
            <a:r>
              <a:rPr sz="1328" spc="-496" dirty="0">
                <a:solidFill>
                  <a:srgbClr val="9A0000"/>
                </a:solidFill>
                <a:latin typeface="Wingdings"/>
                <a:cs typeface="Wingdings"/>
              </a:rPr>
              <a:t></a:t>
            </a:r>
            <a:r>
              <a:rPr sz="1328" spc="-496" dirty="0">
                <a:solidFill>
                  <a:srgbClr val="9A0000"/>
                </a:solidFill>
                <a:latin typeface="Times New Roman"/>
                <a:cs typeface="Times New Roman"/>
              </a:rPr>
              <a:t>	</a:t>
            </a:r>
            <a:r>
              <a:rPr sz="1770" spc="-4" dirty="0">
                <a:latin typeface="Arial"/>
                <a:cs typeface="Arial"/>
              </a:rPr>
              <a:t>Elaboration (decomposition) </a:t>
            </a:r>
            <a:r>
              <a:rPr sz="1770" dirty="0">
                <a:latin typeface="Arial"/>
                <a:cs typeface="Arial"/>
              </a:rPr>
              <a:t>is  necessary</a:t>
            </a:r>
          </a:p>
          <a:p>
            <a:pPr marL="11242">
              <a:spcBef>
                <a:spcPts val="372"/>
              </a:spcBef>
              <a:tabLst>
                <a:tab pos="314215" algn="l"/>
              </a:tabLst>
            </a:pPr>
            <a:r>
              <a:rPr sz="1328" spc="-496" dirty="0">
                <a:solidFill>
                  <a:srgbClr val="9A0000"/>
                </a:solidFill>
                <a:latin typeface="Wingdings"/>
                <a:cs typeface="Wingdings"/>
              </a:rPr>
              <a:t></a:t>
            </a:r>
            <a:r>
              <a:rPr sz="1328" spc="-496" dirty="0">
                <a:solidFill>
                  <a:srgbClr val="9A0000"/>
                </a:solidFill>
                <a:latin typeface="Times New Roman"/>
                <a:cs typeface="Times New Roman"/>
              </a:rPr>
              <a:t>	</a:t>
            </a:r>
            <a:r>
              <a:rPr sz="1770" spc="-4" dirty="0">
                <a:latin typeface="Arial"/>
                <a:cs typeface="Arial"/>
              </a:rPr>
              <a:t>Historical metrics </a:t>
            </a:r>
            <a:r>
              <a:rPr sz="1770" dirty="0">
                <a:latin typeface="Arial"/>
                <a:cs typeface="Arial"/>
              </a:rPr>
              <a:t>are very </a:t>
            </a:r>
            <a:r>
              <a:rPr sz="1770" spc="-4" dirty="0">
                <a:latin typeface="Arial"/>
                <a:cs typeface="Arial"/>
              </a:rPr>
              <a:t>helpful</a:t>
            </a:r>
            <a:endParaRPr sz="1770" dirty="0">
              <a:latin typeface="Arial"/>
              <a:cs typeface="Arial"/>
            </a:endParaRPr>
          </a:p>
          <a:p>
            <a:pPr marL="314777" marR="128721" indent="-303535">
              <a:lnSpc>
                <a:spcPct val="100800"/>
              </a:lnSpc>
              <a:spcBef>
                <a:spcPts val="425"/>
              </a:spcBef>
              <a:tabLst>
                <a:tab pos="314215" algn="l"/>
              </a:tabLst>
            </a:pPr>
            <a:r>
              <a:rPr sz="1328" spc="-496" dirty="0">
                <a:solidFill>
                  <a:srgbClr val="9A0000"/>
                </a:solidFill>
                <a:latin typeface="Wingdings"/>
                <a:cs typeface="Wingdings"/>
              </a:rPr>
              <a:t></a:t>
            </a:r>
            <a:r>
              <a:rPr sz="1328" spc="-496" dirty="0">
                <a:solidFill>
                  <a:srgbClr val="9A0000"/>
                </a:solidFill>
                <a:latin typeface="Times New Roman"/>
                <a:cs typeface="Times New Roman"/>
              </a:rPr>
              <a:t>	</a:t>
            </a:r>
            <a:r>
              <a:rPr sz="1770" dirty="0">
                <a:latin typeface="Arial"/>
                <a:cs typeface="Arial"/>
              </a:rPr>
              <a:t>At least </a:t>
            </a:r>
            <a:r>
              <a:rPr sz="1770" spc="-4" dirty="0">
                <a:latin typeface="Arial"/>
                <a:cs typeface="Arial"/>
              </a:rPr>
              <a:t>two different techniques  </a:t>
            </a:r>
            <a:r>
              <a:rPr sz="1770" dirty="0">
                <a:latin typeface="Arial"/>
                <a:cs typeface="Arial"/>
              </a:rPr>
              <a:t>should be</a:t>
            </a:r>
            <a:r>
              <a:rPr sz="1770" spc="-9" dirty="0">
                <a:latin typeface="Arial"/>
                <a:cs typeface="Arial"/>
              </a:rPr>
              <a:t> </a:t>
            </a:r>
            <a:r>
              <a:rPr sz="1770" dirty="0">
                <a:latin typeface="Arial"/>
                <a:cs typeface="Arial"/>
              </a:rPr>
              <a:t>used</a:t>
            </a:r>
          </a:p>
          <a:p>
            <a:pPr marL="314777" marR="465983" indent="-303535">
              <a:lnSpc>
                <a:spcPct val="100800"/>
              </a:lnSpc>
              <a:spcBef>
                <a:spcPts val="406"/>
              </a:spcBef>
              <a:tabLst>
                <a:tab pos="314215" algn="l"/>
              </a:tabLst>
            </a:pPr>
            <a:r>
              <a:rPr sz="1328" spc="-496" dirty="0">
                <a:solidFill>
                  <a:srgbClr val="9A0000"/>
                </a:solidFill>
                <a:latin typeface="Wingdings"/>
                <a:cs typeface="Wingdings"/>
              </a:rPr>
              <a:t></a:t>
            </a:r>
            <a:r>
              <a:rPr sz="1328" spc="-496" dirty="0">
                <a:solidFill>
                  <a:srgbClr val="9A0000"/>
                </a:solidFill>
                <a:latin typeface="Times New Roman"/>
                <a:cs typeface="Times New Roman"/>
              </a:rPr>
              <a:t>	</a:t>
            </a:r>
            <a:r>
              <a:rPr sz="1770" spc="-4" dirty="0">
                <a:latin typeface="Arial"/>
                <a:cs typeface="Arial"/>
              </a:rPr>
              <a:t>Uncertainty </a:t>
            </a:r>
            <a:r>
              <a:rPr sz="1770" dirty="0">
                <a:latin typeface="Arial"/>
                <a:cs typeface="Arial"/>
              </a:rPr>
              <a:t>is inherent in</a:t>
            </a:r>
            <a:r>
              <a:rPr sz="1770" spc="-49" dirty="0">
                <a:latin typeface="Arial"/>
                <a:cs typeface="Arial"/>
              </a:rPr>
              <a:t> </a:t>
            </a:r>
            <a:r>
              <a:rPr sz="1770" spc="-4" dirty="0">
                <a:latin typeface="Arial"/>
                <a:cs typeface="Arial"/>
              </a:rPr>
              <a:t>the  </a:t>
            </a:r>
            <a:r>
              <a:rPr sz="1770" dirty="0">
                <a:latin typeface="Arial"/>
                <a:cs typeface="Arial"/>
              </a:rPr>
              <a:t>process</a:t>
            </a:r>
          </a:p>
        </p:txBody>
      </p:sp>
      <p:sp>
        <p:nvSpPr>
          <p:cNvPr id="4" name="object 4"/>
          <p:cNvSpPr/>
          <p:nvPr/>
        </p:nvSpPr>
        <p:spPr>
          <a:xfrm>
            <a:off x="746196" y="1956083"/>
            <a:ext cx="1638558" cy="1544916"/>
          </a:xfrm>
          <a:prstGeom prst="rect">
            <a:avLst/>
          </a:prstGeom>
          <a:blipFill>
            <a:blip r:embed="rId2" cstate="print"/>
            <a:stretch>
              <a:fillRect/>
            </a:stretch>
          </a:blipFill>
        </p:spPr>
        <p:txBody>
          <a:bodyPr wrap="square" lIns="0" tIns="0" rIns="0" bIns="0" rtlCol="0"/>
          <a:lstStyle/>
          <a:p>
            <a:endParaRPr sz="1593"/>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489" y="822730"/>
            <a:ext cx="5382878" cy="610747"/>
          </a:xfrm>
          <a:prstGeom prst="rect">
            <a:avLst/>
          </a:prstGeom>
        </p:spPr>
        <p:txBody>
          <a:bodyPr vert="horz" wrap="square" lIns="0" tIns="11242" rIns="0" bIns="0" rtlCol="0" anchor="ctr">
            <a:spAutoFit/>
          </a:bodyPr>
          <a:lstStyle/>
          <a:p>
            <a:pPr marL="11242">
              <a:spcBef>
                <a:spcPts val="89"/>
              </a:spcBef>
              <a:tabLst>
                <a:tab pos="2235480" algn="l"/>
              </a:tabLst>
            </a:pPr>
            <a:r>
              <a:rPr spc="-4" dirty="0"/>
              <a:t>Estimation	Techniques</a:t>
            </a:r>
          </a:p>
        </p:txBody>
      </p:sp>
      <p:sp>
        <p:nvSpPr>
          <p:cNvPr id="5" name="object 5"/>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74</a:t>
            </a:fld>
            <a:endParaRPr dirty="0"/>
          </a:p>
        </p:txBody>
      </p:sp>
      <p:sp>
        <p:nvSpPr>
          <p:cNvPr id="3" name="object 3"/>
          <p:cNvSpPr txBox="1"/>
          <p:nvPr/>
        </p:nvSpPr>
        <p:spPr>
          <a:xfrm>
            <a:off x="1691916" y="1793525"/>
            <a:ext cx="4586113" cy="2592977"/>
          </a:xfrm>
          <a:prstGeom prst="rect">
            <a:avLst/>
          </a:prstGeom>
        </p:spPr>
        <p:txBody>
          <a:bodyPr vert="horz" wrap="square" lIns="0" tIns="66889" rIns="0" bIns="0" rtlCol="0">
            <a:spAutoFit/>
          </a:bodyPr>
          <a:lstStyle/>
          <a:p>
            <a:pPr marL="11242">
              <a:spcBef>
                <a:spcPts val="527"/>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Wait till the</a:t>
            </a:r>
            <a:r>
              <a:rPr sz="2124" spc="-9" dirty="0">
                <a:latin typeface="Arial"/>
                <a:cs typeface="Arial"/>
              </a:rPr>
              <a:t> </a:t>
            </a:r>
            <a:r>
              <a:rPr sz="2124" spc="-4" dirty="0">
                <a:latin typeface="Arial"/>
                <a:cs typeface="Arial"/>
              </a:rPr>
              <a:t>end!!</a:t>
            </a:r>
            <a:endParaRPr sz="2124">
              <a:latin typeface="Arial"/>
              <a:cs typeface="Arial"/>
            </a:endParaRPr>
          </a:p>
          <a:p>
            <a:pPr marL="11242">
              <a:spcBef>
                <a:spcPts val="438"/>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Past (similar) project</a:t>
            </a:r>
            <a:r>
              <a:rPr sz="2124" spc="-44" dirty="0">
                <a:latin typeface="Arial"/>
                <a:cs typeface="Arial"/>
              </a:rPr>
              <a:t> </a:t>
            </a:r>
            <a:r>
              <a:rPr sz="2124" dirty="0">
                <a:latin typeface="Arial"/>
                <a:cs typeface="Arial"/>
              </a:rPr>
              <a:t>experience</a:t>
            </a:r>
            <a:endParaRPr sz="2124">
              <a:latin typeface="Arial"/>
              <a:cs typeface="Arial"/>
            </a:endParaRPr>
          </a:p>
          <a:p>
            <a:pPr marL="11242">
              <a:spcBef>
                <a:spcPts val="549"/>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Conventional estimation</a:t>
            </a:r>
            <a:r>
              <a:rPr sz="2124" spc="35" dirty="0">
                <a:latin typeface="Arial"/>
                <a:cs typeface="Arial"/>
              </a:rPr>
              <a:t> </a:t>
            </a:r>
            <a:r>
              <a:rPr sz="2124" spc="-4" dirty="0">
                <a:latin typeface="Arial"/>
                <a:cs typeface="Arial"/>
              </a:rPr>
              <a:t>techniques</a:t>
            </a:r>
            <a:endParaRPr sz="2124">
              <a:latin typeface="Arial"/>
              <a:cs typeface="Arial"/>
            </a:endParaRPr>
          </a:p>
          <a:p>
            <a:pPr marL="415955">
              <a:spcBef>
                <a:spcPts val="376"/>
              </a:spcBef>
              <a:tabLst>
                <a:tab pos="731295"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task </a:t>
            </a:r>
            <a:r>
              <a:rPr sz="1770" dirty="0">
                <a:latin typeface="Arial"/>
                <a:cs typeface="Arial"/>
              </a:rPr>
              <a:t>breakdown and </a:t>
            </a:r>
            <a:r>
              <a:rPr sz="1770" spc="-4" dirty="0">
                <a:latin typeface="Arial"/>
                <a:cs typeface="Arial"/>
              </a:rPr>
              <a:t>effort</a:t>
            </a:r>
            <a:r>
              <a:rPr sz="1770" spc="-22" dirty="0">
                <a:latin typeface="Arial"/>
                <a:cs typeface="Arial"/>
              </a:rPr>
              <a:t> </a:t>
            </a:r>
            <a:r>
              <a:rPr sz="1770" spc="-4" dirty="0">
                <a:latin typeface="Arial"/>
                <a:cs typeface="Arial"/>
              </a:rPr>
              <a:t>estimates</a:t>
            </a:r>
            <a:endParaRPr sz="1770">
              <a:latin typeface="Arial"/>
              <a:cs typeface="Arial"/>
            </a:endParaRPr>
          </a:p>
          <a:p>
            <a:pPr marL="415955">
              <a:spcBef>
                <a:spcPts val="443"/>
              </a:spcBef>
              <a:tabLst>
                <a:tab pos="731295"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size </a:t>
            </a:r>
            <a:r>
              <a:rPr sz="1770" spc="-4" dirty="0">
                <a:latin typeface="Arial"/>
                <a:cs typeface="Arial"/>
              </a:rPr>
              <a:t>(e.g., Function Points)</a:t>
            </a:r>
            <a:r>
              <a:rPr sz="1770" spc="4" dirty="0">
                <a:latin typeface="Arial"/>
                <a:cs typeface="Arial"/>
              </a:rPr>
              <a:t> </a:t>
            </a:r>
            <a:r>
              <a:rPr sz="1770" spc="-4" dirty="0">
                <a:latin typeface="Arial"/>
                <a:cs typeface="Arial"/>
              </a:rPr>
              <a:t>estimates</a:t>
            </a:r>
            <a:endParaRPr sz="1770">
              <a:latin typeface="Arial"/>
              <a:cs typeface="Arial"/>
            </a:endParaRPr>
          </a:p>
          <a:p>
            <a:pPr marL="11242">
              <a:spcBef>
                <a:spcPts val="527"/>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Empirical</a:t>
            </a:r>
            <a:r>
              <a:rPr sz="2124" spc="-89" dirty="0">
                <a:latin typeface="Arial"/>
                <a:cs typeface="Arial"/>
              </a:rPr>
              <a:t> </a:t>
            </a:r>
            <a:r>
              <a:rPr sz="2124" dirty="0">
                <a:latin typeface="Arial"/>
                <a:cs typeface="Arial"/>
              </a:rPr>
              <a:t>models</a:t>
            </a:r>
            <a:endParaRPr sz="2124">
              <a:latin typeface="Arial"/>
              <a:cs typeface="Arial"/>
            </a:endParaRPr>
          </a:p>
          <a:p>
            <a:pPr marL="11242">
              <a:spcBef>
                <a:spcPts val="549"/>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Automated</a:t>
            </a:r>
            <a:r>
              <a:rPr sz="2124" spc="-40" dirty="0">
                <a:latin typeface="Arial"/>
                <a:cs typeface="Arial"/>
              </a:rPr>
              <a:t> </a:t>
            </a:r>
            <a:r>
              <a:rPr sz="2124" spc="-4" dirty="0">
                <a:latin typeface="Arial"/>
                <a:cs typeface="Arial"/>
              </a:rPr>
              <a:t>tools</a:t>
            </a:r>
            <a:endParaRPr sz="2124">
              <a:latin typeface="Arial"/>
              <a:cs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293" y="816563"/>
            <a:ext cx="4096531" cy="610747"/>
          </a:xfrm>
          <a:prstGeom prst="rect">
            <a:avLst/>
          </a:prstGeom>
        </p:spPr>
        <p:txBody>
          <a:bodyPr vert="horz" wrap="square" lIns="0" tIns="11242" rIns="0" bIns="0" rtlCol="0" anchor="ctr">
            <a:spAutoFit/>
          </a:bodyPr>
          <a:lstStyle/>
          <a:p>
            <a:pPr marL="11242">
              <a:spcBef>
                <a:spcPts val="89"/>
              </a:spcBef>
              <a:tabLst>
                <a:tab pos="2235480" algn="l"/>
              </a:tabLst>
            </a:pPr>
            <a:r>
              <a:rPr dirty="0"/>
              <a:t>Es</a:t>
            </a:r>
            <a:r>
              <a:rPr spc="-4" dirty="0"/>
              <a:t>t</a:t>
            </a:r>
            <a:r>
              <a:rPr dirty="0"/>
              <a:t>ima</a:t>
            </a:r>
            <a:r>
              <a:rPr spc="-4" dirty="0"/>
              <a:t>t</a:t>
            </a:r>
            <a:r>
              <a:rPr dirty="0"/>
              <a:t>ion	Accuracy</a:t>
            </a:r>
          </a:p>
        </p:txBody>
      </p:sp>
      <p:sp>
        <p:nvSpPr>
          <p:cNvPr id="4" name="object 4"/>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75</a:t>
            </a:fld>
            <a:endParaRPr dirty="0"/>
          </a:p>
        </p:txBody>
      </p:sp>
      <p:sp>
        <p:nvSpPr>
          <p:cNvPr id="3" name="object 3"/>
          <p:cNvSpPr txBox="1"/>
          <p:nvPr/>
        </p:nvSpPr>
        <p:spPr>
          <a:xfrm>
            <a:off x="1692759" y="1661546"/>
            <a:ext cx="5799671" cy="3592061"/>
          </a:xfrm>
          <a:prstGeom prst="rect">
            <a:avLst/>
          </a:prstGeom>
        </p:spPr>
        <p:txBody>
          <a:bodyPr vert="horz" wrap="square" lIns="0" tIns="65203" rIns="0" bIns="0" rtlCol="0">
            <a:spAutoFit/>
          </a:bodyPr>
          <a:lstStyle/>
          <a:p>
            <a:pPr marL="11242">
              <a:spcBef>
                <a:spcPts val="513"/>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Predicated </a:t>
            </a:r>
            <a:r>
              <a:rPr sz="2124" dirty="0">
                <a:latin typeface="Arial"/>
                <a:cs typeface="Arial"/>
              </a:rPr>
              <a:t>on …</a:t>
            </a:r>
            <a:endParaRPr sz="2124">
              <a:latin typeface="Arial"/>
              <a:cs typeface="Arial"/>
            </a:endParaRPr>
          </a:p>
          <a:p>
            <a:pPr marL="663280" marR="673398" indent="-247325">
              <a:lnSpc>
                <a:spcPct val="100800"/>
              </a:lnSpc>
              <a:spcBef>
                <a:spcPts val="33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solidFill>
                  <a:srgbClr val="9A0000"/>
                </a:solidFill>
                <a:latin typeface="Arial"/>
                <a:cs typeface="Arial"/>
              </a:rPr>
              <a:t>the </a:t>
            </a:r>
            <a:r>
              <a:rPr sz="1770" dirty="0">
                <a:solidFill>
                  <a:srgbClr val="9A0000"/>
                </a:solidFill>
                <a:latin typeface="Arial"/>
                <a:cs typeface="Arial"/>
              </a:rPr>
              <a:t>degree </a:t>
            </a:r>
            <a:r>
              <a:rPr sz="1770" spc="-4" dirty="0">
                <a:solidFill>
                  <a:srgbClr val="9A0000"/>
                </a:solidFill>
                <a:latin typeface="Arial"/>
                <a:cs typeface="Arial"/>
              </a:rPr>
              <a:t>to </a:t>
            </a:r>
            <a:r>
              <a:rPr sz="1770" dirty="0">
                <a:solidFill>
                  <a:srgbClr val="9A0000"/>
                </a:solidFill>
                <a:latin typeface="Arial"/>
                <a:cs typeface="Arial"/>
              </a:rPr>
              <a:t>which </a:t>
            </a:r>
            <a:r>
              <a:rPr sz="1770" spc="-4" dirty="0">
                <a:solidFill>
                  <a:srgbClr val="9A0000"/>
                </a:solidFill>
                <a:latin typeface="Arial"/>
                <a:cs typeface="Arial"/>
              </a:rPr>
              <a:t>the </a:t>
            </a:r>
            <a:r>
              <a:rPr sz="1770" dirty="0">
                <a:solidFill>
                  <a:srgbClr val="9A0000"/>
                </a:solidFill>
                <a:latin typeface="Arial"/>
                <a:cs typeface="Arial"/>
              </a:rPr>
              <a:t>planner has</a:t>
            </a:r>
            <a:r>
              <a:rPr sz="1770" spc="-62" dirty="0">
                <a:solidFill>
                  <a:srgbClr val="9A0000"/>
                </a:solidFill>
                <a:latin typeface="Arial"/>
                <a:cs typeface="Arial"/>
              </a:rPr>
              <a:t> </a:t>
            </a:r>
            <a:r>
              <a:rPr sz="1770" dirty="0">
                <a:solidFill>
                  <a:srgbClr val="9A0000"/>
                </a:solidFill>
                <a:latin typeface="Arial"/>
                <a:cs typeface="Arial"/>
              </a:rPr>
              <a:t>properly  </a:t>
            </a:r>
            <a:r>
              <a:rPr sz="1770" spc="-4" dirty="0">
                <a:solidFill>
                  <a:srgbClr val="9A0000"/>
                </a:solidFill>
                <a:latin typeface="Arial"/>
                <a:cs typeface="Arial"/>
              </a:rPr>
              <a:t>estimated the </a:t>
            </a:r>
            <a:r>
              <a:rPr sz="1770" dirty="0">
                <a:solidFill>
                  <a:srgbClr val="9A0000"/>
                </a:solidFill>
                <a:latin typeface="Arial"/>
                <a:cs typeface="Arial"/>
              </a:rPr>
              <a:t>size of </a:t>
            </a:r>
            <a:r>
              <a:rPr sz="1770" spc="-4" dirty="0">
                <a:solidFill>
                  <a:srgbClr val="9A0000"/>
                </a:solidFill>
                <a:latin typeface="Arial"/>
                <a:cs typeface="Arial"/>
              </a:rPr>
              <a:t>the </a:t>
            </a:r>
            <a:r>
              <a:rPr sz="1770" dirty="0">
                <a:solidFill>
                  <a:srgbClr val="9A0000"/>
                </a:solidFill>
                <a:latin typeface="Arial"/>
                <a:cs typeface="Arial"/>
              </a:rPr>
              <a:t>product </a:t>
            </a:r>
            <a:r>
              <a:rPr sz="1770" spc="-4" dirty="0">
                <a:solidFill>
                  <a:srgbClr val="9A0000"/>
                </a:solidFill>
                <a:latin typeface="Arial"/>
                <a:cs typeface="Arial"/>
              </a:rPr>
              <a:t>to </a:t>
            </a:r>
            <a:r>
              <a:rPr sz="1770" dirty="0">
                <a:solidFill>
                  <a:srgbClr val="9A0000"/>
                </a:solidFill>
                <a:latin typeface="Arial"/>
                <a:cs typeface="Arial"/>
              </a:rPr>
              <a:t>be</a:t>
            </a:r>
            <a:r>
              <a:rPr sz="1770" spc="-18" dirty="0">
                <a:solidFill>
                  <a:srgbClr val="9A0000"/>
                </a:solidFill>
                <a:latin typeface="Arial"/>
                <a:cs typeface="Arial"/>
              </a:rPr>
              <a:t> </a:t>
            </a:r>
            <a:r>
              <a:rPr sz="1770" dirty="0">
                <a:solidFill>
                  <a:srgbClr val="9A0000"/>
                </a:solidFill>
                <a:latin typeface="Arial"/>
                <a:cs typeface="Arial"/>
              </a:rPr>
              <a:t>built</a:t>
            </a:r>
            <a:endParaRPr sz="1770">
              <a:latin typeface="Arial"/>
              <a:cs typeface="Arial"/>
            </a:endParaRPr>
          </a:p>
          <a:p>
            <a:pPr marL="663280" marR="74197" indent="-247325">
              <a:lnSpc>
                <a:spcPct val="100299"/>
              </a:lnSpc>
              <a:spcBef>
                <a:spcPts val="41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the </a:t>
            </a:r>
            <a:r>
              <a:rPr sz="1770" spc="-4" dirty="0">
                <a:solidFill>
                  <a:srgbClr val="9A0000"/>
                </a:solidFill>
                <a:latin typeface="Arial"/>
                <a:cs typeface="Arial"/>
              </a:rPr>
              <a:t>ability to translate </a:t>
            </a:r>
            <a:r>
              <a:rPr sz="1770" spc="-4" dirty="0">
                <a:latin typeface="Arial"/>
                <a:cs typeface="Arial"/>
              </a:rPr>
              <a:t>the </a:t>
            </a:r>
            <a:r>
              <a:rPr sz="1770" dirty="0">
                <a:latin typeface="Arial"/>
                <a:cs typeface="Arial"/>
              </a:rPr>
              <a:t>size </a:t>
            </a:r>
            <a:r>
              <a:rPr sz="1770" spc="-4" dirty="0">
                <a:latin typeface="Arial"/>
                <a:cs typeface="Arial"/>
              </a:rPr>
              <a:t>estimate into </a:t>
            </a:r>
            <a:r>
              <a:rPr sz="1770" dirty="0">
                <a:latin typeface="Arial"/>
                <a:cs typeface="Arial"/>
              </a:rPr>
              <a:t>human  </a:t>
            </a:r>
            <a:r>
              <a:rPr sz="1770" spc="-4" dirty="0">
                <a:latin typeface="Arial"/>
                <a:cs typeface="Arial"/>
              </a:rPr>
              <a:t>effort, </a:t>
            </a:r>
            <a:r>
              <a:rPr sz="1770" dirty="0">
                <a:latin typeface="Arial"/>
                <a:cs typeface="Arial"/>
              </a:rPr>
              <a:t>calendar </a:t>
            </a:r>
            <a:r>
              <a:rPr sz="1770" spc="-4" dirty="0">
                <a:latin typeface="Arial"/>
                <a:cs typeface="Arial"/>
              </a:rPr>
              <a:t>time, </a:t>
            </a:r>
            <a:r>
              <a:rPr sz="1770" dirty="0">
                <a:latin typeface="Arial"/>
                <a:cs typeface="Arial"/>
              </a:rPr>
              <a:t>and dollars (a </a:t>
            </a:r>
            <a:r>
              <a:rPr sz="1770" spc="-4" dirty="0">
                <a:latin typeface="Arial"/>
                <a:cs typeface="Arial"/>
              </a:rPr>
              <a:t>function </a:t>
            </a:r>
            <a:r>
              <a:rPr sz="1770" dirty="0">
                <a:latin typeface="Arial"/>
                <a:cs typeface="Arial"/>
              </a:rPr>
              <a:t>of </a:t>
            </a:r>
            <a:r>
              <a:rPr sz="1770" spc="-4" dirty="0">
                <a:latin typeface="Arial"/>
                <a:cs typeface="Arial"/>
              </a:rPr>
              <a:t>the  availability </a:t>
            </a:r>
            <a:r>
              <a:rPr sz="1770" dirty="0">
                <a:latin typeface="Arial"/>
                <a:cs typeface="Arial"/>
              </a:rPr>
              <a:t>of reliable </a:t>
            </a:r>
            <a:r>
              <a:rPr sz="1770" spc="-4" dirty="0">
                <a:latin typeface="Arial"/>
                <a:cs typeface="Arial"/>
              </a:rPr>
              <a:t>software metrics from </a:t>
            </a:r>
            <a:r>
              <a:rPr sz="1770" dirty="0">
                <a:latin typeface="Arial"/>
                <a:cs typeface="Arial"/>
              </a:rPr>
              <a:t>past  </a:t>
            </a:r>
            <a:r>
              <a:rPr sz="1770" spc="-4" dirty="0">
                <a:latin typeface="Arial"/>
                <a:cs typeface="Arial"/>
              </a:rPr>
              <a:t>projects)</a:t>
            </a:r>
            <a:endParaRPr sz="1770">
              <a:latin typeface="Arial"/>
              <a:cs typeface="Arial"/>
            </a:endParaRPr>
          </a:p>
          <a:p>
            <a:pPr marL="663280" marR="398530" indent="-247325">
              <a:lnSpc>
                <a:spcPct val="100800"/>
              </a:lnSpc>
              <a:spcBef>
                <a:spcPts val="411"/>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spc="-4" dirty="0">
                <a:latin typeface="Arial"/>
                <a:cs typeface="Arial"/>
              </a:rPr>
              <a:t>the </a:t>
            </a:r>
            <a:r>
              <a:rPr sz="1770" dirty="0">
                <a:latin typeface="Arial"/>
                <a:cs typeface="Arial"/>
              </a:rPr>
              <a:t>degree </a:t>
            </a:r>
            <a:r>
              <a:rPr sz="1770" spc="-4" dirty="0">
                <a:latin typeface="Arial"/>
                <a:cs typeface="Arial"/>
              </a:rPr>
              <a:t>to </a:t>
            </a:r>
            <a:r>
              <a:rPr sz="1770" dirty="0">
                <a:latin typeface="Arial"/>
                <a:cs typeface="Arial"/>
              </a:rPr>
              <a:t>which </a:t>
            </a:r>
            <a:r>
              <a:rPr sz="1770" spc="-4" dirty="0">
                <a:latin typeface="Arial"/>
                <a:cs typeface="Arial"/>
              </a:rPr>
              <a:t>the </a:t>
            </a:r>
            <a:r>
              <a:rPr sz="1770" dirty="0">
                <a:latin typeface="Arial"/>
                <a:cs typeface="Arial"/>
              </a:rPr>
              <a:t>project plan </a:t>
            </a:r>
            <a:r>
              <a:rPr sz="1770" spc="-4" dirty="0">
                <a:latin typeface="Arial"/>
                <a:cs typeface="Arial"/>
              </a:rPr>
              <a:t>reflects the  </a:t>
            </a:r>
            <a:r>
              <a:rPr sz="1770" spc="-4" dirty="0">
                <a:solidFill>
                  <a:srgbClr val="9A0000"/>
                </a:solidFill>
                <a:latin typeface="Arial"/>
                <a:cs typeface="Arial"/>
              </a:rPr>
              <a:t>abilities </a:t>
            </a:r>
            <a:r>
              <a:rPr sz="1770" dirty="0">
                <a:solidFill>
                  <a:srgbClr val="9A0000"/>
                </a:solidFill>
                <a:latin typeface="Arial"/>
                <a:cs typeface="Arial"/>
              </a:rPr>
              <a:t>of </a:t>
            </a:r>
            <a:r>
              <a:rPr sz="1770" spc="-4" dirty="0">
                <a:solidFill>
                  <a:srgbClr val="9A0000"/>
                </a:solidFill>
                <a:latin typeface="Arial"/>
                <a:cs typeface="Arial"/>
              </a:rPr>
              <a:t>the software team</a:t>
            </a:r>
            <a:endParaRPr sz="1770">
              <a:latin typeface="Arial"/>
              <a:cs typeface="Arial"/>
            </a:endParaRPr>
          </a:p>
          <a:p>
            <a:pPr marL="663280" marR="4497" indent="-247325">
              <a:lnSpc>
                <a:spcPct val="100400"/>
              </a:lnSpc>
              <a:spcBef>
                <a:spcPts val="416"/>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the </a:t>
            </a:r>
            <a:r>
              <a:rPr sz="1770" spc="-4" dirty="0">
                <a:solidFill>
                  <a:srgbClr val="9A0000"/>
                </a:solidFill>
                <a:latin typeface="Arial"/>
                <a:cs typeface="Arial"/>
              </a:rPr>
              <a:t>stability </a:t>
            </a:r>
            <a:r>
              <a:rPr sz="1770" dirty="0">
                <a:solidFill>
                  <a:srgbClr val="9A0000"/>
                </a:solidFill>
                <a:latin typeface="Arial"/>
                <a:cs typeface="Arial"/>
              </a:rPr>
              <a:t>of product </a:t>
            </a:r>
            <a:r>
              <a:rPr sz="1770" spc="-4" dirty="0">
                <a:solidFill>
                  <a:srgbClr val="9A0000"/>
                </a:solidFill>
                <a:latin typeface="Arial"/>
                <a:cs typeface="Arial"/>
              </a:rPr>
              <a:t>requirements </a:t>
            </a:r>
            <a:r>
              <a:rPr sz="1770" spc="-4" dirty="0">
                <a:latin typeface="Arial"/>
                <a:cs typeface="Arial"/>
              </a:rPr>
              <a:t>and </a:t>
            </a:r>
            <a:r>
              <a:rPr sz="1770" dirty="0">
                <a:latin typeface="Arial"/>
                <a:cs typeface="Arial"/>
              </a:rPr>
              <a:t>the  environment </a:t>
            </a:r>
            <a:r>
              <a:rPr sz="1770" spc="-4" dirty="0">
                <a:latin typeface="Arial"/>
                <a:cs typeface="Arial"/>
              </a:rPr>
              <a:t>that supports the software </a:t>
            </a:r>
            <a:r>
              <a:rPr sz="1770" dirty="0">
                <a:latin typeface="Arial"/>
                <a:cs typeface="Arial"/>
              </a:rPr>
              <a:t>engineering  </a:t>
            </a:r>
            <a:r>
              <a:rPr sz="1770" spc="-4" dirty="0">
                <a:latin typeface="Arial"/>
                <a:cs typeface="Arial"/>
              </a:rPr>
              <a:t>effort.</a:t>
            </a:r>
            <a:endParaRPr sz="1770">
              <a:latin typeface="Arial"/>
              <a:cs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8745" y="446040"/>
            <a:ext cx="4636419" cy="1004140"/>
          </a:xfrm>
          <a:prstGeom prst="rect">
            <a:avLst/>
          </a:prstGeom>
        </p:spPr>
        <p:txBody>
          <a:bodyPr vert="horz" wrap="square" lIns="0" tIns="29229" rIns="0" bIns="0" rtlCol="0" anchor="ctr">
            <a:spAutoFit/>
          </a:bodyPr>
          <a:lstStyle/>
          <a:p>
            <a:pPr marL="11242" marR="4497">
              <a:lnSpc>
                <a:spcPts val="3806"/>
              </a:lnSpc>
              <a:spcBef>
                <a:spcPts val="230"/>
              </a:spcBef>
            </a:pPr>
            <a:r>
              <a:rPr sz="3187" spc="-4" dirty="0"/>
              <a:t>Conventional Methods:  LOC/FP</a:t>
            </a:r>
            <a:r>
              <a:rPr sz="3187" spc="-13" dirty="0"/>
              <a:t> </a:t>
            </a:r>
            <a:r>
              <a:rPr sz="3187" dirty="0"/>
              <a:t>Approach</a:t>
            </a:r>
          </a:p>
        </p:txBody>
      </p:sp>
      <p:sp>
        <p:nvSpPr>
          <p:cNvPr id="4" name="object 4"/>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76</a:t>
            </a:fld>
            <a:endParaRPr dirty="0"/>
          </a:p>
        </p:txBody>
      </p:sp>
      <p:sp>
        <p:nvSpPr>
          <p:cNvPr id="3" name="object 3"/>
          <p:cNvSpPr txBox="1"/>
          <p:nvPr/>
        </p:nvSpPr>
        <p:spPr>
          <a:xfrm>
            <a:off x="1083451" y="1849285"/>
            <a:ext cx="5741493" cy="3148573"/>
          </a:xfrm>
          <a:prstGeom prst="rect">
            <a:avLst/>
          </a:prstGeom>
        </p:spPr>
        <p:txBody>
          <a:bodyPr vert="horz" wrap="square" lIns="0" tIns="29229" rIns="0" bIns="0" rtlCol="0">
            <a:spAutoFit/>
          </a:bodyPr>
          <a:lstStyle/>
          <a:p>
            <a:pPr marL="314777" marR="64080" indent="-303535">
              <a:lnSpc>
                <a:spcPts val="2479"/>
              </a:lnSpc>
              <a:spcBef>
                <a:spcPts val="230"/>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compute </a:t>
            </a:r>
            <a:r>
              <a:rPr sz="2124" dirty="0">
                <a:latin typeface="Arial"/>
                <a:cs typeface="Arial"/>
              </a:rPr>
              <a:t>lines of code </a:t>
            </a:r>
            <a:r>
              <a:rPr sz="2124" spc="-4" dirty="0">
                <a:latin typeface="Arial"/>
                <a:cs typeface="Arial"/>
              </a:rPr>
              <a:t>(LOC) </a:t>
            </a:r>
            <a:r>
              <a:rPr sz="2124" dirty="0">
                <a:latin typeface="Arial"/>
                <a:cs typeface="Arial"/>
              </a:rPr>
              <a:t>using  </a:t>
            </a:r>
            <a:r>
              <a:rPr sz="2124" spc="-4" dirty="0">
                <a:latin typeface="Arial"/>
                <a:cs typeface="Arial"/>
              </a:rPr>
              <a:t>estimates </a:t>
            </a:r>
            <a:r>
              <a:rPr sz="2124" dirty="0">
                <a:latin typeface="Arial"/>
                <a:cs typeface="Arial"/>
              </a:rPr>
              <a:t>of </a:t>
            </a:r>
            <a:r>
              <a:rPr sz="2124" spc="-4" dirty="0">
                <a:latin typeface="Arial"/>
                <a:cs typeface="Arial"/>
              </a:rPr>
              <a:t>information </a:t>
            </a:r>
            <a:r>
              <a:rPr sz="2124" dirty="0">
                <a:latin typeface="Arial"/>
                <a:cs typeface="Arial"/>
              </a:rPr>
              <a:t>domain</a:t>
            </a:r>
            <a:r>
              <a:rPr sz="2124" spc="-18" dirty="0">
                <a:latin typeface="Arial"/>
                <a:cs typeface="Arial"/>
              </a:rPr>
              <a:t> </a:t>
            </a:r>
            <a:r>
              <a:rPr sz="2124" dirty="0">
                <a:latin typeface="Arial"/>
                <a:cs typeface="Arial"/>
              </a:rPr>
              <a:t>values</a:t>
            </a:r>
          </a:p>
          <a:p>
            <a:pPr marL="314777" marR="1024712" indent="-303535">
              <a:lnSpc>
                <a:spcPct val="101499"/>
              </a:lnSpc>
              <a:spcBef>
                <a:spcPts val="416"/>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Computes function points (FP),  information </a:t>
            </a:r>
            <a:r>
              <a:rPr sz="2124" dirty="0">
                <a:latin typeface="Arial"/>
                <a:cs typeface="Arial"/>
              </a:rPr>
              <a:t>domain</a:t>
            </a:r>
            <a:r>
              <a:rPr sz="2124" spc="-9" dirty="0">
                <a:latin typeface="Arial"/>
                <a:cs typeface="Arial"/>
              </a:rPr>
              <a:t> </a:t>
            </a:r>
            <a:r>
              <a:rPr sz="2124" dirty="0">
                <a:latin typeface="Arial"/>
                <a:cs typeface="Arial"/>
              </a:rPr>
              <a:t>values</a:t>
            </a:r>
          </a:p>
          <a:p>
            <a:pPr marL="314777" marR="4497" indent="-303535">
              <a:lnSpc>
                <a:spcPct val="101499"/>
              </a:lnSpc>
              <a:spcBef>
                <a:spcPts val="403"/>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use </a:t>
            </a:r>
            <a:r>
              <a:rPr sz="2124" spc="-4" dirty="0">
                <a:latin typeface="Arial"/>
                <a:cs typeface="Arial"/>
              </a:rPr>
              <a:t>historical data to </a:t>
            </a:r>
            <a:r>
              <a:rPr sz="2124" dirty="0">
                <a:latin typeface="Arial"/>
                <a:cs typeface="Arial"/>
              </a:rPr>
              <a:t>build </a:t>
            </a:r>
            <a:r>
              <a:rPr sz="2124" spc="-4" dirty="0">
                <a:latin typeface="Arial"/>
                <a:cs typeface="Arial"/>
              </a:rPr>
              <a:t>estimates for  the </a:t>
            </a:r>
            <a:r>
              <a:rPr sz="2124" dirty="0">
                <a:latin typeface="Arial"/>
                <a:cs typeface="Arial"/>
              </a:rPr>
              <a:t>project</a:t>
            </a:r>
          </a:p>
          <a:p>
            <a:pPr marL="314777" marR="78694" indent="-303535">
              <a:lnSpc>
                <a:spcPts val="2496"/>
              </a:lnSpc>
              <a:spcBef>
                <a:spcPts val="655"/>
              </a:spcBef>
              <a:tabLst>
                <a:tab pos="314215"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dirty="0">
                <a:latin typeface="Arial"/>
                <a:cs typeface="Arial"/>
              </a:rPr>
              <a:t>Example: </a:t>
            </a:r>
            <a:r>
              <a:rPr sz="2124" spc="-4" dirty="0">
                <a:latin typeface="Arial"/>
                <a:cs typeface="Arial"/>
              </a:rPr>
              <a:t>Computer-Aided </a:t>
            </a:r>
            <a:r>
              <a:rPr sz="2124" dirty="0">
                <a:latin typeface="Arial"/>
                <a:cs typeface="Arial"/>
              </a:rPr>
              <a:t>Design  </a:t>
            </a:r>
            <a:r>
              <a:rPr sz="2124" spc="-4" dirty="0">
                <a:latin typeface="Arial"/>
                <a:cs typeface="Arial"/>
              </a:rPr>
              <a:t>application for </a:t>
            </a:r>
            <a:r>
              <a:rPr sz="2124" dirty="0">
                <a:latin typeface="Arial"/>
                <a:cs typeface="Arial"/>
              </a:rPr>
              <a:t>mechanical</a:t>
            </a:r>
            <a:r>
              <a:rPr sz="2124" spc="4" dirty="0">
                <a:latin typeface="Arial"/>
                <a:cs typeface="Arial"/>
              </a:rPr>
              <a:t> </a:t>
            </a:r>
            <a:r>
              <a:rPr sz="2124" spc="-4" dirty="0">
                <a:latin typeface="Arial"/>
                <a:cs typeface="Arial"/>
              </a:rPr>
              <a:t>components</a:t>
            </a:r>
            <a:endParaRPr sz="2124" dirty="0">
              <a:latin typeface="Arial"/>
              <a:cs typeface="Arial"/>
            </a:endParaRPr>
          </a:p>
          <a:p>
            <a:pPr marL="415955">
              <a:spcBef>
                <a:spcPts val="372"/>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Apply </a:t>
            </a:r>
            <a:r>
              <a:rPr sz="1770" spc="-4" dirty="0">
                <a:latin typeface="Arial"/>
                <a:cs typeface="Arial"/>
              </a:rPr>
              <a:t>LOC </a:t>
            </a:r>
            <a:r>
              <a:rPr sz="1770" dirty="0">
                <a:latin typeface="Arial"/>
                <a:cs typeface="Arial"/>
              </a:rPr>
              <a:t>and </a:t>
            </a:r>
            <a:r>
              <a:rPr sz="1770" spc="-4" dirty="0">
                <a:latin typeface="Arial"/>
                <a:cs typeface="Arial"/>
              </a:rPr>
              <a:t>FP to this software</a:t>
            </a:r>
            <a:endParaRPr sz="1770" dirty="0">
              <a:latin typeface="Arial"/>
              <a:cs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885" y="931231"/>
            <a:ext cx="5595988" cy="610747"/>
          </a:xfrm>
          <a:prstGeom prst="rect">
            <a:avLst/>
          </a:prstGeom>
        </p:spPr>
        <p:txBody>
          <a:bodyPr vert="horz" wrap="square" lIns="0" tIns="11242" rIns="0" bIns="0" rtlCol="0" anchor="ctr">
            <a:spAutoFit/>
          </a:bodyPr>
          <a:lstStyle/>
          <a:p>
            <a:pPr marL="11242">
              <a:spcBef>
                <a:spcPts val="89"/>
              </a:spcBef>
              <a:tabLst>
                <a:tab pos="3060083" algn="l"/>
              </a:tabLst>
            </a:pPr>
            <a:r>
              <a:rPr dirty="0"/>
              <a:t>Example:</a:t>
            </a:r>
            <a:r>
              <a:rPr spc="-4" dirty="0"/>
              <a:t> </a:t>
            </a:r>
            <a:r>
              <a:rPr dirty="0"/>
              <a:t>L</a:t>
            </a:r>
            <a:r>
              <a:rPr spc="-4" dirty="0"/>
              <a:t>O</a:t>
            </a:r>
            <a:r>
              <a:rPr dirty="0"/>
              <a:t>C	Approach</a:t>
            </a:r>
          </a:p>
        </p:txBody>
      </p:sp>
      <p:sp>
        <p:nvSpPr>
          <p:cNvPr id="10" name="object 10"/>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77</a:t>
            </a:fld>
            <a:endParaRPr dirty="0"/>
          </a:p>
        </p:txBody>
      </p:sp>
      <p:sp>
        <p:nvSpPr>
          <p:cNvPr id="3" name="object 3"/>
          <p:cNvSpPr/>
          <p:nvPr/>
        </p:nvSpPr>
        <p:spPr>
          <a:xfrm>
            <a:off x="2095218" y="1686278"/>
            <a:ext cx="3709809" cy="2150004"/>
          </a:xfrm>
          <a:prstGeom prst="rect">
            <a:avLst/>
          </a:prstGeom>
          <a:blipFill>
            <a:blip r:embed="rId2" cstate="print"/>
            <a:stretch>
              <a:fillRect/>
            </a:stretch>
          </a:blipFill>
        </p:spPr>
        <p:txBody>
          <a:bodyPr wrap="square" lIns="0" tIns="0" rIns="0" bIns="0" rtlCol="0"/>
          <a:lstStyle/>
          <a:p>
            <a:endParaRPr sz="1593"/>
          </a:p>
        </p:txBody>
      </p:sp>
      <p:sp>
        <p:nvSpPr>
          <p:cNvPr id="4" name="object 4"/>
          <p:cNvSpPr/>
          <p:nvPr/>
        </p:nvSpPr>
        <p:spPr>
          <a:xfrm>
            <a:off x="1740793" y="3921975"/>
            <a:ext cx="5595988" cy="323765"/>
          </a:xfrm>
          <a:prstGeom prst="rect">
            <a:avLst/>
          </a:prstGeom>
          <a:blipFill>
            <a:blip r:embed="rId3" cstate="print"/>
            <a:stretch>
              <a:fillRect/>
            </a:stretch>
          </a:blipFill>
        </p:spPr>
        <p:txBody>
          <a:bodyPr wrap="square" lIns="0" tIns="0" rIns="0" bIns="0" rtlCol="0"/>
          <a:lstStyle/>
          <a:p>
            <a:endParaRPr sz="1593"/>
          </a:p>
        </p:txBody>
      </p:sp>
      <p:sp>
        <p:nvSpPr>
          <p:cNvPr id="5" name="object 5"/>
          <p:cNvSpPr/>
          <p:nvPr/>
        </p:nvSpPr>
        <p:spPr>
          <a:xfrm>
            <a:off x="1740793" y="4135366"/>
            <a:ext cx="5290620" cy="448856"/>
          </a:xfrm>
          <a:prstGeom prst="rect">
            <a:avLst/>
          </a:prstGeom>
          <a:blipFill>
            <a:blip r:embed="rId4" cstate="print"/>
            <a:stretch>
              <a:fillRect/>
            </a:stretch>
          </a:blipFill>
        </p:spPr>
        <p:txBody>
          <a:bodyPr wrap="square" lIns="0" tIns="0" rIns="0" bIns="0" rtlCol="0"/>
          <a:lstStyle/>
          <a:p>
            <a:endParaRPr sz="1593"/>
          </a:p>
        </p:txBody>
      </p:sp>
      <p:sp>
        <p:nvSpPr>
          <p:cNvPr id="6" name="object 6"/>
          <p:cNvSpPr/>
          <p:nvPr/>
        </p:nvSpPr>
        <p:spPr>
          <a:xfrm>
            <a:off x="1740793" y="4470168"/>
            <a:ext cx="2457673" cy="327444"/>
          </a:xfrm>
          <a:prstGeom prst="rect">
            <a:avLst/>
          </a:prstGeom>
          <a:blipFill>
            <a:blip r:embed="rId5" cstate="print"/>
            <a:stretch>
              <a:fillRect/>
            </a:stretch>
          </a:blipFill>
        </p:spPr>
        <p:txBody>
          <a:bodyPr wrap="square" lIns="0" tIns="0" rIns="0" bIns="0" rtlCol="0"/>
          <a:lstStyle/>
          <a:p>
            <a:endParaRPr sz="1593"/>
          </a:p>
        </p:txBody>
      </p:sp>
      <p:sp>
        <p:nvSpPr>
          <p:cNvPr id="7" name="object 7"/>
          <p:cNvSpPr/>
          <p:nvPr/>
        </p:nvSpPr>
        <p:spPr>
          <a:xfrm>
            <a:off x="1740792" y="4694597"/>
            <a:ext cx="5279583" cy="448856"/>
          </a:xfrm>
          <a:prstGeom prst="rect">
            <a:avLst/>
          </a:prstGeom>
          <a:blipFill>
            <a:blip r:embed="rId6" cstate="print"/>
            <a:stretch>
              <a:fillRect/>
            </a:stretch>
          </a:blipFill>
        </p:spPr>
        <p:txBody>
          <a:bodyPr wrap="square" lIns="0" tIns="0" rIns="0" bIns="0" rtlCol="0"/>
          <a:lstStyle/>
          <a:p>
            <a:endParaRPr sz="1593"/>
          </a:p>
        </p:txBody>
      </p:sp>
      <p:sp>
        <p:nvSpPr>
          <p:cNvPr id="8" name="object 8"/>
          <p:cNvSpPr/>
          <p:nvPr/>
        </p:nvSpPr>
        <p:spPr>
          <a:xfrm>
            <a:off x="1740793" y="5033079"/>
            <a:ext cx="5459860" cy="323765"/>
          </a:xfrm>
          <a:prstGeom prst="rect">
            <a:avLst/>
          </a:prstGeom>
          <a:blipFill>
            <a:blip r:embed="rId7" cstate="print"/>
            <a:stretch>
              <a:fillRect/>
            </a:stretch>
          </a:blipFill>
        </p:spPr>
        <p:txBody>
          <a:bodyPr wrap="square" lIns="0" tIns="0" rIns="0" bIns="0" rtlCol="0"/>
          <a:lstStyle/>
          <a:p>
            <a:endParaRPr sz="1593"/>
          </a:p>
        </p:txBody>
      </p:sp>
      <p:sp>
        <p:nvSpPr>
          <p:cNvPr id="9" name="object 9"/>
          <p:cNvSpPr txBox="1"/>
          <p:nvPr/>
        </p:nvSpPr>
        <p:spPr>
          <a:xfrm>
            <a:off x="1760210" y="3828975"/>
            <a:ext cx="5537736" cy="1690702"/>
          </a:xfrm>
          <a:prstGeom prst="rect">
            <a:avLst/>
          </a:prstGeom>
        </p:spPr>
        <p:txBody>
          <a:bodyPr vert="horz" wrap="square" lIns="0" tIns="103424" rIns="0" bIns="0" rtlCol="0">
            <a:spAutoFit/>
          </a:bodyPr>
          <a:lstStyle/>
          <a:p>
            <a:pPr marL="11242">
              <a:spcBef>
                <a:spcPts val="813"/>
              </a:spcBef>
            </a:pPr>
            <a:r>
              <a:rPr sz="1593" spc="-22" dirty="0">
                <a:latin typeface="Book Antiqua"/>
                <a:cs typeface="Book Antiqua"/>
              </a:rPr>
              <a:t>Average </a:t>
            </a:r>
            <a:r>
              <a:rPr sz="1593" spc="-4" dirty="0">
                <a:latin typeface="Book Antiqua"/>
                <a:cs typeface="Book Antiqua"/>
              </a:rPr>
              <a:t>productivity for systems </a:t>
            </a:r>
            <a:r>
              <a:rPr sz="1593" dirty="0">
                <a:latin typeface="Book Antiqua"/>
                <a:cs typeface="Book Antiqua"/>
              </a:rPr>
              <a:t>of </a:t>
            </a:r>
            <a:r>
              <a:rPr sz="1593" spc="-4" dirty="0">
                <a:latin typeface="Book Antiqua"/>
                <a:cs typeface="Book Antiqua"/>
              </a:rPr>
              <a:t>this </a:t>
            </a:r>
            <a:r>
              <a:rPr sz="1593" dirty="0">
                <a:latin typeface="Book Antiqua"/>
                <a:cs typeface="Book Antiqua"/>
              </a:rPr>
              <a:t>type = 620</a:t>
            </a:r>
            <a:r>
              <a:rPr sz="1593" spc="4" dirty="0">
                <a:latin typeface="Book Antiqua"/>
                <a:cs typeface="Book Antiqua"/>
              </a:rPr>
              <a:t> </a:t>
            </a:r>
            <a:r>
              <a:rPr sz="1593" spc="-4" dirty="0">
                <a:latin typeface="Book Antiqua"/>
                <a:cs typeface="Book Antiqua"/>
              </a:rPr>
              <a:t>LOC/pm.</a:t>
            </a:r>
            <a:endParaRPr sz="1593">
              <a:latin typeface="Book Antiqua"/>
              <a:cs typeface="Book Antiqua"/>
            </a:endParaRPr>
          </a:p>
          <a:p>
            <a:pPr marL="11242" marR="315901">
              <a:lnSpc>
                <a:spcPts val="1700"/>
              </a:lnSpc>
              <a:spcBef>
                <a:spcPts val="960"/>
              </a:spcBef>
            </a:pPr>
            <a:r>
              <a:rPr sz="1593" spc="-9" dirty="0">
                <a:latin typeface="Book Antiqua"/>
                <a:cs typeface="Book Antiqua"/>
              </a:rPr>
              <a:t>Burdened </a:t>
            </a:r>
            <a:r>
              <a:rPr sz="1593" dirty="0">
                <a:latin typeface="Book Antiqua"/>
                <a:cs typeface="Book Antiqua"/>
              </a:rPr>
              <a:t>labor rate =$8000 per </a:t>
            </a:r>
            <a:r>
              <a:rPr sz="1593" spc="-4" dirty="0">
                <a:latin typeface="Book Antiqua"/>
                <a:cs typeface="Book Antiqua"/>
              </a:rPr>
              <a:t>month, the cost </a:t>
            </a:r>
            <a:r>
              <a:rPr sz="1593" dirty="0">
                <a:latin typeface="Book Antiqua"/>
                <a:cs typeface="Book Antiqua"/>
              </a:rPr>
              <a:t>per </a:t>
            </a:r>
            <a:r>
              <a:rPr sz="1593" spc="-4" dirty="0">
                <a:latin typeface="Book Antiqua"/>
                <a:cs typeface="Book Antiqua"/>
              </a:rPr>
              <a:t>line </a:t>
            </a:r>
            <a:r>
              <a:rPr sz="1593" dirty="0">
                <a:latin typeface="Book Antiqua"/>
                <a:cs typeface="Book Antiqua"/>
              </a:rPr>
              <a:t>of  </a:t>
            </a:r>
            <a:r>
              <a:rPr sz="1593" spc="-4" dirty="0">
                <a:latin typeface="Book Antiqua"/>
                <a:cs typeface="Book Antiqua"/>
              </a:rPr>
              <a:t>code </a:t>
            </a:r>
            <a:r>
              <a:rPr sz="1593" dirty="0">
                <a:latin typeface="Book Antiqua"/>
                <a:cs typeface="Book Antiqua"/>
              </a:rPr>
              <a:t>is </a:t>
            </a:r>
            <a:r>
              <a:rPr sz="1593" spc="-4" dirty="0">
                <a:latin typeface="Book Antiqua"/>
                <a:cs typeface="Book Antiqua"/>
              </a:rPr>
              <a:t>approximately </a:t>
            </a:r>
            <a:r>
              <a:rPr sz="1593" dirty="0">
                <a:latin typeface="Book Antiqua"/>
                <a:cs typeface="Book Antiqua"/>
              </a:rPr>
              <a:t>$13.</a:t>
            </a:r>
            <a:endParaRPr sz="1593">
              <a:latin typeface="Book Antiqua"/>
              <a:cs typeface="Book Antiqua"/>
            </a:endParaRPr>
          </a:p>
          <a:p>
            <a:pPr marL="11242" marR="138277">
              <a:lnSpc>
                <a:spcPct val="88400"/>
              </a:lnSpc>
              <a:spcBef>
                <a:spcPts val="1014"/>
              </a:spcBef>
            </a:pPr>
            <a:r>
              <a:rPr sz="1593" spc="-4" dirty="0">
                <a:latin typeface="Book Antiqua"/>
                <a:cs typeface="Book Antiqua"/>
              </a:rPr>
              <a:t>Based </a:t>
            </a:r>
            <a:r>
              <a:rPr sz="1593" dirty="0">
                <a:latin typeface="Book Antiqua"/>
                <a:cs typeface="Book Antiqua"/>
              </a:rPr>
              <a:t>on </a:t>
            </a:r>
            <a:r>
              <a:rPr sz="1593" spc="-4" dirty="0">
                <a:latin typeface="Book Antiqua"/>
                <a:cs typeface="Book Antiqua"/>
              </a:rPr>
              <a:t>the LOC estimate </a:t>
            </a:r>
            <a:r>
              <a:rPr sz="1593" dirty="0">
                <a:latin typeface="Book Antiqua"/>
                <a:cs typeface="Book Antiqua"/>
              </a:rPr>
              <a:t>and </a:t>
            </a:r>
            <a:r>
              <a:rPr sz="1593" spc="-4" dirty="0">
                <a:latin typeface="Book Antiqua"/>
                <a:cs typeface="Book Antiqua"/>
              </a:rPr>
              <a:t>the historical productivity  data, the </a:t>
            </a:r>
            <a:r>
              <a:rPr sz="1593" dirty="0">
                <a:latin typeface="Book Antiqua"/>
                <a:cs typeface="Book Antiqua"/>
              </a:rPr>
              <a:t>total </a:t>
            </a:r>
            <a:r>
              <a:rPr sz="1593" spc="-4" dirty="0">
                <a:latin typeface="Book Antiqua"/>
                <a:cs typeface="Book Antiqua"/>
              </a:rPr>
              <a:t>estimated </a:t>
            </a:r>
            <a:r>
              <a:rPr sz="1593" spc="-9" dirty="0">
                <a:latin typeface="Book Antiqua"/>
                <a:cs typeface="Book Antiqua"/>
              </a:rPr>
              <a:t>project </a:t>
            </a:r>
            <a:r>
              <a:rPr sz="1593" spc="-4" dirty="0">
                <a:latin typeface="Book Antiqua"/>
                <a:cs typeface="Book Antiqua"/>
              </a:rPr>
              <a:t>cost </a:t>
            </a:r>
            <a:r>
              <a:rPr sz="1593" dirty="0">
                <a:latin typeface="Book Antiqua"/>
                <a:cs typeface="Book Antiqua"/>
              </a:rPr>
              <a:t>is 33,200*620 = </a:t>
            </a:r>
            <a:r>
              <a:rPr sz="1593" b="1" dirty="0">
                <a:solidFill>
                  <a:srgbClr val="9A0000"/>
                </a:solidFill>
                <a:latin typeface="Book Antiqua"/>
                <a:cs typeface="Book Antiqua"/>
              </a:rPr>
              <a:t>$431,000  </a:t>
            </a:r>
            <a:r>
              <a:rPr sz="1593" b="1" spc="-4" dirty="0">
                <a:solidFill>
                  <a:srgbClr val="9A0000"/>
                </a:solidFill>
                <a:latin typeface="Book Antiqua"/>
                <a:cs typeface="Book Antiqua"/>
              </a:rPr>
              <a:t>and the estimated </a:t>
            </a:r>
            <a:r>
              <a:rPr sz="1593" b="1" spc="-9" dirty="0">
                <a:solidFill>
                  <a:srgbClr val="9A0000"/>
                </a:solidFill>
                <a:latin typeface="Book Antiqua"/>
                <a:cs typeface="Book Antiqua"/>
              </a:rPr>
              <a:t>effort </a:t>
            </a:r>
            <a:r>
              <a:rPr sz="1593" b="1" dirty="0">
                <a:solidFill>
                  <a:srgbClr val="9A0000"/>
                </a:solidFill>
                <a:latin typeface="Book Antiqua"/>
                <a:cs typeface="Book Antiqua"/>
              </a:rPr>
              <a:t>is 54</a:t>
            </a:r>
            <a:r>
              <a:rPr sz="1593" b="1" spc="9" dirty="0">
                <a:solidFill>
                  <a:srgbClr val="9A0000"/>
                </a:solidFill>
                <a:latin typeface="Book Antiqua"/>
                <a:cs typeface="Book Antiqua"/>
              </a:rPr>
              <a:t> </a:t>
            </a:r>
            <a:r>
              <a:rPr sz="1593" b="1" spc="-4" dirty="0">
                <a:solidFill>
                  <a:srgbClr val="9A0000"/>
                </a:solidFill>
                <a:latin typeface="Book Antiqua"/>
                <a:cs typeface="Book Antiqua"/>
              </a:rPr>
              <a:t>person-months.</a:t>
            </a:r>
            <a:endParaRPr sz="1593">
              <a:latin typeface="Book Antiqua"/>
              <a:cs typeface="Book Antiqu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1979" y="863780"/>
            <a:ext cx="5283260" cy="610747"/>
          </a:xfrm>
          <a:prstGeom prst="rect">
            <a:avLst/>
          </a:prstGeom>
        </p:spPr>
        <p:txBody>
          <a:bodyPr vert="horz" wrap="square" lIns="0" tIns="11242" rIns="0" bIns="0" rtlCol="0" anchor="ctr">
            <a:spAutoFit/>
          </a:bodyPr>
          <a:lstStyle/>
          <a:p>
            <a:pPr marL="11242">
              <a:spcBef>
                <a:spcPts val="89"/>
              </a:spcBef>
              <a:tabLst>
                <a:tab pos="2709894" algn="l"/>
              </a:tabLst>
            </a:pPr>
            <a:r>
              <a:rPr dirty="0"/>
              <a:t>Example:</a:t>
            </a:r>
            <a:r>
              <a:rPr spc="-4" dirty="0"/>
              <a:t> F</a:t>
            </a:r>
            <a:r>
              <a:rPr dirty="0"/>
              <a:t>P	Approach</a:t>
            </a:r>
          </a:p>
        </p:txBody>
      </p:sp>
      <p:sp>
        <p:nvSpPr>
          <p:cNvPr id="12" name="object 12"/>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78</a:t>
            </a:fld>
            <a:endParaRPr dirty="0"/>
          </a:p>
        </p:txBody>
      </p:sp>
      <p:sp>
        <p:nvSpPr>
          <p:cNvPr id="3" name="object 3"/>
          <p:cNvSpPr/>
          <p:nvPr/>
        </p:nvSpPr>
        <p:spPr>
          <a:xfrm>
            <a:off x="1825413" y="1551376"/>
            <a:ext cx="5002622" cy="1897063"/>
          </a:xfrm>
          <a:prstGeom prst="rect">
            <a:avLst/>
          </a:prstGeom>
          <a:blipFill>
            <a:blip r:embed="rId2" cstate="print"/>
            <a:stretch>
              <a:fillRect/>
            </a:stretch>
          </a:blipFill>
        </p:spPr>
        <p:txBody>
          <a:bodyPr wrap="square" lIns="0" tIns="0" rIns="0" bIns="0" rtlCol="0"/>
          <a:lstStyle/>
          <a:p>
            <a:endParaRPr sz="1593"/>
          </a:p>
        </p:txBody>
      </p:sp>
      <p:sp>
        <p:nvSpPr>
          <p:cNvPr id="4" name="object 4"/>
          <p:cNvSpPr/>
          <p:nvPr/>
        </p:nvSpPr>
        <p:spPr>
          <a:xfrm>
            <a:off x="1737113" y="3583493"/>
            <a:ext cx="3215578" cy="312727"/>
          </a:xfrm>
          <a:prstGeom prst="rect">
            <a:avLst/>
          </a:prstGeom>
          <a:blipFill>
            <a:blip r:embed="rId3" cstate="print"/>
            <a:stretch>
              <a:fillRect/>
            </a:stretch>
          </a:blipFill>
        </p:spPr>
        <p:txBody>
          <a:bodyPr wrap="square" lIns="0" tIns="0" rIns="0" bIns="0" rtlCol="0"/>
          <a:lstStyle/>
          <a:p>
            <a:endParaRPr sz="1593"/>
          </a:p>
        </p:txBody>
      </p:sp>
      <p:sp>
        <p:nvSpPr>
          <p:cNvPr id="5" name="object 5"/>
          <p:cNvSpPr/>
          <p:nvPr/>
        </p:nvSpPr>
        <p:spPr>
          <a:xfrm>
            <a:off x="1737113" y="3796884"/>
            <a:ext cx="5194962" cy="378952"/>
          </a:xfrm>
          <a:prstGeom prst="rect">
            <a:avLst/>
          </a:prstGeom>
          <a:blipFill>
            <a:blip r:embed="rId4" cstate="print"/>
            <a:stretch>
              <a:fillRect/>
            </a:stretch>
          </a:blipFill>
        </p:spPr>
        <p:txBody>
          <a:bodyPr wrap="square" lIns="0" tIns="0" rIns="0" bIns="0" rtlCol="0"/>
          <a:lstStyle/>
          <a:p>
            <a:endParaRPr sz="1593"/>
          </a:p>
        </p:txBody>
      </p:sp>
      <p:sp>
        <p:nvSpPr>
          <p:cNvPr id="6" name="object 6"/>
          <p:cNvSpPr/>
          <p:nvPr/>
        </p:nvSpPr>
        <p:spPr>
          <a:xfrm>
            <a:off x="1737113" y="4043387"/>
            <a:ext cx="2899171" cy="382631"/>
          </a:xfrm>
          <a:prstGeom prst="rect">
            <a:avLst/>
          </a:prstGeom>
          <a:blipFill>
            <a:blip r:embed="rId5" cstate="print"/>
            <a:stretch>
              <a:fillRect/>
            </a:stretch>
          </a:blipFill>
        </p:spPr>
        <p:txBody>
          <a:bodyPr wrap="square" lIns="0" tIns="0" rIns="0" bIns="0" rtlCol="0"/>
          <a:lstStyle/>
          <a:p>
            <a:endParaRPr sz="1593"/>
          </a:p>
        </p:txBody>
      </p:sp>
      <p:sp>
        <p:nvSpPr>
          <p:cNvPr id="7" name="object 7"/>
          <p:cNvSpPr/>
          <p:nvPr/>
        </p:nvSpPr>
        <p:spPr>
          <a:xfrm>
            <a:off x="1737113" y="4289890"/>
            <a:ext cx="4091215" cy="349519"/>
          </a:xfrm>
          <a:prstGeom prst="rect">
            <a:avLst/>
          </a:prstGeom>
          <a:blipFill>
            <a:blip r:embed="rId6" cstate="print"/>
            <a:stretch>
              <a:fillRect/>
            </a:stretch>
          </a:blipFill>
        </p:spPr>
        <p:txBody>
          <a:bodyPr wrap="square" lIns="0" tIns="0" rIns="0" bIns="0" rtlCol="0"/>
          <a:lstStyle/>
          <a:p>
            <a:endParaRPr sz="1593"/>
          </a:p>
        </p:txBody>
      </p:sp>
      <p:sp>
        <p:nvSpPr>
          <p:cNvPr id="8" name="object 8"/>
          <p:cNvSpPr/>
          <p:nvPr/>
        </p:nvSpPr>
        <p:spPr>
          <a:xfrm>
            <a:off x="1737113" y="4536393"/>
            <a:ext cx="5283261" cy="349519"/>
          </a:xfrm>
          <a:prstGeom prst="rect">
            <a:avLst/>
          </a:prstGeom>
          <a:blipFill>
            <a:blip r:embed="rId7" cstate="print"/>
            <a:stretch>
              <a:fillRect/>
            </a:stretch>
          </a:blipFill>
        </p:spPr>
        <p:txBody>
          <a:bodyPr wrap="square" lIns="0" tIns="0" rIns="0" bIns="0" rtlCol="0"/>
          <a:lstStyle/>
          <a:p>
            <a:endParaRPr sz="1593"/>
          </a:p>
        </p:txBody>
      </p:sp>
      <p:sp>
        <p:nvSpPr>
          <p:cNvPr id="9" name="object 9"/>
          <p:cNvSpPr/>
          <p:nvPr/>
        </p:nvSpPr>
        <p:spPr>
          <a:xfrm>
            <a:off x="1737113" y="4797613"/>
            <a:ext cx="6228803" cy="345840"/>
          </a:xfrm>
          <a:prstGeom prst="rect">
            <a:avLst/>
          </a:prstGeom>
          <a:blipFill>
            <a:blip r:embed="rId8" cstate="print"/>
            <a:stretch>
              <a:fillRect/>
            </a:stretch>
          </a:blipFill>
        </p:spPr>
        <p:txBody>
          <a:bodyPr wrap="square" lIns="0" tIns="0" rIns="0" bIns="0" rtlCol="0"/>
          <a:lstStyle/>
          <a:p>
            <a:endParaRPr sz="1593"/>
          </a:p>
        </p:txBody>
      </p:sp>
      <p:sp>
        <p:nvSpPr>
          <p:cNvPr id="10" name="object 10"/>
          <p:cNvSpPr/>
          <p:nvPr/>
        </p:nvSpPr>
        <p:spPr>
          <a:xfrm>
            <a:off x="1795979" y="5257507"/>
            <a:ext cx="88299" cy="437819"/>
          </a:xfrm>
          <a:prstGeom prst="rect">
            <a:avLst/>
          </a:prstGeom>
          <a:blipFill>
            <a:blip r:embed="rId9" cstate="print"/>
            <a:stretch>
              <a:fillRect/>
            </a:stretch>
          </a:blipFill>
        </p:spPr>
        <p:txBody>
          <a:bodyPr wrap="square" lIns="0" tIns="0" rIns="0" bIns="0" rtlCol="0"/>
          <a:lstStyle/>
          <a:p>
            <a:endParaRPr sz="1593"/>
          </a:p>
        </p:txBody>
      </p:sp>
      <p:sp>
        <p:nvSpPr>
          <p:cNvPr id="11" name="object 11"/>
          <p:cNvSpPr txBox="1"/>
          <p:nvPr/>
        </p:nvSpPr>
        <p:spPr>
          <a:xfrm>
            <a:off x="1737726" y="3572661"/>
            <a:ext cx="6207189" cy="1730329"/>
          </a:xfrm>
          <a:prstGeom prst="rect">
            <a:avLst/>
          </a:prstGeom>
        </p:spPr>
        <p:txBody>
          <a:bodyPr vert="horz" wrap="square" lIns="0" tIns="42719" rIns="0" bIns="0" rtlCol="0">
            <a:spAutoFit/>
          </a:bodyPr>
          <a:lstStyle/>
          <a:p>
            <a:pPr marL="33726">
              <a:spcBef>
                <a:spcPts val="336"/>
              </a:spcBef>
            </a:pPr>
            <a:r>
              <a:rPr sz="1416" spc="-4" dirty="0">
                <a:latin typeface="Book Antiqua"/>
                <a:cs typeface="Book Antiqua"/>
              </a:rPr>
              <a:t>The estimated number </a:t>
            </a:r>
            <a:r>
              <a:rPr sz="1416" dirty="0">
                <a:latin typeface="Book Antiqua"/>
                <a:cs typeface="Book Antiqua"/>
              </a:rPr>
              <a:t>of FP is</a:t>
            </a:r>
            <a:r>
              <a:rPr sz="1416" spc="-31" dirty="0">
                <a:latin typeface="Book Antiqua"/>
                <a:cs typeface="Book Antiqua"/>
              </a:rPr>
              <a:t> </a:t>
            </a:r>
            <a:r>
              <a:rPr sz="1416" spc="-4" dirty="0">
                <a:latin typeface="Book Antiqua"/>
                <a:cs typeface="Book Antiqua"/>
              </a:rPr>
              <a:t>derived:</a:t>
            </a:r>
            <a:endParaRPr sz="1416">
              <a:latin typeface="Book Antiqua"/>
              <a:cs typeface="Book Antiqua"/>
            </a:endParaRPr>
          </a:p>
          <a:p>
            <a:pPr marL="1652580">
              <a:spcBef>
                <a:spcPts val="248"/>
              </a:spcBef>
            </a:pPr>
            <a:r>
              <a:rPr sz="1416" spc="4" dirty="0">
                <a:latin typeface="Book Antiqua"/>
                <a:cs typeface="Book Antiqua"/>
              </a:rPr>
              <a:t>FP</a:t>
            </a:r>
            <a:r>
              <a:rPr sz="1394" spc="6" baseline="-21164" dirty="0">
                <a:latin typeface="Book Antiqua"/>
                <a:cs typeface="Book Antiqua"/>
              </a:rPr>
              <a:t>estimated </a:t>
            </a:r>
            <a:r>
              <a:rPr sz="1416" dirty="0">
                <a:latin typeface="Book Antiqua"/>
                <a:cs typeface="Book Antiqua"/>
              </a:rPr>
              <a:t>= </a:t>
            </a:r>
            <a:r>
              <a:rPr sz="1416" spc="-4" dirty="0">
                <a:latin typeface="Book Antiqua"/>
                <a:cs typeface="Book Antiqua"/>
              </a:rPr>
              <a:t>count-total </a:t>
            </a:r>
            <a:r>
              <a:rPr sz="1416" dirty="0">
                <a:latin typeface="Arial"/>
                <a:cs typeface="Arial"/>
              </a:rPr>
              <a:t>* </a:t>
            </a:r>
            <a:r>
              <a:rPr sz="1416" dirty="0">
                <a:latin typeface="Book Antiqua"/>
                <a:cs typeface="Book Antiqua"/>
              </a:rPr>
              <a:t>[0.65 + 0.01 </a:t>
            </a:r>
            <a:r>
              <a:rPr sz="1416" dirty="0">
                <a:latin typeface="Arial"/>
                <a:cs typeface="Arial"/>
              </a:rPr>
              <a:t>* S</a:t>
            </a:r>
            <a:r>
              <a:rPr sz="1416" spc="-212" dirty="0">
                <a:latin typeface="Arial"/>
                <a:cs typeface="Arial"/>
              </a:rPr>
              <a:t> </a:t>
            </a:r>
            <a:r>
              <a:rPr sz="1416" dirty="0">
                <a:latin typeface="Book Antiqua"/>
                <a:cs typeface="Book Antiqua"/>
              </a:rPr>
              <a:t>(F</a:t>
            </a:r>
            <a:r>
              <a:rPr sz="1394" baseline="-21164" dirty="0">
                <a:latin typeface="Book Antiqua"/>
                <a:cs typeface="Book Antiqua"/>
              </a:rPr>
              <a:t>i</a:t>
            </a:r>
            <a:r>
              <a:rPr sz="1416" dirty="0">
                <a:latin typeface="Book Antiqua"/>
                <a:cs typeface="Book Antiqua"/>
              </a:rPr>
              <a:t>)]</a:t>
            </a:r>
            <a:endParaRPr sz="1416">
              <a:latin typeface="Book Antiqua"/>
              <a:cs typeface="Book Antiqua"/>
            </a:endParaRPr>
          </a:p>
          <a:p>
            <a:pPr marL="33726" marR="2162968" indent="1618854">
              <a:lnSpc>
                <a:spcPts val="1593"/>
              </a:lnSpc>
              <a:spcBef>
                <a:spcPts val="744"/>
              </a:spcBef>
            </a:pPr>
            <a:r>
              <a:rPr sz="2124" spc="6" baseline="13888" dirty="0">
                <a:latin typeface="Book Antiqua"/>
                <a:cs typeface="Book Antiqua"/>
              </a:rPr>
              <a:t>FP</a:t>
            </a:r>
            <a:r>
              <a:rPr sz="929" spc="4" dirty="0">
                <a:latin typeface="Book Antiqua"/>
                <a:cs typeface="Book Antiqua"/>
              </a:rPr>
              <a:t>estimated </a:t>
            </a:r>
            <a:r>
              <a:rPr sz="2124" baseline="13888" dirty="0">
                <a:latin typeface="Book Antiqua"/>
                <a:cs typeface="Book Antiqua"/>
              </a:rPr>
              <a:t>= 375 </a:t>
            </a:r>
            <a:r>
              <a:rPr sz="1416" dirty="0">
                <a:latin typeface="Book Antiqua"/>
                <a:cs typeface="Book Antiqua"/>
              </a:rPr>
              <a:t> </a:t>
            </a:r>
            <a:r>
              <a:rPr sz="1416" spc="-4" dirty="0">
                <a:latin typeface="Book Antiqua"/>
                <a:cs typeface="Book Antiqua"/>
              </a:rPr>
              <a:t>organizational average productivity </a:t>
            </a:r>
            <a:r>
              <a:rPr sz="1416" dirty="0">
                <a:latin typeface="Book Antiqua"/>
                <a:cs typeface="Book Antiqua"/>
              </a:rPr>
              <a:t>= 6.5</a:t>
            </a:r>
            <a:r>
              <a:rPr sz="1416" spc="-18" dirty="0">
                <a:latin typeface="Book Antiqua"/>
                <a:cs typeface="Book Antiqua"/>
              </a:rPr>
              <a:t> </a:t>
            </a:r>
            <a:r>
              <a:rPr sz="1416" dirty="0">
                <a:latin typeface="Book Antiqua"/>
                <a:cs typeface="Book Antiqua"/>
              </a:rPr>
              <a:t>FP/pm.</a:t>
            </a:r>
            <a:endParaRPr sz="1416">
              <a:latin typeface="Book Antiqua"/>
              <a:cs typeface="Book Antiqua"/>
            </a:endParaRPr>
          </a:p>
          <a:p>
            <a:pPr marL="33726">
              <a:spcBef>
                <a:spcPts val="212"/>
              </a:spcBef>
            </a:pPr>
            <a:r>
              <a:rPr sz="1416" spc="-4" dirty="0">
                <a:latin typeface="Book Antiqua"/>
                <a:cs typeface="Book Antiqua"/>
              </a:rPr>
              <a:t>burdened </a:t>
            </a:r>
            <a:r>
              <a:rPr sz="1416" dirty="0">
                <a:latin typeface="Book Antiqua"/>
                <a:cs typeface="Book Antiqua"/>
              </a:rPr>
              <a:t>labor rate = $8000 per </a:t>
            </a:r>
            <a:r>
              <a:rPr sz="1416" spc="-4" dirty="0">
                <a:latin typeface="Book Antiqua"/>
                <a:cs typeface="Book Antiqua"/>
              </a:rPr>
              <a:t>month, approximately</a:t>
            </a:r>
            <a:r>
              <a:rPr sz="1416" spc="-13" dirty="0">
                <a:latin typeface="Book Antiqua"/>
                <a:cs typeface="Book Antiqua"/>
              </a:rPr>
              <a:t> </a:t>
            </a:r>
            <a:r>
              <a:rPr sz="1416" spc="-22" dirty="0">
                <a:latin typeface="Book Antiqua"/>
                <a:cs typeface="Book Antiqua"/>
              </a:rPr>
              <a:t>$1230/FP.</a:t>
            </a:r>
            <a:endParaRPr sz="1416">
              <a:latin typeface="Book Antiqua"/>
              <a:cs typeface="Book Antiqua"/>
            </a:endParaRPr>
          </a:p>
          <a:p>
            <a:pPr marL="33726" marR="26981">
              <a:lnSpc>
                <a:spcPts val="1682"/>
              </a:lnSpc>
              <a:spcBef>
                <a:spcPts val="406"/>
              </a:spcBef>
            </a:pPr>
            <a:r>
              <a:rPr sz="1416" spc="-4" dirty="0">
                <a:latin typeface="Book Antiqua"/>
                <a:cs typeface="Book Antiqua"/>
              </a:rPr>
              <a:t>Based </a:t>
            </a:r>
            <a:r>
              <a:rPr sz="1416" dirty="0">
                <a:latin typeface="Book Antiqua"/>
                <a:cs typeface="Book Antiqua"/>
              </a:rPr>
              <a:t>on </a:t>
            </a:r>
            <a:r>
              <a:rPr sz="1416" spc="-4" dirty="0">
                <a:latin typeface="Book Antiqua"/>
                <a:cs typeface="Book Antiqua"/>
              </a:rPr>
              <a:t>the </a:t>
            </a:r>
            <a:r>
              <a:rPr sz="1416" dirty="0">
                <a:latin typeface="Book Antiqua"/>
                <a:cs typeface="Book Antiqua"/>
              </a:rPr>
              <a:t>FP </a:t>
            </a:r>
            <a:r>
              <a:rPr sz="1416" spc="-4" dirty="0">
                <a:latin typeface="Book Antiqua"/>
                <a:cs typeface="Book Antiqua"/>
              </a:rPr>
              <a:t>estimate </a:t>
            </a:r>
            <a:r>
              <a:rPr sz="1416" dirty="0">
                <a:latin typeface="Book Antiqua"/>
                <a:cs typeface="Book Antiqua"/>
              </a:rPr>
              <a:t>and </a:t>
            </a:r>
            <a:r>
              <a:rPr sz="1416" spc="-4" dirty="0">
                <a:latin typeface="Book Antiqua"/>
                <a:cs typeface="Book Antiqua"/>
              </a:rPr>
              <a:t>the historical productivity data, </a:t>
            </a:r>
            <a:r>
              <a:rPr sz="1416" b="1" dirty="0">
                <a:solidFill>
                  <a:srgbClr val="9A0000"/>
                </a:solidFill>
                <a:latin typeface="Book Antiqua"/>
                <a:cs typeface="Book Antiqua"/>
              </a:rPr>
              <a:t>total </a:t>
            </a:r>
            <a:r>
              <a:rPr sz="1416" b="1" spc="-4" dirty="0">
                <a:solidFill>
                  <a:srgbClr val="9A0000"/>
                </a:solidFill>
                <a:latin typeface="Book Antiqua"/>
                <a:cs typeface="Book Antiqua"/>
              </a:rPr>
              <a:t>estimated  project cost </a:t>
            </a:r>
            <a:r>
              <a:rPr sz="1416" b="1" dirty="0">
                <a:solidFill>
                  <a:srgbClr val="9A0000"/>
                </a:solidFill>
                <a:latin typeface="Book Antiqua"/>
                <a:cs typeface="Book Antiqua"/>
              </a:rPr>
              <a:t>is $461,000 </a:t>
            </a:r>
            <a:r>
              <a:rPr sz="1416" b="1" spc="-4" dirty="0">
                <a:solidFill>
                  <a:srgbClr val="9A0000"/>
                </a:solidFill>
                <a:latin typeface="Book Antiqua"/>
                <a:cs typeface="Book Antiqua"/>
              </a:rPr>
              <a:t>and estimated effort </a:t>
            </a:r>
            <a:r>
              <a:rPr sz="1416" b="1" dirty="0">
                <a:solidFill>
                  <a:srgbClr val="9A0000"/>
                </a:solidFill>
                <a:latin typeface="Book Antiqua"/>
                <a:cs typeface="Book Antiqua"/>
              </a:rPr>
              <a:t>is 58</a:t>
            </a:r>
            <a:r>
              <a:rPr sz="1416" b="1" spc="9" dirty="0">
                <a:solidFill>
                  <a:srgbClr val="9A0000"/>
                </a:solidFill>
                <a:latin typeface="Book Antiqua"/>
                <a:cs typeface="Book Antiqua"/>
              </a:rPr>
              <a:t> </a:t>
            </a:r>
            <a:r>
              <a:rPr sz="1416" b="1" spc="-4" dirty="0">
                <a:solidFill>
                  <a:srgbClr val="9A0000"/>
                </a:solidFill>
                <a:latin typeface="Book Antiqua"/>
                <a:cs typeface="Book Antiqua"/>
              </a:rPr>
              <a:t>person-months.</a:t>
            </a:r>
            <a:endParaRPr sz="1416">
              <a:latin typeface="Book Antiqua"/>
              <a:cs typeface="Book Antiqu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3843" y="925610"/>
            <a:ext cx="5905062" cy="610747"/>
          </a:xfrm>
          <a:prstGeom prst="rect">
            <a:avLst/>
          </a:prstGeom>
        </p:spPr>
        <p:txBody>
          <a:bodyPr vert="horz" wrap="square" lIns="0" tIns="11242" rIns="0" bIns="0" rtlCol="0" anchor="ctr">
            <a:spAutoFit/>
          </a:bodyPr>
          <a:lstStyle/>
          <a:p>
            <a:pPr marL="11242">
              <a:spcBef>
                <a:spcPts val="89"/>
              </a:spcBef>
              <a:tabLst>
                <a:tab pos="3185432" algn="l"/>
              </a:tabLst>
            </a:pPr>
            <a:r>
              <a:rPr dirty="0"/>
              <a:t>Process-Based	</a:t>
            </a:r>
            <a:r>
              <a:rPr spc="-4" dirty="0"/>
              <a:t>Estimation</a:t>
            </a:r>
          </a:p>
        </p:txBody>
      </p:sp>
      <p:sp>
        <p:nvSpPr>
          <p:cNvPr id="28" name="object 28"/>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79</a:t>
            </a:fld>
            <a:endParaRPr dirty="0"/>
          </a:p>
        </p:txBody>
      </p:sp>
      <p:sp>
        <p:nvSpPr>
          <p:cNvPr id="3" name="object 3"/>
          <p:cNvSpPr/>
          <p:nvPr/>
        </p:nvSpPr>
        <p:spPr>
          <a:xfrm>
            <a:off x="1803338" y="1692410"/>
            <a:ext cx="4749784" cy="397348"/>
          </a:xfrm>
          <a:prstGeom prst="rect">
            <a:avLst/>
          </a:prstGeom>
          <a:blipFill>
            <a:blip r:embed="rId2" cstate="print"/>
            <a:stretch>
              <a:fillRect/>
            </a:stretch>
          </a:blipFill>
        </p:spPr>
        <p:txBody>
          <a:bodyPr wrap="square" lIns="0" tIns="0" rIns="0" bIns="0" rtlCol="0"/>
          <a:lstStyle/>
          <a:p>
            <a:endParaRPr sz="1593"/>
          </a:p>
        </p:txBody>
      </p:sp>
      <p:sp>
        <p:nvSpPr>
          <p:cNvPr id="4" name="object 4"/>
          <p:cNvSpPr txBox="1"/>
          <p:nvPr/>
        </p:nvSpPr>
        <p:spPr>
          <a:xfrm>
            <a:off x="1826817" y="1687401"/>
            <a:ext cx="4685604" cy="338236"/>
          </a:xfrm>
          <a:prstGeom prst="rect">
            <a:avLst/>
          </a:prstGeom>
        </p:spPr>
        <p:txBody>
          <a:bodyPr vert="horz" wrap="square" lIns="0" tIns="11242" rIns="0" bIns="0" rtlCol="0">
            <a:spAutoFit/>
          </a:bodyPr>
          <a:lstStyle/>
          <a:p>
            <a:pPr marL="11242">
              <a:spcBef>
                <a:spcPts val="89"/>
              </a:spcBef>
            </a:pPr>
            <a:r>
              <a:rPr sz="2124" b="1" spc="-4" dirty="0">
                <a:latin typeface="Arial"/>
                <a:cs typeface="Arial"/>
              </a:rPr>
              <a:t>Obtained from </a:t>
            </a:r>
            <a:r>
              <a:rPr sz="2124" b="1" spc="-4" dirty="0">
                <a:latin typeface="MS PGothic"/>
                <a:cs typeface="MS PGothic"/>
              </a:rPr>
              <a:t>“</a:t>
            </a:r>
            <a:r>
              <a:rPr sz="2124" b="1" spc="-4" dirty="0">
                <a:latin typeface="Arial"/>
                <a:cs typeface="Arial"/>
              </a:rPr>
              <a:t>process</a:t>
            </a:r>
            <a:r>
              <a:rPr sz="2124" b="1" spc="-18" dirty="0">
                <a:latin typeface="Arial"/>
                <a:cs typeface="Arial"/>
              </a:rPr>
              <a:t> </a:t>
            </a:r>
            <a:r>
              <a:rPr sz="2124" b="1" spc="-4" dirty="0">
                <a:latin typeface="Arial"/>
                <a:cs typeface="Arial"/>
              </a:rPr>
              <a:t>framework</a:t>
            </a:r>
            <a:r>
              <a:rPr sz="2124" b="1" spc="-4" dirty="0">
                <a:latin typeface="MS PGothic"/>
                <a:cs typeface="MS PGothic"/>
              </a:rPr>
              <a:t>”</a:t>
            </a:r>
            <a:endParaRPr sz="2124">
              <a:latin typeface="MS PGothic"/>
              <a:cs typeface="MS PGothic"/>
            </a:endParaRPr>
          </a:p>
        </p:txBody>
      </p:sp>
      <p:sp>
        <p:nvSpPr>
          <p:cNvPr id="5" name="object 5"/>
          <p:cNvSpPr/>
          <p:nvPr/>
        </p:nvSpPr>
        <p:spPr>
          <a:xfrm>
            <a:off x="1859139" y="2967849"/>
            <a:ext cx="1169153" cy="2427116"/>
          </a:xfrm>
          <a:custGeom>
            <a:avLst/>
            <a:gdLst/>
            <a:ahLst/>
            <a:cxnLst/>
            <a:rect l="l" t="t" r="r" b="b"/>
            <a:pathLst>
              <a:path w="1320800" h="2741929">
                <a:moveTo>
                  <a:pt x="0" y="2741612"/>
                </a:moveTo>
                <a:lnTo>
                  <a:pt x="1320798" y="2741612"/>
                </a:lnTo>
                <a:lnTo>
                  <a:pt x="1320798" y="0"/>
                </a:lnTo>
                <a:lnTo>
                  <a:pt x="0" y="0"/>
                </a:lnTo>
                <a:lnTo>
                  <a:pt x="0" y="2741612"/>
                </a:lnTo>
                <a:close/>
              </a:path>
            </a:pathLst>
          </a:custGeom>
          <a:solidFill>
            <a:srgbClr val="E1E1E1"/>
          </a:solidFill>
        </p:spPr>
        <p:txBody>
          <a:bodyPr wrap="square" lIns="0" tIns="0" rIns="0" bIns="0" rtlCol="0"/>
          <a:lstStyle/>
          <a:p>
            <a:endParaRPr sz="1593"/>
          </a:p>
        </p:txBody>
      </p:sp>
      <p:sp>
        <p:nvSpPr>
          <p:cNvPr id="6" name="object 6"/>
          <p:cNvSpPr/>
          <p:nvPr/>
        </p:nvSpPr>
        <p:spPr>
          <a:xfrm>
            <a:off x="3039533" y="2495691"/>
            <a:ext cx="3709811" cy="494641"/>
          </a:xfrm>
          <a:custGeom>
            <a:avLst/>
            <a:gdLst/>
            <a:ahLst/>
            <a:cxnLst/>
            <a:rect l="l" t="t" r="r" b="b"/>
            <a:pathLst>
              <a:path w="4191000" h="558800">
                <a:moveTo>
                  <a:pt x="0" y="0"/>
                </a:moveTo>
                <a:lnTo>
                  <a:pt x="4190998" y="0"/>
                </a:lnTo>
                <a:lnTo>
                  <a:pt x="4190998" y="558800"/>
                </a:lnTo>
                <a:lnTo>
                  <a:pt x="0" y="558800"/>
                </a:lnTo>
                <a:lnTo>
                  <a:pt x="0" y="0"/>
                </a:lnTo>
                <a:close/>
              </a:path>
            </a:pathLst>
          </a:custGeom>
          <a:solidFill>
            <a:srgbClr val="000000"/>
          </a:solidFill>
        </p:spPr>
        <p:txBody>
          <a:bodyPr wrap="square" lIns="0" tIns="0" rIns="0" bIns="0" rtlCol="0"/>
          <a:lstStyle/>
          <a:p>
            <a:endParaRPr sz="1593"/>
          </a:p>
        </p:txBody>
      </p:sp>
      <p:sp>
        <p:nvSpPr>
          <p:cNvPr id="7" name="object 7"/>
          <p:cNvSpPr/>
          <p:nvPr/>
        </p:nvSpPr>
        <p:spPr>
          <a:xfrm>
            <a:off x="3039533" y="2497097"/>
            <a:ext cx="3709811" cy="491831"/>
          </a:xfrm>
          <a:custGeom>
            <a:avLst/>
            <a:gdLst/>
            <a:ahLst/>
            <a:cxnLst/>
            <a:rect l="l" t="t" r="r" b="b"/>
            <a:pathLst>
              <a:path w="4191000" h="555625">
                <a:moveTo>
                  <a:pt x="0" y="0"/>
                </a:moveTo>
                <a:lnTo>
                  <a:pt x="4190999" y="0"/>
                </a:lnTo>
                <a:lnTo>
                  <a:pt x="4190999" y="555624"/>
                </a:lnTo>
                <a:lnTo>
                  <a:pt x="0" y="555624"/>
                </a:lnTo>
                <a:lnTo>
                  <a:pt x="0" y="0"/>
                </a:lnTo>
                <a:close/>
              </a:path>
            </a:pathLst>
          </a:custGeom>
          <a:ln w="25399">
            <a:solidFill>
              <a:srgbClr val="000000"/>
            </a:solidFill>
          </a:ln>
        </p:spPr>
        <p:txBody>
          <a:bodyPr wrap="square" lIns="0" tIns="0" rIns="0" bIns="0" rtlCol="0"/>
          <a:lstStyle/>
          <a:p>
            <a:endParaRPr sz="1593"/>
          </a:p>
        </p:txBody>
      </p:sp>
      <p:sp>
        <p:nvSpPr>
          <p:cNvPr id="8" name="object 8"/>
          <p:cNvSpPr/>
          <p:nvPr/>
        </p:nvSpPr>
        <p:spPr>
          <a:xfrm>
            <a:off x="1859139" y="2495691"/>
            <a:ext cx="1169153" cy="472158"/>
          </a:xfrm>
          <a:custGeom>
            <a:avLst/>
            <a:gdLst/>
            <a:ahLst/>
            <a:cxnLst/>
            <a:rect l="l" t="t" r="r" b="b"/>
            <a:pathLst>
              <a:path w="1320800" h="533400">
                <a:moveTo>
                  <a:pt x="0" y="0"/>
                </a:moveTo>
                <a:lnTo>
                  <a:pt x="1320798" y="0"/>
                </a:lnTo>
                <a:lnTo>
                  <a:pt x="1320798" y="533400"/>
                </a:lnTo>
                <a:lnTo>
                  <a:pt x="0" y="533400"/>
                </a:lnTo>
                <a:lnTo>
                  <a:pt x="0" y="0"/>
                </a:lnTo>
                <a:close/>
              </a:path>
            </a:pathLst>
          </a:custGeom>
          <a:solidFill>
            <a:srgbClr val="FFFFFF"/>
          </a:solidFill>
        </p:spPr>
        <p:txBody>
          <a:bodyPr wrap="square" lIns="0" tIns="0" rIns="0" bIns="0" rtlCol="0"/>
          <a:lstStyle/>
          <a:p>
            <a:endParaRPr sz="1593"/>
          </a:p>
        </p:txBody>
      </p:sp>
      <p:sp>
        <p:nvSpPr>
          <p:cNvPr id="9" name="object 9"/>
          <p:cNvSpPr/>
          <p:nvPr/>
        </p:nvSpPr>
        <p:spPr>
          <a:xfrm>
            <a:off x="1859139" y="2495691"/>
            <a:ext cx="1169151" cy="472158"/>
          </a:xfrm>
          <a:prstGeom prst="rect">
            <a:avLst/>
          </a:prstGeom>
          <a:blipFill>
            <a:blip r:embed="rId3" cstate="print"/>
            <a:stretch>
              <a:fillRect/>
            </a:stretch>
          </a:blipFill>
        </p:spPr>
        <p:txBody>
          <a:bodyPr wrap="square" lIns="0" tIns="0" rIns="0" bIns="0" rtlCol="0"/>
          <a:lstStyle/>
          <a:p>
            <a:endParaRPr sz="1593"/>
          </a:p>
        </p:txBody>
      </p:sp>
      <p:sp>
        <p:nvSpPr>
          <p:cNvPr id="10" name="object 10"/>
          <p:cNvSpPr/>
          <p:nvPr/>
        </p:nvSpPr>
        <p:spPr>
          <a:xfrm>
            <a:off x="1884279" y="3701227"/>
            <a:ext cx="986012" cy="334803"/>
          </a:xfrm>
          <a:prstGeom prst="rect">
            <a:avLst/>
          </a:prstGeom>
          <a:blipFill>
            <a:blip r:embed="rId4" cstate="print"/>
            <a:stretch>
              <a:fillRect/>
            </a:stretch>
          </a:blipFill>
        </p:spPr>
        <p:txBody>
          <a:bodyPr wrap="square" lIns="0" tIns="0" rIns="0" bIns="0" rtlCol="0"/>
          <a:lstStyle/>
          <a:p>
            <a:endParaRPr sz="1593"/>
          </a:p>
        </p:txBody>
      </p:sp>
      <p:sp>
        <p:nvSpPr>
          <p:cNvPr id="11" name="object 11"/>
          <p:cNvSpPr/>
          <p:nvPr/>
        </p:nvSpPr>
        <p:spPr>
          <a:xfrm>
            <a:off x="3554614" y="2557010"/>
            <a:ext cx="2682100" cy="434139"/>
          </a:xfrm>
          <a:prstGeom prst="rect">
            <a:avLst/>
          </a:prstGeom>
          <a:blipFill>
            <a:blip r:embed="rId5" cstate="print"/>
            <a:stretch>
              <a:fillRect/>
            </a:stretch>
          </a:blipFill>
        </p:spPr>
        <p:txBody>
          <a:bodyPr wrap="square" lIns="0" tIns="0" rIns="0" bIns="0" rtlCol="0"/>
          <a:lstStyle/>
          <a:p>
            <a:endParaRPr sz="1593"/>
          </a:p>
        </p:txBody>
      </p:sp>
      <p:sp>
        <p:nvSpPr>
          <p:cNvPr id="12" name="object 12"/>
          <p:cNvSpPr/>
          <p:nvPr/>
        </p:nvSpPr>
        <p:spPr>
          <a:xfrm>
            <a:off x="3781494" y="1956082"/>
            <a:ext cx="300720" cy="439556"/>
          </a:xfrm>
          <a:custGeom>
            <a:avLst/>
            <a:gdLst/>
            <a:ahLst/>
            <a:cxnLst/>
            <a:rect l="l" t="t" r="r" b="b"/>
            <a:pathLst>
              <a:path w="339725" h="496569">
                <a:moveTo>
                  <a:pt x="0" y="0"/>
                </a:moveTo>
                <a:lnTo>
                  <a:pt x="339609" y="496239"/>
                </a:lnTo>
              </a:path>
            </a:pathLst>
          </a:custGeom>
          <a:ln w="50799">
            <a:solidFill>
              <a:srgbClr val="000000"/>
            </a:solidFill>
          </a:ln>
        </p:spPr>
        <p:txBody>
          <a:bodyPr wrap="square" lIns="0" tIns="0" rIns="0" bIns="0" rtlCol="0"/>
          <a:lstStyle/>
          <a:p>
            <a:endParaRPr sz="1593"/>
          </a:p>
        </p:txBody>
      </p:sp>
      <p:sp>
        <p:nvSpPr>
          <p:cNvPr id="13" name="object 13"/>
          <p:cNvSpPr/>
          <p:nvPr/>
        </p:nvSpPr>
        <p:spPr>
          <a:xfrm>
            <a:off x="3975656" y="2283033"/>
            <a:ext cx="132092" cy="149517"/>
          </a:xfrm>
          <a:custGeom>
            <a:avLst/>
            <a:gdLst/>
            <a:ahLst/>
            <a:cxnLst/>
            <a:rect l="l" t="t" r="r" b="b"/>
            <a:pathLst>
              <a:path w="149225" h="168910">
                <a:moveTo>
                  <a:pt x="125768" y="0"/>
                </a:moveTo>
                <a:lnTo>
                  <a:pt x="0" y="86071"/>
                </a:lnTo>
                <a:lnTo>
                  <a:pt x="148954" y="168803"/>
                </a:lnTo>
                <a:lnTo>
                  <a:pt x="125768" y="0"/>
                </a:lnTo>
                <a:close/>
              </a:path>
            </a:pathLst>
          </a:custGeom>
          <a:solidFill>
            <a:srgbClr val="000000"/>
          </a:solidFill>
        </p:spPr>
        <p:txBody>
          <a:bodyPr wrap="square" lIns="0" tIns="0" rIns="0" bIns="0" rtlCol="0"/>
          <a:lstStyle/>
          <a:p>
            <a:endParaRPr sz="1593"/>
          </a:p>
        </p:txBody>
      </p:sp>
      <p:graphicFrame>
        <p:nvGraphicFramePr>
          <p:cNvPr id="14" name="object 14"/>
          <p:cNvGraphicFramePr>
            <a:graphicFrameLocks noGrp="1"/>
          </p:cNvGraphicFramePr>
          <p:nvPr/>
        </p:nvGraphicFramePr>
        <p:xfrm>
          <a:off x="1865886" y="2487898"/>
          <a:ext cx="4890206" cy="3270463"/>
        </p:xfrm>
        <a:graphic>
          <a:graphicData uri="http://schemas.openxmlformats.org/drawingml/2006/table">
            <a:tbl>
              <a:tblPr firstRow="1" bandRow="1">
                <a:tableStyleId>{2D5ABB26-0587-4C30-8999-92F81FD0307C}</a:tableStyleId>
              </a:tblPr>
              <a:tblGrid>
                <a:gridCol w="1169153">
                  <a:extLst>
                    <a:ext uri="{9D8B030D-6E8A-4147-A177-3AD203B41FA5}">
                      <a16:colId xmlns:a16="http://schemas.microsoft.com/office/drawing/2014/main" val="20000"/>
                    </a:ext>
                  </a:extLst>
                </a:gridCol>
                <a:gridCol w="3721053">
                  <a:extLst>
                    <a:ext uri="{9D8B030D-6E8A-4147-A177-3AD203B41FA5}">
                      <a16:colId xmlns:a16="http://schemas.microsoft.com/office/drawing/2014/main" val="20001"/>
                    </a:ext>
                  </a:extLst>
                </a:gridCol>
              </a:tblGrid>
              <a:tr h="491830">
                <a:tc>
                  <a:txBody>
                    <a:bodyPr/>
                    <a:lstStyle/>
                    <a:p>
                      <a:pPr>
                        <a:lnSpc>
                          <a:spcPct val="100000"/>
                        </a:lnSpc>
                      </a:pPr>
                      <a:endParaRPr sz="19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850"/>
                        </a:spcBef>
                      </a:pPr>
                      <a:r>
                        <a:rPr sz="2100" b="1" spc="-5" dirty="0">
                          <a:solidFill>
                            <a:srgbClr val="EAEAEA"/>
                          </a:solidFill>
                          <a:latin typeface="Arial"/>
                          <a:cs typeface="Arial"/>
                        </a:rPr>
                        <a:t>framework activities</a:t>
                      </a:r>
                      <a:endParaRPr sz="2100">
                        <a:latin typeface="Arial"/>
                        <a:cs typeface="Arial"/>
                      </a:endParaRPr>
                    </a:p>
                  </a:txBody>
                  <a:tcPr marL="0" marR="0" marT="95556" marB="0">
                    <a:lnL w="28575">
                      <a:solidFill>
                        <a:srgbClr val="000000"/>
                      </a:solidFill>
                      <a:prstDash val="solid"/>
                    </a:lnL>
                    <a:lnR w="28575">
                      <a:solidFill>
                        <a:srgbClr val="000000"/>
                      </a:solidFill>
                      <a:prstDash val="solid"/>
                    </a:lnR>
                    <a:lnT w="28575">
                      <a:solidFill>
                        <a:srgbClr val="000000"/>
                      </a:solidFill>
                      <a:prstDash val="solid"/>
                    </a:lnT>
                  </a:tcPr>
                </a:tc>
                <a:extLst>
                  <a:ext uri="{0D108BD9-81ED-4DB2-BD59-A6C34878D82A}">
                    <a16:rowId xmlns:a16="http://schemas.microsoft.com/office/drawing/2014/main" val="10000"/>
                  </a:ext>
                </a:extLst>
              </a:tr>
              <a:tr h="2405755">
                <a:tc>
                  <a:txBody>
                    <a:bodyPr/>
                    <a:lstStyle/>
                    <a:p>
                      <a:pPr>
                        <a:lnSpc>
                          <a:spcPct val="100000"/>
                        </a:lnSpc>
                      </a:pPr>
                      <a:endParaRPr sz="1800">
                        <a:latin typeface="Times New Roman"/>
                        <a:cs typeface="Times New Roman"/>
                      </a:endParaRPr>
                    </a:p>
                    <a:p>
                      <a:pPr>
                        <a:lnSpc>
                          <a:spcPct val="100000"/>
                        </a:lnSpc>
                        <a:spcBef>
                          <a:spcPts val="30"/>
                        </a:spcBef>
                      </a:pPr>
                      <a:endParaRPr sz="1800">
                        <a:latin typeface="Times New Roman"/>
                        <a:cs typeface="Times New Roman"/>
                      </a:endParaRPr>
                    </a:p>
                    <a:p>
                      <a:pPr marL="63500" marR="42545">
                        <a:lnSpc>
                          <a:spcPts val="2100"/>
                        </a:lnSpc>
                      </a:pPr>
                      <a:r>
                        <a:rPr sz="1600" b="1" dirty="0">
                          <a:solidFill>
                            <a:srgbClr val="9A0000"/>
                          </a:solidFill>
                          <a:latin typeface="Arial"/>
                          <a:cs typeface="Arial"/>
                        </a:rPr>
                        <a:t>a</a:t>
                      </a:r>
                      <a:r>
                        <a:rPr sz="1600" b="1" spc="-5" dirty="0">
                          <a:solidFill>
                            <a:srgbClr val="9A0000"/>
                          </a:solidFill>
                          <a:latin typeface="Arial"/>
                          <a:cs typeface="Arial"/>
                        </a:rPr>
                        <a:t>ppli</a:t>
                      </a:r>
                      <a:r>
                        <a:rPr sz="1600" b="1" dirty="0">
                          <a:solidFill>
                            <a:srgbClr val="9A0000"/>
                          </a:solidFill>
                          <a:latin typeface="Arial"/>
                          <a:cs typeface="Arial"/>
                        </a:rPr>
                        <a:t>cat</a:t>
                      </a:r>
                      <a:r>
                        <a:rPr sz="1600" b="1" spc="-5" dirty="0">
                          <a:solidFill>
                            <a:srgbClr val="9A0000"/>
                          </a:solidFill>
                          <a:latin typeface="Arial"/>
                          <a:cs typeface="Arial"/>
                        </a:rPr>
                        <a:t>io</a:t>
                      </a:r>
                      <a:r>
                        <a:rPr sz="1600" b="1" dirty="0">
                          <a:solidFill>
                            <a:srgbClr val="9A0000"/>
                          </a:solidFill>
                          <a:latin typeface="Arial"/>
                          <a:cs typeface="Arial"/>
                        </a:rPr>
                        <a:t>n  </a:t>
                      </a:r>
                      <a:r>
                        <a:rPr sz="1600" b="1" spc="-5" dirty="0">
                          <a:solidFill>
                            <a:srgbClr val="9A0000"/>
                          </a:solidFill>
                          <a:latin typeface="Arial"/>
                          <a:cs typeface="Arial"/>
                        </a:rPr>
                        <a:t>functions</a:t>
                      </a:r>
                      <a:endParaRPr sz="1600">
                        <a:latin typeface="Arial"/>
                        <a:cs typeface="Arial"/>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nSpc>
                          <a:spcPct val="100000"/>
                        </a:lnSpc>
                      </a:pPr>
                      <a:endParaRPr sz="1600" dirty="0">
                        <a:latin typeface="Times New Roman"/>
                        <a:cs typeface="Times New Roman"/>
                      </a:endParaRPr>
                    </a:p>
                    <a:p>
                      <a:pPr>
                        <a:lnSpc>
                          <a:spcPct val="100000"/>
                        </a:lnSpc>
                      </a:pPr>
                      <a:endParaRPr sz="1600" dirty="0">
                        <a:latin typeface="Times New Roman"/>
                        <a:cs typeface="Times New Roman"/>
                      </a:endParaRPr>
                    </a:p>
                    <a:p>
                      <a:pPr marL="1562100" marR="767080" indent="-1536700">
                        <a:lnSpc>
                          <a:spcPts val="2100"/>
                        </a:lnSpc>
                        <a:spcBef>
                          <a:spcPts val="1330"/>
                        </a:spcBef>
                        <a:tabLst>
                          <a:tab pos="545465" algn="l"/>
                          <a:tab pos="1561465" algn="l"/>
                        </a:tabLst>
                      </a:pPr>
                      <a:r>
                        <a:rPr sz="2400" b="1" u="heavy" baseline="26234" dirty="0">
                          <a:solidFill>
                            <a:srgbClr val="9A0000"/>
                          </a:solidFill>
                          <a:uFill>
                            <a:solidFill>
                              <a:srgbClr val="000000"/>
                            </a:solidFill>
                          </a:uFill>
                          <a:latin typeface="Arial"/>
                          <a:cs typeface="Arial"/>
                        </a:rPr>
                        <a:t> 	</a:t>
                      </a:r>
                      <a:r>
                        <a:rPr sz="2400" b="1" baseline="26234" dirty="0">
                          <a:solidFill>
                            <a:srgbClr val="9A0000"/>
                          </a:solidFill>
                          <a:latin typeface="Arial"/>
                          <a:cs typeface="Arial"/>
                        </a:rPr>
                        <a:t>	</a:t>
                      </a:r>
                      <a:r>
                        <a:rPr sz="1600" b="1" spc="-5" dirty="0">
                          <a:solidFill>
                            <a:srgbClr val="9A0000"/>
                          </a:solidFill>
                          <a:latin typeface="Arial"/>
                          <a:cs typeface="Arial"/>
                        </a:rPr>
                        <a:t>Effort required</a:t>
                      </a:r>
                      <a:r>
                        <a:rPr sz="1600" b="1" spc="-55" dirty="0">
                          <a:solidFill>
                            <a:srgbClr val="9A0000"/>
                          </a:solidFill>
                          <a:latin typeface="Arial"/>
                          <a:cs typeface="Arial"/>
                        </a:rPr>
                        <a:t> </a:t>
                      </a:r>
                      <a:r>
                        <a:rPr sz="1600" b="1" dirty="0">
                          <a:solidFill>
                            <a:srgbClr val="9A0000"/>
                          </a:solidFill>
                          <a:latin typeface="Arial"/>
                          <a:cs typeface="Arial"/>
                        </a:rPr>
                        <a:t>to  accomplish</a:t>
                      </a:r>
                      <a:endParaRPr sz="1600" dirty="0">
                        <a:latin typeface="Arial"/>
                        <a:cs typeface="Arial"/>
                      </a:endParaRPr>
                    </a:p>
                    <a:p>
                      <a:pPr marL="1562100" marR="892810">
                        <a:lnSpc>
                          <a:spcPts val="2100"/>
                        </a:lnSpc>
                        <a:spcBef>
                          <a:spcPts val="100"/>
                        </a:spcBef>
                      </a:pPr>
                      <a:r>
                        <a:rPr sz="1600" b="1" dirty="0">
                          <a:solidFill>
                            <a:srgbClr val="9A0000"/>
                          </a:solidFill>
                          <a:latin typeface="Arial"/>
                          <a:cs typeface="Arial"/>
                        </a:rPr>
                        <a:t>each</a:t>
                      </a:r>
                      <a:r>
                        <a:rPr sz="1600" b="1" spc="-70" dirty="0">
                          <a:solidFill>
                            <a:srgbClr val="9A0000"/>
                          </a:solidFill>
                          <a:latin typeface="Arial"/>
                          <a:cs typeface="Arial"/>
                        </a:rPr>
                        <a:t> </a:t>
                      </a:r>
                      <a:r>
                        <a:rPr sz="1600" b="1" spc="-5" dirty="0">
                          <a:solidFill>
                            <a:srgbClr val="9A0000"/>
                          </a:solidFill>
                          <a:latin typeface="Arial"/>
                          <a:cs typeface="Arial"/>
                        </a:rPr>
                        <a:t>framework  activity for</a:t>
                      </a:r>
                      <a:r>
                        <a:rPr sz="1600" b="1" spc="-55" dirty="0">
                          <a:solidFill>
                            <a:srgbClr val="9A0000"/>
                          </a:solidFill>
                          <a:latin typeface="Arial"/>
                          <a:cs typeface="Arial"/>
                        </a:rPr>
                        <a:t> </a:t>
                      </a:r>
                      <a:r>
                        <a:rPr sz="1600" b="1" dirty="0">
                          <a:solidFill>
                            <a:srgbClr val="9A0000"/>
                          </a:solidFill>
                          <a:latin typeface="Arial"/>
                          <a:cs typeface="Arial"/>
                        </a:rPr>
                        <a:t>each</a:t>
                      </a:r>
                      <a:endParaRPr sz="1600" dirty="0">
                        <a:latin typeface="Arial"/>
                        <a:cs typeface="Arial"/>
                      </a:endParaRPr>
                    </a:p>
                    <a:p>
                      <a:pPr marL="1562100">
                        <a:lnSpc>
                          <a:spcPts val="2140"/>
                        </a:lnSpc>
                      </a:pPr>
                      <a:r>
                        <a:rPr sz="1600" b="1" spc="-5" dirty="0">
                          <a:solidFill>
                            <a:srgbClr val="9A0000"/>
                          </a:solidFill>
                          <a:latin typeface="Arial"/>
                          <a:cs typeface="Arial"/>
                        </a:rPr>
                        <a:t>application</a:t>
                      </a:r>
                      <a:r>
                        <a:rPr sz="1600" b="1" spc="-15" dirty="0">
                          <a:solidFill>
                            <a:srgbClr val="9A0000"/>
                          </a:solidFill>
                          <a:latin typeface="Arial"/>
                          <a:cs typeface="Arial"/>
                        </a:rPr>
                        <a:t> </a:t>
                      </a:r>
                      <a:r>
                        <a:rPr sz="1600" b="1" spc="-5" dirty="0">
                          <a:solidFill>
                            <a:srgbClr val="9A0000"/>
                          </a:solidFill>
                          <a:latin typeface="Arial"/>
                          <a:cs typeface="Arial"/>
                        </a:rPr>
                        <a:t>function</a:t>
                      </a:r>
                      <a:endParaRPr sz="1600" dirty="0">
                        <a:latin typeface="Arial"/>
                        <a:cs typeface="Arial"/>
                      </a:endParaRPr>
                    </a:p>
                  </a:txBody>
                  <a:tcPr marL="0" marR="0" marT="0" marB="0">
                    <a:lnL w="28575">
                      <a:solidFill>
                        <a:srgbClr val="000000"/>
                      </a:solidFill>
                      <a:prstDash val="solid"/>
                    </a:lnL>
                    <a:lnR w="28575">
                      <a:solidFill>
                        <a:srgbClr val="000000"/>
                      </a:solidFill>
                      <a:prstDash val="solid"/>
                    </a:lnR>
                    <a:lnB w="28575">
                      <a:solidFill>
                        <a:srgbClr val="000000"/>
                      </a:solidFill>
                      <a:prstDash val="solid"/>
                    </a:lnB>
                  </a:tcPr>
                </a:tc>
                <a:extLst>
                  <a:ext uri="{0D108BD9-81ED-4DB2-BD59-A6C34878D82A}">
                    <a16:rowId xmlns:a16="http://schemas.microsoft.com/office/drawing/2014/main" val="10001"/>
                  </a:ext>
                </a:extLst>
              </a:tr>
            </a:tbl>
          </a:graphicData>
        </a:graphic>
      </p:graphicFrame>
      <p:sp>
        <p:nvSpPr>
          <p:cNvPr id="15" name="object 15"/>
          <p:cNvSpPr/>
          <p:nvPr/>
        </p:nvSpPr>
        <p:spPr>
          <a:xfrm>
            <a:off x="3528860" y="3480477"/>
            <a:ext cx="607060" cy="481968"/>
          </a:xfrm>
          <a:prstGeom prst="rect">
            <a:avLst/>
          </a:prstGeom>
          <a:blipFill>
            <a:blip r:embed="rId6" cstate="print"/>
            <a:stretch>
              <a:fillRect/>
            </a:stretch>
          </a:blipFill>
        </p:spPr>
        <p:txBody>
          <a:bodyPr wrap="square" lIns="0" tIns="0" rIns="0" bIns="0" rtlCol="0"/>
          <a:lstStyle/>
          <a:p>
            <a:endParaRPr sz="1593"/>
          </a:p>
        </p:txBody>
      </p:sp>
      <p:sp>
        <p:nvSpPr>
          <p:cNvPr id="16" name="object 16"/>
          <p:cNvSpPr/>
          <p:nvPr/>
        </p:nvSpPr>
        <p:spPr>
          <a:xfrm>
            <a:off x="3556657" y="3510268"/>
            <a:ext cx="483400" cy="354118"/>
          </a:xfrm>
          <a:custGeom>
            <a:avLst/>
            <a:gdLst/>
            <a:ahLst/>
            <a:cxnLst/>
            <a:rect l="l" t="t" r="r" b="b"/>
            <a:pathLst>
              <a:path w="546100" h="400050">
                <a:moveTo>
                  <a:pt x="0" y="0"/>
                </a:moveTo>
                <a:lnTo>
                  <a:pt x="546100" y="0"/>
                </a:lnTo>
                <a:lnTo>
                  <a:pt x="546100" y="400050"/>
                </a:lnTo>
                <a:lnTo>
                  <a:pt x="0" y="400050"/>
                </a:lnTo>
                <a:lnTo>
                  <a:pt x="0" y="0"/>
                </a:lnTo>
                <a:close/>
              </a:path>
            </a:pathLst>
          </a:custGeom>
          <a:solidFill>
            <a:srgbClr val="004479"/>
          </a:solidFill>
        </p:spPr>
        <p:txBody>
          <a:bodyPr wrap="square" lIns="0" tIns="0" rIns="0" bIns="0" rtlCol="0"/>
          <a:lstStyle/>
          <a:p>
            <a:endParaRPr sz="1593"/>
          </a:p>
        </p:txBody>
      </p:sp>
      <p:sp>
        <p:nvSpPr>
          <p:cNvPr id="17" name="object 17"/>
          <p:cNvSpPr/>
          <p:nvPr/>
        </p:nvSpPr>
        <p:spPr>
          <a:xfrm>
            <a:off x="3672347" y="3013224"/>
            <a:ext cx="327444" cy="695359"/>
          </a:xfrm>
          <a:prstGeom prst="rect">
            <a:avLst/>
          </a:prstGeom>
          <a:blipFill>
            <a:blip r:embed="rId7" cstate="print"/>
            <a:stretch>
              <a:fillRect/>
            </a:stretch>
          </a:blipFill>
        </p:spPr>
        <p:txBody>
          <a:bodyPr wrap="square" lIns="0" tIns="0" rIns="0" bIns="0" rtlCol="0"/>
          <a:lstStyle/>
          <a:p>
            <a:endParaRPr sz="1593"/>
          </a:p>
        </p:txBody>
      </p:sp>
      <p:sp>
        <p:nvSpPr>
          <p:cNvPr id="18" name="object 18"/>
          <p:cNvSpPr/>
          <p:nvPr/>
        </p:nvSpPr>
        <p:spPr>
          <a:xfrm>
            <a:off x="3803978" y="3042327"/>
            <a:ext cx="0" cy="445739"/>
          </a:xfrm>
          <a:custGeom>
            <a:avLst/>
            <a:gdLst/>
            <a:ahLst/>
            <a:cxnLst/>
            <a:rect l="l" t="t" r="r" b="b"/>
            <a:pathLst>
              <a:path h="503554">
                <a:moveTo>
                  <a:pt x="0" y="0"/>
                </a:moveTo>
                <a:lnTo>
                  <a:pt x="0" y="503237"/>
                </a:lnTo>
              </a:path>
            </a:pathLst>
          </a:custGeom>
          <a:ln w="25399">
            <a:solidFill>
              <a:srgbClr val="000000"/>
            </a:solidFill>
          </a:ln>
        </p:spPr>
        <p:txBody>
          <a:bodyPr wrap="square" lIns="0" tIns="0" rIns="0" bIns="0" rtlCol="0"/>
          <a:lstStyle/>
          <a:p>
            <a:endParaRPr sz="1593"/>
          </a:p>
        </p:txBody>
      </p:sp>
      <p:sp>
        <p:nvSpPr>
          <p:cNvPr id="19" name="object 19"/>
          <p:cNvSpPr/>
          <p:nvPr/>
        </p:nvSpPr>
        <p:spPr>
          <a:xfrm>
            <a:off x="3770254" y="3442818"/>
            <a:ext cx="67451" cy="67451"/>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sz="1593"/>
          </a:p>
        </p:txBody>
      </p:sp>
      <p:sp>
        <p:nvSpPr>
          <p:cNvPr id="20" name="object 20"/>
          <p:cNvSpPr/>
          <p:nvPr/>
        </p:nvSpPr>
        <p:spPr>
          <a:xfrm>
            <a:off x="3021137" y="3594530"/>
            <a:ext cx="710076" cy="327444"/>
          </a:xfrm>
          <a:prstGeom prst="rect">
            <a:avLst/>
          </a:prstGeom>
          <a:blipFill>
            <a:blip r:embed="rId8" cstate="print"/>
            <a:stretch>
              <a:fillRect/>
            </a:stretch>
          </a:blipFill>
        </p:spPr>
        <p:txBody>
          <a:bodyPr wrap="square" lIns="0" tIns="0" rIns="0" bIns="0" rtlCol="0"/>
          <a:lstStyle/>
          <a:p>
            <a:endParaRPr sz="1593"/>
          </a:p>
        </p:txBody>
      </p:sp>
      <p:sp>
        <p:nvSpPr>
          <p:cNvPr id="21" name="object 21"/>
          <p:cNvSpPr/>
          <p:nvPr/>
        </p:nvSpPr>
        <p:spPr>
          <a:xfrm>
            <a:off x="3466724" y="3691544"/>
            <a:ext cx="67451" cy="67451"/>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sz="1593"/>
          </a:p>
        </p:txBody>
      </p:sp>
      <p:sp>
        <p:nvSpPr>
          <p:cNvPr id="22" name="object 22"/>
          <p:cNvSpPr/>
          <p:nvPr/>
        </p:nvSpPr>
        <p:spPr>
          <a:xfrm>
            <a:off x="3528860" y="3936692"/>
            <a:ext cx="607060" cy="478289"/>
          </a:xfrm>
          <a:prstGeom prst="rect">
            <a:avLst/>
          </a:prstGeom>
          <a:blipFill>
            <a:blip r:embed="rId9" cstate="print"/>
            <a:stretch>
              <a:fillRect/>
            </a:stretch>
          </a:blipFill>
        </p:spPr>
        <p:txBody>
          <a:bodyPr wrap="square" lIns="0" tIns="0" rIns="0" bIns="0" rtlCol="0"/>
          <a:lstStyle/>
          <a:p>
            <a:endParaRPr sz="1593"/>
          </a:p>
        </p:txBody>
      </p:sp>
      <p:sp>
        <p:nvSpPr>
          <p:cNvPr id="23" name="object 23"/>
          <p:cNvSpPr/>
          <p:nvPr/>
        </p:nvSpPr>
        <p:spPr>
          <a:xfrm>
            <a:off x="3556657" y="3965563"/>
            <a:ext cx="483400" cy="354118"/>
          </a:xfrm>
          <a:custGeom>
            <a:avLst/>
            <a:gdLst/>
            <a:ahLst/>
            <a:cxnLst/>
            <a:rect l="l" t="t" r="r" b="b"/>
            <a:pathLst>
              <a:path w="546100" h="400050">
                <a:moveTo>
                  <a:pt x="0" y="0"/>
                </a:moveTo>
                <a:lnTo>
                  <a:pt x="546100" y="0"/>
                </a:lnTo>
                <a:lnTo>
                  <a:pt x="546100" y="400050"/>
                </a:lnTo>
                <a:lnTo>
                  <a:pt x="0" y="400050"/>
                </a:lnTo>
                <a:lnTo>
                  <a:pt x="0" y="0"/>
                </a:lnTo>
                <a:close/>
              </a:path>
            </a:pathLst>
          </a:custGeom>
          <a:solidFill>
            <a:srgbClr val="004479"/>
          </a:solidFill>
        </p:spPr>
        <p:txBody>
          <a:bodyPr wrap="square" lIns="0" tIns="0" rIns="0" bIns="0" rtlCol="0"/>
          <a:lstStyle/>
          <a:p>
            <a:endParaRPr sz="1593"/>
          </a:p>
        </p:txBody>
      </p:sp>
      <p:sp>
        <p:nvSpPr>
          <p:cNvPr id="24" name="object 24"/>
          <p:cNvSpPr/>
          <p:nvPr/>
        </p:nvSpPr>
        <p:spPr>
          <a:xfrm>
            <a:off x="3528860" y="4392907"/>
            <a:ext cx="607060" cy="478289"/>
          </a:xfrm>
          <a:prstGeom prst="rect">
            <a:avLst/>
          </a:prstGeom>
          <a:blipFill>
            <a:blip r:embed="rId10" cstate="print"/>
            <a:stretch>
              <a:fillRect/>
            </a:stretch>
          </a:blipFill>
        </p:spPr>
        <p:txBody>
          <a:bodyPr wrap="square" lIns="0" tIns="0" rIns="0" bIns="0" rtlCol="0"/>
          <a:lstStyle/>
          <a:p>
            <a:endParaRPr sz="1593"/>
          </a:p>
        </p:txBody>
      </p:sp>
      <p:sp>
        <p:nvSpPr>
          <p:cNvPr id="25" name="object 25"/>
          <p:cNvSpPr/>
          <p:nvPr/>
        </p:nvSpPr>
        <p:spPr>
          <a:xfrm>
            <a:off x="3556657" y="4420858"/>
            <a:ext cx="483400" cy="354118"/>
          </a:xfrm>
          <a:custGeom>
            <a:avLst/>
            <a:gdLst/>
            <a:ahLst/>
            <a:cxnLst/>
            <a:rect l="l" t="t" r="r" b="b"/>
            <a:pathLst>
              <a:path w="546100" h="400050">
                <a:moveTo>
                  <a:pt x="0" y="0"/>
                </a:moveTo>
                <a:lnTo>
                  <a:pt x="546100" y="0"/>
                </a:lnTo>
                <a:lnTo>
                  <a:pt x="546100" y="400050"/>
                </a:lnTo>
                <a:lnTo>
                  <a:pt x="0" y="400050"/>
                </a:lnTo>
                <a:lnTo>
                  <a:pt x="0" y="0"/>
                </a:lnTo>
                <a:close/>
              </a:path>
            </a:pathLst>
          </a:custGeom>
          <a:solidFill>
            <a:srgbClr val="004479"/>
          </a:solidFill>
        </p:spPr>
        <p:txBody>
          <a:bodyPr wrap="square" lIns="0" tIns="0" rIns="0" bIns="0" rtlCol="0"/>
          <a:lstStyle/>
          <a:p>
            <a:endParaRPr sz="1593"/>
          </a:p>
        </p:txBody>
      </p:sp>
      <p:sp>
        <p:nvSpPr>
          <p:cNvPr id="26" name="object 26"/>
          <p:cNvSpPr/>
          <p:nvPr/>
        </p:nvSpPr>
        <p:spPr>
          <a:xfrm>
            <a:off x="3528860" y="4860159"/>
            <a:ext cx="607060" cy="478289"/>
          </a:xfrm>
          <a:prstGeom prst="rect">
            <a:avLst/>
          </a:prstGeom>
          <a:blipFill>
            <a:blip r:embed="rId11" cstate="print"/>
            <a:stretch>
              <a:fillRect/>
            </a:stretch>
          </a:blipFill>
        </p:spPr>
        <p:txBody>
          <a:bodyPr wrap="square" lIns="0" tIns="0" rIns="0" bIns="0" rtlCol="0"/>
          <a:lstStyle/>
          <a:p>
            <a:endParaRPr sz="1593"/>
          </a:p>
        </p:txBody>
      </p:sp>
      <p:sp>
        <p:nvSpPr>
          <p:cNvPr id="27" name="object 27"/>
          <p:cNvSpPr/>
          <p:nvPr/>
        </p:nvSpPr>
        <p:spPr>
          <a:xfrm>
            <a:off x="3556657" y="4888800"/>
            <a:ext cx="483400" cy="354118"/>
          </a:xfrm>
          <a:custGeom>
            <a:avLst/>
            <a:gdLst/>
            <a:ahLst/>
            <a:cxnLst/>
            <a:rect l="l" t="t" r="r" b="b"/>
            <a:pathLst>
              <a:path w="546100" h="400050">
                <a:moveTo>
                  <a:pt x="0" y="0"/>
                </a:moveTo>
                <a:lnTo>
                  <a:pt x="546100" y="0"/>
                </a:lnTo>
                <a:lnTo>
                  <a:pt x="546100" y="400050"/>
                </a:lnTo>
                <a:lnTo>
                  <a:pt x="0" y="400050"/>
                </a:lnTo>
                <a:lnTo>
                  <a:pt x="0" y="0"/>
                </a:lnTo>
                <a:close/>
              </a:path>
            </a:pathLst>
          </a:custGeom>
          <a:solidFill>
            <a:srgbClr val="004479"/>
          </a:solidFill>
        </p:spPr>
        <p:txBody>
          <a:bodyPr wrap="square" lIns="0" tIns="0" rIns="0" bIns="0" rtlCol="0"/>
          <a:lstStyle/>
          <a:p>
            <a:endParaRPr sz="1593"/>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78C72-45F0-4F10-A908-E39862014B67}"/>
              </a:ext>
            </a:extLst>
          </p:cNvPr>
          <p:cNvSpPr>
            <a:spLocks noGrp="1"/>
          </p:cNvSpPr>
          <p:nvPr>
            <p:ph type="title"/>
          </p:nvPr>
        </p:nvSpPr>
        <p:spPr/>
        <p:txBody>
          <a:bodyPr/>
          <a:lstStyle/>
          <a:p>
            <a:r>
              <a:rPr lang="en-US" dirty="0"/>
              <a:t>Process based Estimation</a:t>
            </a:r>
            <a:endParaRPr lang="en-IN" dirty="0"/>
          </a:p>
        </p:txBody>
      </p:sp>
      <p:sp>
        <p:nvSpPr>
          <p:cNvPr id="3" name="Content Placeholder 2">
            <a:extLst>
              <a:ext uri="{FF2B5EF4-FFF2-40B4-BE49-F238E27FC236}">
                <a16:creationId xmlns:a16="http://schemas.microsoft.com/office/drawing/2014/main" id="{501E945B-27D6-496D-868B-A3C39176BEDA}"/>
              </a:ext>
            </a:extLst>
          </p:cNvPr>
          <p:cNvSpPr>
            <a:spLocks noGrp="1"/>
          </p:cNvSpPr>
          <p:nvPr>
            <p:ph idx="1"/>
          </p:nvPr>
        </p:nvSpPr>
        <p:spPr/>
        <p:txBody>
          <a:bodyPr>
            <a:normAutofit fontScale="92500"/>
          </a:bodyPr>
          <a:lstStyle/>
          <a:p>
            <a:r>
              <a:rPr lang="en-US" dirty="0"/>
              <a:t>Base the estimate on the process that will be used</a:t>
            </a:r>
          </a:p>
          <a:p>
            <a:r>
              <a:rPr lang="en-US" dirty="0"/>
              <a:t>Process is decomposed into small set of tasks and the effort required to accomplish each task.</a:t>
            </a:r>
          </a:p>
          <a:p>
            <a:r>
              <a:rPr lang="en-US" dirty="0"/>
              <a:t>Process-based estimation begins with a delineation of software functions obtained from the project scope</a:t>
            </a:r>
          </a:p>
          <a:p>
            <a:r>
              <a:rPr lang="en-IN" dirty="0"/>
              <a:t>Functions and related process activities  are melded and effort estimation is done</a:t>
            </a:r>
          </a:p>
        </p:txBody>
      </p:sp>
    </p:spTree>
    <p:extLst>
      <p:ext uri="{BB962C8B-B14F-4D97-AF65-F5344CB8AC3E}">
        <p14:creationId xmlns:p14="http://schemas.microsoft.com/office/powerpoint/2010/main" val="36803618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1025037"/>
            <a:ext cx="5741214" cy="447305"/>
          </a:xfrm>
          <a:prstGeom prst="rect">
            <a:avLst/>
          </a:prstGeom>
        </p:spPr>
        <p:txBody>
          <a:bodyPr vert="horz" wrap="square" lIns="0" tIns="11242" rIns="0" bIns="0" rtlCol="0" anchor="ctr">
            <a:spAutoFit/>
          </a:bodyPr>
          <a:lstStyle/>
          <a:p>
            <a:pPr marL="11242">
              <a:spcBef>
                <a:spcPts val="89"/>
              </a:spcBef>
            </a:pPr>
            <a:r>
              <a:rPr sz="2833" dirty="0"/>
              <a:t>Process-Based </a:t>
            </a:r>
            <a:r>
              <a:rPr sz="2833" spc="-4" dirty="0"/>
              <a:t>Estimation</a:t>
            </a:r>
            <a:r>
              <a:rPr sz="2833" spc="-53" dirty="0"/>
              <a:t> </a:t>
            </a:r>
            <a:r>
              <a:rPr sz="2833" dirty="0"/>
              <a:t>Example</a:t>
            </a:r>
          </a:p>
        </p:txBody>
      </p:sp>
      <p:sp>
        <p:nvSpPr>
          <p:cNvPr id="13" name="object 13"/>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81</a:t>
            </a:fld>
            <a:endParaRPr dirty="0"/>
          </a:p>
        </p:txBody>
      </p:sp>
      <p:sp>
        <p:nvSpPr>
          <p:cNvPr id="3" name="object 3"/>
          <p:cNvSpPr/>
          <p:nvPr/>
        </p:nvSpPr>
        <p:spPr>
          <a:xfrm>
            <a:off x="1892864" y="1804318"/>
            <a:ext cx="4732820" cy="2845875"/>
          </a:xfrm>
          <a:custGeom>
            <a:avLst/>
            <a:gdLst/>
            <a:ahLst/>
            <a:cxnLst/>
            <a:rect l="l" t="t" r="r" b="b"/>
            <a:pathLst>
              <a:path w="5346700" h="3215004">
                <a:moveTo>
                  <a:pt x="5346700" y="3214687"/>
                </a:moveTo>
                <a:lnTo>
                  <a:pt x="5346700" y="0"/>
                </a:lnTo>
                <a:lnTo>
                  <a:pt x="0" y="0"/>
                </a:lnTo>
                <a:lnTo>
                  <a:pt x="0" y="3214687"/>
                </a:lnTo>
                <a:lnTo>
                  <a:pt x="5346700" y="3214687"/>
                </a:lnTo>
                <a:close/>
              </a:path>
            </a:pathLst>
          </a:custGeom>
          <a:solidFill>
            <a:srgbClr val="7F7F7F"/>
          </a:solidFill>
        </p:spPr>
        <p:txBody>
          <a:bodyPr wrap="square" lIns="0" tIns="0" rIns="0" bIns="0" rtlCol="0"/>
          <a:lstStyle/>
          <a:p>
            <a:endParaRPr sz="1593"/>
          </a:p>
        </p:txBody>
      </p:sp>
      <p:sp>
        <p:nvSpPr>
          <p:cNvPr id="4" name="object 4"/>
          <p:cNvSpPr/>
          <p:nvPr/>
        </p:nvSpPr>
        <p:spPr>
          <a:xfrm>
            <a:off x="1836655" y="1753729"/>
            <a:ext cx="4721578" cy="2832947"/>
          </a:xfrm>
          <a:custGeom>
            <a:avLst/>
            <a:gdLst/>
            <a:ahLst/>
            <a:cxnLst/>
            <a:rect l="l" t="t" r="r" b="b"/>
            <a:pathLst>
              <a:path w="5334000" h="3200400">
                <a:moveTo>
                  <a:pt x="5334000" y="3200400"/>
                </a:moveTo>
                <a:lnTo>
                  <a:pt x="5334000" y="0"/>
                </a:lnTo>
                <a:lnTo>
                  <a:pt x="0" y="0"/>
                </a:lnTo>
                <a:lnTo>
                  <a:pt x="0" y="3200400"/>
                </a:lnTo>
                <a:lnTo>
                  <a:pt x="5334000" y="3200400"/>
                </a:lnTo>
                <a:close/>
              </a:path>
            </a:pathLst>
          </a:custGeom>
          <a:solidFill>
            <a:srgbClr val="FCFDFE"/>
          </a:solidFill>
        </p:spPr>
        <p:txBody>
          <a:bodyPr wrap="square" lIns="0" tIns="0" rIns="0" bIns="0" rtlCol="0"/>
          <a:lstStyle/>
          <a:p>
            <a:endParaRPr sz="1593"/>
          </a:p>
        </p:txBody>
      </p:sp>
      <p:sp>
        <p:nvSpPr>
          <p:cNvPr id="5" name="object 5"/>
          <p:cNvSpPr/>
          <p:nvPr/>
        </p:nvSpPr>
        <p:spPr>
          <a:xfrm>
            <a:off x="1892865" y="2000347"/>
            <a:ext cx="438432" cy="0"/>
          </a:xfrm>
          <a:custGeom>
            <a:avLst/>
            <a:gdLst/>
            <a:ahLst/>
            <a:cxnLst/>
            <a:rect l="l" t="t" r="r" b="b"/>
            <a:pathLst>
              <a:path w="495300">
                <a:moveTo>
                  <a:pt x="0" y="0"/>
                </a:moveTo>
                <a:lnTo>
                  <a:pt x="495300" y="0"/>
                </a:lnTo>
              </a:path>
            </a:pathLst>
          </a:custGeom>
          <a:ln w="14287">
            <a:solidFill>
              <a:srgbClr val="1E1B18"/>
            </a:solidFill>
          </a:ln>
        </p:spPr>
        <p:txBody>
          <a:bodyPr wrap="square" lIns="0" tIns="0" rIns="0" bIns="0" rtlCol="0"/>
          <a:lstStyle/>
          <a:p>
            <a:endParaRPr sz="1593"/>
          </a:p>
        </p:txBody>
      </p:sp>
      <p:sp>
        <p:nvSpPr>
          <p:cNvPr id="6" name="object 6"/>
          <p:cNvSpPr/>
          <p:nvPr/>
        </p:nvSpPr>
        <p:spPr>
          <a:xfrm>
            <a:off x="2297571" y="1956082"/>
            <a:ext cx="112419" cy="101177"/>
          </a:xfrm>
          <a:prstGeom prst="rect">
            <a:avLst/>
          </a:prstGeom>
          <a:blipFill>
            <a:blip r:embed="rId2" cstate="print"/>
            <a:stretch>
              <a:fillRect/>
            </a:stretch>
          </a:blipFill>
        </p:spPr>
        <p:txBody>
          <a:bodyPr wrap="square" lIns="0" tIns="0" rIns="0" bIns="0" rtlCol="0"/>
          <a:lstStyle/>
          <a:p>
            <a:endParaRPr sz="1593"/>
          </a:p>
        </p:txBody>
      </p:sp>
      <p:sp>
        <p:nvSpPr>
          <p:cNvPr id="7" name="object 7"/>
          <p:cNvSpPr/>
          <p:nvPr/>
        </p:nvSpPr>
        <p:spPr>
          <a:xfrm>
            <a:off x="2151427" y="2120494"/>
            <a:ext cx="258563" cy="101177"/>
          </a:xfrm>
          <a:prstGeom prst="rect">
            <a:avLst/>
          </a:prstGeom>
          <a:blipFill>
            <a:blip r:embed="rId3" cstate="print"/>
            <a:stretch>
              <a:fillRect/>
            </a:stretch>
          </a:blipFill>
        </p:spPr>
        <p:txBody>
          <a:bodyPr wrap="square" lIns="0" tIns="0" rIns="0" bIns="0" rtlCol="0"/>
          <a:lstStyle/>
          <a:p>
            <a:endParaRPr sz="1593"/>
          </a:p>
        </p:txBody>
      </p:sp>
      <p:sp>
        <p:nvSpPr>
          <p:cNvPr id="8" name="object 8"/>
          <p:cNvSpPr/>
          <p:nvPr/>
        </p:nvSpPr>
        <p:spPr>
          <a:xfrm>
            <a:off x="2072734" y="2563143"/>
            <a:ext cx="101177" cy="126471"/>
          </a:xfrm>
          <a:prstGeom prst="rect">
            <a:avLst/>
          </a:prstGeom>
          <a:blipFill>
            <a:blip r:embed="rId4" cstate="print"/>
            <a:stretch>
              <a:fillRect/>
            </a:stretch>
          </a:blipFill>
        </p:spPr>
        <p:txBody>
          <a:bodyPr wrap="square" lIns="0" tIns="0" rIns="0" bIns="0" rtlCol="0"/>
          <a:lstStyle/>
          <a:p>
            <a:endParaRPr sz="1593"/>
          </a:p>
        </p:txBody>
      </p:sp>
      <p:graphicFrame>
        <p:nvGraphicFramePr>
          <p:cNvPr id="9" name="object 9"/>
          <p:cNvGraphicFramePr>
            <a:graphicFrameLocks noGrp="1"/>
          </p:cNvGraphicFramePr>
          <p:nvPr/>
        </p:nvGraphicFramePr>
        <p:xfrm>
          <a:off x="1836655" y="1753729"/>
          <a:ext cx="4721579" cy="2920425"/>
        </p:xfrm>
        <a:graphic>
          <a:graphicData uri="http://schemas.openxmlformats.org/drawingml/2006/table">
            <a:tbl>
              <a:tblPr firstRow="1" bandRow="1">
                <a:tableStyleId>{2D5ABB26-0587-4C30-8999-92F81FD0307C}</a:tableStyleId>
              </a:tblPr>
              <a:tblGrid>
                <a:gridCol w="584576">
                  <a:extLst>
                    <a:ext uri="{9D8B030D-6E8A-4147-A177-3AD203B41FA5}">
                      <a16:colId xmlns:a16="http://schemas.microsoft.com/office/drawing/2014/main" val="20000"/>
                    </a:ext>
                  </a:extLst>
                </a:gridCol>
                <a:gridCol w="472158">
                  <a:extLst>
                    <a:ext uri="{9D8B030D-6E8A-4147-A177-3AD203B41FA5}">
                      <a16:colId xmlns:a16="http://schemas.microsoft.com/office/drawing/2014/main" val="20001"/>
                    </a:ext>
                  </a:extLst>
                </a:gridCol>
                <a:gridCol w="584576">
                  <a:extLst>
                    <a:ext uri="{9D8B030D-6E8A-4147-A177-3AD203B41FA5}">
                      <a16:colId xmlns:a16="http://schemas.microsoft.com/office/drawing/2014/main" val="20002"/>
                    </a:ext>
                  </a:extLst>
                </a:gridCol>
                <a:gridCol w="528367">
                  <a:extLst>
                    <a:ext uri="{9D8B030D-6E8A-4147-A177-3AD203B41FA5}">
                      <a16:colId xmlns:a16="http://schemas.microsoft.com/office/drawing/2014/main" val="20003"/>
                    </a:ext>
                  </a:extLst>
                </a:gridCol>
                <a:gridCol w="415949">
                  <a:extLst>
                    <a:ext uri="{9D8B030D-6E8A-4147-A177-3AD203B41FA5}">
                      <a16:colId xmlns:a16="http://schemas.microsoft.com/office/drawing/2014/main" val="20004"/>
                    </a:ext>
                  </a:extLst>
                </a:gridCol>
                <a:gridCol w="415949">
                  <a:extLst>
                    <a:ext uri="{9D8B030D-6E8A-4147-A177-3AD203B41FA5}">
                      <a16:colId xmlns:a16="http://schemas.microsoft.com/office/drawing/2014/main" val="20005"/>
                    </a:ext>
                  </a:extLst>
                </a:gridCol>
                <a:gridCol w="404707">
                  <a:extLst>
                    <a:ext uri="{9D8B030D-6E8A-4147-A177-3AD203B41FA5}">
                      <a16:colId xmlns:a16="http://schemas.microsoft.com/office/drawing/2014/main" val="20006"/>
                    </a:ext>
                  </a:extLst>
                </a:gridCol>
                <a:gridCol w="404707">
                  <a:extLst>
                    <a:ext uri="{9D8B030D-6E8A-4147-A177-3AD203B41FA5}">
                      <a16:colId xmlns:a16="http://schemas.microsoft.com/office/drawing/2014/main" val="20007"/>
                    </a:ext>
                  </a:extLst>
                </a:gridCol>
                <a:gridCol w="370981">
                  <a:extLst>
                    <a:ext uri="{9D8B030D-6E8A-4147-A177-3AD203B41FA5}">
                      <a16:colId xmlns:a16="http://schemas.microsoft.com/office/drawing/2014/main" val="20008"/>
                    </a:ext>
                  </a:extLst>
                </a:gridCol>
                <a:gridCol w="539609">
                  <a:extLst>
                    <a:ext uri="{9D8B030D-6E8A-4147-A177-3AD203B41FA5}">
                      <a16:colId xmlns:a16="http://schemas.microsoft.com/office/drawing/2014/main" val="20009"/>
                    </a:ext>
                  </a:extLst>
                </a:gridCol>
              </a:tblGrid>
              <a:tr h="356536">
                <a:tc>
                  <a:txBody>
                    <a:bodyPr/>
                    <a:lstStyle/>
                    <a:p>
                      <a:pPr marL="18415">
                        <a:lnSpc>
                          <a:spcPct val="100000"/>
                        </a:lnSpc>
                        <a:spcBef>
                          <a:spcPts val="130"/>
                        </a:spcBef>
                      </a:pPr>
                      <a:r>
                        <a:rPr sz="900" b="1" spc="-45" dirty="0">
                          <a:solidFill>
                            <a:srgbClr val="1E1B18"/>
                          </a:solidFill>
                          <a:latin typeface="Arial"/>
                          <a:cs typeface="Arial"/>
                        </a:rPr>
                        <a:t>Activity</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170815">
                        <a:lnSpc>
                          <a:spcPct val="100000"/>
                        </a:lnSpc>
                        <a:spcBef>
                          <a:spcPts val="790"/>
                        </a:spcBef>
                      </a:pPr>
                      <a:r>
                        <a:rPr sz="800" b="1" spc="-80" dirty="0">
                          <a:solidFill>
                            <a:srgbClr val="1E1B18"/>
                          </a:solidFill>
                          <a:latin typeface="Arial"/>
                          <a:cs typeface="Arial"/>
                        </a:rPr>
                        <a:t>CC</a:t>
                      </a:r>
                      <a:endParaRPr sz="800">
                        <a:latin typeface="Arial"/>
                        <a:cs typeface="Arial"/>
                      </a:endParaRPr>
                    </a:p>
                  </a:txBody>
                  <a:tcPr marL="0" marR="0" marT="88811"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43815">
                        <a:lnSpc>
                          <a:spcPct val="100000"/>
                        </a:lnSpc>
                        <a:spcBef>
                          <a:spcPts val="790"/>
                        </a:spcBef>
                      </a:pPr>
                      <a:r>
                        <a:rPr sz="800" b="1" spc="-60" dirty="0">
                          <a:solidFill>
                            <a:srgbClr val="1E1B18"/>
                          </a:solidFill>
                          <a:latin typeface="Arial"/>
                          <a:cs typeface="Arial"/>
                        </a:rPr>
                        <a:t>Planning</a:t>
                      </a:r>
                      <a:endParaRPr sz="800">
                        <a:latin typeface="Arial"/>
                        <a:cs typeface="Arial"/>
                      </a:endParaRPr>
                    </a:p>
                  </a:txBody>
                  <a:tcPr marL="0" marR="0" marT="88811"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94615" marR="54610" indent="101600">
                        <a:lnSpc>
                          <a:spcPct val="78900"/>
                        </a:lnSpc>
                        <a:spcBef>
                          <a:spcPts val="470"/>
                        </a:spcBef>
                      </a:pPr>
                      <a:r>
                        <a:rPr sz="800" b="1" spc="-60" dirty="0">
                          <a:solidFill>
                            <a:srgbClr val="1E1B18"/>
                          </a:solidFill>
                          <a:latin typeface="Arial"/>
                          <a:cs typeface="Arial"/>
                        </a:rPr>
                        <a:t>Risk  </a:t>
                      </a:r>
                      <a:r>
                        <a:rPr sz="800" b="1" dirty="0">
                          <a:solidFill>
                            <a:srgbClr val="1E1B18"/>
                          </a:solidFill>
                          <a:latin typeface="Arial"/>
                          <a:cs typeface="Arial"/>
                        </a:rPr>
                        <a:t>Analysis</a:t>
                      </a:r>
                      <a:endParaRPr sz="800">
                        <a:latin typeface="Arial"/>
                        <a:cs typeface="Arial"/>
                      </a:endParaRPr>
                    </a:p>
                  </a:txBody>
                  <a:tcPr marL="0" marR="0" marT="52837"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gridSpan="2">
                  <a:txBody>
                    <a:bodyPr/>
                    <a:lstStyle/>
                    <a:p>
                      <a:pPr marL="132715">
                        <a:lnSpc>
                          <a:spcPct val="100000"/>
                        </a:lnSpc>
                        <a:spcBef>
                          <a:spcPts val="790"/>
                        </a:spcBef>
                      </a:pPr>
                      <a:r>
                        <a:rPr sz="800" b="1" spc="-60" dirty="0">
                          <a:solidFill>
                            <a:srgbClr val="1E1B18"/>
                          </a:solidFill>
                          <a:latin typeface="Arial"/>
                          <a:cs typeface="Arial"/>
                        </a:rPr>
                        <a:t>Engineering</a:t>
                      </a:r>
                      <a:endParaRPr sz="800">
                        <a:latin typeface="Arial"/>
                        <a:cs typeface="Arial"/>
                      </a:endParaRPr>
                    </a:p>
                  </a:txBody>
                  <a:tcPr marL="0" marR="0" marT="88811"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hMerge="1">
                  <a:txBody>
                    <a:bodyPr/>
                    <a:lstStyle/>
                    <a:p>
                      <a:endParaRPr/>
                    </a:p>
                  </a:txBody>
                  <a:tcPr marL="0" marR="0" marT="0" marB="0"/>
                </a:tc>
                <a:tc gridSpan="2">
                  <a:txBody>
                    <a:bodyPr/>
                    <a:lstStyle/>
                    <a:p>
                      <a:pPr marL="196215" marR="172720" indent="-127000">
                        <a:lnSpc>
                          <a:spcPct val="78900"/>
                        </a:lnSpc>
                        <a:spcBef>
                          <a:spcPts val="245"/>
                        </a:spcBef>
                      </a:pPr>
                      <a:r>
                        <a:rPr sz="800" b="1" dirty="0">
                          <a:solidFill>
                            <a:srgbClr val="1E1B18"/>
                          </a:solidFill>
                          <a:latin typeface="Arial"/>
                          <a:cs typeface="Arial"/>
                        </a:rPr>
                        <a:t>Construct</a:t>
                      </a:r>
                      <a:r>
                        <a:rPr sz="800" b="1" spc="-5" dirty="0">
                          <a:solidFill>
                            <a:srgbClr val="1E1B18"/>
                          </a:solidFill>
                          <a:latin typeface="Arial"/>
                          <a:cs typeface="Arial"/>
                        </a:rPr>
                        <a:t>i</a:t>
                      </a:r>
                      <a:r>
                        <a:rPr sz="800" b="1" dirty="0">
                          <a:solidFill>
                            <a:srgbClr val="1E1B18"/>
                          </a:solidFill>
                          <a:latin typeface="Arial"/>
                          <a:cs typeface="Arial"/>
                        </a:rPr>
                        <a:t>on  </a:t>
                      </a:r>
                      <a:r>
                        <a:rPr sz="800" b="1" spc="-60" dirty="0">
                          <a:solidFill>
                            <a:srgbClr val="1E1B18"/>
                          </a:solidFill>
                          <a:latin typeface="Arial"/>
                          <a:cs typeface="Arial"/>
                        </a:rPr>
                        <a:t>Release</a:t>
                      </a:r>
                      <a:endParaRPr sz="800">
                        <a:latin typeface="Arial"/>
                        <a:cs typeface="Arial"/>
                      </a:endParaRPr>
                    </a:p>
                  </a:txBody>
                  <a:tcPr marL="0" marR="0" marT="27543"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hMerge="1">
                  <a:txBody>
                    <a:bodyPr/>
                    <a:lstStyle/>
                    <a:p>
                      <a:endParaRPr/>
                    </a:p>
                  </a:txBody>
                  <a:tcPr marL="0" marR="0" marT="0" marB="0"/>
                </a:tc>
                <a:tc>
                  <a:txBody>
                    <a:bodyPr/>
                    <a:lstStyle/>
                    <a:p>
                      <a:pPr marL="120014">
                        <a:lnSpc>
                          <a:spcPct val="100000"/>
                        </a:lnSpc>
                        <a:spcBef>
                          <a:spcPts val="790"/>
                        </a:spcBef>
                      </a:pPr>
                      <a:r>
                        <a:rPr sz="800" b="1" spc="-80" dirty="0">
                          <a:solidFill>
                            <a:srgbClr val="1E1B18"/>
                          </a:solidFill>
                          <a:latin typeface="Arial"/>
                          <a:cs typeface="Arial"/>
                        </a:rPr>
                        <a:t>CE</a:t>
                      </a:r>
                      <a:endParaRPr sz="800">
                        <a:latin typeface="Arial"/>
                        <a:cs typeface="Arial"/>
                      </a:endParaRPr>
                    </a:p>
                  </a:txBody>
                  <a:tcPr marL="0" marR="0" marT="88811"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ct val="100000"/>
                        </a:lnSpc>
                        <a:spcBef>
                          <a:spcPts val="805"/>
                        </a:spcBef>
                      </a:pPr>
                      <a:r>
                        <a:rPr sz="900" b="1" spc="-45" dirty="0">
                          <a:solidFill>
                            <a:srgbClr val="1E1B18"/>
                          </a:solidFill>
                          <a:latin typeface="Arial"/>
                          <a:cs typeface="Arial"/>
                        </a:rPr>
                        <a:t>Totals</a:t>
                      </a:r>
                      <a:endParaRPr sz="900">
                        <a:latin typeface="Arial"/>
                        <a:cs typeface="Arial"/>
                      </a:endParaRPr>
                    </a:p>
                  </a:txBody>
                  <a:tcPr marL="0" marR="0" marT="90497"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0"/>
                  </a:ext>
                </a:extLst>
              </a:tr>
              <a:tr h="151765">
                <a:tc>
                  <a:txBody>
                    <a:bodyPr/>
                    <a:lstStyle/>
                    <a:p>
                      <a:pPr marL="43815">
                        <a:lnSpc>
                          <a:spcPts val="1165"/>
                        </a:lnSpc>
                      </a:pPr>
                      <a:r>
                        <a:rPr sz="900" b="1" spc="-55" dirty="0">
                          <a:solidFill>
                            <a:srgbClr val="1E1B18"/>
                          </a:solidFill>
                          <a:latin typeface="Arial"/>
                          <a:cs typeface="Arial"/>
                        </a:rPr>
                        <a:t>Task</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99695" algn="r">
                        <a:lnSpc>
                          <a:spcPct val="100000"/>
                        </a:lnSpc>
                        <a:spcBef>
                          <a:spcPts val="40"/>
                        </a:spcBef>
                      </a:pPr>
                      <a:r>
                        <a:rPr sz="700" dirty="0">
                          <a:solidFill>
                            <a:srgbClr val="1E1B18"/>
                          </a:solidFill>
                          <a:latin typeface="Arial"/>
                          <a:cs typeface="Arial"/>
                        </a:rPr>
                        <a:t>analysis</a:t>
                      </a:r>
                      <a:endParaRPr sz="700">
                        <a:latin typeface="Arial"/>
                        <a:cs typeface="Arial"/>
                      </a:endParaRPr>
                    </a:p>
                  </a:txBody>
                  <a:tcPr marL="0" marR="0" marT="4497"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69215">
                        <a:lnSpc>
                          <a:spcPct val="100000"/>
                        </a:lnSpc>
                        <a:spcBef>
                          <a:spcPts val="40"/>
                        </a:spcBef>
                      </a:pPr>
                      <a:r>
                        <a:rPr sz="700" spc="-40" dirty="0">
                          <a:solidFill>
                            <a:srgbClr val="1E1B18"/>
                          </a:solidFill>
                          <a:latin typeface="Arial"/>
                          <a:cs typeface="Arial"/>
                        </a:rPr>
                        <a:t>design</a:t>
                      </a:r>
                      <a:endParaRPr sz="700">
                        <a:latin typeface="Arial"/>
                        <a:cs typeface="Arial"/>
                      </a:endParaRPr>
                    </a:p>
                  </a:txBody>
                  <a:tcPr marL="0" marR="0" marT="4497"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ct val="100000"/>
                        </a:lnSpc>
                        <a:spcBef>
                          <a:spcPts val="155"/>
                        </a:spcBef>
                      </a:pPr>
                      <a:r>
                        <a:rPr sz="700" spc="-45" dirty="0">
                          <a:solidFill>
                            <a:srgbClr val="1E1B18"/>
                          </a:solidFill>
                          <a:latin typeface="Arial"/>
                          <a:cs typeface="Arial"/>
                        </a:rPr>
                        <a:t>code</a:t>
                      </a:r>
                      <a:endParaRPr sz="700">
                        <a:latin typeface="Arial"/>
                        <a:cs typeface="Arial"/>
                      </a:endParaRPr>
                    </a:p>
                  </a:txBody>
                  <a:tcPr marL="0" marR="0" marT="1742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32715">
                        <a:lnSpc>
                          <a:spcPct val="100000"/>
                        </a:lnSpc>
                        <a:spcBef>
                          <a:spcPts val="265"/>
                        </a:spcBef>
                      </a:pPr>
                      <a:r>
                        <a:rPr sz="700" spc="-35" dirty="0">
                          <a:solidFill>
                            <a:srgbClr val="1E1B18"/>
                          </a:solidFill>
                          <a:latin typeface="Arial"/>
                          <a:cs typeface="Arial"/>
                        </a:rPr>
                        <a:t>test</a:t>
                      </a:r>
                      <a:endParaRPr sz="700">
                        <a:latin typeface="Arial"/>
                        <a:cs typeface="Arial"/>
                      </a:endParaRPr>
                    </a:p>
                  </a:txBody>
                  <a:tcPr marL="0" marR="0" marT="29791"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1"/>
                  </a:ext>
                </a:extLst>
              </a:tr>
              <a:tr h="151765">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2"/>
                  </a:ext>
                </a:extLst>
              </a:tr>
              <a:tr h="164412">
                <a:tc>
                  <a:txBody>
                    <a:bodyPr/>
                    <a:lstStyle/>
                    <a:p>
                      <a:pPr marL="31115">
                        <a:lnSpc>
                          <a:spcPct val="100000"/>
                        </a:lnSpc>
                        <a:spcBef>
                          <a:spcPts val="15"/>
                        </a:spcBef>
                      </a:pPr>
                      <a:r>
                        <a:rPr sz="900" b="1" spc="-50" dirty="0">
                          <a:solidFill>
                            <a:srgbClr val="1E1B18"/>
                          </a:solidFill>
                          <a:latin typeface="Arial"/>
                          <a:cs typeface="Arial"/>
                        </a:rPr>
                        <a:t>Function</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3"/>
                  </a:ext>
                </a:extLst>
              </a:tr>
              <a:tr h="151765">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4"/>
                  </a:ext>
                </a:extLst>
              </a:tr>
              <a:tr h="151765">
                <a:tc>
                  <a:txBody>
                    <a:bodyPr/>
                    <a:lstStyle/>
                    <a:p>
                      <a:pPr marL="145415">
                        <a:lnSpc>
                          <a:spcPts val="1165"/>
                        </a:lnSpc>
                      </a:pPr>
                      <a:r>
                        <a:rPr sz="900" spc="-55" dirty="0">
                          <a:solidFill>
                            <a:srgbClr val="1E1B18"/>
                          </a:solidFill>
                          <a:latin typeface="Arial"/>
                          <a:cs typeface="Arial"/>
                        </a:rPr>
                        <a:t>UICF</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ts val="1165"/>
                        </a:lnSpc>
                      </a:pPr>
                      <a:r>
                        <a:rPr sz="900" dirty="0">
                          <a:solidFill>
                            <a:srgbClr val="1E1B18"/>
                          </a:solidFill>
                          <a:latin typeface="Arial"/>
                          <a:cs typeface="Arial"/>
                        </a:rPr>
                        <a:t>0.50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2.50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0.40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ts val="1120"/>
                        </a:lnSpc>
                        <a:spcBef>
                          <a:spcPts val="130"/>
                        </a:spcBef>
                      </a:pPr>
                      <a:r>
                        <a:rPr sz="900" dirty="0">
                          <a:solidFill>
                            <a:srgbClr val="1E1B18"/>
                          </a:solidFill>
                          <a:latin typeface="Arial"/>
                          <a:cs typeface="Arial"/>
                        </a:rPr>
                        <a:t>5.00</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ts val="1120"/>
                        </a:lnSpc>
                        <a:spcBef>
                          <a:spcPts val="130"/>
                        </a:spcBef>
                      </a:pPr>
                      <a:r>
                        <a:rPr sz="900" spc="-45" dirty="0">
                          <a:solidFill>
                            <a:srgbClr val="1E1B18"/>
                          </a:solidFill>
                          <a:latin typeface="Arial"/>
                          <a:cs typeface="Arial"/>
                        </a:rPr>
                        <a:t>n/a</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58115">
                        <a:lnSpc>
                          <a:spcPts val="1165"/>
                        </a:lnSpc>
                      </a:pPr>
                      <a:r>
                        <a:rPr sz="900" spc="-45" dirty="0">
                          <a:solidFill>
                            <a:srgbClr val="1E1B18"/>
                          </a:solidFill>
                          <a:latin typeface="Arial"/>
                          <a:cs typeface="Arial"/>
                        </a:rPr>
                        <a:t>8.40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5"/>
                  </a:ext>
                </a:extLst>
              </a:tr>
              <a:tr h="164412">
                <a:tc>
                  <a:txBody>
                    <a:bodyPr/>
                    <a:lstStyle/>
                    <a:p>
                      <a:pPr marL="145415">
                        <a:lnSpc>
                          <a:spcPct val="100000"/>
                        </a:lnSpc>
                        <a:spcBef>
                          <a:spcPts val="15"/>
                        </a:spcBef>
                      </a:pPr>
                      <a:r>
                        <a:rPr sz="900" spc="-65" dirty="0">
                          <a:solidFill>
                            <a:srgbClr val="1E1B18"/>
                          </a:solidFill>
                          <a:latin typeface="Arial"/>
                          <a:cs typeface="Arial"/>
                        </a:rPr>
                        <a:t>2DGA</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ts val="1230"/>
                        </a:lnSpc>
                        <a:spcBef>
                          <a:spcPts val="130"/>
                        </a:spcBef>
                      </a:pPr>
                      <a:r>
                        <a:rPr sz="900" dirty="0">
                          <a:solidFill>
                            <a:srgbClr val="1E1B18"/>
                          </a:solidFill>
                          <a:latin typeface="Arial"/>
                          <a:cs typeface="Arial"/>
                        </a:rPr>
                        <a:t>0.75</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230"/>
                        </a:lnSpc>
                        <a:spcBef>
                          <a:spcPts val="130"/>
                        </a:spcBef>
                      </a:pPr>
                      <a:r>
                        <a:rPr sz="900" spc="-45" dirty="0">
                          <a:solidFill>
                            <a:srgbClr val="1E1B18"/>
                          </a:solidFill>
                          <a:latin typeface="Arial"/>
                          <a:cs typeface="Arial"/>
                        </a:rPr>
                        <a:t>4.00</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230"/>
                        </a:lnSpc>
                        <a:spcBef>
                          <a:spcPts val="130"/>
                        </a:spcBef>
                      </a:pPr>
                      <a:r>
                        <a:rPr sz="900" spc="-45" dirty="0">
                          <a:solidFill>
                            <a:srgbClr val="1E1B18"/>
                          </a:solidFill>
                          <a:latin typeface="Arial"/>
                          <a:cs typeface="Arial"/>
                        </a:rPr>
                        <a:t>0.60</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ct val="100000"/>
                        </a:lnSpc>
                        <a:spcBef>
                          <a:spcPts val="15"/>
                        </a:spcBef>
                      </a:pPr>
                      <a:r>
                        <a:rPr sz="900" dirty="0">
                          <a:solidFill>
                            <a:srgbClr val="1E1B18"/>
                          </a:solidFill>
                          <a:latin typeface="Arial"/>
                          <a:cs typeface="Arial"/>
                        </a:rPr>
                        <a:t>2.00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ct val="100000"/>
                        </a:lnSpc>
                        <a:spcBef>
                          <a:spcPts val="15"/>
                        </a:spcBef>
                      </a:pPr>
                      <a:r>
                        <a:rPr sz="900" spc="-45" dirty="0">
                          <a:solidFill>
                            <a:srgbClr val="1E1B18"/>
                          </a:solidFill>
                          <a:latin typeface="Arial"/>
                          <a:cs typeface="Arial"/>
                        </a:rPr>
                        <a:t>n/a</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58115">
                        <a:lnSpc>
                          <a:spcPts val="1230"/>
                        </a:lnSpc>
                        <a:spcBef>
                          <a:spcPts val="130"/>
                        </a:spcBef>
                      </a:pPr>
                      <a:r>
                        <a:rPr sz="900" spc="-45" dirty="0">
                          <a:solidFill>
                            <a:srgbClr val="1E1B18"/>
                          </a:solidFill>
                          <a:latin typeface="Arial"/>
                          <a:cs typeface="Arial"/>
                        </a:rPr>
                        <a:t>7.35</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6"/>
                  </a:ext>
                </a:extLst>
              </a:tr>
              <a:tr h="151765">
                <a:tc>
                  <a:txBody>
                    <a:bodyPr/>
                    <a:lstStyle/>
                    <a:p>
                      <a:pPr marL="145415">
                        <a:lnSpc>
                          <a:spcPts val="1165"/>
                        </a:lnSpc>
                      </a:pPr>
                      <a:r>
                        <a:rPr sz="900" spc="-65" dirty="0">
                          <a:solidFill>
                            <a:srgbClr val="1E1B18"/>
                          </a:solidFill>
                          <a:latin typeface="Arial"/>
                          <a:cs typeface="Arial"/>
                        </a:rPr>
                        <a:t>3DGA</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16839" algn="r">
                        <a:lnSpc>
                          <a:spcPts val="1165"/>
                        </a:lnSpc>
                      </a:pPr>
                      <a:r>
                        <a:rPr sz="900" dirty="0">
                          <a:solidFill>
                            <a:srgbClr val="1E1B18"/>
                          </a:solidFill>
                          <a:latin typeface="Arial"/>
                          <a:cs typeface="Arial"/>
                        </a:rPr>
                        <a:t>0.50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4.00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1.00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ts val="1230"/>
                        </a:lnSpc>
                        <a:spcBef>
                          <a:spcPts val="15"/>
                        </a:spcBef>
                      </a:pPr>
                      <a:r>
                        <a:rPr sz="900" dirty="0">
                          <a:solidFill>
                            <a:srgbClr val="1E1B18"/>
                          </a:solidFill>
                          <a:latin typeface="Arial"/>
                          <a:cs typeface="Arial"/>
                        </a:rPr>
                        <a:t>3.00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ts val="1165"/>
                        </a:lnSpc>
                      </a:pPr>
                      <a:r>
                        <a:rPr sz="900" spc="-45" dirty="0">
                          <a:solidFill>
                            <a:srgbClr val="1E1B18"/>
                          </a:solidFill>
                          <a:latin typeface="Arial"/>
                          <a:cs typeface="Arial"/>
                        </a:rPr>
                        <a:t>n/a</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58115">
                        <a:lnSpc>
                          <a:spcPts val="1165"/>
                        </a:lnSpc>
                      </a:pPr>
                      <a:r>
                        <a:rPr sz="900" spc="-45" dirty="0">
                          <a:solidFill>
                            <a:srgbClr val="1E1B18"/>
                          </a:solidFill>
                          <a:latin typeface="Arial"/>
                          <a:cs typeface="Arial"/>
                        </a:rPr>
                        <a:t>8.50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7"/>
                  </a:ext>
                </a:extLst>
              </a:tr>
              <a:tr h="164412">
                <a:tc>
                  <a:txBody>
                    <a:bodyPr/>
                    <a:lstStyle/>
                    <a:p>
                      <a:pPr marL="145415">
                        <a:lnSpc>
                          <a:spcPts val="1165"/>
                        </a:lnSpc>
                      </a:pPr>
                      <a:r>
                        <a:rPr sz="900" spc="-65" dirty="0">
                          <a:solidFill>
                            <a:srgbClr val="1E1B18"/>
                          </a:solidFill>
                          <a:latin typeface="Arial"/>
                          <a:cs typeface="Arial"/>
                        </a:rPr>
                        <a:t>CGDF</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16839" algn="r">
                        <a:lnSpc>
                          <a:spcPts val="1165"/>
                        </a:lnSpc>
                      </a:pPr>
                      <a:r>
                        <a:rPr sz="900" dirty="0">
                          <a:solidFill>
                            <a:srgbClr val="1E1B18"/>
                          </a:solidFill>
                          <a:latin typeface="Arial"/>
                          <a:cs typeface="Arial"/>
                        </a:rPr>
                        <a:t>0.50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3.00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1.00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ts val="1230"/>
                        </a:lnSpc>
                        <a:spcBef>
                          <a:spcPts val="130"/>
                        </a:spcBef>
                      </a:pPr>
                      <a:r>
                        <a:rPr sz="900" dirty="0">
                          <a:solidFill>
                            <a:srgbClr val="1E1B18"/>
                          </a:solidFill>
                          <a:latin typeface="Arial"/>
                          <a:cs typeface="Arial"/>
                        </a:rPr>
                        <a:t>1.50</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ct val="100000"/>
                        </a:lnSpc>
                        <a:spcBef>
                          <a:spcPts val="15"/>
                        </a:spcBef>
                      </a:pPr>
                      <a:r>
                        <a:rPr sz="900" spc="-45" dirty="0">
                          <a:solidFill>
                            <a:srgbClr val="1E1B18"/>
                          </a:solidFill>
                          <a:latin typeface="Arial"/>
                          <a:cs typeface="Arial"/>
                        </a:rPr>
                        <a:t>n/a</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58115">
                        <a:lnSpc>
                          <a:spcPts val="1165"/>
                        </a:lnSpc>
                      </a:pPr>
                      <a:r>
                        <a:rPr sz="900" spc="-45" dirty="0">
                          <a:solidFill>
                            <a:srgbClr val="1E1B18"/>
                          </a:solidFill>
                          <a:latin typeface="Arial"/>
                          <a:cs typeface="Arial"/>
                        </a:rPr>
                        <a:t>6.00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8"/>
                  </a:ext>
                </a:extLst>
              </a:tr>
              <a:tr h="151765">
                <a:tc>
                  <a:txBody>
                    <a:bodyPr/>
                    <a:lstStyle/>
                    <a:p>
                      <a:pPr marL="145415">
                        <a:lnSpc>
                          <a:spcPts val="1165"/>
                        </a:lnSpc>
                      </a:pPr>
                      <a:r>
                        <a:rPr sz="900" spc="-70" dirty="0">
                          <a:solidFill>
                            <a:srgbClr val="1E1B18"/>
                          </a:solidFill>
                          <a:latin typeface="Arial"/>
                          <a:cs typeface="Arial"/>
                        </a:rPr>
                        <a:t>DSM</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16839" algn="r">
                        <a:lnSpc>
                          <a:spcPts val="1230"/>
                        </a:lnSpc>
                        <a:spcBef>
                          <a:spcPts val="15"/>
                        </a:spcBef>
                      </a:pPr>
                      <a:r>
                        <a:rPr sz="900" dirty="0">
                          <a:solidFill>
                            <a:srgbClr val="1E1B18"/>
                          </a:solidFill>
                          <a:latin typeface="Arial"/>
                          <a:cs typeface="Arial"/>
                        </a:rPr>
                        <a:t>0.50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230"/>
                        </a:lnSpc>
                        <a:spcBef>
                          <a:spcPts val="15"/>
                        </a:spcBef>
                      </a:pPr>
                      <a:r>
                        <a:rPr sz="900" spc="-45" dirty="0">
                          <a:solidFill>
                            <a:srgbClr val="1E1B18"/>
                          </a:solidFill>
                          <a:latin typeface="Arial"/>
                          <a:cs typeface="Arial"/>
                        </a:rPr>
                        <a:t>3.00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230"/>
                        </a:lnSpc>
                        <a:spcBef>
                          <a:spcPts val="15"/>
                        </a:spcBef>
                      </a:pPr>
                      <a:r>
                        <a:rPr sz="900" spc="-45" dirty="0">
                          <a:solidFill>
                            <a:srgbClr val="1E1B18"/>
                          </a:solidFill>
                          <a:latin typeface="Arial"/>
                          <a:cs typeface="Arial"/>
                        </a:rPr>
                        <a:t>0.75</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ts val="1120"/>
                        </a:lnSpc>
                        <a:spcBef>
                          <a:spcPts val="130"/>
                        </a:spcBef>
                      </a:pPr>
                      <a:r>
                        <a:rPr sz="900" dirty="0">
                          <a:solidFill>
                            <a:srgbClr val="1E1B18"/>
                          </a:solidFill>
                          <a:latin typeface="Arial"/>
                          <a:cs typeface="Arial"/>
                        </a:rPr>
                        <a:t>1.50</a:t>
                      </a:r>
                      <a:endParaRPr sz="900">
                        <a:latin typeface="Arial"/>
                        <a:cs typeface="Arial"/>
                      </a:endParaRPr>
                    </a:p>
                  </a:txBody>
                  <a:tcPr marL="0" marR="0" marT="1461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ts val="1165"/>
                        </a:lnSpc>
                      </a:pPr>
                      <a:r>
                        <a:rPr sz="900" spc="-45" dirty="0">
                          <a:solidFill>
                            <a:srgbClr val="1E1B18"/>
                          </a:solidFill>
                          <a:latin typeface="Arial"/>
                          <a:cs typeface="Arial"/>
                        </a:rPr>
                        <a:t>n/a</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58115">
                        <a:lnSpc>
                          <a:spcPts val="1230"/>
                        </a:lnSpc>
                        <a:spcBef>
                          <a:spcPts val="15"/>
                        </a:spcBef>
                      </a:pPr>
                      <a:r>
                        <a:rPr sz="900" spc="-45" dirty="0">
                          <a:solidFill>
                            <a:srgbClr val="1E1B18"/>
                          </a:solidFill>
                          <a:latin typeface="Arial"/>
                          <a:cs typeface="Arial"/>
                        </a:rPr>
                        <a:t>5.75</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09"/>
                  </a:ext>
                </a:extLst>
              </a:tr>
              <a:tr h="151765">
                <a:tc>
                  <a:txBody>
                    <a:bodyPr/>
                    <a:lstStyle/>
                    <a:p>
                      <a:pPr marL="145415">
                        <a:lnSpc>
                          <a:spcPts val="1165"/>
                        </a:lnSpc>
                      </a:pPr>
                      <a:r>
                        <a:rPr sz="900" spc="-60" dirty="0">
                          <a:solidFill>
                            <a:srgbClr val="1E1B18"/>
                          </a:solidFill>
                          <a:latin typeface="Arial"/>
                          <a:cs typeface="Arial"/>
                        </a:rPr>
                        <a:t>PCF</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16839" algn="r">
                        <a:lnSpc>
                          <a:spcPts val="1165"/>
                        </a:lnSpc>
                      </a:pPr>
                      <a:r>
                        <a:rPr sz="900" dirty="0">
                          <a:solidFill>
                            <a:srgbClr val="1E1B18"/>
                          </a:solidFill>
                          <a:latin typeface="Arial"/>
                          <a:cs typeface="Arial"/>
                        </a:rPr>
                        <a:t>0.25</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2.00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0.50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04139" algn="r">
                        <a:lnSpc>
                          <a:spcPts val="1230"/>
                        </a:lnSpc>
                        <a:spcBef>
                          <a:spcPts val="15"/>
                        </a:spcBef>
                      </a:pPr>
                      <a:r>
                        <a:rPr sz="900" dirty="0">
                          <a:solidFill>
                            <a:srgbClr val="1E1B18"/>
                          </a:solidFill>
                          <a:latin typeface="Arial"/>
                          <a:cs typeface="Arial"/>
                        </a:rPr>
                        <a:t>1.50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ts val="1055"/>
                        </a:lnSpc>
                      </a:pPr>
                      <a:r>
                        <a:rPr sz="900" spc="-45" dirty="0">
                          <a:solidFill>
                            <a:srgbClr val="1E1B18"/>
                          </a:solidFill>
                          <a:latin typeface="Arial"/>
                          <a:cs typeface="Arial"/>
                        </a:rPr>
                        <a:t>n/a</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58115">
                        <a:lnSpc>
                          <a:spcPts val="1165"/>
                        </a:lnSpc>
                      </a:pPr>
                      <a:r>
                        <a:rPr sz="900" spc="-45" dirty="0">
                          <a:solidFill>
                            <a:srgbClr val="1E1B18"/>
                          </a:solidFill>
                          <a:latin typeface="Arial"/>
                          <a:cs typeface="Arial"/>
                        </a:rPr>
                        <a:t>4.25</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10"/>
                  </a:ext>
                </a:extLst>
              </a:tr>
              <a:tr h="164412">
                <a:tc>
                  <a:txBody>
                    <a:bodyPr/>
                    <a:lstStyle/>
                    <a:p>
                      <a:pPr marL="145415">
                        <a:lnSpc>
                          <a:spcPts val="1165"/>
                        </a:lnSpc>
                      </a:pPr>
                      <a:r>
                        <a:rPr sz="900" spc="-70" dirty="0">
                          <a:solidFill>
                            <a:srgbClr val="1E1B18"/>
                          </a:solidFill>
                          <a:latin typeface="Arial"/>
                          <a:cs typeface="Arial"/>
                        </a:rPr>
                        <a:t>DAM</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116839" algn="r">
                        <a:lnSpc>
                          <a:spcPct val="100000"/>
                        </a:lnSpc>
                        <a:spcBef>
                          <a:spcPts val="15"/>
                        </a:spcBef>
                      </a:pPr>
                      <a:r>
                        <a:rPr sz="900" dirty="0">
                          <a:solidFill>
                            <a:srgbClr val="1E1B18"/>
                          </a:solidFill>
                          <a:latin typeface="Arial"/>
                          <a:cs typeface="Arial"/>
                        </a:rPr>
                        <a:t>0.50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07314">
                        <a:lnSpc>
                          <a:spcPts val="1165"/>
                        </a:lnSpc>
                      </a:pPr>
                      <a:r>
                        <a:rPr sz="900" spc="-45" dirty="0">
                          <a:solidFill>
                            <a:srgbClr val="1E1B18"/>
                          </a:solidFill>
                          <a:latin typeface="Arial"/>
                          <a:cs typeface="Arial"/>
                        </a:rPr>
                        <a:t>2.00</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ct val="100000"/>
                        </a:lnSpc>
                        <a:spcBef>
                          <a:spcPts val="15"/>
                        </a:spcBef>
                      </a:pPr>
                      <a:r>
                        <a:rPr sz="900" spc="-45" dirty="0">
                          <a:solidFill>
                            <a:srgbClr val="1E1B18"/>
                          </a:solidFill>
                          <a:latin typeface="Arial"/>
                          <a:cs typeface="Arial"/>
                        </a:rPr>
                        <a:t>0.50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R="91440" algn="r">
                        <a:lnSpc>
                          <a:spcPct val="100000"/>
                        </a:lnSpc>
                        <a:spcBef>
                          <a:spcPts val="15"/>
                        </a:spcBef>
                      </a:pPr>
                      <a:r>
                        <a:rPr sz="900" dirty="0">
                          <a:solidFill>
                            <a:srgbClr val="1E1B18"/>
                          </a:solidFill>
                          <a:latin typeface="Arial"/>
                          <a:cs typeface="Arial"/>
                        </a:rPr>
                        <a:t>2.00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20014">
                        <a:lnSpc>
                          <a:spcPts val="1055"/>
                        </a:lnSpc>
                      </a:pPr>
                      <a:r>
                        <a:rPr sz="900" spc="-45" dirty="0">
                          <a:solidFill>
                            <a:srgbClr val="1E1B18"/>
                          </a:solidFill>
                          <a:latin typeface="Arial"/>
                          <a:cs typeface="Arial"/>
                        </a:rPr>
                        <a:t>n/a</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marL="158115">
                        <a:lnSpc>
                          <a:spcPct val="100000"/>
                        </a:lnSpc>
                        <a:spcBef>
                          <a:spcPts val="15"/>
                        </a:spcBef>
                      </a:pPr>
                      <a:r>
                        <a:rPr sz="900" spc="-45" dirty="0">
                          <a:solidFill>
                            <a:srgbClr val="1E1B18"/>
                          </a:solidFill>
                          <a:latin typeface="Arial"/>
                          <a:cs typeface="Arial"/>
                        </a:rPr>
                        <a:t>5.00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11"/>
                  </a:ext>
                </a:extLst>
              </a:tr>
              <a:tr h="151765">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12"/>
                  </a:ext>
                </a:extLst>
              </a:tr>
              <a:tr h="158088">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extLst>
                  <a:ext uri="{0D108BD9-81ED-4DB2-BD59-A6C34878D82A}">
                    <a16:rowId xmlns:a16="http://schemas.microsoft.com/office/drawing/2014/main" val="10013"/>
                  </a:ext>
                </a:extLst>
              </a:tr>
              <a:tr h="158088">
                <a:tc>
                  <a:txBody>
                    <a:bodyPr/>
                    <a:lstStyle/>
                    <a:p>
                      <a:pPr marL="43815">
                        <a:lnSpc>
                          <a:spcPts val="1220"/>
                        </a:lnSpc>
                      </a:pPr>
                      <a:r>
                        <a:rPr sz="900" b="1" spc="-45" dirty="0">
                          <a:solidFill>
                            <a:srgbClr val="1E1B18"/>
                          </a:solidFill>
                          <a:latin typeface="Arial"/>
                          <a:cs typeface="Arial"/>
                        </a:rPr>
                        <a:t>Totals</a:t>
                      </a:r>
                      <a:endParaRPr sz="900">
                        <a:latin typeface="Arial"/>
                        <a:cs typeface="Arial"/>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L="158115">
                        <a:lnSpc>
                          <a:spcPts val="1230"/>
                        </a:lnSpc>
                        <a:spcBef>
                          <a:spcPts val="75"/>
                        </a:spcBef>
                      </a:pPr>
                      <a:r>
                        <a:rPr sz="900" spc="-45" dirty="0">
                          <a:solidFill>
                            <a:srgbClr val="1E1B18"/>
                          </a:solidFill>
                          <a:latin typeface="Arial"/>
                          <a:cs typeface="Arial"/>
                        </a:rPr>
                        <a:t>0.25</a:t>
                      </a:r>
                      <a:endParaRPr sz="900">
                        <a:latin typeface="Arial"/>
                        <a:cs typeface="Arial"/>
                      </a:endParaRPr>
                    </a:p>
                  </a:txBody>
                  <a:tcPr marL="0" marR="0" marT="8431"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L="208915">
                        <a:lnSpc>
                          <a:spcPts val="1230"/>
                        </a:lnSpc>
                        <a:spcBef>
                          <a:spcPts val="75"/>
                        </a:spcBef>
                      </a:pPr>
                      <a:r>
                        <a:rPr sz="900" spc="-45" dirty="0">
                          <a:solidFill>
                            <a:srgbClr val="1E1B18"/>
                          </a:solidFill>
                          <a:latin typeface="Arial"/>
                          <a:cs typeface="Arial"/>
                        </a:rPr>
                        <a:t>0.25</a:t>
                      </a:r>
                      <a:endParaRPr sz="900">
                        <a:latin typeface="Arial"/>
                        <a:cs typeface="Arial"/>
                      </a:endParaRPr>
                    </a:p>
                  </a:txBody>
                  <a:tcPr marL="0" marR="0" marT="8431"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R="231140" algn="r">
                        <a:lnSpc>
                          <a:spcPts val="1230"/>
                        </a:lnSpc>
                        <a:spcBef>
                          <a:spcPts val="75"/>
                        </a:spcBef>
                      </a:pPr>
                      <a:r>
                        <a:rPr sz="900" dirty="0">
                          <a:solidFill>
                            <a:srgbClr val="1E1B18"/>
                          </a:solidFill>
                          <a:latin typeface="Arial"/>
                          <a:cs typeface="Arial"/>
                        </a:rPr>
                        <a:t>0.25</a:t>
                      </a:r>
                      <a:endParaRPr sz="900">
                        <a:latin typeface="Arial"/>
                        <a:cs typeface="Arial"/>
                      </a:endParaRPr>
                    </a:p>
                  </a:txBody>
                  <a:tcPr marL="0" marR="0" marT="8431"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R="116839" algn="r">
                        <a:lnSpc>
                          <a:spcPts val="1230"/>
                        </a:lnSpc>
                        <a:spcBef>
                          <a:spcPts val="75"/>
                        </a:spcBef>
                      </a:pPr>
                      <a:r>
                        <a:rPr sz="900" dirty="0">
                          <a:solidFill>
                            <a:srgbClr val="1E1B18"/>
                          </a:solidFill>
                          <a:latin typeface="Arial"/>
                          <a:cs typeface="Arial"/>
                        </a:rPr>
                        <a:t>3.50</a:t>
                      </a:r>
                      <a:endParaRPr sz="900">
                        <a:latin typeface="Arial"/>
                        <a:cs typeface="Arial"/>
                      </a:endParaRPr>
                    </a:p>
                  </a:txBody>
                  <a:tcPr marL="0" marR="0" marT="8431"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L="56515">
                        <a:lnSpc>
                          <a:spcPts val="1220"/>
                        </a:lnSpc>
                      </a:pPr>
                      <a:r>
                        <a:rPr sz="900" spc="-50" dirty="0">
                          <a:solidFill>
                            <a:srgbClr val="1E1B18"/>
                          </a:solidFill>
                          <a:latin typeface="Arial"/>
                          <a:cs typeface="Arial"/>
                        </a:rPr>
                        <a:t>20.50</a:t>
                      </a:r>
                      <a:endParaRPr sz="900">
                        <a:latin typeface="Arial"/>
                        <a:cs typeface="Arial"/>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L="81915">
                        <a:lnSpc>
                          <a:spcPts val="1230"/>
                        </a:lnSpc>
                        <a:spcBef>
                          <a:spcPts val="75"/>
                        </a:spcBef>
                      </a:pPr>
                      <a:r>
                        <a:rPr sz="900" spc="-45" dirty="0">
                          <a:solidFill>
                            <a:srgbClr val="1E1B18"/>
                          </a:solidFill>
                          <a:latin typeface="Arial"/>
                          <a:cs typeface="Arial"/>
                        </a:rPr>
                        <a:t>4.50</a:t>
                      </a:r>
                      <a:endParaRPr sz="900">
                        <a:latin typeface="Arial"/>
                        <a:cs typeface="Arial"/>
                      </a:endParaRPr>
                    </a:p>
                  </a:txBody>
                  <a:tcPr marL="0" marR="0" marT="8431"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R="99695" algn="r">
                        <a:lnSpc>
                          <a:spcPts val="1230"/>
                        </a:lnSpc>
                        <a:spcBef>
                          <a:spcPts val="75"/>
                        </a:spcBef>
                      </a:pPr>
                      <a:r>
                        <a:rPr sz="900" dirty="0">
                          <a:solidFill>
                            <a:srgbClr val="1E1B18"/>
                          </a:solidFill>
                          <a:latin typeface="Arial"/>
                          <a:cs typeface="Arial"/>
                        </a:rPr>
                        <a:t>16.50</a:t>
                      </a:r>
                      <a:endParaRPr sz="900">
                        <a:latin typeface="Arial"/>
                        <a:cs typeface="Arial"/>
                      </a:endParaRPr>
                    </a:p>
                  </a:txBody>
                  <a:tcPr marL="0" marR="0" marT="8431"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tc>
                  <a:txBody>
                    <a:bodyPr/>
                    <a:lstStyle/>
                    <a:p>
                      <a:pPr marL="132715">
                        <a:lnSpc>
                          <a:spcPts val="1230"/>
                        </a:lnSpc>
                        <a:spcBef>
                          <a:spcPts val="75"/>
                        </a:spcBef>
                      </a:pPr>
                      <a:r>
                        <a:rPr sz="900" spc="-50" dirty="0">
                          <a:solidFill>
                            <a:srgbClr val="1E1B18"/>
                          </a:solidFill>
                          <a:latin typeface="Arial"/>
                          <a:cs typeface="Arial"/>
                        </a:rPr>
                        <a:t>46.00</a:t>
                      </a:r>
                      <a:endParaRPr sz="900">
                        <a:latin typeface="Arial"/>
                        <a:cs typeface="Arial"/>
                      </a:endParaRPr>
                    </a:p>
                  </a:txBody>
                  <a:tcPr marL="0" marR="0" marT="8431" marB="0">
                    <a:lnL w="12700">
                      <a:solidFill>
                        <a:srgbClr val="000000"/>
                      </a:solidFill>
                      <a:prstDash val="solid"/>
                    </a:lnL>
                    <a:lnR w="12700">
                      <a:solidFill>
                        <a:srgbClr val="000000"/>
                      </a:solidFill>
                      <a:prstDash val="solid"/>
                    </a:lnR>
                    <a:lnT w="28575">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14"/>
                  </a:ext>
                </a:extLst>
              </a:tr>
              <a:tr h="151765">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solidFill>
                      <a:srgbClr val="FCFDFE"/>
                    </a:solidFill>
                  </a:tcPr>
                </a:tc>
                <a:extLst>
                  <a:ext uri="{0D108BD9-81ED-4DB2-BD59-A6C34878D82A}">
                    <a16:rowId xmlns:a16="http://schemas.microsoft.com/office/drawing/2014/main" val="10015"/>
                  </a:ext>
                </a:extLst>
              </a:tr>
              <a:tr h="158088">
                <a:tc>
                  <a:txBody>
                    <a:bodyPr/>
                    <a:lstStyle/>
                    <a:p>
                      <a:pPr marL="56515">
                        <a:lnSpc>
                          <a:spcPts val="1165"/>
                        </a:lnSpc>
                      </a:pPr>
                      <a:r>
                        <a:rPr sz="900" b="1" spc="-80" dirty="0">
                          <a:solidFill>
                            <a:srgbClr val="1E1B18"/>
                          </a:solidFill>
                          <a:latin typeface="Arial"/>
                          <a:cs typeface="Arial"/>
                        </a:rPr>
                        <a:t>%</a:t>
                      </a:r>
                      <a:r>
                        <a:rPr sz="900" b="1" spc="-45" dirty="0">
                          <a:solidFill>
                            <a:srgbClr val="1E1B18"/>
                          </a:solidFill>
                          <a:latin typeface="Arial"/>
                          <a:cs typeface="Arial"/>
                        </a:rPr>
                        <a:t> </a:t>
                      </a:r>
                      <a:r>
                        <a:rPr sz="900" b="1" spc="-40" dirty="0">
                          <a:solidFill>
                            <a:srgbClr val="1E1B18"/>
                          </a:solidFill>
                          <a:latin typeface="Arial"/>
                          <a:cs typeface="Arial"/>
                        </a:rPr>
                        <a:t>effort</a:t>
                      </a:r>
                      <a:endParaRPr sz="900" dirty="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marL="183515">
                        <a:lnSpc>
                          <a:spcPts val="1165"/>
                        </a:lnSpc>
                      </a:pPr>
                      <a:r>
                        <a:rPr sz="900" spc="-65" dirty="0">
                          <a:solidFill>
                            <a:srgbClr val="1E1B18"/>
                          </a:solidFill>
                          <a:latin typeface="Arial"/>
                          <a:cs typeface="Arial"/>
                        </a:rPr>
                        <a:t>1%</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marL="36195" algn="ctr">
                        <a:lnSpc>
                          <a:spcPts val="1165"/>
                        </a:lnSpc>
                      </a:pPr>
                      <a:r>
                        <a:rPr sz="900" spc="-65" dirty="0">
                          <a:solidFill>
                            <a:srgbClr val="1E1B18"/>
                          </a:solidFill>
                          <a:latin typeface="Arial"/>
                          <a:cs typeface="Arial"/>
                        </a:rPr>
                        <a:t>1%</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marR="228600" algn="r">
                        <a:lnSpc>
                          <a:spcPts val="1165"/>
                        </a:lnSpc>
                      </a:pPr>
                      <a:r>
                        <a:rPr sz="900" dirty="0">
                          <a:solidFill>
                            <a:srgbClr val="1E1B18"/>
                          </a:solidFill>
                          <a:latin typeface="Arial"/>
                          <a:cs typeface="Arial"/>
                        </a:rPr>
                        <a:t>1%</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marR="88900" algn="r">
                        <a:lnSpc>
                          <a:spcPts val="1165"/>
                        </a:lnSpc>
                      </a:pPr>
                      <a:r>
                        <a:rPr sz="900" dirty="0">
                          <a:solidFill>
                            <a:srgbClr val="1E1B18"/>
                          </a:solidFill>
                          <a:latin typeface="Arial"/>
                          <a:cs typeface="Arial"/>
                        </a:rPr>
                        <a:t>8%</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marL="145415">
                        <a:lnSpc>
                          <a:spcPts val="1165"/>
                        </a:lnSpc>
                      </a:pPr>
                      <a:r>
                        <a:rPr sz="900" spc="-65" dirty="0">
                          <a:solidFill>
                            <a:srgbClr val="1E1B18"/>
                          </a:solidFill>
                          <a:latin typeface="Arial"/>
                          <a:cs typeface="Arial"/>
                        </a:rPr>
                        <a:t>45%</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marL="132715">
                        <a:lnSpc>
                          <a:spcPct val="100000"/>
                        </a:lnSpc>
                        <a:spcBef>
                          <a:spcPts val="15"/>
                        </a:spcBef>
                      </a:pPr>
                      <a:r>
                        <a:rPr sz="900" spc="-65" dirty="0">
                          <a:solidFill>
                            <a:srgbClr val="1E1B18"/>
                          </a:solidFill>
                          <a:latin typeface="Arial"/>
                          <a:cs typeface="Arial"/>
                        </a:rPr>
                        <a:t>10%</a:t>
                      </a:r>
                      <a:endParaRPr sz="900">
                        <a:latin typeface="Arial"/>
                        <a:cs typeface="Arial"/>
                      </a:endParaRPr>
                    </a:p>
                  </a:txBody>
                  <a:tcPr marL="0" marR="0" marT="1686"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marR="97155" algn="r">
                        <a:lnSpc>
                          <a:spcPts val="1055"/>
                        </a:lnSpc>
                      </a:pPr>
                      <a:r>
                        <a:rPr sz="900" dirty="0">
                          <a:solidFill>
                            <a:srgbClr val="1E1B18"/>
                          </a:solidFill>
                          <a:latin typeface="Arial"/>
                          <a:cs typeface="Arial"/>
                        </a:rPr>
                        <a:t>36%</a:t>
                      </a:r>
                      <a:endParaRPr sz="900">
                        <a:latin typeface="Arial"/>
                        <a:cs typeface="Arial"/>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tc>
                  <a:txBody>
                    <a:bodyPr/>
                    <a:lstStyle/>
                    <a:p>
                      <a:pPr>
                        <a:lnSpc>
                          <a:spcPct val="100000"/>
                        </a:lnSpc>
                      </a:pPr>
                      <a:endParaRPr sz="9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solidFill>
                      <a:srgbClr val="FCFDFE"/>
                    </a:solidFill>
                  </a:tcPr>
                </a:tc>
                <a:extLst>
                  <a:ext uri="{0D108BD9-81ED-4DB2-BD59-A6C34878D82A}">
                    <a16:rowId xmlns:a16="http://schemas.microsoft.com/office/drawing/2014/main" val="10016"/>
                  </a:ext>
                </a:extLst>
              </a:tr>
            </a:tbl>
          </a:graphicData>
        </a:graphic>
      </p:graphicFrame>
      <p:sp>
        <p:nvSpPr>
          <p:cNvPr id="10" name="object 10"/>
          <p:cNvSpPr/>
          <p:nvPr/>
        </p:nvSpPr>
        <p:spPr>
          <a:xfrm>
            <a:off x="1740793" y="4863838"/>
            <a:ext cx="4933742" cy="327444"/>
          </a:xfrm>
          <a:prstGeom prst="rect">
            <a:avLst/>
          </a:prstGeom>
          <a:blipFill>
            <a:blip r:embed="rId5" cstate="print"/>
            <a:stretch>
              <a:fillRect/>
            </a:stretch>
          </a:blipFill>
        </p:spPr>
        <p:txBody>
          <a:bodyPr wrap="square" lIns="0" tIns="0" rIns="0" bIns="0" rtlCol="0"/>
          <a:lstStyle/>
          <a:p>
            <a:endParaRPr sz="1593"/>
          </a:p>
        </p:txBody>
      </p:sp>
      <p:sp>
        <p:nvSpPr>
          <p:cNvPr id="11" name="object 11"/>
          <p:cNvSpPr/>
          <p:nvPr/>
        </p:nvSpPr>
        <p:spPr>
          <a:xfrm>
            <a:off x="1740793" y="5077228"/>
            <a:ext cx="5338448" cy="327444"/>
          </a:xfrm>
          <a:prstGeom prst="rect">
            <a:avLst/>
          </a:prstGeom>
          <a:blipFill>
            <a:blip r:embed="rId6" cstate="print"/>
            <a:stretch>
              <a:fillRect/>
            </a:stretch>
          </a:blipFill>
        </p:spPr>
        <p:txBody>
          <a:bodyPr wrap="square" lIns="0" tIns="0" rIns="0" bIns="0" rtlCol="0"/>
          <a:lstStyle/>
          <a:p>
            <a:endParaRPr sz="1593"/>
          </a:p>
        </p:txBody>
      </p:sp>
      <p:sp>
        <p:nvSpPr>
          <p:cNvPr id="12" name="object 12"/>
          <p:cNvSpPr txBox="1"/>
          <p:nvPr/>
        </p:nvSpPr>
        <p:spPr>
          <a:xfrm>
            <a:off x="1760210" y="4699297"/>
            <a:ext cx="5283108" cy="871408"/>
          </a:xfrm>
          <a:prstGeom prst="rect">
            <a:avLst/>
          </a:prstGeom>
        </p:spPr>
        <p:txBody>
          <a:bodyPr vert="horz" wrap="square" lIns="0" tIns="21922" rIns="0" bIns="0" rtlCol="0">
            <a:spAutoFit/>
          </a:bodyPr>
          <a:lstStyle/>
          <a:p>
            <a:pPr marL="671712">
              <a:spcBef>
                <a:spcPts val="173"/>
              </a:spcBef>
            </a:pPr>
            <a:r>
              <a:rPr sz="929" spc="-58" dirty="0">
                <a:solidFill>
                  <a:srgbClr val="1E1B18"/>
                </a:solidFill>
                <a:latin typeface="Arial"/>
                <a:cs typeface="Arial"/>
              </a:rPr>
              <a:t>CC </a:t>
            </a:r>
            <a:r>
              <a:rPr sz="929" spc="-49" dirty="0">
                <a:solidFill>
                  <a:srgbClr val="1E1B18"/>
                </a:solidFill>
                <a:latin typeface="Arial"/>
                <a:cs typeface="Arial"/>
              </a:rPr>
              <a:t>= </a:t>
            </a:r>
            <a:r>
              <a:rPr sz="929" spc="-44" dirty="0">
                <a:solidFill>
                  <a:srgbClr val="1E1B18"/>
                </a:solidFill>
                <a:latin typeface="Arial"/>
                <a:cs typeface="Arial"/>
              </a:rPr>
              <a:t>customer communication </a:t>
            </a:r>
            <a:r>
              <a:rPr sz="929" spc="-58" dirty="0">
                <a:solidFill>
                  <a:srgbClr val="1E1B18"/>
                </a:solidFill>
                <a:latin typeface="Arial"/>
                <a:cs typeface="Arial"/>
              </a:rPr>
              <a:t>CE </a:t>
            </a:r>
            <a:r>
              <a:rPr sz="929" spc="-49" dirty="0">
                <a:solidFill>
                  <a:srgbClr val="1E1B18"/>
                </a:solidFill>
                <a:latin typeface="Arial"/>
                <a:cs typeface="Arial"/>
              </a:rPr>
              <a:t>= </a:t>
            </a:r>
            <a:r>
              <a:rPr sz="929" spc="-44" dirty="0">
                <a:solidFill>
                  <a:srgbClr val="1E1B18"/>
                </a:solidFill>
                <a:latin typeface="Arial"/>
                <a:cs typeface="Arial"/>
              </a:rPr>
              <a:t>customer</a:t>
            </a:r>
            <a:r>
              <a:rPr sz="929" spc="-22" dirty="0">
                <a:solidFill>
                  <a:srgbClr val="1E1B18"/>
                </a:solidFill>
                <a:latin typeface="Arial"/>
                <a:cs typeface="Arial"/>
              </a:rPr>
              <a:t> </a:t>
            </a:r>
            <a:r>
              <a:rPr sz="929" spc="-40" dirty="0">
                <a:solidFill>
                  <a:srgbClr val="1E1B18"/>
                </a:solidFill>
                <a:latin typeface="Arial"/>
                <a:cs typeface="Arial"/>
              </a:rPr>
              <a:t>evaluation</a:t>
            </a:r>
            <a:endParaRPr sz="929">
              <a:latin typeface="Arial"/>
              <a:cs typeface="Arial"/>
            </a:endParaRPr>
          </a:p>
          <a:p>
            <a:pPr marL="11242" marR="4497">
              <a:lnSpc>
                <a:spcPts val="1682"/>
              </a:lnSpc>
              <a:spcBef>
                <a:spcPts val="354"/>
              </a:spcBef>
            </a:pPr>
            <a:r>
              <a:rPr sz="1593" spc="-4" dirty="0">
                <a:latin typeface="Book Antiqua"/>
                <a:cs typeface="Book Antiqua"/>
              </a:rPr>
              <a:t>Based </a:t>
            </a:r>
            <a:r>
              <a:rPr sz="1593" dirty="0">
                <a:latin typeface="Book Antiqua"/>
                <a:cs typeface="Book Antiqua"/>
              </a:rPr>
              <a:t>on an </a:t>
            </a:r>
            <a:r>
              <a:rPr sz="1593" spc="-4" dirty="0">
                <a:latin typeface="Book Antiqua"/>
                <a:cs typeface="Book Antiqua"/>
              </a:rPr>
              <a:t>average burdened </a:t>
            </a:r>
            <a:r>
              <a:rPr sz="1593" dirty="0">
                <a:latin typeface="Book Antiqua"/>
                <a:cs typeface="Book Antiqua"/>
              </a:rPr>
              <a:t>labor rate of $8,000 per  </a:t>
            </a:r>
            <a:r>
              <a:rPr sz="1593" spc="-4" dirty="0">
                <a:latin typeface="Book Antiqua"/>
                <a:cs typeface="Book Antiqua"/>
              </a:rPr>
              <a:t>month, </a:t>
            </a:r>
            <a:r>
              <a:rPr sz="1593" b="1" spc="-4" dirty="0">
                <a:solidFill>
                  <a:srgbClr val="9A0000"/>
                </a:solidFill>
                <a:latin typeface="Book Antiqua"/>
                <a:cs typeface="Book Antiqua"/>
              </a:rPr>
              <a:t>the </a:t>
            </a:r>
            <a:r>
              <a:rPr sz="1593" b="1" dirty="0">
                <a:solidFill>
                  <a:srgbClr val="9A0000"/>
                </a:solidFill>
                <a:latin typeface="Book Antiqua"/>
                <a:cs typeface="Book Antiqua"/>
              </a:rPr>
              <a:t>total </a:t>
            </a:r>
            <a:r>
              <a:rPr sz="1593" b="1" spc="-4" dirty="0">
                <a:solidFill>
                  <a:srgbClr val="9A0000"/>
                </a:solidFill>
                <a:latin typeface="Book Antiqua"/>
                <a:cs typeface="Book Antiqua"/>
              </a:rPr>
              <a:t>estimated project cost </a:t>
            </a:r>
            <a:r>
              <a:rPr sz="1593" b="1" dirty="0">
                <a:solidFill>
                  <a:srgbClr val="9A0000"/>
                </a:solidFill>
                <a:latin typeface="Book Antiqua"/>
                <a:cs typeface="Book Antiqua"/>
              </a:rPr>
              <a:t>is $368,000 </a:t>
            </a:r>
            <a:r>
              <a:rPr sz="1593" b="1" spc="-4" dirty="0">
                <a:solidFill>
                  <a:srgbClr val="9A0000"/>
                </a:solidFill>
                <a:latin typeface="Book Antiqua"/>
                <a:cs typeface="Book Antiqua"/>
              </a:rPr>
              <a:t>and the  estimated </a:t>
            </a:r>
            <a:r>
              <a:rPr sz="1593" b="1" spc="-9" dirty="0">
                <a:solidFill>
                  <a:srgbClr val="9A0000"/>
                </a:solidFill>
                <a:latin typeface="Book Antiqua"/>
                <a:cs typeface="Book Antiqua"/>
              </a:rPr>
              <a:t>effort </a:t>
            </a:r>
            <a:r>
              <a:rPr sz="1593" b="1" dirty="0">
                <a:solidFill>
                  <a:srgbClr val="9A0000"/>
                </a:solidFill>
                <a:latin typeface="Book Antiqua"/>
                <a:cs typeface="Book Antiqua"/>
              </a:rPr>
              <a:t>is 46</a:t>
            </a:r>
            <a:r>
              <a:rPr sz="1593" b="1" spc="4" dirty="0">
                <a:solidFill>
                  <a:srgbClr val="9A0000"/>
                </a:solidFill>
                <a:latin typeface="Book Antiqua"/>
                <a:cs typeface="Book Antiqua"/>
              </a:rPr>
              <a:t> </a:t>
            </a:r>
            <a:r>
              <a:rPr sz="1593" b="1" spc="-4" dirty="0">
                <a:solidFill>
                  <a:srgbClr val="9A0000"/>
                </a:solidFill>
                <a:latin typeface="Book Antiqua"/>
                <a:cs typeface="Book Antiqua"/>
              </a:rPr>
              <a:t>person-months.</a:t>
            </a:r>
            <a:endParaRPr sz="1593">
              <a:latin typeface="Book Antiqua"/>
              <a:cs typeface="Book Antiqu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489" y="118022"/>
            <a:ext cx="5396089" cy="610747"/>
          </a:xfrm>
          <a:prstGeom prst="rect">
            <a:avLst/>
          </a:prstGeom>
        </p:spPr>
        <p:txBody>
          <a:bodyPr vert="horz" wrap="square" lIns="0" tIns="11242" rIns="0" bIns="0" rtlCol="0" anchor="ctr">
            <a:spAutoFit/>
          </a:bodyPr>
          <a:lstStyle/>
          <a:p>
            <a:pPr marL="11242">
              <a:spcBef>
                <a:spcPts val="89"/>
              </a:spcBef>
              <a:tabLst>
                <a:tab pos="2235480" algn="l"/>
                <a:tab pos="3159575" algn="l"/>
              </a:tabLst>
            </a:pPr>
            <a:r>
              <a:rPr dirty="0"/>
              <a:t>Es</a:t>
            </a:r>
            <a:r>
              <a:rPr spc="-4" dirty="0"/>
              <a:t>t</a:t>
            </a:r>
            <a:r>
              <a:rPr dirty="0"/>
              <a:t>ima</a:t>
            </a:r>
            <a:r>
              <a:rPr spc="-4" dirty="0"/>
              <a:t>t</a:t>
            </a:r>
            <a:r>
              <a:rPr dirty="0"/>
              <a:t>ion	wi</a:t>
            </a:r>
            <a:r>
              <a:rPr spc="-4" dirty="0"/>
              <a:t>t</a:t>
            </a:r>
            <a:r>
              <a:rPr dirty="0"/>
              <a:t>h	Use-Cases</a:t>
            </a:r>
          </a:p>
        </p:txBody>
      </p:sp>
      <p:sp>
        <p:nvSpPr>
          <p:cNvPr id="18" name="object 18"/>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82</a:t>
            </a:fld>
            <a:endParaRPr dirty="0"/>
          </a:p>
        </p:txBody>
      </p:sp>
      <p:sp>
        <p:nvSpPr>
          <p:cNvPr id="3" name="object 3"/>
          <p:cNvSpPr txBox="1"/>
          <p:nvPr/>
        </p:nvSpPr>
        <p:spPr>
          <a:xfrm>
            <a:off x="3298096" y="1957488"/>
            <a:ext cx="1772839" cy="757843"/>
          </a:xfrm>
          <a:prstGeom prst="rect">
            <a:avLst/>
          </a:prstGeom>
        </p:spPr>
        <p:txBody>
          <a:bodyPr vert="horz" wrap="square" lIns="0" tIns="3373" rIns="0" bIns="0" rtlCol="0">
            <a:spAutoFit/>
          </a:bodyPr>
          <a:lstStyle/>
          <a:p>
            <a:pPr marL="281051" marR="4497" indent="-269809">
              <a:lnSpc>
                <a:spcPct val="104200"/>
              </a:lnSpc>
              <a:spcBef>
                <a:spcPts val="27"/>
              </a:spcBef>
              <a:tabLst>
                <a:tab pos="752655" algn="l"/>
              </a:tabLst>
            </a:pPr>
            <a:r>
              <a:rPr sz="1195" spc="-75" dirty="0">
                <a:latin typeface="Arial"/>
                <a:cs typeface="Arial"/>
              </a:rPr>
              <a:t>use</a:t>
            </a:r>
            <a:r>
              <a:rPr sz="1195" spc="-35" dirty="0">
                <a:latin typeface="Arial"/>
                <a:cs typeface="Arial"/>
              </a:rPr>
              <a:t> </a:t>
            </a:r>
            <a:r>
              <a:rPr sz="1195" spc="-71" dirty="0">
                <a:latin typeface="Arial"/>
                <a:cs typeface="Arial"/>
              </a:rPr>
              <a:t>cases	</a:t>
            </a:r>
            <a:r>
              <a:rPr sz="1195" spc="-66" dirty="0">
                <a:latin typeface="Arial"/>
                <a:cs typeface="Arial"/>
              </a:rPr>
              <a:t>scenarios </a:t>
            </a:r>
            <a:r>
              <a:rPr sz="1195" spc="-75" dirty="0">
                <a:latin typeface="Arial"/>
                <a:cs typeface="Arial"/>
              </a:rPr>
              <a:t>pages  6</a:t>
            </a:r>
            <a:endParaRPr sz="1195">
              <a:latin typeface="Arial"/>
              <a:cs typeface="Arial"/>
            </a:endParaRPr>
          </a:p>
          <a:p>
            <a:pPr marL="247325">
              <a:lnSpc>
                <a:spcPts val="1416"/>
              </a:lnSpc>
              <a:spcBef>
                <a:spcPts val="62"/>
              </a:spcBef>
            </a:pPr>
            <a:r>
              <a:rPr sz="1195" spc="-75" dirty="0">
                <a:latin typeface="Arial"/>
                <a:cs typeface="Arial"/>
              </a:rPr>
              <a:t>10</a:t>
            </a:r>
            <a:endParaRPr sz="1195">
              <a:latin typeface="Arial"/>
              <a:cs typeface="Arial"/>
            </a:endParaRPr>
          </a:p>
          <a:p>
            <a:pPr marL="281051">
              <a:lnSpc>
                <a:spcPts val="1412"/>
              </a:lnSpc>
            </a:pPr>
            <a:r>
              <a:rPr sz="1195" spc="-75" dirty="0">
                <a:latin typeface="Arial"/>
                <a:cs typeface="Arial"/>
              </a:rPr>
              <a:t>5</a:t>
            </a:r>
            <a:endParaRPr sz="1195">
              <a:latin typeface="Arial"/>
              <a:cs typeface="Arial"/>
            </a:endParaRPr>
          </a:p>
        </p:txBody>
      </p:sp>
      <p:sp>
        <p:nvSpPr>
          <p:cNvPr id="4" name="object 4"/>
          <p:cNvSpPr txBox="1"/>
          <p:nvPr/>
        </p:nvSpPr>
        <p:spPr>
          <a:xfrm>
            <a:off x="4242412" y="2147194"/>
            <a:ext cx="172562" cy="567145"/>
          </a:xfrm>
          <a:prstGeom prst="rect">
            <a:avLst/>
          </a:prstGeom>
        </p:spPr>
        <p:txBody>
          <a:bodyPr vert="horz" wrap="square" lIns="0" tIns="11242" rIns="0" bIns="0" rtlCol="0">
            <a:spAutoFit/>
          </a:bodyPr>
          <a:lstStyle/>
          <a:p>
            <a:pPr marL="11242">
              <a:spcBef>
                <a:spcPts val="89"/>
              </a:spcBef>
            </a:pPr>
            <a:r>
              <a:rPr sz="1195" spc="-75" dirty="0">
                <a:latin typeface="Arial"/>
                <a:cs typeface="Arial"/>
              </a:rPr>
              <a:t>10</a:t>
            </a:r>
            <a:endParaRPr sz="1195">
              <a:latin typeface="Arial"/>
              <a:cs typeface="Arial"/>
            </a:endParaRPr>
          </a:p>
          <a:p>
            <a:pPr marL="11242">
              <a:lnSpc>
                <a:spcPts val="1416"/>
              </a:lnSpc>
              <a:spcBef>
                <a:spcPts val="58"/>
              </a:spcBef>
            </a:pPr>
            <a:r>
              <a:rPr sz="1195" spc="-75" dirty="0">
                <a:latin typeface="Arial"/>
                <a:cs typeface="Arial"/>
              </a:rPr>
              <a:t>20</a:t>
            </a:r>
            <a:endParaRPr sz="1195">
              <a:latin typeface="Arial"/>
              <a:cs typeface="Arial"/>
            </a:endParaRPr>
          </a:p>
          <a:p>
            <a:pPr marL="56210">
              <a:lnSpc>
                <a:spcPts val="1412"/>
              </a:lnSpc>
            </a:pPr>
            <a:r>
              <a:rPr sz="1195" spc="-75" dirty="0">
                <a:latin typeface="Arial"/>
                <a:cs typeface="Arial"/>
              </a:rPr>
              <a:t>6</a:t>
            </a:r>
            <a:endParaRPr sz="1195">
              <a:latin typeface="Arial"/>
              <a:cs typeface="Arial"/>
            </a:endParaRPr>
          </a:p>
        </p:txBody>
      </p:sp>
      <p:sp>
        <p:nvSpPr>
          <p:cNvPr id="5" name="object 5"/>
          <p:cNvSpPr txBox="1"/>
          <p:nvPr/>
        </p:nvSpPr>
        <p:spPr>
          <a:xfrm>
            <a:off x="4826988" y="2147194"/>
            <a:ext cx="97803" cy="567145"/>
          </a:xfrm>
          <a:prstGeom prst="rect">
            <a:avLst/>
          </a:prstGeom>
        </p:spPr>
        <p:txBody>
          <a:bodyPr vert="horz" wrap="square" lIns="0" tIns="11242" rIns="0" bIns="0" rtlCol="0">
            <a:spAutoFit/>
          </a:bodyPr>
          <a:lstStyle/>
          <a:p>
            <a:pPr marL="11242">
              <a:spcBef>
                <a:spcPts val="89"/>
              </a:spcBef>
            </a:pPr>
            <a:r>
              <a:rPr sz="1195" spc="-75" dirty="0">
                <a:latin typeface="Arial"/>
                <a:cs typeface="Arial"/>
              </a:rPr>
              <a:t>6</a:t>
            </a:r>
            <a:endParaRPr sz="1195">
              <a:latin typeface="Arial"/>
              <a:cs typeface="Arial"/>
            </a:endParaRPr>
          </a:p>
          <a:p>
            <a:pPr marL="11242">
              <a:lnSpc>
                <a:spcPts val="1416"/>
              </a:lnSpc>
              <a:spcBef>
                <a:spcPts val="58"/>
              </a:spcBef>
            </a:pPr>
            <a:r>
              <a:rPr sz="1195" spc="-75" dirty="0">
                <a:latin typeface="Arial"/>
                <a:cs typeface="Arial"/>
              </a:rPr>
              <a:t>8</a:t>
            </a:r>
            <a:endParaRPr sz="1195">
              <a:latin typeface="Arial"/>
              <a:cs typeface="Arial"/>
            </a:endParaRPr>
          </a:p>
          <a:p>
            <a:pPr marL="11242">
              <a:lnSpc>
                <a:spcPts val="1412"/>
              </a:lnSpc>
            </a:pPr>
            <a:r>
              <a:rPr sz="1195" spc="-75" dirty="0">
                <a:latin typeface="Arial"/>
                <a:cs typeface="Arial"/>
              </a:rPr>
              <a:t>5</a:t>
            </a:r>
            <a:endParaRPr sz="1195">
              <a:latin typeface="Arial"/>
              <a:cs typeface="Arial"/>
            </a:endParaRPr>
          </a:p>
        </p:txBody>
      </p:sp>
      <p:sp>
        <p:nvSpPr>
          <p:cNvPr id="6" name="object 6"/>
          <p:cNvSpPr txBox="1"/>
          <p:nvPr/>
        </p:nvSpPr>
        <p:spPr>
          <a:xfrm>
            <a:off x="5197969" y="1968729"/>
            <a:ext cx="1573859" cy="752514"/>
          </a:xfrm>
          <a:prstGeom prst="rect">
            <a:avLst/>
          </a:prstGeom>
          <a:solidFill>
            <a:srgbClr val="C0C0C0"/>
          </a:solidFill>
        </p:spPr>
        <p:txBody>
          <a:bodyPr vert="horz" wrap="square" lIns="0" tIns="0" rIns="0" bIns="0" rtlCol="0">
            <a:spAutoFit/>
          </a:bodyPr>
          <a:lstStyle/>
          <a:p>
            <a:pPr marR="75322" algn="r">
              <a:tabLst>
                <a:tab pos="1179852" algn="l"/>
              </a:tabLst>
            </a:pPr>
            <a:r>
              <a:rPr sz="1195" spc="-66" dirty="0">
                <a:latin typeface="Arial"/>
                <a:cs typeface="Arial"/>
              </a:rPr>
              <a:t>scenarios </a:t>
            </a:r>
            <a:r>
              <a:rPr sz="1195" spc="-80" dirty="0">
                <a:latin typeface="Arial"/>
                <a:cs typeface="Arial"/>
              </a:rPr>
              <a:t> </a:t>
            </a:r>
            <a:r>
              <a:rPr sz="1195" spc="-75" dirty="0">
                <a:latin typeface="Arial"/>
                <a:cs typeface="Arial"/>
              </a:rPr>
              <a:t>pages</a:t>
            </a:r>
            <a:r>
              <a:rPr sz="1195" dirty="0">
                <a:latin typeface="Arial"/>
                <a:cs typeface="Arial"/>
              </a:rPr>
              <a:t>	</a:t>
            </a:r>
            <a:r>
              <a:rPr sz="1195" spc="-93" dirty="0">
                <a:latin typeface="Arial"/>
                <a:cs typeface="Arial"/>
              </a:rPr>
              <a:t>LOC</a:t>
            </a:r>
            <a:endParaRPr sz="1195">
              <a:latin typeface="Arial"/>
              <a:cs typeface="Arial"/>
            </a:endParaRPr>
          </a:p>
          <a:p>
            <a:pPr marR="105113" algn="r">
              <a:spcBef>
                <a:spcPts val="58"/>
              </a:spcBef>
              <a:tabLst>
                <a:tab pos="584024" algn="l"/>
                <a:tab pos="988737" algn="l"/>
              </a:tabLst>
            </a:pPr>
            <a:r>
              <a:rPr sz="1195" spc="-75" dirty="0">
                <a:latin typeface="Arial"/>
                <a:cs typeface="Arial"/>
              </a:rPr>
              <a:t>12	5	560</a:t>
            </a:r>
            <a:endParaRPr sz="1195">
              <a:latin typeface="Arial"/>
              <a:cs typeface="Arial"/>
            </a:endParaRPr>
          </a:p>
          <a:p>
            <a:pPr marR="64080" algn="r">
              <a:lnSpc>
                <a:spcPts val="1416"/>
              </a:lnSpc>
              <a:spcBef>
                <a:spcPts val="62"/>
              </a:spcBef>
              <a:tabLst>
                <a:tab pos="584024" algn="l"/>
                <a:tab pos="955011" algn="l"/>
              </a:tabLst>
            </a:pPr>
            <a:r>
              <a:rPr sz="1195" spc="-75" dirty="0">
                <a:latin typeface="Arial"/>
                <a:cs typeface="Arial"/>
              </a:rPr>
              <a:t>16	8	3100</a:t>
            </a:r>
            <a:endParaRPr sz="1195">
              <a:latin typeface="Arial"/>
              <a:cs typeface="Arial"/>
            </a:endParaRPr>
          </a:p>
          <a:p>
            <a:pPr marR="64080" algn="r">
              <a:lnSpc>
                <a:spcPts val="1412"/>
              </a:lnSpc>
              <a:tabLst>
                <a:tab pos="584024" algn="l"/>
                <a:tab pos="955011" algn="l"/>
              </a:tabLst>
            </a:pPr>
            <a:r>
              <a:rPr sz="1195" spc="-75" dirty="0">
                <a:latin typeface="Arial"/>
                <a:cs typeface="Arial"/>
              </a:rPr>
              <a:t>10	6	1650</a:t>
            </a:r>
            <a:endParaRPr sz="1195">
              <a:latin typeface="Arial"/>
              <a:cs typeface="Arial"/>
            </a:endParaRPr>
          </a:p>
        </p:txBody>
      </p:sp>
      <p:sp>
        <p:nvSpPr>
          <p:cNvPr id="7" name="object 7"/>
          <p:cNvSpPr txBox="1"/>
          <p:nvPr/>
        </p:nvSpPr>
        <p:spPr>
          <a:xfrm>
            <a:off x="6794312" y="1957487"/>
            <a:ext cx="847073" cy="763865"/>
          </a:xfrm>
          <a:prstGeom prst="rect">
            <a:avLst/>
          </a:prstGeom>
        </p:spPr>
        <p:txBody>
          <a:bodyPr vert="horz" wrap="square" lIns="0" tIns="11242" rIns="0" bIns="0" rtlCol="0">
            <a:spAutoFit/>
          </a:bodyPr>
          <a:lstStyle/>
          <a:p>
            <a:pPr marR="11804" algn="r">
              <a:spcBef>
                <a:spcPts val="89"/>
              </a:spcBef>
            </a:pPr>
            <a:r>
              <a:rPr sz="1195" spc="-93" dirty="0">
                <a:latin typeface="Arial"/>
                <a:cs typeface="Arial"/>
              </a:rPr>
              <a:t>LOC</a:t>
            </a:r>
            <a:r>
              <a:rPr sz="1195" spc="-159" dirty="0">
                <a:latin typeface="Arial"/>
                <a:cs typeface="Arial"/>
              </a:rPr>
              <a:t> </a:t>
            </a:r>
            <a:r>
              <a:rPr sz="1195" spc="-66" dirty="0">
                <a:latin typeface="Arial"/>
                <a:cs typeface="Arial"/>
              </a:rPr>
              <a:t>estimate</a:t>
            </a:r>
            <a:endParaRPr sz="1195">
              <a:latin typeface="Arial"/>
              <a:cs typeface="Arial"/>
            </a:endParaRPr>
          </a:p>
          <a:p>
            <a:pPr marR="4497" algn="r">
              <a:spcBef>
                <a:spcPts val="58"/>
              </a:spcBef>
            </a:pPr>
            <a:r>
              <a:rPr sz="1195" spc="-75" dirty="0">
                <a:latin typeface="Arial"/>
                <a:cs typeface="Arial"/>
              </a:rPr>
              <a:t>3,366</a:t>
            </a:r>
            <a:endParaRPr sz="1195">
              <a:latin typeface="Arial"/>
              <a:cs typeface="Arial"/>
            </a:endParaRPr>
          </a:p>
          <a:p>
            <a:pPr marR="4497" algn="r">
              <a:lnSpc>
                <a:spcPts val="1416"/>
              </a:lnSpc>
              <a:spcBef>
                <a:spcPts val="62"/>
              </a:spcBef>
            </a:pPr>
            <a:r>
              <a:rPr sz="1195" spc="-75" dirty="0">
                <a:latin typeface="Arial"/>
                <a:cs typeface="Arial"/>
              </a:rPr>
              <a:t>31,233</a:t>
            </a:r>
            <a:endParaRPr sz="1195">
              <a:latin typeface="Arial"/>
              <a:cs typeface="Arial"/>
            </a:endParaRPr>
          </a:p>
          <a:p>
            <a:pPr marR="4497" algn="r">
              <a:lnSpc>
                <a:spcPts val="1412"/>
              </a:lnSpc>
            </a:pPr>
            <a:r>
              <a:rPr sz="1195" spc="-75" dirty="0">
                <a:latin typeface="Arial"/>
                <a:cs typeface="Arial"/>
              </a:rPr>
              <a:t>7,970</a:t>
            </a:r>
            <a:endParaRPr sz="1195">
              <a:latin typeface="Arial"/>
              <a:cs typeface="Arial"/>
            </a:endParaRPr>
          </a:p>
        </p:txBody>
      </p:sp>
      <p:sp>
        <p:nvSpPr>
          <p:cNvPr id="8" name="object 8"/>
          <p:cNvSpPr txBox="1"/>
          <p:nvPr/>
        </p:nvSpPr>
        <p:spPr>
          <a:xfrm>
            <a:off x="1982799" y="2172811"/>
            <a:ext cx="1139924" cy="920124"/>
          </a:xfrm>
          <a:prstGeom prst="rect">
            <a:avLst/>
          </a:prstGeom>
        </p:spPr>
        <p:txBody>
          <a:bodyPr vert="horz" wrap="square" lIns="0" tIns="0" rIns="0" bIns="0" rtlCol="0">
            <a:spAutoFit/>
          </a:bodyPr>
          <a:lstStyle/>
          <a:p>
            <a:pPr marL="44968">
              <a:lnSpc>
                <a:spcPts val="1319"/>
              </a:lnSpc>
            </a:pPr>
            <a:r>
              <a:rPr sz="1195" spc="-75" dirty="0">
                <a:latin typeface="Arial"/>
                <a:cs typeface="Arial"/>
              </a:rPr>
              <a:t>e</a:t>
            </a:r>
            <a:r>
              <a:rPr sz="1195" spc="-49" dirty="0">
                <a:latin typeface="Arial"/>
                <a:cs typeface="Arial"/>
              </a:rPr>
              <a:t> </a:t>
            </a:r>
            <a:r>
              <a:rPr sz="1195" spc="-75" dirty="0">
                <a:latin typeface="Arial"/>
                <a:cs typeface="Arial"/>
              </a:rPr>
              <a:t>subsystem</a:t>
            </a:r>
            <a:endParaRPr sz="1195">
              <a:latin typeface="Arial"/>
              <a:cs typeface="Arial"/>
            </a:endParaRPr>
          </a:p>
          <a:p>
            <a:pPr indent="33726">
              <a:lnSpc>
                <a:spcPts val="1399"/>
              </a:lnSpc>
              <a:spcBef>
                <a:spcPts val="133"/>
              </a:spcBef>
            </a:pPr>
            <a:r>
              <a:rPr sz="1195" spc="-75" dirty="0">
                <a:latin typeface="Arial"/>
                <a:cs typeface="Arial"/>
              </a:rPr>
              <a:t>subsystem </a:t>
            </a:r>
            <a:r>
              <a:rPr sz="1195" spc="-71" dirty="0">
                <a:latin typeface="Arial"/>
                <a:cs typeface="Arial"/>
              </a:rPr>
              <a:t>group  </a:t>
            </a:r>
            <a:r>
              <a:rPr sz="1195" spc="-75" dirty="0">
                <a:latin typeface="Arial"/>
                <a:cs typeface="Arial"/>
              </a:rPr>
              <a:t>e subsystem</a:t>
            </a:r>
            <a:r>
              <a:rPr sz="1195" spc="-40" dirty="0">
                <a:latin typeface="Arial"/>
                <a:cs typeface="Arial"/>
              </a:rPr>
              <a:t> </a:t>
            </a:r>
            <a:r>
              <a:rPr sz="1195" spc="-71" dirty="0">
                <a:latin typeface="Arial"/>
                <a:cs typeface="Arial"/>
              </a:rPr>
              <a:t>group</a:t>
            </a:r>
            <a:endParaRPr sz="1195">
              <a:latin typeface="Arial"/>
              <a:cs typeface="Arial"/>
            </a:endParaRPr>
          </a:p>
          <a:p>
            <a:pPr>
              <a:spcBef>
                <a:spcPts val="35"/>
              </a:spcBef>
            </a:pPr>
            <a:endParaRPr sz="1284">
              <a:latin typeface="Times New Roman"/>
              <a:cs typeface="Times New Roman"/>
            </a:endParaRPr>
          </a:p>
          <a:p>
            <a:pPr marL="11242"/>
            <a:r>
              <a:rPr sz="1195" spc="-62" dirty="0">
                <a:latin typeface="Arial"/>
                <a:cs typeface="Arial"/>
              </a:rPr>
              <a:t>stimate</a:t>
            </a:r>
            <a:endParaRPr sz="1195">
              <a:latin typeface="Arial"/>
              <a:cs typeface="Arial"/>
            </a:endParaRPr>
          </a:p>
        </p:txBody>
      </p:sp>
      <p:sp>
        <p:nvSpPr>
          <p:cNvPr id="9" name="object 9"/>
          <p:cNvSpPr txBox="1"/>
          <p:nvPr/>
        </p:nvSpPr>
        <p:spPr>
          <a:xfrm>
            <a:off x="7206546" y="2893371"/>
            <a:ext cx="435060" cy="195248"/>
          </a:xfrm>
          <a:prstGeom prst="rect">
            <a:avLst/>
          </a:prstGeom>
        </p:spPr>
        <p:txBody>
          <a:bodyPr vert="horz" wrap="square" lIns="0" tIns="11242" rIns="0" bIns="0" rtlCol="0">
            <a:spAutoFit/>
          </a:bodyPr>
          <a:lstStyle/>
          <a:p>
            <a:pPr marL="11242">
              <a:spcBef>
                <a:spcPts val="89"/>
              </a:spcBef>
            </a:pPr>
            <a:r>
              <a:rPr sz="1195" spc="-75" dirty="0">
                <a:latin typeface="Arial"/>
                <a:cs typeface="Arial"/>
              </a:rPr>
              <a:t>42,568</a:t>
            </a:r>
            <a:endParaRPr sz="1195">
              <a:latin typeface="Arial"/>
              <a:cs typeface="Arial"/>
            </a:endParaRPr>
          </a:p>
        </p:txBody>
      </p:sp>
      <p:sp>
        <p:nvSpPr>
          <p:cNvPr id="10" name="object 10"/>
          <p:cNvSpPr/>
          <p:nvPr/>
        </p:nvSpPr>
        <p:spPr>
          <a:xfrm>
            <a:off x="1596296" y="1875537"/>
            <a:ext cx="1652552" cy="1227048"/>
          </a:xfrm>
          <a:custGeom>
            <a:avLst/>
            <a:gdLst/>
            <a:ahLst/>
            <a:cxnLst/>
            <a:rect l="l" t="t" r="r" b="b"/>
            <a:pathLst>
              <a:path w="1866900" h="1386204">
                <a:moveTo>
                  <a:pt x="0" y="0"/>
                </a:moveTo>
                <a:lnTo>
                  <a:pt x="1866900" y="0"/>
                </a:lnTo>
                <a:lnTo>
                  <a:pt x="1866900" y="1385887"/>
                </a:lnTo>
                <a:lnTo>
                  <a:pt x="0" y="1385887"/>
                </a:lnTo>
                <a:lnTo>
                  <a:pt x="0" y="0"/>
                </a:lnTo>
                <a:close/>
              </a:path>
            </a:pathLst>
          </a:custGeom>
          <a:solidFill>
            <a:srgbClr val="FFFFFF"/>
          </a:solidFill>
        </p:spPr>
        <p:txBody>
          <a:bodyPr wrap="square" lIns="0" tIns="0" rIns="0" bIns="0" rtlCol="0"/>
          <a:lstStyle/>
          <a:p>
            <a:endParaRPr sz="1593"/>
          </a:p>
        </p:txBody>
      </p:sp>
      <p:sp>
        <p:nvSpPr>
          <p:cNvPr id="11" name="object 11"/>
          <p:cNvSpPr txBox="1"/>
          <p:nvPr/>
        </p:nvSpPr>
        <p:spPr>
          <a:xfrm>
            <a:off x="1342014" y="2172488"/>
            <a:ext cx="1882448" cy="503666"/>
          </a:xfrm>
          <a:prstGeom prst="rect">
            <a:avLst/>
          </a:prstGeom>
        </p:spPr>
        <p:txBody>
          <a:bodyPr vert="horz" wrap="square" lIns="0" tIns="41595" rIns="0" bIns="0" rtlCol="0">
            <a:spAutoFit/>
          </a:bodyPr>
          <a:lstStyle/>
          <a:p>
            <a:pPr marL="11242" marR="4497">
              <a:lnSpc>
                <a:spcPts val="1195"/>
              </a:lnSpc>
              <a:spcBef>
                <a:spcPts val="328"/>
              </a:spcBef>
            </a:pPr>
            <a:r>
              <a:rPr sz="1195" spc="-71" dirty="0">
                <a:latin typeface="Arial"/>
                <a:cs typeface="Arial"/>
              </a:rPr>
              <a:t>User </a:t>
            </a:r>
            <a:r>
              <a:rPr sz="1195" spc="-58" dirty="0">
                <a:latin typeface="Arial"/>
                <a:cs typeface="Arial"/>
              </a:rPr>
              <a:t>interface </a:t>
            </a:r>
            <a:r>
              <a:rPr sz="1195" spc="-75" dirty="0">
                <a:latin typeface="Arial"/>
                <a:cs typeface="Arial"/>
              </a:rPr>
              <a:t>subsystem  </a:t>
            </a:r>
            <a:r>
              <a:rPr sz="1195" spc="-66" dirty="0">
                <a:latin typeface="Arial"/>
                <a:cs typeface="Arial"/>
              </a:rPr>
              <a:t>Engineering </a:t>
            </a:r>
            <a:r>
              <a:rPr sz="1195" spc="-75" dirty="0">
                <a:latin typeface="Arial"/>
                <a:cs typeface="Arial"/>
              </a:rPr>
              <a:t>subsystem </a:t>
            </a:r>
            <a:r>
              <a:rPr sz="1195" spc="-71" dirty="0">
                <a:latin typeface="Arial"/>
                <a:cs typeface="Arial"/>
              </a:rPr>
              <a:t>group  </a:t>
            </a:r>
            <a:r>
              <a:rPr sz="1195" spc="-58" dirty="0">
                <a:latin typeface="Arial"/>
                <a:cs typeface="Arial"/>
              </a:rPr>
              <a:t>Infrastructure </a:t>
            </a:r>
            <a:r>
              <a:rPr sz="1195" spc="-75" dirty="0">
                <a:latin typeface="Arial"/>
                <a:cs typeface="Arial"/>
              </a:rPr>
              <a:t>subsystem</a:t>
            </a:r>
            <a:r>
              <a:rPr sz="1195" spc="-44" dirty="0">
                <a:latin typeface="Arial"/>
                <a:cs typeface="Arial"/>
              </a:rPr>
              <a:t> </a:t>
            </a:r>
            <a:r>
              <a:rPr sz="1195" spc="-71" dirty="0">
                <a:latin typeface="Arial"/>
                <a:cs typeface="Arial"/>
              </a:rPr>
              <a:t>group</a:t>
            </a:r>
            <a:endParaRPr sz="1195" dirty="0">
              <a:latin typeface="Arial"/>
              <a:cs typeface="Arial"/>
            </a:endParaRPr>
          </a:p>
        </p:txBody>
      </p:sp>
      <p:sp>
        <p:nvSpPr>
          <p:cNvPr id="12" name="object 12"/>
          <p:cNvSpPr txBox="1"/>
          <p:nvPr/>
        </p:nvSpPr>
        <p:spPr>
          <a:xfrm>
            <a:off x="1342014" y="2779548"/>
            <a:ext cx="1177022" cy="195248"/>
          </a:xfrm>
          <a:prstGeom prst="rect">
            <a:avLst/>
          </a:prstGeom>
        </p:spPr>
        <p:txBody>
          <a:bodyPr vert="horz" wrap="square" lIns="0" tIns="11242" rIns="0" bIns="0" rtlCol="0">
            <a:spAutoFit/>
          </a:bodyPr>
          <a:lstStyle/>
          <a:p>
            <a:pPr marL="11242">
              <a:spcBef>
                <a:spcPts val="89"/>
              </a:spcBef>
            </a:pPr>
            <a:r>
              <a:rPr sz="1195" spc="-62" dirty="0">
                <a:latin typeface="Arial"/>
                <a:cs typeface="Arial"/>
              </a:rPr>
              <a:t>Total </a:t>
            </a:r>
            <a:r>
              <a:rPr sz="1195" spc="-93" dirty="0">
                <a:latin typeface="Arial"/>
                <a:cs typeface="Arial"/>
              </a:rPr>
              <a:t>LOC</a:t>
            </a:r>
            <a:r>
              <a:rPr sz="1195" spc="-115" dirty="0">
                <a:latin typeface="Arial"/>
                <a:cs typeface="Arial"/>
              </a:rPr>
              <a:t> </a:t>
            </a:r>
            <a:r>
              <a:rPr sz="1195" spc="-66" dirty="0">
                <a:latin typeface="Arial"/>
                <a:cs typeface="Arial"/>
              </a:rPr>
              <a:t>estimate</a:t>
            </a:r>
            <a:endParaRPr sz="1195">
              <a:latin typeface="Arial"/>
              <a:cs typeface="Arial"/>
            </a:endParaRPr>
          </a:p>
        </p:txBody>
      </p:sp>
      <p:sp>
        <p:nvSpPr>
          <p:cNvPr id="13" name="object 13"/>
          <p:cNvSpPr/>
          <p:nvPr/>
        </p:nvSpPr>
        <p:spPr>
          <a:xfrm>
            <a:off x="1873242" y="3649717"/>
            <a:ext cx="5430427" cy="349519"/>
          </a:xfrm>
          <a:prstGeom prst="rect">
            <a:avLst/>
          </a:prstGeom>
          <a:blipFill>
            <a:blip r:embed="rId2" cstate="print"/>
            <a:stretch>
              <a:fillRect/>
            </a:stretch>
          </a:blipFill>
        </p:spPr>
        <p:txBody>
          <a:bodyPr wrap="square" lIns="0" tIns="0" rIns="0" bIns="0" rtlCol="0"/>
          <a:lstStyle/>
          <a:p>
            <a:endParaRPr sz="1593"/>
          </a:p>
        </p:txBody>
      </p:sp>
      <p:sp>
        <p:nvSpPr>
          <p:cNvPr id="14" name="object 14"/>
          <p:cNvSpPr/>
          <p:nvPr/>
        </p:nvSpPr>
        <p:spPr>
          <a:xfrm>
            <a:off x="1873242" y="3885183"/>
            <a:ext cx="5621743" cy="349519"/>
          </a:xfrm>
          <a:prstGeom prst="rect">
            <a:avLst/>
          </a:prstGeom>
          <a:blipFill>
            <a:blip r:embed="rId3" cstate="print"/>
            <a:stretch>
              <a:fillRect/>
            </a:stretch>
          </a:blipFill>
        </p:spPr>
        <p:txBody>
          <a:bodyPr wrap="square" lIns="0" tIns="0" rIns="0" bIns="0" rtlCol="0"/>
          <a:lstStyle/>
          <a:p>
            <a:endParaRPr sz="1593"/>
          </a:p>
        </p:txBody>
      </p:sp>
      <p:sp>
        <p:nvSpPr>
          <p:cNvPr id="15" name="object 15"/>
          <p:cNvSpPr/>
          <p:nvPr/>
        </p:nvSpPr>
        <p:spPr>
          <a:xfrm>
            <a:off x="1873242" y="4135366"/>
            <a:ext cx="5441464" cy="345840"/>
          </a:xfrm>
          <a:prstGeom prst="rect">
            <a:avLst/>
          </a:prstGeom>
          <a:blipFill>
            <a:blip r:embed="rId4" cstate="print"/>
            <a:stretch>
              <a:fillRect/>
            </a:stretch>
          </a:blipFill>
        </p:spPr>
        <p:txBody>
          <a:bodyPr wrap="square" lIns="0" tIns="0" rIns="0" bIns="0" rtlCol="0"/>
          <a:lstStyle/>
          <a:p>
            <a:endParaRPr sz="1593"/>
          </a:p>
        </p:txBody>
      </p:sp>
      <p:sp>
        <p:nvSpPr>
          <p:cNvPr id="16" name="object 16"/>
          <p:cNvSpPr/>
          <p:nvPr/>
        </p:nvSpPr>
        <p:spPr>
          <a:xfrm>
            <a:off x="1873242" y="4370831"/>
            <a:ext cx="5338448" cy="345840"/>
          </a:xfrm>
          <a:prstGeom prst="rect">
            <a:avLst/>
          </a:prstGeom>
          <a:blipFill>
            <a:blip r:embed="rId5" cstate="print"/>
            <a:stretch>
              <a:fillRect/>
            </a:stretch>
          </a:blipFill>
        </p:spPr>
        <p:txBody>
          <a:bodyPr wrap="square" lIns="0" tIns="0" rIns="0" bIns="0" rtlCol="0"/>
          <a:lstStyle/>
          <a:p>
            <a:endParaRPr sz="1593"/>
          </a:p>
        </p:txBody>
      </p:sp>
      <p:sp>
        <p:nvSpPr>
          <p:cNvPr id="17" name="object 17"/>
          <p:cNvSpPr txBox="1"/>
          <p:nvPr/>
        </p:nvSpPr>
        <p:spPr>
          <a:xfrm>
            <a:off x="1463987" y="3284963"/>
            <a:ext cx="6229672" cy="1227095"/>
          </a:xfrm>
          <a:prstGeom prst="rect">
            <a:avLst/>
          </a:prstGeom>
        </p:spPr>
        <p:txBody>
          <a:bodyPr vert="horz" wrap="square" lIns="0" tIns="13490" rIns="0" bIns="0" rtlCol="0">
            <a:spAutoFit/>
          </a:bodyPr>
          <a:lstStyle/>
          <a:p>
            <a:pPr marL="11242" marR="4497">
              <a:lnSpc>
                <a:spcPct val="99100"/>
              </a:lnSpc>
              <a:spcBef>
                <a:spcPts val="106"/>
              </a:spcBef>
            </a:pPr>
            <a:r>
              <a:rPr sz="1593" spc="-4" dirty="0">
                <a:latin typeface="Book Antiqua"/>
                <a:cs typeface="Book Antiqua"/>
              </a:rPr>
              <a:t>Using </a:t>
            </a:r>
            <a:r>
              <a:rPr sz="1593" dirty="0">
                <a:latin typeface="Book Antiqua"/>
                <a:cs typeface="Book Antiqua"/>
              </a:rPr>
              <a:t>620 </a:t>
            </a:r>
            <a:r>
              <a:rPr sz="1593" spc="-4" dirty="0">
                <a:latin typeface="Book Antiqua"/>
                <a:cs typeface="Book Antiqua"/>
              </a:rPr>
              <a:t>LOC/pm </a:t>
            </a:r>
            <a:r>
              <a:rPr sz="1593" dirty="0">
                <a:latin typeface="Book Antiqua"/>
                <a:cs typeface="Book Antiqua"/>
              </a:rPr>
              <a:t>as </a:t>
            </a:r>
            <a:r>
              <a:rPr sz="1593" spc="-4" dirty="0">
                <a:latin typeface="Book Antiqua"/>
                <a:cs typeface="Book Antiqua"/>
              </a:rPr>
              <a:t>the average productivity for systems  </a:t>
            </a:r>
            <a:r>
              <a:rPr sz="1593" dirty="0">
                <a:latin typeface="Book Antiqua"/>
                <a:cs typeface="Book Antiqua"/>
              </a:rPr>
              <a:t>of </a:t>
            </a:r>
            <a:r>
              <a:rPr sz="1593" spc="-4" dirty="0">
                <a:latin typeface="Book Antiqua"/>
                <a:cs typeface="Book Antiqua"/>
              </a:rPr>
              <a:t>this </a:t>
            </a:r>
            <a:r>
              <a:rPr sz="1593" dirty="0">
                <a:latin typeface="Book Antiqua"/>
                <a:cs typeface="Book Antiqua"/>
              </a:rPr>
              <a:t>type and a </a:t>
            </a:r>
            <a:r>
              <a:rPr sz="1593" spc="-4" dirty="0">
                <a:latin typeface="Book Antiqua"/>
                <a:cs typeface="Book Antiqua"/>
              </a:rPr>
              <a:t>burdened </a:t>
            </a:r>
            <a:r>
              <a:rPr sz="1593" dirty="0">
                <a:latin typeface="Book Antiqua"/>
                <a:cs typeface="Book Antiqua"/>
              </a:rPr>
              <a:t>labor rate of $8000 per </a:t>
            </a:r>
            <a:r>
              <a:rPr sz="1593" spc="-4" dirty="0">
                <a:latin typeface="Book Antiqua"/>
                <a:cs typeface="Book Antiqua"/>
              </a:rPr>
              <a:t>month,</a:t>
            </a:r>
            <a:r>
              <a:rPr sz="1593" spc="-71" dirty="0">
                <a:latin typeface="Book Antiqua"/>
                <a:cs typeface="Book Antiqua"/>
              </a:rPr>
              <a:t> </a:t>
            </a:r>
            <a:r>
              <a:rPr sz="1593" spc="-4" dirty="0">
                <a:latin typeface="Book Antiqua"/>
                <a:cs typeface="Book Antiqua"/>
              </a:rPr>
              <a:t>the  cost </a:t>
            </a:r>
            <a:r>
              <a:rPr sz="1593" dirty="0">
                <a:latin typeface="Book Antiqua"/>
                <a:cs typeface="Book Antiqua"/>
              </a:rPr>
              <a:t>per </a:t>
            </a:r>
            <a:r>
              <a:rPr sz="1593" spc="-4" dirty="0">
                <a:latin typeface="Book Antiqua"/>
                <a:cs typeface="Book Antiqua"/>
              </a:rPr>
              <a:t>line </a:t>
            </a:r>
            <a:r>
              <a:rPr sz="1593" dirty="0">
                <a:latin typeface="Book Antiqua"/>
                <a:cs typeface="Book Antiqua"/>
              </a:rPr>
              <a:t>of </a:t>
            </a:r>
            <a:r>
              <a:rPr sz="1593" spc="-4" dirty="0">
                <a:latin typeface="Book Antiqua"/>
                <a:cs typeface="Book Antiqua"/>
              </a:rPr>
              <a:t>code </a:t>
            </a:r>
            <a:r>
              <a:rPr sz="1593" dirty="0">
                <a:latin typeface="Book Antiqua"/>
                <a:cs typeface="Book Antiqua"/>
              </a:rPr>
              <a:t>is </a:t>
            </a:r>
            <a:r>
              <a:rPr sz="1593" spc="-4" dirty="0">
                <a:latin typeface="Book Antiqua"/>
                <a:cs typeface="Book Antiqua"/>
              </a:rPr>
              <a:t>approximately </a:t>
            </a:r>
            <a:r>
              <a:rPr sz="1593" dirty="0">
                <a:latin typeface="Book Antiqua"/>
                <a:cs typeface="Book Antiqua"/>
              </a:rPr>
              <a:t>$13. </a:t>
            </a:r>
            <a:r>
              <a:rPr sz="1593" spc="-4" dirty="0">
                <a:latin typeface="Book Antiqua"/>
                <a:cs typeface="Book Antiqua"/>
              </a:rPr>
              <a:t>Based </a:t>
            </a:r>
            <a:r>
              <a:rPr sz="1593" dirty="0">
                <a:latin typeface="Book Antiqua"/>
                <a:cs typeface="Book Antiqua"/>
              </a:rPr>
              <a:t>on </a:t>
            </a:r>
            <a:r>
              <a:rPr sz="1593" spc="-4" dirty="0">
                <a:latin typeface="Book Antiqua"/>
                <a:cs typeface="Book Antiqua"/>
              </a:rPr>
              <a:t>the use-  case estimate </a:t>
            </a:r>
            <a:r>
              <a:rPr sz="1593" dirty="0">
                <a:latin typeface="Book Antiqua"/>
                <a:cs typeface="Book Antiqua"/>
              </a:rPr>
              <a:t>and </a:t>
            </a:r>
            <a:r>
              <a:rPr sz="1593" spc="-4" dirty="0">
                <a:latin typeface="Book Antiqua"/>
                <a:cs typeface="Book Antiqua"/>
              </a:rPr>
              <a:t>the historical productivity data, </a:t>
            </a:r>
            <a:r>
              <a:rPr sz="1593" b="1" spc="-4" dirty="0">
                <a:solidFill>
                  <a:srgbClr val="9A0000"/>
                </a:solidFill>
                <a:latin typeface="Book Antiqua"/>
                <a:cs typeface="Book Antiqua"/>
              </a:rPr>
              <a:t>the </a:t>
            </a:r>
            <a:r>
              <a:rPr sz="1593" b="1" dirty="0">
                <a:solidFill>
                  <a:srgbClr val="9A0000"/>
                </a:solidFill>
                <a:latin typeface="Book Antiqua"/>
                <a:cs typeface="Book Antiqua"/>
              </a:rPr>
              <a:t>total  </a:t>
            </a:r>
            <a:r>
              <a:rPr sz="1593" b="1" spc="-4" dirty="0">
                <a:solidFill>
                  <a:srgbClr val="9A0000"/>
                </a:solidFill>
                <a:latin typeface="Book Antiqua"/>
                <a:cs typeface="Book Antiqua"/>
              </a:rPr>
              <a:t>estimated project cost </a:t>
            </a:r>
            <a:r>
              <a:rPr sz="1593" b="1" dirty="0">
                <a:solidFill>
                  <a:srgbClr val="9A0000"/>
                </a:solidFill>
                <a:latin typeface="Book Antiqua"/>
                <a:cs typeface="Book Antiqua"/>
              </a:rPr>
              <a:t>is </a:t>
            </a:r>
            <a:r>
              <a:rPr sz="1593" b="1" spc="-4" dirty="0">
                <a:solidFill>
                  <a:srgbClr val="9A0000"/>
                </a:solidFill>
                <a:latin typeface="Book Antiqua"/>
                <a:cs typeface="Book Antiqua"/>
              </a:rPr>
              <a:t>$42,568*13 </a:t>
            </a:r>
            <a:r>
              <a:rPr sz="1593" b="1" dirty="0">
                <a:solidFill>
                  <a:srgbClr val="9A0000"/>
                </a:solidFill>
                <a:latin typeface="Book Antiqua"/>
                <a:cs typeface="Book Antiqua"/>
              </a:rPr>
              <a:t>= $552,000 </a:t>
            </a:r>
            <a:r>
              <a:rPr sz="1593" b="1" spc="-4" dirty="0">
                <a:solidFill>
                  <a:srgbClr val="9A0000"/>
                </a:solidFill>
                <a:latin typeface="Book Antiqua"/>
                <a:cs typeface="Book Antiqua"/>
              </a:rPr>
              <a:t>and the  estimated </a:t>
            </a:r>
            <a:r>
              <a:rPr sz="1593" b="1" spc="-9" dirty="0">
                <a:solidFill>
                  <a:srgbClr val="9A0000"/>
                </a:solidFill>
                <a:latin typeface="Book Antiqua"/>
                <a:cs typeface="Book Antiqua"/>
              </a:rPr>
              <a:t>effort </a:t>
            </a:r>
            <a:r>
              <a:rPr sz="1593" b="1" dirty="0">
                <a:solidFill>
                  <a:srgbClr val="9A0000"/>
                </a:solidFill>
                <a:latin typeface="Book Antiqua"/>
                <a:cs typeface="Book Antiqua"/>
              </a:rPr>
              <a:t>is 68</a:t>
            </a:r>
            <a:r>
              <a:rPr sz="1593" b="1" spc="4" dirty="0">
                <a:solidFill>
                  <a:srgbClr val="9A0000"/>
                </a:solidFill>
                <a:latin typeface="Book Antiqua"/>
                <a:cs typeface="Book Antiqua"/>
              </a:rPr>
              <a:t> </a:t>
            </a:r>
            <a:r>
              <a:rPr sz="1593" b="1" spc="-4" dirty="0">
                <a:solidFill>
                  <a:srgbClr val="9A0000"/>
                </a:solidFill>
                <a:latin typeface="Book Antiqua"/>
                <a:cs typeface="Book Antiqua"/>
              </a:rPr>
              <a:t>person-months.</a:t>
            </a:r>
            <a:endParaRPr sz="1593" dirty="0">
              <a:latin typeface="Book Antiqua"/>
              <a:cs typeface="Book Antiqua"/>
            </a:endParaRPr>
          </a:p>
        </p:txBody>
      </p:sp>
      <p:sp>
        <p:nvSpPr>
          <p:cNvPr id="19" name="TextBox 18">
            <a:extLst>
              <a:ext uri="{FF2B5EF4-FFF2-40B4-BE49-F238E27FC236}">
                <a16:creationId xmlns:a16="http://schemas.microsoft.com/office/drawing/2014/main" id="{7EAD6F17-820E-4EB1-B9C0-C3F951212F94}"/>
              </a:ext>
            </a:extLst>
          </p:cNvPr>
          <p:cNvSpPr txBox="1"/>
          <p:nvPr/>
        </p:nvSpPr>
        <p:spPr>
          <a:xfrm>
            <a:off x="341489" y="4645226"/>
            <a:ext cx="7612539" cy="1563120"/>
          </a:xfrm>
          <a:prstGeom prst="rect">
            <a:avLst/>
          </a:prstGeom>
          <a:noFill/>
        </p:spPr>
        <p:txBody>
          <a:bodyPr wrap="square" rtlCol="0">
            <a:spAutoFit/>
          </a:bodyPr>
          <a:lstStyle/>
          <a:p>
            <a:r>
              <a:rPr lang="en-US" sz="1593" dirty="0"/>
              <a:t>Use cases provide software team with insight into software scope and requirements.</a:t>
            </a:r>
          </a:p>
          <a:p>
            <a:r>
              <a:rPr lang="en-US" sz="1593" dirty="0"/>
              <a:t>Problem :</a:t>
            </a:r>
          </a:p>
          <a:p>
            <a:r>
              <a:rPr lang="en-US" sz="1593" dirty="0"/>
              <a:t>They represent an external view of the software and can therefore be written at many</a:t>
            </a:r>
          </a:p>
          <a:p>
            <a:r>
              <a:rPr lang="en-US" sz="1593" dirty="0"/>
              <a:t>different levels  of abstraction. </a:t>
            </a:r>
            <a:r>
              <a:rPr lang="en-US" sz="1593"/>
              <a:t>They do </a:t>
            </a:r>
            <a:r>
              <a:rPr lang="en-US" sz="1593" dirty="0"/>
              <a:t>not address the complexity of the functions and features</a:t>
            </a:r>
          </a:p>
          <a:p>
            <a:endParaRPr lang="en-IN" sz="1593"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09370" y="2141266"/>
            <a:ext cx="5036758" cy="901392"/>
          </a:xfrm>
          <a:prstGeom prst="rect">
            <a:avLst/>
          </a:prstGeom>
          <a:blipFill>
            <a:blip r:embed="rId2" cstate="print"/>
            <a:stretch>
              <a:fillRect/>
            </a:stretch>
          </a:blipFill>
        </p:spPr>
        <p:txBody>
          <a:bodyPr wrap="square" lIns="0" tIns="0" rIns="0" bIns="0" rtlCol="0"/>
          <a:lstStyle/>
          <a:p>
            <a:endParaRPr sz="1593"/>
          </a:p>
        </p:txBody>
      </p:sp>
      <p:sp>
        <p:nvSpPr>
          <p:cNvPr id="3" name="object 3"/>
          <p:cNvSpPr/>
          <p:nvPr/>
        </p:nvSpPr>
        <p:spPr>
          <a:xfrm>
            <a:off x="2027767" y="2158436"/>
            <a:ext cx="4911565" cy="777374"/>
          </a:xfrm>
          <a:custGeom>
            <a:avLst/>
            <a:gdLst/>
            <a:ahLst/>
            <a:cxnLst/>
            <a:rect l="l" t="t" r="r" b="b"/>
            <a:pathLst>
              <a:path w="5548630" h="878204">
                <a:moveTo>
                  <a:pt x="0" y="0"/>
                </a:moveTo>
                <a:lnTo>
                  <a:pt x="5548311" y="0"/>
                </a:lnTo>
                <a:lnTo>
                  <a:pt x="5548311" y="877888"/>
                </a:lnTo>
                <a:lnTo>
                  <a:pt x="0" y="877888"/>
                </a:lnTo>
                <a:lnTo>
                  <a:pt x="0" y="0"/>
                </a:lnTo>
                <a:close/>
              </a:path>
            </a:pathLst>
          </a:custGeom>
          <a:solidFill>
            <a:srgbClr val="000000"/>
          </a:solidFill>
        </p:spPr>
        <p:txBody>
          <a:bodyPr wrap="square" lIns="0" tIns="0" rIns="0" bIns="0" rtlCol="0"/>
          <a:lstStyle/>
          <a:p>
            <a:endParaRPr sz="1593"/>
          </a:p>
        </p:txBody>
      </p:sp>
      <p:sp>
        <p:nvSpPr>
          <p:cNvPr id="4" name="object 4"/>
          <p:cNvSpPr/>
          <p:nvPr/>
        </p:nvSpPr>
        <p:spPr>
          <a:xfrm>
            <a:off x="1943146" y="2075041"/>
            <a:ext cx="5036758" cy="901392"/>
          </a:xfrm>
          <a:prstGeom prst="rect">
            <a:avLst/>
          </a:prstGeom>
          <a:blipFill>
            <a:blip r:embed="rId3" cstate="print"/>
            <a:stretch>
              <a:fillRect/>
            </a:stretch>
          </a:blipFill>
        </p:spPr>
        <p:txBody>
          <a:bodyPr wrap="square" lIns="0" tIns="0" rIns="0" bIns="0" rtlCol="0"/>
          <a:lstStyle/>
          <a:p>
            <a:endParaRPr sz="1593"/>
          </a:p>
        </p:txBody>
      </p:sp>
      <p:sp>
        <p:nvSpPr>
          <p:cNvPr id="5" name="object 5"/>
          <p:cNvSpPr/>
          <p:nvPr/>
        </p:nvSpPr>
        <p:spPr>
          <a:xfrm>
            <a:off x="1960316" y="2090985"/>
            <a:ext cx="4911565" cy="777374"/>
          </a:xfrm>
          <a:custGeom>
            <a:avLst/>
            <a:gdLst/>
            <a:ahLst/>
            <a:cxnLst/>
            <a:rect l="l" t="t" r="r" b="b"/>
            <a:pathLst>
              <a:path w="5548630" h="878205">
                <a:moveTo>
                  <a:pt x="0" y="0"/>
                </a:moveTo>
                <a:lnTo>
                  <a:pt x="5548311" y="0"/>
                </a:lnTo>
                <a:lnTo>
                  <a:pt x="5548311" y="877888"/>
                </a:lnTo>
                <a:lnTo>
                  <a:pt x="0" y="877888"/>
                </a:lnTo>
                <a:lnTo>
                  <a:pt x="0" y="0"/>
                </a:lnTo>
                <a:close/>
              </a:path>
            </a:pathLst>
          </a:custGeom>
          <a:solidFill>
            <a:srgbClr val="AC1600"/>
          </a:solidFill>
        </p:spPr>
        <p:txBody>
          <a:bodyPr wrap="square" lIns="0" tIns="0" rIns="0" bIns="0" rtlCol="0"/>
          <a:lstStyle/>
          <a:p>
            <a:endParaRPr sz="1593"/>
          </a:p>
        </p:txBody>
      </p:sp>
      <p:sp>
        <p:nvSpPr>
          <p:cNvPr id="6" name="object 6"/>
          <p:cNvSpPr txBox="1">
            <a:spLocks noGrp="1"/>
          </p:cNvSpPr>
          <p:nvPr>
            <p:ph type="title"/>
          </p:nvPr>
        </p:nvSpPr>
        <p:spPr>
          <a:xfrm>
            <a:off x="408940" y="931231"/>
            <a:ext cx="6457882" cy="610747"/>
          </a:xfrm>
          <a:prstGeom prst="rect">
            <a:avLst/>
          </a:prstGeom>
        </p:spPr>
        <p:txBody>
          <a:bodyPr vert="horz" wrap="square" lIns="0" tIns="11242" rIns="0" bIns="0" rtlCol="0" anchor="ctr">
            <a:spAutoFit/>
          </a:bodyPr>
          <a:lstStyle/>
          <a:p>
            <a:pPr marL="11242">
              <a:spcBef>
                <a:spcPts val="89"/>
              </a:spcBef>
              <a:tabLst>
                <a:tab pos="1985344" algn="l"/>
                <a:tab pos="4209582" algn="l"/>
              </a:tabLst>
            </a:pPr>
            <a:r>
              <a:rPr dirty="0"/>
              <a:t>Empirical	Es</a:t>
            </a:r>
            <a:r>
              <a:rPr spc="-4" dirty="0"/>
              <a:t>t</a:t>
            </a:r>
            <a:r>
              <a:rPr dirty="0"/>
              <a:t>ima</a:t>
            </a:r>
            <a:r>
              <a:rPr spc="-4" dirty="0"/>
              <a:t>t</a:t>
            </a:r>
            <a:r>
              <a:rPr dirty="0"/>
              <a:t>ion	Models</a:t>
            </a:r>
          </a:p>
        </p:txBody>
      </p:sp>
      <p:sp>
        <p:nvSpPr>
          <p:cNvPr id="28" name="object 28"/>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83</a:t>
            </a:fld>
            <a:endParaRPr dirty="0"/>
          </a:p>
        </p:txBody>
      </p:sp>
      <p:sp>
        <p:nvSpPr>
          <p:cNvPr id="7" name="object 7"/>
          <p:cNvSpPr/>
          <p:nvPr/>
        </p:nvSpPr>
        <p:spPr>
          <a:xfrm>
            <a:off x="1659851" y="1721842"/>
            <a:ext cx="1423831" cy="312727"/>
          </a:xfrm>
          <a:prstGeom prst="rect">
            <a:avLst/>
          </a:prstGeom>
          <a:blipFill>
            <a:blip r:embed="rId4" cstate="print"/>
            <a:stretch>
              <a:fillRect/>
            </a:stretch>
          </a:blipFill>
        </p:spPr>
        <p:txBody>
          <a:bodyPr wrap="square" lIns="0" tIns="0" rIns="0" bIns="0" rtlCol="0"/>
          <a:lstStyle/>
          <a:p>
            <a:endParaRPr sz="1593"/>
          </a:p>
        </p:txBody>
      </p:sp>
      <p:sp>
        <p:nvSpPr>
          <p:cNvPr id="8" name="object 8"/>
          <p:cNvSpPr txBox="1"/>
          <p:nvPr/>
        </p:nvSpPr>
        <p:spPr>
          <a:xfrm>
            <a:off x="1679269" y="1722252"/>
            <a:ext cx="4433786" cy="966485"/>
          </a:xfrm>
          <a:prstGeom prst="rect">
            <a:avLst/>
          </a:prstGeom>
        </p:spPr>
        <p:txBody>
          <a:bodyPr vert="horz" wrap="square" lIns="0" tIns="11242" rIns="0" bIns="0" rtlCol="0">
            <a:spAutoFit/>
          </a:bodyPr>
          <a:lstStyle/>
          <a:p>
            <a:pPr marL="11242">
              <a:spcBef>
                <a:spcPts val="89"/>
              </a:spcBef>
            </a:pPr>
            <a:r>
              <a:rPr sz="1593" b="1" i="1" spc="-4" dirty="0">
                <a:latin typeface="Arial"/>
                <a:cs typeface="Arial"/>
              </a:rPr>
              <a:t>General</a:t>
            </a:r>
            <a:r>
              <a:rPr sz="1593" b="1" i="1" spc="-9" dirty="0">
                <a:latin typeface="Arial"/>
                <a:cs typeface="Arial"/>
              </a:rPr>
              <a:t> </a:t>
            </a:r>
            <a:r>
              <a:rPr sz="1593" b="1" i="1" spc="-4" dirty="0">
                <a:latin typeface="Arial"/>
                <a:cs typeface="Arial"/>
              </a:rPr>
              <a:t>form:</a:t>
            </a:r>
            <a:endParaRPr sz="1593">
              <a:latin typeface="Arial"/>
              <a:cs typeface="Arial"/>
            </a:endParaRPr>
          </a:p>
          <a:p>
            <a:pPr>
              <a:spcBef>
                <a:spcPts val="4"/>
              </a:spcBef>
            </a:pPr>
            <a:endParaRPr sz="1947">
              <a:latin typeface="Times New Roman"/>
              <a:cs typeface="Times New Roman"/>
            </a:endParaRPr>
          </a:p>
          <a:p>
            <a:pPr marL="640796" marR="4497" indent="2881897">
              <a:lnSpc>
                <a:spcPts val="1593"/>
              </a:lnSpc>
            </a:pPr>
            <a:r>
              <a:rPr sz="1593" b="1" dirty="0">
                <a:solidFill>
                  <a:srgbClr val="FFFFFF"/>
                </a:solidFill>
                <a:latin typeface="Arial"/>
                <a:cs typeface="Arial"/>
              </a:rPr>
              <a:t>ex</a:t>
            </a:r>
            <a:r>
              <a:rPr sz="1593" b="1" spc="-4" dirty="0">
                <a:solidFill>
                  <a:srgbClr val="FFFFFF"/>
                </a:solidFill>
                <a:latin typeface="Arial"/>
                <a:cs typeface="Arial"/>
              </a:rPr>
              <a:t>pon</a:t>
            </a:r>
            <a:r>
              <a:rPr sz="1593" b="1" dirty="0">
                <a:solidFill>
                  <a:srgbClr val="FFFFFF"/>
                </a:solidFill>
                <a:latin typeface="Arial"/>
                <a:cs typeface="Arial"/>
              </a:rPr>
              <a:t>e</a:t>
            </a:r>
            <a:r>
              <a:rPr sz="1593" b="1" spc="-4" dirty="0">
                <a:solidFill>
                  <a:srgbClr val="FFFFFF"/>
                </a:solidFill>
                <a:latin typeface="Arial"/>
                <a:cs typeface="Arial"/>
              </a:rPr>
              <a:t>n</a:t>
            </a:r>
            <a:r>
              <a:rPr sz="1593" b="1" dirty="0">
                <a:solidFill>
                  <a:srgbClr val="FFFFFF"/>
                </a:solidFill>
                <a:latin typeface="Arial"/>
                <a:cs typeface="Arial"/>
              </a:rPr>
              <a:t>t  </a:t>
            </a:r>
            <a:r>
              <a:rPr sz="1593" b="1" spc="-4" dirty="0">
                <a:solidFill>
                  <a:srgbClr val="FFFFFF"/>
                </a:solidFill>
                <a:latin typeface="Arial"/>
                <a:cs typeface="Arial"/>
              </a:rPr>
              <a:t>effort </a:t>
            </a:r>
            <a:r>
              <a:rPr sz="1593" b="1" dirty="0">
                <a:solidFill>
                  <a:srgbClr val="FFFFFF"/>
                </a:solidFill>
                <a:latin typeface="Arial"/>
                <a:cs typeface="Arial"/>
              </a:rPr>
              <a:t>= </a:t>
            </a:r>
            <a:r>
              <a:rPr sz="1593" b="1" spc="-4" dirty="0">
                <a:solidFill>
                  <a:srgbClr val="FFFFFF"/>
                </a:solidFill>
                <a:latin typeface="Arial"/>
                <a:cs typeface="Arial"/>
              </a:rPr>
              <a:t>tuning coefficient </a:t>
            </a:r>
            <a:r>
              <a:rPr sz="1593" b="1" dirty="0">
                <a:solidFill>
                  <a:srgbClr val="FFFFFF"/>
                </a:solidFill>
                <a:latin typeface="Arial"/>
                <a:cs typeface="Arial"/>
              </a:rPr>
              <a:t>*</a:t>
            </a:r>
            <a:r>
              <a:rPr sz="1593" b="1" spc="-4" dirty="0">
                <a:solidFill>
                  <a:srgbClr val="FFFFFF"/>
                </a:solidFill>
                <a:latin typeface="Arial"/>
                <a:cs typeface="Arial"/>
              </a:rPr>
              <a:t> size</a:t>
            </a:r>
            <a:endParaRPr sz="1593">
              <a:latin typeface="Arial"/>
              <a:cs typeface="Arial"/>
            </a:endParaRPr>
          </a:p>
        </p:txBody>
      </p:sp>
      <p:sp>
        <p:nvSpPr>
          <p:cNvPr id="9" name="object 9"/>
          <p:cNvSpPr/>
          <p:nvPr/>
        </p:nvSpPr>
        <p:spPr>
          <a:xfrm>
            <a:off x="2207635" y="2721934"/>
            <a:ext cx="279922" cy="870119"/>
          </a:xfrm>
          <a:custGeom>
            <a:avLst/>
            <a:gdLst/>
            <a:ahLst/>
            <a:cxnLst/>
            <a:rect l="l" t="t" r="r" b="b"/>
            <a:pathLst>
              <a:path w="316230" h="982979">
                <a:moveTo>
                  <a:pt x="315912" y="0"/>
                </a:moveTo>
                <a:lnTo>
                  <a:pt x="0" y="982661"/>
                </a:lnTo>
              </a:path>
            </a:pathLst>
          </a:custGeom>
          <a:ln w="17462">
            <a:solidFill>
              <a:srgbClr val="000000"/>
            </a:solidFill>
          </a:ln>
        </p:spPr>
        <p:txBody>
          <a:bodyPr wrap="square" lIns="0" tIns="0" rIns="0" bIns="0" rtlCol="0"/>
          <a:lstStyle/>
          <a:p>
            <a:endParaRPr sz="1593"/>
          </a:p>
        </p:txBody>
      </p:sp>
      <p:sp>
        <p:nvSpPr>
          <p:cNvPr id="10" name="object 10"/>
          <p:cNvSpPr/>
          <p:nvPr/>
        </p:nvSpPr>
        <p:spPr>
          <a:xfrm>
            <a:off x="3621299" y="2721934"/>
            <a:ext cx="145020" cy="1953272"/>
          </a:xfrm>
          <a:custGeom>
            <a:avLst/>
            <a:gdLst/>
            <a:ahLst/>
            <a:cxnLst/>
            <a:rect l="l" t="t" r="r" b="b"/>
            <a:pathLst>
              <a:path w="163829" h="2206625">
                <a:moveTo>
                  <a:pt x="0" y="0"/>
                </a:moveTo>
                <a:lnTo>
                  <a:pt x="163512" y="2206624"/>
                </a:lnTo>
              </a:path>
            </a:pathLst>
          </a:custGeom>
          <a:ln w="17462">
            <a:solidFill>
              <a:srgbClr val="000000"/>
            </a:solidFill>
          </a:ln>
        </p:spPr>
        <p:txBody>
          <a:bodyPr wrap="square" lIns="0" tIns="0" rIns="0" bIns="0" rtlCol="0"/>
          <a:lstStyle/>
          <a:p>
            <a:endParaRPr sz="1593"/>
          </a:p>
        </p:txBody>
      </p:sp>
      <p:sp>
        <p:nvSpPr>
          <p:cNvPr id="11" name="object 11"/>
          <p:cNvSpPr/>
          <p:nvPr/>
        </p:nvSpPr>
        <p:spPr>
          <a:xfrm>
            <a:off x="4911300" y="2747228"/>
            <a:ext cx="22484" cy="1474369"/>
          </a:xfrm>
          <a:custGeom>
            <a:avLst/>
            <a:gdLst/>
            <a:ahLst/>
            <a:cxnLst/>
            <a:rect l="l" t="t" r="r" b="b"/>
            <a:pathLst>
              <a:path w="25400" h="1665604">
                <a:moveTo>
                  <a:pt x="0" y="0"/>
                </a:moveTo>
                <a:lnTo>
                  <a:pt x="25399" y="1665286"/>
                </a:lnTo>
              </a:path>
            </a:pathLst>
          </a:custGeom>
          <a:ln w="17462">
            <a:solidFill>
              <a:srgbClr val="000000"/>
            </a:solidFill>
          </a:ln>
        </p:spPr>
        <p:txBody>
          <a:bodyPr wrap="square" lIns="0" tIns="0" rIns="0" bIns="0" rtlCol="0"/>
          <a:lstStyle/>
          <a:p>
            <a:endParaRPr sz="1593"/>
          </a:p>
        </p:txBody>
      </p:sp>
      <p:sp>
        <p:nvSpPr>
          <p:cNvPr id="12" name="object 12"/>
          <p:cNvSpPr/>
          <p:nvPr/>
        </p:nvSpPr>
        <p:spPr>
          <a:xfrm>
            <a:off x="5717903" y="2519581"/>
            <a:ext cx="370981" cy="1160721"/>
          </a:xfrm>
          <a:custGeom>
            <a:avLst/>
            <a:gdLst/>
            <a:ahLst/>
            <a:cxnLst/>
            <a:rect l="l" t="t" r="r" b="b"/>
            <a:pathLst>
              <a:path w="419100" h="1311275">
                <a:moveTo>
                  <a:pt x="0" y="0"/>
                </a:moveTo>
                <a:lnTo>
                  <a:pt x="419099" y="1311274"/>
                </a:lnTo>
              </a:path>
            </a:pathLst>
          </a:custGeom>
          <a:ln w="17462">
            <a:solidFill>
              <a:srgbClr val="000000"/>
            </a:solidFill>
          </a:ln>
        </p:spPr>
        <p:txBody>
          <a:bodyPr wrap="square" lIns="0" tIns="0" rIns="0" bIns="0" rtlCol="0"/>
          <a:lstStyle/>
          <a:p>
            <a:endParaRPr sz="1593"/>
          </a:p>
        </p:txBody>
      </p:sp>
      <p:sp>
        <p:nvSpPr>
          <p:cNvPr id="13" name="object 13"/>
          <p:cNvSpPr/>
          <p:nvPr/>
        </p:nvSpPr>
        <p:spPr>
          <a:xfrm>
            <a:off x="2049841" y="3693869"/>
            <a:ext cx="1225156" cy="257540"/>
          </a:xfrm>
          <a:prstGeom prst="rect">
            <a:avLst/>
          </a:prstGeom>
          <a:blipFill>
            <a:blip r:embed="rId5" cstate="print"/>
            <a:stretch>
              <a:fillRect/>
            </a:stretch>
          </a:blipFill>
        </p:spPr>
        <p:txBody>
          <a:bodyPr wrap="square" lIns="0" tIns="0" rIns="0" bIns="0" rtlCol="0"/>
          <a:lstStyle/>
          <a:p>
            <a:endParaRPr sz="1593"/>
          </a:p>
        </p:txBody>
      </p:sp>
      <p:sp>
        <p:nvSpPr>
          <p:cNvPr id="14" name="object 14"/>
          <p:cNvSpPr/>
          <p:nvPr/>
        </p:nvSpPr>
        <p:spPr>
          <a:xfrm>
            <a:off x="2049840" y="3885185"/>
            <a:ext cx="1460623" cy="257540"/>
          </a:xfrm>
          <a:prstGeom prst="rect">
            <a:avLst/>
          </a:prstGeom>
          <a:blipFill>
            <a:blip r:embed="rId6" cstate="print"/>
            <a:stretch>
              <a:fillRect/>
            </a:stretch>
          </a:blipFill>
        </p:spPr>
        <p:txBody>
          <a:bodyPr wrap="square" lIns="0" tIns="0" rIns="0" bIns="0" rtlCol="0"/>
          <a:lstStyle/>
          <a:p>
            <a:endParaRPr sz="1593"/>
          </a:p>
        </p:txBody>
      </p:sp>
      <p:sp>
        <p:nvSpPr>
          <p:cNvPr id="15" name="object 15"/>
          <p:cNvSpPr/>
          <p:nvPr/>
        </p:nvSpPr>
        <p:spPr>
          <a:xfrm>
            <a:off x="2049841" y="4072821"/>
            <a:ext cx="1350248" cy="257540"/>
          </a:xfrm>
          <a:prstGeom prst="rect">
            <a:avLst/>
          </a:prstGeom>
          <a:blipFill>
            <a:blip r:embed="rId7" cstate="print"/>
            <a:stretch>
              <a:fillRect/>
            </a:stretch>
          </a:blipFill>
        </p:spPr>
        <p:txBody>
          <a:bodyPr wrap="square" lIns="0" tIns="0" rIns="0" bIns="0" rtlCol="0"/>
          <a:lstStyle/>
          <a:p>
            <a:endParaRPr sz="1593"/>
          </a:p>
        </p:txBody>
      </p:sp>
      <p:sp>
        <p:nvSpPr>
          <p:cNvPr id="16" name="object 16"/>
          <p:cNvSpPr txBox="1"/>
          <p:nvPr/>
        </p:nvSpPr>
        <p:spPr>
          <a:xfrm>
            <a:off x="2072734" y="3701098"/>
            <a:ext cx="1387245" cy="583431"/>
          </a:xfrm>
          <a:prstGeom prst="rect">
            <a:avLst/>
          </a:prstGeom>
        </p:spPr>
        <p:txBody>
          <a:bodyPr vert="horz" wrap="square" lIns="0" tIns="11242" rIns="0" bIns="0" rtlCol="0">
            <a:spAutoFit/>
          </a:bodyPr>
          <a:lstStyle/>
          <a:p>
            <a:pPr marL="11242" marR="4497">
              <a:spcBef>
                <a:spcPts val="89"/>
              </a:spcBef>
            </a:pPr>
            <a:r>
              <a:rPr sz="1239" b="1" dirty="0">
                <a:latin typeface="Arial"/>
                <a:cs typeface="Arial"/>
              </a:rPr>
              <a:t>usually </a:t>
            </a:r>
            <a:r>
              <a:rPr sz="1239" b="1" spc="-4" dirty="0">
                <a:latin typeface="Arial"/>
                <a:cs typeface="Arial"/>
              </a:rPr>
              <a:t>derived  </a:t>
            </a:r>
            <a:r>
              <a:rPr sz="1239" b="1" dirty="0">
                <a:latin typeface="Arial"/>
                <a:cs typeface="Arial"/>
              </a:rPr>
              <a:t>as</a:t>
            </a:r>
            <a:r>
              <a:rPr sz="1239" b="1" spc="-53" dirty="0">
                <a:latin typeface="Arial"/>
                <a:cs typeface="Arial"/>
              </a:rPr>
              <a:t> </a:t>
            </a:r>
            <a:r>
              <a:rPr sz="1239" b="1" spc="-4" dirty="0">
                <a:latin typeface="Arial"/>
                <a:cs typeface="Arial"/>
              </a:rPr>
              <a:t>person-months  of effort</a:t>
            </a:r>
            <a:r>
              <a:rPr sz="1239" b="1" spc="-22" dirty="0">
                <a:latin typeface="Arial"/>
                <a:cs typeface="Arial"/>
              </a:rPr>
              <a:t> </a:t>
            </a:r>
            <a:r>
              <a:rPr sz="1239" b="1" spc="-4" dirty="0">
                <a:latin typeface="Arial"/>
                <a:cs typeface="Arial"/>
              </a:rPr>
              <a:t>required</a:t>
            </a:r>
            <a:endParaRPr sz="1239">
              <a:latin typeface="Arial"/>
              <a:cs typeface="Arial"/>
            </a:endParaRPr>
          </a:p>
        </p:txBody>
      </p:sp>
      <p:sp>
        <p:nvSpPr>
          <p:cNvPr id="17" name="object 17"/>
          <p:cNvSpPr/>
          <p:nvPr/>
        </p:nvSpPr>
        <p:spPr>
          <a:xfrm>
            <a:off x="2678976" y="4790255"/>
            <a:ext cx="1537885" cy="257540"/>
          </a:xfrm>
          <a:prstGeom prst="rect">
            <a:avLst/>
          </a:prstGeom>
          <a:blipFill>
            <a:blip r:embed="rId8" cstate="print"/>
            <a:stretch>
              <a:fillRect/>
            </a:stretch>
          </a:blipFill>
        </p:spPr>
        <p:txBody>
          <a:bodyPr wrap="square" lIns="0" tIns="0" rIns="0" bIns="0" rtlCol="0"/>
          <a:lstStyle/>
          <a:p>
            <a:endParaRPr sz="1593"/>
          </a:p>
        </p:txBody>
      </p:sp>
      <p:sp>
        <p:nvSpPr>
          <p:cNvPr id="18" name="object 18"/>
          <p:cNvSpPr/>
          <p:nvPr/>
        </p:nvSpPr>
        <p:spPr>
          <a:xfrm>
            <a:off x="2678976" y="4981571"/>
            <a:ext cx="1898442" cy="257540"/>
          </a:xfrm>
          <a:prstGeom prst="rect">
            <a:avLst/>
          </a:prstGeom>
          <a:blipFill>
            <a:blip r:embed="rId9" cstate="print"/>
            <a:stretch>
              <a:fillRect/>
            </a:stretch>
          </a:blipFill>
        </p:spPr>
        <p:txBody>
          <a:bodyPr wrap="square" lIns="0" tIns="0" rIns="0" bIns="0" rtlCol="0"/>
          <a:lstStyle/>
          <a:p>
            <a:endParaRPr sz="1593"/>
          </a:p>
        </p:txBody>
      </p:sp>
      <p:sp>
        <p:nvSpPr>
          <p:cNvPr id="19" name="object 19"/>
          <p:cNvSpPr/>
          <p:nvPr/>
        </p:nvSpPr>
        <p:spPr>
          <a:xfrm>
            <a:off x="2678976" y="5169208"/>
            <a:ext cx="1898442" cy="257540"/>
          </a:xfrm>
          <a:prstGeom prst="rect">
            <a:avLst/>
          </a:prstGeom>
          <a:blipFill>
            <a:blip r:embed="rId10" cstate="print"/>
            <a:stretch>
              <a:fillRect/>
            </a:stretch>
          </a:blipFill>
        </p:spPr>
        <p:txBody>
          <a:bodyPr wrap="square" lIns="0" tIns="0" rIns="0" bIns="0" rtlCol="0"/>
          <a:lstStyle/>
          <a:p>
            <a:endParaRPr sz="1593"/>
          </a:p>
        </p:txBody>
      </p:sp>
      <p:sp>
        <p:nvSpPr>
          <p:cNvPr id="20" name="object 20"/>
          <p:cNvSpPr txBox="1"/>
          <p:nvPr/>
        </p:nvSpPr>
        <p:spPr>
          <a:xfrm>
            <a:off x="2700872" y="4798584"/>
            <a:ext cx="1841415" cy="583431"/>
          </a:xfrm>
          <a:prstGeom prst="rect">
            <a:avLst/>
          </a:prstGeom>
        </p:spPr>
        <p:txBody>
          <a:bodyPr vert="horz" wrap="square" lIns="0" tIns="11242" rIns="0" bIns="0" rtlCol="0">
            <a:spAutoFit/>
          </a:bodyPr>
          <a:lstStyle/>
          <a:p>
            <a:pPr marL="11242">
              <a:spcBef>
                <a:spcPts val="89"/>
              </a:spcBef>
            </a:pPr>
            <a:r>
              <a:rPr sz="1239" b="1" spc="-4" dirty="0">
                <a:latin typeface="Arial"/>
                <a:cs typeface="Arial"/>
              </a:rPr>
              <a:t>either </a:t>
            </a:r>
            <a:r>
              <a:rPr sz="1239" b="1" dirty="0">
                <a:latin typeface="Arial"/>
                <a:cs typeface="Arial"/>
              </a:rPr>
              <a:t>a </a:t>
            </a:r>
            <a:r>
              <a:rPr sz="1239" b="1" spc="-4" dirty="0">
                <a:latin typeface="Arial"/>
                <a:cs typeface="Arial"/>
              </a:rPr>
              <a:t>constant</a:t>
            </a:r>
            <a:r>
              <a:rPr sz="1239" b="1" spc="-13" dirty="0">
                <a:latin typeface="Arial"/>
                <a:cs typeface="Arial"/>
              </a:rPr>
              <a:t> </a:t>
            </a:r>
            <a:r>
              <a:rPr sz="1239" b="1" spc="-4" dirty="0">
                <a:latin typeface="Arial"/>
                <a:cs typeface="Arial"/>
              </a:rPr>
              <a:t>or</a:t>
            </a:r>
            <a:endParaRPr sz="1239">
              <a:latin typeface="Arial"/>
              <a:cs typeface="Arial"/>
            </a:endParaRPr>
          </a:p>
          <a:p>
            <a:pPr marL="11242" marR="4497">
              <a:spcBef>
                <a:spcPts val="4"/>
              </a:spcBef>
            </a:pPr>
            <a:r>
              <a:rPr sz="1239" b="1" dirty="0">
                <a:latin typeface="Arial"/>
                <a:cs typeface="Arial"/>
              </a:rPr>
              <a:t>a number derived</a:t>
            </a:r>
            <a:r>
              <a:rPr sz="1239" b="1" spc="-84" dirty="0">
                <a:latin typeface="Arial"/>
                <a:cs typeface="Arial"/>
              </a:rPr>
              <a:t> </a:t>
            </a:r>
            <a:r>
              <a:rPr sz="1239" b="1" dirty="0">
                <a:latin typeface="Arial"/>
                <a:cs typeface="Arial"/>
              </a:rPr>
              <a:t>based  </a:t>
            </a:r>
            <a:r>
              <a:rPr sz="1239" b="1" spc="-4" dirty="0">
                <a:latin typeface="Arial"/>
                <a:cs typeface="Arial"/>
              </a:rPr>
              <a:t>on complexity of</a:t>
            </a:r>
            <a:r>
              <a:rPr sz="1239" b="1" spc="-22" dirty="0">
                <a:latin typeface="Arial"/>
                <a:cs typeface="Arial"/>
              </a:rPr>
              <a:t> </a:t>
            </a:r>
            <a:r>
              <a:rPr sz="1239" b="1" spc="-4" dirty="0">
                <a:latin typeface="Arial"/>
                <a:cs typeface="Arial"/>
              </a:rPr>
              <a:t>project</a:t>
            </a:r>
            <a:endParaRPr sz="1239">
              <a:latin typeface="Arial"/>
              <a:cs typeface="Arial"/>
            </a:endParaRPr>
          </a:p>
        </p:txBody>
      </p:sp>
      <p:sp>
        <p:nvSpPr>
          <p:cNvPr id="21" name="object 21"/>
          <p:cNvSpPr/>
          <p:nvPr/>
        </p:nvSpPr>
        <p:spPr>
          <a:xfrm>
            <a:off x="4651001" y="4326682"/>
            <a:ext cx="1295060" cy="257540"/>
          </a:xfrm>
          <a:prstGeom prst="rect">
            <a:avLst/>
          </a:prstGeom>
          <a:blipFill>
            <a:blip r:embed="rId11" cstate="print"/>
            <a:stretch>
              <a:fillRect/>
            </a:stretch>
          </a:blipFill>
        </p:spPr>
        <p:txBody>
          <a:bodyPr wrap="square" lIns="0" tIns="0" rIns="0" bIns="0" rtlCol="0"/>
          <a:lstStyle/>
          <a:p>
            <a:endParaRPr sz="1593"/>
          </a:p>
        </p:txBody>
      </p:sp>
      <p:sp>
        <p:nvSpPr>
          <p:cNvPr id="22" name="object 22"/>
          <p:cNvSpPr/>
          <p:nvPr/>
        </p:nvSpPr>
        <p:spPr>
          <a:xfrm>
            <a:off x="4651001" y="4514318"/>
            <a:ext cx="989691" cy="257540"/>
          </a:xfrm>
          <a:prstGeom prst="rect">
            <a:avLst/>
          </a:prstGeom>
          <a:blipFill>
            <a:blip r:embed="rId12" cstate="print"/>
            <a:stretch>
              <a:fillRect/>
            </a:stretch>
          </a:blipFill>
        </p:spPr>
        <p:txBody>
          <a:bodyPr wrap="square" lIns="0" tIns="0" rIns="0" bIns="0" rtlCol="0"/>
          <a:lstStyle/>
          <a:p>
            <a:endParaRPr sz="1593"/>
          </a:p>
        </p:txBody>
      </p:sp>
      <p:sp>
        <p:nvSpPr>
          <p:cNvPr id="23" name="object 23"/>
          <p:cNvSpPr/>
          <p:nvPr/>
        </p:nvSpPr>
        <p:spPr>
          <a:xfrm>
            <a:off x="4651001" y="4701956"/>
            <a:ext cx="1136857" cy="257540"/>
          </a:xfrm>
          <a:prstGeom prst="rect">
            <a:avLst/>
          </a:prstGeom>
          <a:blipFill>
            <a:blip r:embed="rId13" cstate="print"/>
            <a:stretch>
              <a:fillRect/>
            </a:stretch>
          </a:blipFill>
        </p:spPr>
        <p:txBody>
          <a:bodyPr wrap="square" lIns="0" tIns="0" rIns="0" bIns="0" rtlCol="0"/>
          <a:lstStyle/>
          <a:p>
            <a:endParaRPr sz="1593"/>
          </a:p>
        </p:txBody>
      </p:sp>
      <p:sp>
        <p:nvSpPr>
          <p:cNvPr id="24" name="object 24"/>
          <p:cNvSpPr txBox="1"/>
          <p:nvPr/>
        </p:nvSpPr>
        <p:spPr>
          <a:xfrm>
            <a:off x="4675221" y="4332047"/>
            <a:ext cx="1229859" cy="583431"/>
          </a:xfrm>
          <a:prstGeom prst="rect">
            <a:avLst/>
          </a:prstGeom>
        </p:spPr>
        <p:txBody>
          <a:bodyPr vert="horz" wrap="square" lIns="0" tIns="11242" rIns="0" bIns="0" rtlCol="0">
            <a:spAutoFit/>
          </a:bodyPr>
          <a:lstStyle/>
          <a:p>
            <a:pPr marL="11242" marR="4497">
              <a:spcBef>
                <a:spcPts val="89"/>
              </a:spcBef>
            </a:pPr>
            <a:r>
              <a:rPr sz="1239" b="1" dirty="0">
                <a:latin typeface="Arial"/>
                <a:cs typeface="Arial"/>
              </a:rPr>
              <a:t>usually LOC</a:t>
            </a:r>
            <a:r>
              <a:rPr sz="1239" b="1" spc="-89" dirty="0">
                <a:latin typeface="Arial"/>
                <a:cs typeface="Arial"/>
              </a:rPr>
              <a:t> </a:t>
            </a:r>
            <a:r>
              <a:rPr sz="1239" b="1" spc="-4" dirty="0">
                <a:latin typeface="Arial"/>
                <a:cs typeface="Arial"/>
              </a:rPr>
              <a:t>but  may also </a:t>
            </a:r>
            <a:r>
              <a:rPr sz="1239" b="1" dirty="0">
                <a:latin typeface="Arial"/>
                <a:cs typeface="Arial"/>
              </a:rPr>
              <a:t>be  </a:t>
            </a:r>
            <a:r>
              <a:rPr sz="1239" b="1" spc="-4" dirty="0">
                <a:latin typeface="Arial"/>
                <a:cs typeface="Arial"/>
              </a:rPr>
              <a:t>function</a:t>
            </a:r>
            <a:r>
              <a:rPr sz="1239" b="1" spc="-18" dirty="0">
                <a:latin typeface="Arial"/>
                <a:cs typeface="Arial"/>
              </a:rPr>
              <a:t> </a:t>
            </a:r>
            <a:r>
              <a:rPr sz="1239" b="1" spc="-4" dirty="0">
                <a:latin typeface="Arial"/>
                <a:cs typeface="Arial"/>
              </a:rPr>
              <a:t>point</a:t>
            </a:r>
            <a:endParaRPr sz="1239">
              <a:latin typeface="Arial"/>
              <a:cs typeface="Arial"/>
            </a:endParaRPr>
          </a:p>
        </p:txBody>
      </p:sp>
      <p:sp>
        <p:nvSpPr>
          <p:cNvPr id="25" name="object 25"/>
          <p:cNvSpPr/>
          <p:nvPr/>
        </p:nvSpPr>
        <p:spPr>
          <a:xfrm>
            <a:off x="5942382" y="3807921"/>
            <a:ext cx="919787" cy="257540"/>
          </a:xfrm>
          <a:prstGeom prst="rect">
            <a:avLst/>
          </a:prstGeom>
          <a:blipFill>
            <a:blip r:embed="rId14" cstate="print"/>
            <a:stretch>
              <a:fillRect/>
            </a:stretch>
          </a:blipFill>
        </p:spPr>
        <p:txBody>
          <a:bodyPr wrap="square" lIns="0" tIns="0" rIns="0" bIns="0" rtlCol="0"/>
          <a:lstStyle/>
          <a:p>
            <a:endParaRPr sz="1593"/>
          </a:p>
        </p:txBody>
      </p:sp>
      <p:sp>
        <p:nvSpPr>
          <p:cNvPr id="26" name="object 26"/>
          <p:cNvSpPr/>
          <p:nvPr/>
        </p:nvSpPr>
        <p:spPr>
          <a:xfrm>
            <a:off x="5942383" y="3999237"/>
            <a:ext cx="640172" cy="257540"/>
          </a:xfrm>
          <a:prstGeom prst="rect">
            <a:avLst/>
          </a:prstGeom>
          <a:blipFill>
            <a:blip r:embed="rId15" cstate="print"/>
            <a:stretch>
              <a:fillRect/>
            </a:stretch>
          </a:blipFill>
        </p:spPr>
        <p:txBody>
          <a:bodyPr wrap="square" lIns="0" tIns="0" rIns="0" bIns="0" rtlCol="0"/>
          <a:lstStyle/>
          <a:p>
            <a:endParaRPr sz="1593"/>
          </a:p>
        </p:txBody>
      </p:sp>
      <p:sp>
        <p:nvSpPr>
          <p:cNvPr id="27" name="object 27"/>
          <p:cNvSpPr txBox="1"/>
          <p:nvPr/>
        </p:nvSpPr>
        <p:spPr>
          <a:xfrm>
            <a:off x="5965224" y="3814921"/>
            <a:ext cx="845387" cy="392738"/>
          </a:xfrm>
          <a:prstGeom prst="rect">
            <a:avLst/>
          </a:prstGeom>
        </p:spPr>
        <p:txBody>
          <a:bodyPr vert="horz" wrap="square" lIns="0" tIns="11242" rIns="0" bIns="0" rtlCol="0">
            <a:spAutoFit/>
          </a:bodyPr>
          <a:lstStyle/>
          <a:p>
            <a:pPr marL="11242" marR="4497">
              <a:spcBef>
                <a:spcPts val="89"/>
              </a:spcBef>
            </a:pPr>
            <a:r>
              <a:rPr sz="1239" b="1" dirty="0">
                <a:latin typeface="Arial"/>
                <a:cs typeface="Arial"/>
              </a:rPr>
              <a:t>empirically  </a:t>
            </a:r>
            <a:r>
              <a:rPr sz="1239" b="1" spc="-4" dirty="0">
                <a:latin typeface="Arial"/>
                <a:cs typeface="Arial"/>
              </a:rPr>
              <a:t>derived</a:t>
            </a:r>
            <a:endParaRPr sz="1239">
              <a:latin typeface="Arial"/>
              <a:cs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91040" y="2207490"/>
            <a:ext cx="4374511" cy="1066954"/>
          </a:xfrm>
          <a:prstGeom prst="rect">
            <a:avLst/>
          </a:prstGeom>
          <a:blipFill>
            <a:blip r:embed="rId2" cstate="print"/>
            <a:stretch>
              <a:fillRect/>
            </a:stretch>
          </a:blipFill>
        </p:spPr>
        <p:txBody>
          <a:bodyPr wrap="square" lIns="0" tIns="0" rIns="0" bIns="0" rtlCol="0"/>
          <a:lstStyle/>
          <a:p>
            <a:endParaRPr sz="1593"/>
          </a:p>
        </p:txBody>
      </p:sp>
      <p:sp>
        <p:nvSpPr>
          <p:cNvPr id="3" name="object 3"/>
          <p:cNvSpPr/>
          <p:nvPr/>
        </p:nvSpPr>
        <p:spPr>
          <a:xfrm>
            <a:off x="3106984" y="2225887"/>
            <a:ext cx="4249420" cy="941505"/>
          </a:xfrm>
          <a:custGeom>
            <a:avLst/>
            <a:gdLst/>
            <a:ahLst/>
            <a:cxnLst/>
            <a:rect l="l" t="t" r="r" b="b"/>
            <a:pathLst>
              <a:path w="4800600" h="1063625">
                <a:moveTo>
                  <a:pt x="0" y="0"/>
                </a:moveTo>
                <a:lnTo>
                  <a:pt x="4800598" y="0"/>
                </a:lnTo>
                <a:lnTo>
                  <a:pt x="4800598" y="1063625"/>
                </a:lnTo>
                <a:lnTo>
                  <a:pt x="0" y="1063625"/>
                </a:lnTo>
                <a:lnTo>
                  <a:pt x="0" y="0"/>
                </a:lnTo>
                <a:close/>
              </a:path>
            </a:pathLst>
          </a:custGeom>
          <a:solidFill>
            <a:srgbClr val="000000"/>
          </a:solidFill>
        </p:spPr>
        <p:txBody>
          <a:bodyPr wrap="square" lIns="0" tIns="0" rIns="0" bIns="0" rtlCol="0"/>
          <a:lstStyle/>
          <a:p>
            <a:endParaRPr sz="1593"/>
          </a:p>
        </p:txBody>
      </p:sp>
      <p:sp>
        <p:nvSpPr>
          <p:cNvPr id="4" name="object 4"/>
          <p:cNvSpPr/>
          <p:nvPr/>
        </p:nvSpPr>
        <p:spPr>
          <a:xfrm>
            <a:off x="3021136" y="2141266"/>
            <a:ext cx="4374511" cy="1066954"/>
          </a:xfrm>
          <a:prstGeom prst="rect">
            <a:avLst/>
          </a:prstGeom>
          <a:blipFill>
            <a:blip r:embed="rId3" cstate="print"/>
            <a:stretch>
              <a:fillRect/>
            </a:stretch>
          </a:blipFill>
        </p:spPr>
        <p:txBody>
          <a:bodyPr wrap="square" lIns="0" tIns="0" rIns="0" bIns="0" rtlCol="0"/>
          <a:lstStyle/>
          <a:p>
            <a:endParaRPr sz="1593"/>
          </a:p>
        </p:txBody>
      </p:sp>
      <p:sp>
        <p:nvSpPr>
          <p:cNvPr id="5" name="object 5"/>
          <p:cNvSpPr/>
          <p:nvPr/>
        </p:nvSpPr>
        <p:spPr>
          <a:xfrm>
            <a:off x="3039533" y="2158436"/>
            <a:ext cx="4249420" cy="941505"/>
          </a:xfrm>
          <a:custGeom>
            <a:avLst/>
            <a:gdLst/>
            <a:ahLst/>
            <a:cxnLst/>
            <a:rect l="l" t="t" r="r" b="b"/>
            <a:pathLst>
              <a:path w="4800600" h="1063625">
                <a:moveTo>
                  <a:pt x="0" y="0"/>
                </a:moveTo>
                <a:lnTo>
                  <a:pt x="4800598" y="0"/>
                </a:lnTo>
                <a:lnTo>
                  <a:pt x="4800598" y="1063625"/>
                </a:lnTo>
                <a:lnTo>
                  <a:pt x="0" y="1063625"/>
                </a:lnTo>
                <a:lnTo>
                  <a:pt x="0" y="0"/>
                </a:lnTo>
                <a:close/>
              </a:path>
            </a:pathLst>
          </a:custGeom>
          <a:solidFill>
            <a:srgbClr val="AC1600"/>
          </a:solidFill>
        </p:spPr>
        <p:txBody>
          <a:bodyPr wrap="square" lIns="0" tIns="0" rIns="0" bIns="0" rtlCol="0"/>
          <a:lstStyle/>
          <a:p>
            <a:endParaRPr sz="1593"/>
          </a:p>
        </p:txBody>
      </p:sp>
      <p:sp>
        <p:nvSpPr>
          <p:cNvPr id="6" name="object 6"/>
          <p:cNvSpPr txBox="1">
            <a:spLocks noGrp="1"/>
          </p:cNvSpPr>
          <p:nvPr>
            <p:ph type="title"/>
          </p:nvPr>
        </p:nvSpPr>
        <p:spPr>
          <a:xfrm>
            <a:off x="274039" y="821904"/>
            <a:ext cx="5476467" cy="610747"/>
          </a:xfrm>
          <a:prstGeom prst="rect">
            <a:avLst/>
          </a:prstGeom>
        </p:spPr>
        <p:txBody>
          <a:bodyPr vert="horz" wrap="square" lIns="0" tIns="11242" rIns="0" bIns="0" rtlCol="0" anchor="ctr">
            <a:spAutoFit/>
          </a:bodyPr>
          <a:lstStyle/>
          <a:p>
            <a:pPr marL="11242">
              <a:spcBef>
                <a:spcPts val="89"/>
              </a:spcBef>
              <a:tabLst>
                <a:tab pos="910605" algn="l"/>
              </a:tabLst>
            </a:pPr>
            <a:r>
              <a:rPr spc="-4" dirty="0"/>
              <a:t>The	Software</a:t>
            </a:r>
            <a:r>
              <a:rPr spc="-31" dirty="0"/>
              <a:t> </a:t>
            </a:r>
            <a:r>
              <a:rPr spc="-4" dirty="0"/>
              <a:t>Equation</a:t>
            </a:r>
          </a:p>
        </p:txBody>
      </p:sp>
      <p:sp>
        <p:nvSpPr>
          <p:cNvPr id="19" name="object 19"/>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84</a:t>
            </a:fld>
            <a:endParaRPr dirty="0"/>
          </a:p>
        </p:txBody>
      </p:sp>
      <p:sp>
        <p:nvSpPr>
          <p:cNvPr id="7" name="object 7"/>
          <p:cNvSpPr/>
          <p:nvPr/>
        </p:nvSpPr>
        <p:spPr>
          <a:xfrm>
            <a:off x="1726076" y="1692409"/>
            <a:ext cx="3782167" cy="434139"/>
          </a:xfrm>
          <a:prstGeom prst="rect">
            <a:avLst/>
          </a:prstGeom>
          <a:blipFill>
            <a:blip r:embed="rId4" cstate="print"/>
            <a:stretch>
              <a:fillRect/>
            </a:stretch>
          </a:blipFill>
        </p:spPr>
        <p:txBody>
          <a:bodyPr wrap="square" lIns="0" tIns="0" rIns="0" bIns="0" rtlCol="0"/>
          <a:lstStyle/>
          <a:p>
            <a:endParaRPr sz="1593"/>
          </a:p>
        </p:txBody>
      </p:sp>
      <p:sp>
        <p:nvSpPr>
          <p:cNvPr id="8" name="object 8"/>
          <p:cNvSpPr/>
          <p:nvPr/>
        </p:nvSpPr>
        <p:spPr>
          <a:xfrm>
            <a:off x="1803338" y="2008818"/>
            <a:ext cx="99336" cy="478289"/>
          </a:xfrm>
          <a:prstGeom prst="rect">
            <a:avLst/>
          </a:prstGeom>
          <a:blipFill>
            <a:blip r:embed="rId5" cstate="print"/>
            <a:stretch>
              <a:fillRect/>
            </a:stretch>
          </a:blipFill>
        </p:spPr>
        <p:txBody>
          <a:bodyPr wrap="square" lIns="0" tIns="0" rIns="0" bIns="0" rtlCol="0"/>
          <a:lstStyle/>
          <a:p>
            <a:endParaRPr sz="1593"/>
          </a:p>
        </p:txBody>
      </p:sp>
      <p:sp>
        <p:nvSpPr>
          <p:cNvPr id="9" name="object 9"/>
          <p:cNvSpPr/>
          <p:nvPr/>
        </p:nvSpPr>
        <p:spPr>
          <a:xfrm>
            <a:off x="1737113" y="2365694"/>
            <a:ext cx="5761551" cy="515080"/>
          </a:xfrm>
          <a:prstGeom prst="rect">
            <a:avLst/>
          </a:prstGeom>
          <a:blipFill>
            <a:blip r:embed="rId6" cstate="print"/>
            <a:stretch>
              <a:fillRect/>
            </a:stretch>
          </a:blipFill>
        </p:spPr>
        <p:txBody>
          <a:bodyPr wrap="square" lIns="0" tIns="0" rIns="0" bIns="0" rtlCol="0"/>
          <a:lstStyle/>
          <a:p>
            <a:endParaRPr sz="1593"/>
          </a:p>
        </p:txBody>
      </p:sp>
      <p:sp>
        <p:nvSpPr>
          <p:cNvPr id="10" name="object 10"/>
          <p:cNvSpPr/>
          <p:nvPr/>
        </p:nvSpPr>
        <p:spPr>
          <a:xfrm>
            <a:off x="2546526" y="2759364"/>
            <a:ext cx="95658" cy="478289"/>
          </a:xfrm>
          <a:prstGeom prst="rect">
            <a:avLst/>
          </a:prstGeom>
          <a:blipFill>
            <a:blip r:embed="rId7" cstate="print"/>
            <a:stretch>
              <a:fillRect/>
            </a:stretch>
          </a:blipFill>
        </p:spPr>
        <p:txBody>
          <a:bodyPr wrap="square" lIns="0" tIns="0" rIns="0" bIns="0" rtlCol="0"/>
          <a:lstStyle/>
          <a:p>
            <a:endParaRPr sz="1593"/>
          </a:p>
        </p:txBody>
      </p:sp>
      <p:sp>
        <p:nvSpPr>
          <p:cNvPr id="11" name="object 11"/>
          <p:cNvSpPr/>
          <p:nvPr/>
        </p:nvSpPr>
        <p:spPr>
          <a:xfrm>
            <a:off x="1737113" y="3153031"/>
            <a:ext cx="827808" cy="467252"/>
          </a:xfrm>
          <a:prstGeom prst="rect">
            <a:avLst/>
          </a:prstGeom>
          <a:blipFill>
            <a:blip r:embed="rId8" cstate="print"/>
            <a:stretch>
              <a:fillRect/>
            </a:stretch>
          </a:blipFill>
        </p:spPr>
        <p:txBody>
          <a:bodyPr wrap="square" lIns="0" tIns="0" rIns="0" bIns="0" rtlCol="0"/>
          <a:lstStyle/>
          <a:p>
            <a:endParaRPr sz="1593"/>
          </a:p>
        </p:txBody>
      </p:sp>
      <p:sp>
        <p:nvSpPr>
          <p:cNvPr id="12" name="object 12"/>
          <p:cNvSpPr/>
          <p:nvPr/>
        </p:nvSpPr>
        <p:spPr>
          <a:xfrm>
            <a:off x="1737113" y="3513589"/>
            <a:ext cx="6122107" cy="467252"/>
          </a:xfrm>
          <a:prstGeom prst="rect">
            <a:avLst/>
          </a:prstGeom>
          <a:blipFill>
            <a:blip r:embed="rId9" cstate="print"/>
            <a:stretch>
              <a:fillRect/>
            </a:stretch>
          </a:blipFill>
        </p:spPr>
        <p:txBody>
          <a:bodyPr wrap="square" lIns="0" tIns="0" rIns="0" bIns="0" rtlCol="0"/>
          <a:lstStyle/>
          <a:p>
            <a:endParaRPr sz="1593"/>
          </a:p>
        </p:txBody>
      </p:sp>
      <p:sp>
        <p:nvSpPr>
          <p:cNvPr id="13" name="object 13"/>
          <p:cNvSpPr/>
          <p:nvPr/>
        </p:nvSpPr>
        <p:spPr>
          <a:xfrm>
            <a:off x="1737113" y="3863109"/>
            <a:ext cx="5437786" cy="467252"/>
          </a:xfrm>
          <a:prstGeom prst="rect">
            <a:avLst/>
          </a:prstGeom>
          <a:blipFill>
            <a:blip r:embed="rId10" cstate="print"/>
            <a:stretch>
              <a:fillRect/>
            </a:stretch>
          </a:blipFill>
        </p:spPr>
        <p:txBody>
          <a:bodyPr wrap="square" lIns="0" tIns="0" rIns="0" bIns="0" rtlCol="0"/>
          <a:lstStyle/>
          <a:p>
            <a:endParaRPr sz="1593"/>
          </a:p>
        </p:txBody>
      </p:sp>
      <p:sp>
        <p:nvSpPr>
          <p:cNvPr id="14" name="object 14"/>
          <p:cNvSpPr/>
          <p:nvPr/>
        </p:nvSpPr>
        <p:spPr>
          <a:xfrm>
            <a:off x="1737113" y="4223666"/>
            <a:ext cx="3907258" cy="467252"/>
          </a:xfrm>
          <a:prstGeom prst="rect">
            <a:avLst/>
          </a:prstGeom>
          <a:blipFill>
            <a:blip r:embed="rId11" cstate="print"/>
            <a:stretch>
              <a:fillRect/>
            </a:stretch>
          </a:blipFill>
        </p:spPr>
        <p:txBody>
          <a:bodyPr wrap="square" lIns="0" tIns="0" rIns="0" bIns="0" rtlCol="0"/>
          <a:lstStyle/>
          <a:p>
            <a:endParaRPr sz="1593"/>
          </a:p>
        </p:txBody>
      </p:sp>
      <p:sp>
        <p:nvSpPr>
          <p:cNvPr id="15" name="object 15"/>
          <p:cNvSpPr/>
          <p:nvPr/>
        </p:nvSpPr>
        <p:spPr>
          <a:xfrm>
            <a:off x="1737113" y="4580543"/>
            <a:ext cx="4323002" cy="467252"/>
          </a:xfrm>
          <a:prstGeom prst="rect">
            <a:avLst/>
          </a:prstGeom>
          <a:blipFill>
            <a:blip r:embed="rId12" cstate="print"/>
            <a:stretch>
              <a:fillRect/>
            </a:stretch>
          </a:blipFill>
        </p:spPr>
        <p:txBody>
          <a:bodyPr wrap="square" lIns="0" tIns="0" rIns="0" bIns="0" rtlCol="0"/>
          <a:lstStyle/>
          <a:p>
            <a:endParaRPr sz="1593"/>
          </a:p>
        </p:txBody>
      </p:sp>
      <p:sp>
        <p:nvSpPr>
          <p:cNvPr id="16" name="object 16"/>
          <p:cNvSpPr txBox="1"/>
          <p:nvPr/>
        </p:nvSpPr>
        <p:spPr>
          <a:xfrm>
            <a:off x="618131" y="1393957"/>
            <a:ext cx="7675748" cy="665121"/>
          </a:xfrm>
          <a:prstGeom prst="rect">
            <a:avLst/>
          </a:prstGeom>
        </p:spPr>
        <p:txBody>
          <a:bodyPr vert="horz" wrap="square" lIns="0" tIns="11242" rIns="0" bIns="0" rtlCol="0">
            <a:spAutoFit/>
          </a:bodyPr>
          <a:lstStyle/>
          <a:p>
            <a:pPr marL="11242">
              <a:spcBef>
                <a:spcPts val="89"/>
              </a:spcBef>
            </a:pPr>
            <a:r>
              <a:rPr sz="2124" i="1" dirty="0">
                <a:latin typeface="Arial"/>
                <a:cs typeface="Arial"/>
              </a:rPr>
              <a:t>A dynamic </a:t>
            </a:r>
            <a:r>
              <a:rPr sz="2124" i="1" spc="-4" dirty="0">
                <a:latin typeface="Arial"/>
                <a:cs typeface="Arial"/>
              </a:rPr>
              <a:t>multivariable</a:t>
            </a:r>
            <a:r>
              <a:rPr sz="2124" i="1" spc="-159" dirty="0">
                <a:latin typeface="Arial"/>
                <a:cs typeface="Arial"/>
              </a:rPr>
              <a:t> </a:t>
            </a:r>
            <a:r>
              <a:rPr sz="2124" i="1" dirty="0">
                <a:latin typeface="Arial"/>
                <a:cs typeface="Arial"/>
              </a:rPr>
              <a:t>model</a:t>
            </a:r>
            <a:r>
              <a:rPr lang="en-US" sz="2124" i="1" dirty="0">
                <a:latin typeface="Arial"/>
                <a:cs typeface="Arial"/>
              </a:rPr>
              <a:t> that assumes a specific distribution pf effort over life of a Software project</a:t>
            </a:r>
            <a:endParaRPr sz="2124" dirty="0">
              <a:latin typeface="Arial"/>
              <a:cs typeface="Arial"/>
            </a:endParaRPr>
          </a:p>
        </p:txBody>
      </p:sp>
      <p:sp>
        <p:nvSpPr>
          <p:cNvPr id="17" name="object 17"/>
          <p:cNvSpPr txBox="1"/>
          <p:nvPr/>
        </p:nvSpPr>
        <p:spPr>
          <a:xfrm>
            <a:off x="3017050" y="2457469"/>
            <a:ext cx="4294387" cy="338236"/>
          </a:xfrm>
          <a:prstGeom prst="rect">
            <a:avLst/>
          </a:prstGeom>
        </p:spPr>
        <p:txBody>
          <a:bodyPr vert="horz" wrap="square" lIns="0" tIns="11242" rIns="0" bIns="0" rtlCol="0">
            <a:spAutoFit/>
          </a:bodyPr>
          <a:lstStyle/>
          <a:p>
            <a:pPr marL="372674">
              <a:spcBef>
                <a:spcPts val="89"/>
              </a:spcBef>
              <a:tabLst>
                <a:tab pos="3059520" algn="l"/>
              </a:tabLst>
            </a:pPr>
            <a:r>
              <a:rPr sz="2124" b="1" dirty="0">
                <a:solidFill>
                  <a:srgbClr val="FFFFFF"/>
                </a:solidFill>
                <a:latin typeface="Arial"/>
                <a:cs typeface="Arial"/>
              </a:rPr>
              <a:t>E = </a:t>
            </a:r>
            <a:r>
              <a:rPr sz="2124" b="1" spc="-4" dirty="0">
                <a:solidFill>
                  <a:srgbClr val="FFFFFF"/>
                </a:solidFill>
                <a:latin typeface="Arial"/>
                <a:cs typeface="Arial"/>
              </a:rPr>
              <a:t>[LOC</a:t>
            </a:r>
            <a:r>
              <a:rPr sz="2124" b="1" spc="18" dirty="0">
                <a:solidFill>
                  <a:srgbClr val="FFFFFF"/>
                </a:solidFill>
                <a:latin typeface="Arial"/>
                <a:cs typeface="Arial"/>
              </a:rPr>
              <a:t> </a:t>
            </a:r>
            <a:r>
              <a:rPr sz="2124" b="1" dirty="0">
                <a:solidFill>
                  <a:srgbClr val="FFFFFF"/>
                </a:solidFill>
                <a:latin typeface="Arial"/>
                <a:cs typeface="Arial"/>
              </a:rPr>
              <a:t>x</a:t>
            </a:r>
            <a:r>
              <a:rPr sz="2124" b="1" spc="9" dirty="0">
                <a:solidFill>
                  <a:srgbClr val="FFFFFF"/>
                </a:solidFill>
                <a:latin typeface="Arial"/>
                <a:cs typeface="Arial"/>
              </a:rPr>
              <a:t> </a:t>
            </a:r>
            <a:r>
              <a:rPr sz="2124" b="1" spc="-4" dirty="0">
                <a:solidFill>
                  <a:srgbClr val="FFFFFF"/>
                </a:solidFill>
                <a:latin typeface="Arial"/>
                <a:cs typeface="Arial"/>
              </a:rPr>
              <a:t>B</a:t>
            </a:r>
            <a:r>
              <a:rPr sz="2124" b="1" spc="-6" baseline="24305" dirty="0">
                <a:solidFill>
                  <a:srgbClr val="FFFFFF"/>
                </a:solidFill>
                <a:latin typeface="Arial"/>
                <a:cs typeface="Arial"/>
              </a:rPr>
              <a:t>0.333</a:t>
            </a:r>
            <a:r>
              <a:rPr sz="2124" b="1" spc="-4" dirty="0">
                <a:solidFill>
                  <a:srgbClr val="FFFFFF"/>
                </a:solidFill>
                <a:latin typeface="Arial"/>
                <a:cs typeface="Arial"/>
              </a:rPr>
              <a:t>/P]</a:t>
            </a:r>
            <a:r>
              <a:rPr sz="2124" b="1" spc="-6" baseline="24305" dirty="0">
                <a:solidFill>
                  <a:srgbClr val="FFFFFF"/>
                </a:solidFill>
                <a:latin typeface="Arial"/>
                <a:cs typeface="Arial"/>
              </a:rPr>
              <a:t>3	</a:t>
            </a:r>
            <a:r>
              <a:rPr sz="2124" b="1" dirty="0">
                <a:solidFill>
                  <a:srgbClr val="FFFFFF"/>
                </a:solidFill>
                <a:latin typeface="Arial"/>
                <a:cs typeface="Arial"/>
              </a:rPr>
              <a:t>x</a:t>
            </a:r>
            <a:r>
              <a:rPr sz="2124" b="1" spc="-9" dirty="0">
                <a:solidFill>
                  <a:srgbClr val="FFFFFF"/>
                </a:solidFill>
                <a:latin typeface="Arial"/>
                <a:cs typeface="Arial"/>
              </a:rPr>
              <a:t> </a:t>
            </a:r>
            <a:r>
              <a:rPr sz="2124" b="1" spc="-4" dirty="0">
                <a:solidFill>
                  <a:srgbClr val="FFFFFF"/>
                </a:solidFill>
                <a:latin typeface="Arial"/>
                <a:cs typeface="Arial"/>
              </a:rPr>
              <a:t>(1/t</a:t>
            </a:r>
            <a:r>
              <a:rPr sz="2124" b="1" spc="-6" baseline="24305" dirty="0">
                <a:solidFill>
                  <a:srgbClr val="FFFFFF"/>
                </a:solidFill>
                <a:latin typeface="Arial"/>
                <a:cs typeface="Arial"/>
              </a:rPr>
              <a:t>4</a:t>
            </a:r>
            <a:r>
              <a:rPr sz="2124" b="1" spc="-4" dirty="0">
                <a:solidFill>
                  <a:srgbClr val="FFFFFF"/>
                </a:solidFill>
                <a:latin typeface="Arial"/>
                <a:cs typeface="Arial"/>
              </a:rPr>
              <a:t>)</a:t>
            </a:r>
            <a:endParaRPr sz="2124">
              <a:latin typeface="Arial"/>
              <a:cs typeface="Arial"/>
            </a:endParaRPr>
          </a:p>
        </p:txBody>
      </p:sp>
      <p:sp>
        <p:nvSpPr>
          <p:cNvPr id="18" name="object 18"/>
          <p:cNvSpPr txBox="1"/>
          <p:nvPr/>
        </p:nvSpPr>
        <p:spPr>
          <a:xfrm>
            <a:off x="1760210" y="3174699"/>
            <a:ext cx="6053737" cy="1824189"/>
          </a:xfrm>
          <a:prstGeom prst="rect">
            <a:avLst/>
          </a:prstGeom>
        </p:spPr>
        <p:txBody>
          <a:bodyPr vert="horz" wrap="square" lIns="0" tIns="47216" rIns="0" bIns="0" rtlCol="0">
            <a:spAutoFit/>
          </a:bodyPr>
          <a:lstStyle/>
          <a:p>
            <a:pPr marL="11242">
              <a:spcBef>
                <a:spcPts val="372"/>
              </a:spcBef>
            </a:pPr>
            <a:r>
              <a:rPr sz="2124" dirty="0">
                <a:latin typeface="Arial"/>
                <a:cs typeface="Arial"/>
              </a:rPr>
              <a:t>where</a:t>
            </a:r>
            <a:endParaRPr sz="2124">
              <a:latin typeface="Arial"/>
              <a:cs typeface="Arial"/>
            </a:endParaRPr>
          </a:p>
          <a:p>
            <a:pPr marL="820669" marR="4497">
              <a:lnSpc>
                <a:spcPct val="107600"/>
              </a:lnSpc>
              <a:spcBef>
                <a:spcPts val="89"/>
              </a:spcBef>
            </a:pPr>
            <a:r>
              <a:rPr sz="2124" dirty="0">
                <a:latin typeface="Arial"/>
                <a:cs typeface="Arial"/>
              </a:rPr>
              <a:t>E = </a:t>
            </a:r>
            <a:r>
              <a:rPr sz="2124" spc="-9" dirty="0">
                <a:latin typeface="Arial"/>
                <a:cs typeface="Arial"/>
              </a:rPr>
              <a:t>effort </a:t>
            </a:r>
            <a:r>
              <a:rPr sz="2124" dirty="0">
                <a:latin typeface="Arial"/>
                <a:cs typeface="Arial"/>
              </a:rPr>
              <a:t>in </a:t>
            </a:r>
            <a:r>
              <a:rPr sz="2124" spc="-4" dirty="0">
                <a:latin typeface="Arial"/>
                <a:cs typeface="Arial"/>
              </a:rPr>
              <a:t>person-months </a:t>
            </a:r>
            <a:r>
              <a:rPr sz="2124" dirty="0">
                <a:latin typeface="Arial"/>
                <a:cs typeface="Arial"/>
              </a:rPr>
              <a:t>or person-years  t = project </a:t>
            </a:r>
            <a:r>
              <a:rPr sz="2124" spc="-4" dirty="0">
                <a:latin typeface="Arial"/>
                <a:cs typeface="Arial"/>
              </a:rPr>
              <a:t>duration </a:t>
            </a:r>
            <a:r>
              <a:rPr sz="2124" dirty="0">
                <a:latin typeface="Arial"/>
                <a:cs typeface="Arial"/>
              </a:rPr>
              <a:t>in </a:t>
            </a:r>
            <a:r>
              <a:rPr sz="2124" spc="-4" dirty="0">
                <a:latin typeface="Arial"/>
                <a:cs typeface="Arial"/>
              </a:rPr>
              <a:t>months </a:t>
            </a:r>
            <a:r>
              <a:rPr sz="2124" dirty="0">
                <a:latin typeface="Arial"/>
                <a:cs typeface="Arial"/>
              </a:rPr>
              <a:t>or</a:t>
            </a:r>
            <a:r>
              <a:rPr sz="2124" spc="-27" dirty="0">
                <a:latin typeface="Arial"/>
                <a:cs typeface="Arial"/>
              </a:rPr>
              <a:t> </a:t>
            </a:r>
            <a:r>
              <a:rPr sz="2124" dirty="0">
                <a:latin typeface="Arial"/>
                <a:cs typeface="Arial"/>
              </a:rPr>
              <a:t>years</a:t>
            </a:r>
            <a:endParaRPr sz="2124">
              <a:latin typeface="Arial"/>
              <a:cs typeface="Arial"/>
            </a:endParaRPr>
          </a:p>
          <a:p>
            <a:pPr marL="820669">
              <a:spcBef>
                <a:spcPts val="283"/>
              </a:spcBef>
            </a:pPr>
            <a:r>
              <a:rPr sz="2124" dirty="0">
                <a:latin typeface="Arial"/>
                <a:cs typeface="Arial"/>
              </a:rPr>
              <a:t>B = </a:t>
            </a:r>
            <a:r>
              <a:rPr sz="2124" dirty="0">
                <a:latin typeface="MS PGothic"/>
                <a:cs typeface="MS PGothic"/>
              </a:rPr>
              <a:t>“</a:t>
            </a:r>
            <a:r>
              <a:rPr sz="2124" dirty="0">
                <a:latin typeface="Arial"/>
                <a:cs typeface="Arial"/>
              </a:rPr>
              <a:t>special skills</a:t>
            </a:r>
            <a:r>
              <a:rPr sz="2124" spc="-13" dirty="0">
                <a:latin typeface="Arial"/>
                <a:cs typeface="Arial"/>
              </a:rPr>
              <a:t> </a:t>
            </a:r>
            <a:r>
              <a:rPr sz="2124" spc="-4" dirty="0">
                <a:latin typeface="Arial"/>
                <a:cs typeface="Arial"/>
              </a:rPr>
              <a:t>factor</a:t>
            </a:r>
            <a:r>
              <a:rPr sz="2124" spc="-4" dirty="0">
                <a:latin typeface="MS PGothic"/>
                <a:cs typeface="MS PGothic"/>
              </a:rPr>
              <a:t>”</a:t>
            </a:r>
            <a:endParaRPr sz="2124">
              <a:latin typeface="MS PGothic"/>
              <a:cs typeface="MS PGothic"/>
            </a:endParaRPr>
          </a:p>
          <a:p>
            <a:pPr marL="820669">
              <a:spcBef>
                <a:spcPts val="283"/>
              </a:spcBef>
            </a:pPr>
            <a:r>
              <a:rPr sz="2124" dirty="0">
                <a:latin typeface="Arial"/>
                <a:cs typeface="Arial"/>
              </a:rPr>
              <a:t>P = </a:t>
            </a:r>
            <a:r>
              <a:rPr sz="2124" spc="-4" dirty="0">
                <a:latin typeface="MS PGothic"/>
                <a:cs typeface="MS PGothic"/>
              </a:rPr>
              <a:t>“</a:t>
            </a:r>
            <a:r>
              <a:rPr sz="2124" spc="-4" dirty="0">
                <a:latin typeface="Arial"/>
                <a:cs typeface="Arial"/>
              </a:rPr>
              <a:t>productivity</a:t>
            </a:r>
            <a:r>
              <a:rPr sz="2124" spc="-49" dirty="0">
                <a:latin typeface="Arial"/>
                <a:cs typeface="Arial"/>
              </a:rPr>
              <a:t> </a:t>
            </a:r>
            <a:r>
              <a:rPr sz="2124" spc="-4" dirty="0">
                <a:latin typeface="Arial"/>
                <a:cs typeface="Arial"/>
              </a:rPr>
              <a:t>parameter</a:t>
            </a:r>
            <a:r>
              <a:rPr sz="2124" spc="-4" dirty="0">
                <a:latin typeface="MS PGothic"/>
                <a:cs typeface="MS PGothic"/>
              </a:rPr>
              <a:t>”</a:t>
            </a:r>
            <a:endParaRPr sz="2124">
              <a:latin typeface="MS PGothic"/>
              <a:cs typeface="MS PGothic"/>
            </a:endParaRPr>
          </a:p>
        </p:txBody>
      </p:sp>
      <p:sp>
        <p:nvSpPr>
          <p:cNvPr id="20" name="TextBox 19">
            <a:extLst>
              <a:ext uri="{FF2B5EF4-FFF2-40B4-BE49-F238E27FC236}">
                <a16:creationId xmlns:a16="http://schemas.microsoft.com/office/drawing/2014/main" id="{BA9E15E0-114E-43F1-8AD8-7686BA9072A7}"/>
              </a:ext>
            </a:extLst>
          </p:cNvPr>
          <p:cNvSpPr txBox="1"/>
          <p:nvPr/>
        </p:nvSpPr>
        <p:spPr>
          <a:xfrm>
            <a:off x="183868" y="5302773"/>
            <a:ext cx="7681911" cy="337465"/>
          </a:xfrm>
          <a:prstGeom prst="rect">
            <a:avLst/>
          </a:prstGeom>
          <a:noFill/>
        </p:spPr>
        <p:txBody>
          <a:bodyPr wrap="none" rtlCol="0">
            <a:spAutoFit/>
          </a:bodyPr>
          <a:lstStyle/>
          <a:p>
            <a:r>
              <a:rPr lang="en-US" sz="1593" dirty="0"/>
              <a:t>Model derived from productivity data collected over 4000 contemporary software projects</a:t>
            </a:r>
            <a:endParaRPr lang="en-IN" sz="1593"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15AAD-EF5C-1829-9097-1854D6341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FDC8C-D2AF-E501-8ED4-506AED89FA8A}"/>
              </a:ext>
            </a:extLst>
          </p:cNvPr>
          <p:cNvSpPr>
            <a:spLocks noGrp="1"/>
          </p:cNvSpPr>
          <p:nvPr>
            <p:ph type="title"/>
          </p:nvPr>
        </p:nvSpPr>
        <p:spPr/>
        <p:txBody>
          <a:bodyPr/>
          <a:lstStyle/>
          <a:p>
            <a:r>
              <a:rPr lang="en-IN" dirty="0"/>
              <a:t>COCOMO</a:t>
            </a:r>
          </a:p>
        </p:txBody>
      </p:sp>
      <p:sp>
        <p:nvSpPr>
          <p:cNvPr id="3" name="Content Placeholder 2">
            <a:extLst>
              <a:ext uri="{FF2B5EF4-FFF2-40B4-BE49-F238E27FC236}">
                <a16:creationId xmlns:a16="http://schemas.microsoft.com/office/drawing/2014/main" id="{53637897-A422-1059-2B72-325990FB97D9}"/>
              </a:ext>
            </a:extLst>
          </p:cNvPr>
          <p:cNvSpPr>
            <a:spLocks noGrp="1"/>
          </p:cNvSpPr>
          <p:nvPr>
            <p:ph idx="1"/>
          </p:nvPr>
        </p:nvSpPr>
        <p:spPr/>
        <p:txBody>
          <a:bodyPr>
            <a:normAutofit lnSpcReduction="10000"/>
          </a:bodyPr>
          <a:lstStyle/>
          <a:p>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Constructive Cost Model (COCOMO) is a software cost estimation model that helps predict the effort, cost, and schedule required for a software development project. Developed by Barry Boehm in 1981, COCOMO uses a mathematical formula based on the size of the software project, typically measured in lines of code (LOC).</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key parameters that define the quality of any </a:t>
            </a:r>
            <a:r>
              <a:rPr lang="en-IN"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software product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which are also an outcome of COCOMO, are primarily effort and schedule:</a:t>
            </a:r>
          </a:p>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1.Effort: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Amount of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labor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that will be required to complete a task. It is measured in person-months units.</a:t>
            </a:r>
          </a:p>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2.Schedule: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This simply means the amount of time required for the completion of the job, which is, of course, proportional to the effort put in. It is measured in the units of time such as weeks, and months.</a:t>
            </a:r>
          </a:p>
          <a:p>
            <a:endParaRPr lang="en-IN" dirty="0"/>
          </a:p>
        </p:txBody>
      </p:sp>
    </p:spTree>
    <p:extLst>
      <p:ext uri="{BB962C8B-B14F-4D97-AF65-F5344CB8AC3E}">
        <p14:creationId xmlns:p14="http://schemas.microsoft.com/office/powerpoint/2010/main" val="28459037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7B402-5D6D-D566-DF41-A3EBA3E0E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BBA71-94B5-F301-615E-BFB774C7855A}"/>
              </a:ext>
            </a:extLst>
          </p:cNvPr>
          <p:cNvSpPr>
            <a:spLocks noGrp="1"/>
          </p:cNvSpPr>
          <p:nvPr>
            <p:ph type="title"/>
          </p:nvPr>
        </p:nvSpPr>
        <p:spPr/>
        <p:txBody>
          <a:bodyPr/>
          <a:lstStyle/>
          <a:p>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Types of Projects in the COCOMO Model</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0CCA91E-F035-05E6-1F26-8A6B1E6FB28E}"/>
              </a:ext>
            </a:extLst>
          </p:cNvPr>
          <p:cNvSpPr>
            <a:spLocks noGrp="1"/>
          </p:cNvSpPr>
          <p:nvPr>
            <p:ph idx="1"/>
          </p:nvPr>
        </p:nvSpPr>
        <p:spPr/>
        <p:txBody>
          <a:bodyPr>
            <a:norm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the COCOMO model, software projects are categorized into three types based on their complexity, size, and the development environment. These types are:</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Organic: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software project is said to be an organic type if the team size required is adequately small, the problem is well understood and has been solved in the past and also the team members have a nominal experience regarding the problem.</a:t>
            </a:r>
          </a:p>
          <a:p>
            <a:pPr marL="0" indent="0">
              <a:buNone/>
            </a:pPr>
            <a:endParaRPr lang="en-IN" dirty="0"/>
          </a:p>
        </p:txBody>
      </p:sp>
    </p:spTree>
    <p:extLst>
      <p:ext uri="{BB962C8B-B14F-4D97-AF65-F5344CB8AC3E}">
        <p14:creationId xmlns:p14="http://schemas.microsoft.com/office/powerpoint/2010/main" val="22348884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4A118-5304-B872-0693-11396EC3B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BC6BF-42B9-2EFC-0ED1-60F23741247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84F633B-04E6-5AEF-24D2-08786E73AF89}"/>
              </a:ext>
            </a:extLst>
          </p:cNvPr>
          <p:cNvSpPr>
            <a:spLocks noGrp="1"/>
          </p:cNvSpPr>
          <p:nvPr>
            <p:ph idx="1"/>
          </p:nvPr>
        </p:nvSpPr>
        <p:spPr/>
        <p:txBody>
          <a:bodyPr>
            <a:normAutofit/>
          </a:bodyPr>
          <a:lstStyle/>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2.Semi-detached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software project is said to be a Semi-detached type if the vital characteristics such as team size, experience, and knowledge of the various programming environments lie in between organic and embedded. The projects classified as Semi-Detached are comparatively less familiar and difficult to develop compared to the organic ones and require more experience better guidance and creativity.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Eg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Compilers or different Embedded Systems can be considered Semi-Detached types.</a:t>
            </a:r>
          </a:p>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3.Embedded: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software project requiring the highest level of complexity, creativity, and experience requirement falls under this category. Such software requires a larger team size than the other two models and also the developers need to be sufficiently experienced and creative to develop such complex models.</a:t>
            </a:r>
          </a:p>
          <a:p>
            <a:pPr marL="0" indent="0">
              <a:buNone/>
            </a:pPr>
            <a:endParaRPr lang="en-IN" dirty="0"/>
          </a:p>
        </p:txBody>
      </p:sp>
    </p:spTree>
    <p:extLst>
      <p:ext uri="{BB962C8B-B14F-4D97-AF65-F5344CB8AC3E}">
        <p14:creationId xmlns:p14="http://schemas.microsoft.com/office/powerpoint/2010/main" val="41051983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D4258-1106-2379-ABCF-D12C693B6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D8BF5-BC38-286A-C528-775FA73997AE}"/>
              </a:ext>
            </a:extLst>
          </p:cNvPr>
          <p:cNvSpPr>
            <a:spLocks noGrp="1"/>
          </p:cNvSpPr>
          <p:nvPr>
            <p:ph type="title"/>
          </p:nvPr>
        </p:nvSpPr>
        <p:spPr>
          <a:xfrm>
            <a:off x="405130" y="243105"/>
            <a:ext cx="7292340" cy="963395"/>
          </a:xfrm>
        </p:spPr>
        <p:txBody>
          <a:bodyPr>
            <a:normAutofit/>
          </a:bodyPr>
          <a:lstStyle/>
          <a:p>
            <a:r>
              <a:rPr lang="en-IN" sz="1800" b="1" kern="0" spc="10" dirty="0">
                <a:solidFill>
                  <a:srgbClr val="273239"/>
                </a:solidFill>
                <a:effectLst/>
                <a:latin typeface="Nunito" pitchFamily="2" charset="0"/>
                <a:ea typeface="Times New Roman" panose="02020603050405020304" pitchFamily="18" charset="0"/>
                <a:cs typeface="Times New Roman" panose="02020603050405020304" pitchFamily="18" charset="0"/>
              </a:rPr>
              <a:t>Comparison of these three types of Projects in COCOMO Model</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graphicFrame>
        <p:nvGraphicFramePr>
          <p:cNvPr id="4" name="Content Placeholder 3">
            <a:extLst>
              <a:ext uri="{FF2B5EF4-FFF2-40B4-BE49-F238E27FC236}">
                <a16:creationId xmlns:a16="http://schemas.microsoft.com/office/drawing/2014/main" id="{80A2D865-87EC-079D-15A5-2644706F409F}"/>
              </a:ext>
            </a:extLst>
          </p:cNvPr>
          <p:cNvGraphicFramePr>
            <a:graphicFrameLocks noGrp="1"/>
          </p:cNvGraphicFramePr>
          <p:nvPr>
            <p:ph idx="1"/>
          </p:nvPr>
        </p:nvGraphicFramePr>
        <p:xfrm>
          <a:off x="404813" y="1654968"/>
          <a:ext cx="7292976" cy="3529014"/>
        </p:xfrm>
        <a:graphic>
          <a:graphicData uri="http://schemas.openxmlformats.org/drawingml/2006/table">
            <a:tbl>
              <a:tblPr firstRow="1" firstCol="1" bandRow="1">
                <a:tableStyleId>{5C22544A-7EE6-4342-B048-85BDC9FD1C3A}</a:tableStyleId>
              </a:tblPr>
              <a:tblGrid>
                <a:gridCol w="988878">
                  <a:extLst>
                    <a:ext uri="{9D8B030D-6E8A-4147-A177-3AD203B41FA5}">
                      <a16:colId xmlns:a16="http://schemas.microsoft.com/office/drawing/2014/main" val="84232502"/>
                    </a:ext>
                  </a:extLst>
                </a:gridCol>
                <a:gridCol w="2101366">
                  <a:extLst>
                    <a:ext uri="{9D8B030D-6E8A-4147-A177-3AD203B41FA5}">
                      <a16:colId xmlns:a16="http://schemas.microsoft.com/office/drawing/2014/main" val="2300296280"/>
                    </a:ext>
                  </a:extLst>
                </a:gridCol>
                <a:gridCol w="2101366">
                  <a:extLst>
                    <a:ext uri="{9D8B030D-6E8A-4147-A177-3AD203B41FA5}">
                      <a16:colId xmlns:a16="http://schemas.microsoft.com/office/drawing/2014/main" val="4091579271"/>
                    </a:ext>
                  </a:extLst>
                </a:gridCol>
                <a:gridCol w="2101366">
                  <a:extLst>
                    <a:ext uri="{9D8B030D-6E8A-4147-A177-3AD203B41FA5}">
                      <a16:colId xmlns:a16="http://schemas.microsoft.com/office/drawing/2014/main" val="2233936118"/>
                    </a:ext>
                  </a:extLst>
                </a:gridCol>
              </a:tblGrid>
              <a:tr h="361950">
                <a:tc>
                  <a:txBody>
                    <a:bodyPr/>
                    <a:lstStyle/>
                    <a:p>
                      <a:pPr>
                        <a:lnSpc>
                          <a:spcPct val="107000"/>
                        </a:lnSpc>
                        <a:spcAft>
                          <a:spcPts val="800"/>
                        </a:spcAft>
                      </a:pPr>
                      <a:r>
                        <a:rPr lang="en-IN" sz="1100" kern="100">
                          <a:effectLst/>
                        </a:rPr>
                        <a:t>Aspects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95250" marB="95250" anchor="b"/>
                </a:tc>
                <a:tc>
                  <a:txBody>
                    <a:bodyPr/>
                    <a:lstStyle/>
                    <a:p>
                      <a:pPr>
                        <a:lnSpc>
                          <a:spcPct val="107000"/>
                        </a:lnSpc>
                        <a:spcAft>
                          <a:spcPts val="800"/>
                        </a:spcAft>
                      </a:pPr>
                      <a:r>
                        <a:rPr lang="en-IN" sz="1100" kern="100">
                          <a:effectLst/>
                        </a:rPr>
                        <a:t>Organic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pPr>
                      <a:r>
                        <a:rPr lang="en-IN" sz="1100" kern="100">
                          <a:effectLst/>
                        </a:rPr>
                        <a:t>Semidetached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pPr>
                      <a:r>
                        <a:rPr lang="en-IN" sz="1100" kern="100">
                          <a:effectLst/>
                        </a:rPr>
                        <a:t>Embedded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3183452341"/>
                  </a:ext>
                </a:extLst>
              </a:tr>
              <a:tr h="438150">
                <a:tc>
                  <a:txBody>
                    <a:bodyPr/>
                    <a:lstStyle/>
                    <a:p>
                      <a:pPr>
                        <a:lnSpc>
                          <a:spcPct val="107000"/>
                        </a:lnSpc>
                        <a:spcAft>
                          <a:spcPts val="800"/>
                        </a:spcAft>
                      </a:pPr>
                      <a:r>
                        <a:rPr lang="en-IN" sz="1100" kern="100">
                          <a:effectLst/>
                        </a:rPr>
                        <a:t>Project Size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59690" marB="59690" anchor="b"/>
                </a:tc>
                <a:tc>
                  <a:txBody>
                    <a:bodyPr/>
                    <a:lstStyle/>
                    <a:p>
                      <a:pPr>
                        <a:lnSpc>
                          <a:spcPct val="107000"/>
                        </a:lnSpc>
                        <a:spcAft>
                          <a:spcPts val="800"/>
                        </a:spcAft>
                      </a:pPr>
                      <a:r>
                        <a:rPr lang="en-IN" sz="1100" kern="100">
                          <a:effectLst/>
                        </a:rPr>
                        <a:t>2 to 50 KLOC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50-300 KLOC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300 and above KLOC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4046114399"/>
                  </a:ext>
                </a:extLst>
              </a:tr>
              <a:tr h="438150">
                <a:tc>
                  <a:txBody>
                    <a:bodyPr/>
                    <a:lstStyle/>
                    <a:p>
                      <a:pPr>
                        <a:lnSpc>
                          <a:spcPct val="107000"/>
                        </a:lnSpc>
                        <a:spcAft>
                          <a:spcPts val="800"/>
                        </a:spcAft>
                      </a:pPr>
                      <a:r>
                        <a:rPr lang="en-IN" sz="1100" kern="100">
                          <a:effectLst/>
                        </a:rPr>
                        <a:t>Complexity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59690" marB="59690" anchor="b"/>
                </a:tc>
                <a:tc>
                  <a:txBody>
                    <a:bodyPr/>
                    <a:lstStyle/>
                    <a:p>
                      <a:pPr>
                        <a:lnSpc>
                          <a:spcPct val="107000"/>
                        </a:lnSpc>
                        <a:spcAft>
                          <a:spcPts val="800"/>
                        </a:spcAft>
                      </a:pPr>
                      <a:r>
                        <a:rPr lang="en-IN" sz="1100" kern="100">
                          <a:effectLst/>
                        </a:rPr>
                        <a:t>Low</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Medium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High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3520358148"/>
                  </a:ext>
                </a:extLst>
              </a:tr>
              <a:tr h="617538">
                <a:tc>
                  <a:txBody>
                    <a:bodyPr/>
                    <a:lstStyle/>
                    <a:p>
                      <a:pPr>
                        <a:lnSpc>
                          <a:spcPct val="107000"/>
                        </a:lnSpc>
                        <a:spcAft>
                          <a:spcPts val="800"/>
                        </a:spcAft>
                      </a:pPr>
                      <a:r>
                        <a:rPr lang="en-IN" sz="1100" kern="100">
                          <a:effectLst/>
                        </a:rPr>
                        <a:t>Team Experience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59690" marB="59690" anchor="b"/>
                </a:tc>
                <a:tc>
                  <a:txBody>
                    <a:bodyPr/>
                    <a:lstStyle/>
                    <a:p>
                      <a:pPr>
                        <a:lnSpc>
                          <a:spcPct val="107000"/>
                        </a:lnSpc>
                        <a:spcAft>
                          <a:spcPts val="800"/>
                        </a:spcAft>
                      </a:pPr>
                      <a:r>
                        <a:rPr lang="en-IN" sz="1100" kern="100">
                          <a:effectLst/>
                        </a:rPr>
                        <a:t>Highly experienced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Some experienced as well as inexperienced staff</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Mixed experience, includes experts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3583313151"/>
                  </a:ext>
                </a:extLst>
              </a:tr>
              <a:tr h="617538">
                <a:tc>
                  <a:txBody>
                    <a:bodyPr/>
                    <a:lstStyle/>
                    <a:p>
                      <a:pPr>
                        <a:lnSpc>
                          <a:spcPct val="107000"/>
                        </a:lnSpc>
                        <a:spcAft>
                          <a:spcPts val="800"/>
                        </a:spcAft>
                      </a:pPr>
                      <a:r>
                        <a:rPr lang="en-IN" sz="1100" kern="100">
                          <a:effectLst/>
                        </a:rPr>
                        <a:t>Environment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59690" marB="59690" anchor="b"/>
                </a:tc>
                <a:tc>
                  <a:txBody>
                    <a:bodyPr/>
                    <a:lstStyle/>
                    <a:p>
                      <a:pPr>
                        <a:lnSpc>
                          <a:spcPct val="107000"/>
                        </a:lnSpc>
                        <a:spcAft>
                          <a:spcPts val="800"/>
                        </a:spcAft>
                      </a:pPr>
                      <a:r>
                        <a:rPr lang="en-IN" sz="1100" kern="100">
                          <a:effectLst/>
                        </a:rPr>
                        <a:t>Flexible, fewer 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Somewhat flexible, moderate 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Highly rigorous, strict requirements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70215004"/>
                  </a:ext>
                </a:extLst>
              </a:tr>
              <a:tr h="438150">
                <a:tc>
                  <a:txBody>
                    <a:bodyPr/>
                    <a:lstStyle/>
                    <a:p>
                      <a:pPr>
                        <a:lnSpc>
                          <a:spcPct val="107000"/>
                        </a:lnSpc>
                        <a:spcAft>
                          <a:spcPts val="800"/>
                        </a:spcAft>
                      </a:pPr>
                      <a:r>
                        <a:rPr lang="en-IN" sz="1100" kern="100">
                          <a:effectLst/>
                        </a:rPr>
                        <a:t>Effort Equation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59690" marB="59690" anchor="b"/>
                </a:tc>
                <a:tc>
                  <a:txBody>
                    <a:bodyPr/>
                    <a:lstStyle/>
                    <a:p>
                      <a:pPr>
                        <a:lnSpc>
                          <a:spcPct val="107000"/>
                        </a:lnSpc>
                        <a:spcAft>
                          <a:spcPts val="800"/>
                        </a:spcAft>
                      </a:pPr>
                      <a:r>
                        <a:rPr lang="en-IN" sz="1100" kern="100">
                          <a:effectLst/>
                        </a:rPr>
                        <a:t>E = 2.4(400)1.05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E = 3.0(400)1.12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E = 3.6(400)1.20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512621424"/>
                  </a:ext>
                </a:extLst>
              </a:tr>
              <a:tr h="617538">
                <a:tc>
                  <a:txBody>
                    <a:bodyPr/>
                    <a:lstStyle/>
                    <a:p>
                      <a:pPr>
                        <a:lnSpc>
                          <a:spcPct val="107000"/>
                        </a:lnSpc>
                        <a:spcAft>
                          <a:spcPts val="800"/>
                        </a:spcAft>
                      </a:pPr>
                      <a:r>
                        <a:rPr lang="en-IN" sz="1100" kern="100">
                          <a:effectLst/>
                        </a:rPr>
                        <a:t>Example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59690" marB="59690" anchor="b"/>
                </a:tc>
                <a:tc>
                  <a:txBody>
                    <a:bodyPr/>
                    <a:lstStyle/>
                    <a:p>
                      <a:pPr>
                        <a:lnSpc>
                          <a:spcPct val="107000"/>
                        </a:lnSpc>
                        <a:spcAft>
                          <a:spcPts val="800"/>
                        </a:spcAft>
                      </a:pPr>
                      <a:r>
                        <a:rPr lang="en-IN" sz="1100" kern="100">
                          <a:effectLst/>
                        </a:rPr>
                        <a:t>Simple payroll system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New system interfacing with existing systems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dirty="0">
                          <a:effectLst/>
                        </a:rPr>
                        <a:t>Flight control software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4286461449"/>
                  </a:ext>
                </a:extLst>
              </a:tr>
            </a:tbl>
          </a:graphicData>
        </a:graphic>
      </p:graphicFrame>
    </p:spTree>
    <p:extLst>
      <p:ext uri="{BB962C8B-B14F-4D97-AF65-F5344CB8AC3E}">
        <p14:creationId xmlns:p14="http://schemas.microsoft.com/office/powerpoint/2010/main" val="16685426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4D2A2-E7C2-2D5D-4F9A-93DA1BE60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651B3-19F8-B82B-51DA-439C96C2F2FF}"/>
              </a:ext>
            </a:extLst>
          </p:cNvPr>
          <p:cNvSpPr>
            <a:spLocks noGrp="1"/>
          </p:cNvSpPr>
          <p:nvPr>
            <p:ph type="title"/>
          </p:nvPr>
        </p:nvSpPr>
        <p:spPr/>
        <p:txBody>
          <a:bodyPr/>
          <a:lstStyle/>
          <a:p>
            <a:r>
              <a:rPr lang="en-IN" dirty="0"/>
              <a:t>COCOMO MODEL</a:t>
            </a:r>
          </a:p>
        </p:txBody>
      </p:sp>
      <p:sp>
        <p:nvSpPr>
          <p:cNvPr id="3" name="Content Placeholder 2">
            <a:extLst>
              <a:ext uri="{FF2B5EF4-FFF2-40B4-BE49-F238E27FC236}">
                <a16:creationId xmlns:a16="http://schemas.microsoft.com/office/drawing/2014/main" id="{71A63559-996E-4969-9E52-882EF8461019}"/>
              </a:ext>
            </a:extLst>
          </p:cNvPr>
          <p:cNvSpPr>
            <a:spLocks noGrp="1"/>
          </p:cNvSpPr>
          <p:nvPr>
            <p:ph idx="1"/>
          </p:nvPr>
        </p:nvSpPr>
        <p:spPr/>
        <p:txBody>
          <a:bodyPr>
            <a:normAutofit/>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Detailed Structure of COCOMO Model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Detailed COCOMO incorporates all characteristics of the intermediate version with an assessment of the cost driver’s impact on each step of the</a:t>
            </a:r>
            <a:r>
              <a:rPr lang="en-IN"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 software engineering process.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detailed model uses different effort multipliers for each cost driver attribute. In detailed COCOMO, the whole software is divided into different modules and then we apply COCOMO in different modules to estimate effort and then sum the effort.</a:t>
            </a:r>
          </a:p>
          <a:p>
            <a:endParaRPr lang="en-IN" dirty="0"/>
          </a:p>
        </p:txBody>
      </p:sp>
    </p:spTree>
    <p:extLst>
      <p:ext uri="{BB962C8B-B14F-4D97-AF65-F5344CB8AC3E}">
        <p14:creationId xmlns:p14="http://schemas.microsoft.com/office/powerpoint/2010/main" val="17405866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316C8-5F6D-24D1-C22F-E38DEAB03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19E6C-E85B-E70C-F53C-9CBA42F23591}"/>
              </a:ext>
            </a:extLst>
          </p:cNvPr>
          <p:cNvSpPr>
            <a:spLocks noGrp="1"/>
          </p:cNvSpPr>
          <p:nvPr>
            <p:ph type="title"/>
          </p:nvPr>
        </p:nvSpPr>
        <p:spPr/>
        <p:txBody>
          <a:bodyPr/>
          <a:lstStyle/>
          <a:p>
            <a:r>
              <a:rPr lang="en-IN" dirty="0"/>
              <a:t>SIX PHASES OF COCOMO MODEL</a:t>
            </a:r>
          </a:p>
        </p:txBody>
      </p:sp>
      <p:pic>
        <p:nvPicPr>
          <p:cNvPr id="4" name="Content Placeholder 3" descr="cocomo-model">
            <a:extLst>
              <a:ext uri="{FF2B5EF4-FFF2-40B4-BE49-F238E27FC236}">
                <a16:creationId xmlns:a16="http://schemas.microsoft.com/office/drawing/2014/main" id="{B8002C31-561A-21FF-EECA-D27A31769B1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21549" y="1416050"/>
            <a:ext cx="4059502" cy="4006850"/>
          </a:xfrm>
          <a:prstGeom prst="rect">
            <a:avLst/>
          </a:prstGeom>
          <a:noFill/>
          <a:ln>
            <a:noFill/>
          </a:ln>
        </p:spPr>
      </p:pic>
    </p:spTree>
    <p:extLst>
      <p:ext uri="{BB962C8B-B14F-4D97-AF65-F5344CB8AC3E}">
        <p14:creationId xmlns:p14="http://schemas.microsoft.com/office/powerpoint/2010/main" val="36258511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2B9E4-0F20-9584-9D1A-5BA9950DF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21454-9A6A-B880-57B7-322E5D267BE9}"/>
              </a:ext>
            </a:extLst>
          </p:cNvPr>
          <p:cNvSpPr>
            <a:spLocks noGrp="1"/>
          </p:cNvSpPr>
          <p:nvPr>
            <p:ph type="title"/>
          </p:nvPr>
        </p:nvSpPr>
        <p:spPr/>
        <p:txBody>
          <a:bodyPr/>
          <a:lstStyle/>
          <a:p>
            <a:r>
              <a:rPr lang="en-IN" dirty="0"/>
              <a:t>SIX PHASES OF COCOMO MODEL</a:t>
            </a:r>
          </a:p>
        </p:txBody>
      </p:sp>
      <p:sp>
        <p:nvSpPr>
          <p:cNvPr id="3" name="Content Placeholder 2">
            <a:extLst>
              <a:ext uri="{FF2B5EF4-FFF2-40B4-BE49-F238E27FC236}">
                <a16:creationId xmlns:a16="http://schemas.microsoft.com/office/drawing/2014/main" id="{983F3E8B-96E8-D448-C99C-5491941839DB}"/>
              </a:ext>
            </a:extLst>
          </p:cNvPr>
          <p:cNvSpPr>
            <a:spLocks noGrp="1"/>
          </p:cNvSpPr>
          <p:nvPr>
            <p:ph idx="1"/>
          </p:nvPr>
        </p:nvSpPr>
        <p:spPr/>
        <p:txBody>
          <a:bodyPr>
            <a:normAutofit/>
          </a:bodyPr>
          <a:lstStyle/>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Planning and requirements: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initial phase involves defining the scope, objectives, and constraints of the project. It includes developing a project plan that outlines the schedule, resources, and milestones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System design: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In this phase, the high-level architecture of the software system is created. This includes defining the system’s overall structure, including major components, their interactions, and the data flow between them</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Detailed design: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phase involves creating detailed specifications for each component of the system. It breaks down the system design into detailed descriptions of each module, including data structures, algorithms, and interfaces.</a:t>
            </a:r>
          </a:p>
          <a:p>
            <a:endParaRPr lang="en-IN" dirty="0"/>
          </a:p>
        </p:txBody>
      </p:sp>
    </p:spTree>
    <p:extLst>
      <p:ext uri="{BB962C8B-B14F-4D97-AF65-F5344CB8AC3E}">
        <p14:creationId xmlns:p14="http://schemas.microsoft.com/office/powerpoint/2010/main" val="37002435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70566-1C27-F1BE-28DE-AD33E72DE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CCBB4-BA6C-C18E-6B83-C90BC87E0AA7}"/>
              </a:ext>
            </a:extLst>
          </p:cNvPr>
          <p:cNvSpPr>
            <a:spLocks noGrp="1"/>
          </p:cNvSpPr>
          <p:nvPr>
            <p:ph type="title"/>
          </p:nvPr>
        </p:nvSpPr>
        <p:spPr/>
        <p:txBody>
          <a:bodyPr/>
          <a:lstStyle/>
          <a:p>
            <a:r>
              <a:rPr lang="en-IN" dirty="0"/>
              <a:t>SIX PHASES OF COCOMO MODEL</a:t>
            </a:r>
          </a:p>
        </p:txBody>
      </p:sp>
      <p:sp>
        <p:nvSpPr>
          <p:cNvPr id="3" name="Content Placeholder 2">
            <a:extLst>
              <a:ext uri="{FF2B5EF4-FFF2-40B4-BE49-F238E27FC236}">
                <a16:creationId xmlns:a16="http://schemas.microsoft.com/office/drawing/2014/main" id="{71DA69C9-82FF-90A5-5253-6576C354EE34}"/>
              </a:ext>
            </a:extLst>
          </p:cNvPr>
          <p:cNvSpPr>
            <a:spLocks noGrp="1"/>
          </p:cNvSpPr>
          <p:nvPr>
            <p:ph idx="1"/>
          </p:nvPr>
        </p:nvSpPr>
        <p:spPr/>
        <p:txBody>
          <a:bodyPr>
            <a:normAutofit/>
          </a:bodyPr>
          <a:lstStyle/>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4.Module code and test: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involves writing the actual source code for each module or component as defined in the detailed design. It includes coding the functionalities, implementing algorithms, and developing interfaces.</a:t>
            </a:r>
          </a:p>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5.Integration and test: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phase involves combining individual modules into a complete system and ensuring that they work together as intended.</a:t>
            </a:r>
          </a:p>
          <a:p>
            <a:pPr marL="0" lvl="0" indent="0">
              <a:lnSpc>
                <a:spcPct val="107000"/>
              </a:lnSpc>
              <a:spcAft>
                <a:spcPts val="800"/>
              </a:spcAft>
              <a:buNone/>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6.Cost Constructive model: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Constructive Cost Model (COCOMO)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is a widely used method for estimating the cost and effort required for software development projects.</a:t>
            </a:r>
          </a:p>
          <a:p>
            <a:pPr marL="0" indent="0">
              <a:buNone/>
            </a:pPr>
            <a:endParaRPr lang="en-IN" dirty="0"/>
          </a:p>
        </p:txBody>
      </p:sp>
    </p:spTree>
    <p:extLst>
      <p:ext uri="{BB962C8B-B14F-4D97-AF65-F5344CB8AC3E}">
        <p14:creationId xmlns:p14="http://schemas.microsoft.com/office/powerpoint/2010/main" val="18478575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73A3F-2BD4-2179-E874-EC70845F5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A83CA-43EA-CF43-56D0-4A7636463F21}"/>
              </a:ext>
            </a:extLst>
          </p:cNvPr>
          <p:cNvSpPr>
            <a:spLocks noGrp="1"/>
          </p:cNvSpPr>
          <p:nvPr>
            <p:ph type="title"/>
          </p:nvPr>
        </p:nvSpPr>
        <p:spPr/>
        <p:txBody>
          <a:bodyPr>
            <a:normAutofit fontScale="90000"/>
          </a:bodyPr>
          <a:lstStyle/>
          <a:p>
            <a:r>
              <a:rPr lang="en-IN" dirty="0"/>
              <a:t>IMPORTANCE  OF COCOMO MODEL</a:t>
            </a:r>
          </a:p>
        </p:txBody>
      </p:sp>
      <p:sp>
        <p:nvSpPr>
          <p:cNvPr id="3" name="Content Placeholder 2">
            <a:extLst>
              <a:ext uri="{FF2B5EF4-FFF2-40B4-BE49-F238E27FC236}">
                <a16:creationId xmlns:a16="http://schemas.microsoft.com/office/drawing/2014/main" id="{D1DEF42B-26A1-A5DF-A2BE-717A21A65F10}"/>
              </a:ext>
            </a:extLst>
          </p:cNvPr>
          <p:cNvSpPr>
            <a:spLocks noGrp="1"/>
          </p:cNvSpPr>
          <p:nvPr>
            <p:ph idx="1"/>
          </p:nvPr>
        </p:nvSpPr>
        <p:spPr/>
        <p:txBody>
          <a:bodyPr>
            <a:normAutofit fontScale="85000" lnSpcReduction="20000"/>
          </a:bodyPr>
          <a:lstStyle/>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Cost Estimation: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 help with resource planning and project budgeting, COCOMO offers a methodical approach to </a:t>
            </a:r>
            <a:r>
              <a:rPr lang="en-IN"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software development cost estimation.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Resource Management: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By taking team experience, project size, and complexity into account, the model helps with efficient resource allocation.</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Project Planning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COCOMO assists in developing practical project plans that include attainable objectives, due dates, and benchmarks.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Risk management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Early in the development process, COCOMO assists in identifying and mitigating potential hazards by including risk elements.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Support for Decisions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During project planning, the model provides a quantitative foundation for choices about scope, priorities, and resource allocation.</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Benchmarking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 compare and assess various software development projects to industry standards, COCOMO offers a benchmark.</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Resource Optimization: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model helps to maximize the use of resources, which raises productivity and lowers costs.</a:t>
            </a:r>
          </a:p>
          <a:p>
            <a:pPr marL="0" indent="0">
              <a:buNone/>
            </a:pPr>
            <a:endParaRPr lang="en-IN" dirty="0"/>
          </a:p>
        </p:txBody>
      </p:sp>
    </p:spTree>
    <p:extLst>
      <p:ext uri="{BB962C8B-B14F-4D97-AF65-F5344CB8AC3E}">
        <p14:creationId xmlns:p14="http://schemas.microsoft.com/office/powerpoint/2010/main" val="151282242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DE871-2F36-20D1-3365-00F4087DE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CB202D-AE12-750E-0685-3B0E66D0C403}"/>
              </a:ext>
            </a:extLst>
          </p:cNvPr>
          <p:cNvSpPr>
            <a:spLocks noGrp="1"/>
          </p:cNvSpPr>
          <p:nvPr>
            <p:ph type="title"/>
          </p:nvPr>
        </p:nvSpPr>
        <p:spPr/>
        <p:txBody>
          <a:bodyPr/>
          <a:lstStyle/>
          <a:p>
            <a:r>
              <a:rPr lang="en-IN" dirty="0"/>
              <a:t>TYPES OF COCOMO MODEL</a:t>
            </a:r>
          </a:p>
        </p:txBody>
      </p:sp>
      <p:sp>
        <p:nvSpPr>
          <p:cNvPr id="3" name="Content Placeholder 2">
            <a:extLst>
              <a:ext uri="{FF2B5EF4-FFF2-40B4-BE49-F238E27FC236}">
                <a16:creationId xmlns:a16="http://schemas.microsoft.com/office/drawing/2014/main" id="{D1E0E187-69BE-A930-C525-63E32BFA6A61}"/>
              </a:ext>
            </a:extLst>
          </p:cNvPr>
          <p:cNvSpPr>
            <a:spLocks noGrp="1"/>
          </p:cNvSpPr>
          <p:nvPr>
            <p:ph idx="1"/>
          </p:nvPr>
        </p:nvSpPr>
        <p:spPr/>
        <p:txBody>
          <a:bodyPr>
            <a:norm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There are three types of COCOMO Model:</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Basic COCOMO Model</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Intermediate COCOMO Model</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Detailed COCOMO Model</a:t>
            </a:r>
          </a:p>
          <a:p>
            <a:endParaRPr lang="en-IN" dirty="0"/>
          </a:p>
        </p:txBody>
      </p:sp>
    </p:spTree>
    <p:extLst>
      <p:ext uri="{BB962C8B-B14F-4D97-AF65-F5344CB8AC3E}">
        <p14:creationId xmlns:p14="http://schemas.microsoft.com/office/powerpoint/2010/main" val="24173584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A0A88-3DA5-CB5D-42E4-B42C0E39A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C0462-87AB-BC61-6578-3C89C1057455}"/>
              </a:ext>
            </a:extLst>
          </p:cNvPr>
          <p:cNvSpPr>
            <a:spLocks noGrp="1"/>
          </p:cNvSpPr>
          <p:nvPr>
            <p:ph type="title"/>
          </p:nvPr>
        </p:nvSpPr>
        <p:spPr/>
        <p:txBody>
          <a:bodyPr/>
          <a:lstStyle/>
          <a:p>
            <a:r>
              <a:rPr lang="en-IN" dirty="0"/>
              <a:t>TYPES OF  COCOMO MODEL</a:t>
            </a:r>
          </a:p>
        </p:txBody>
      </p:sp>
      <p:sp>
        <p:nvSpPr>
          <p:cNvPr id="3" name="Content Placeholder 2">
            <a:extLst>
              <a:ext uri="{FF2B5EF4-FFF2-40B4-BE49-F238E27FC236}">
                <a16:creationId xmlns:a16="http://schemas.microsoft.com/office/drawing/2014/main" id="{3809CB02-F009-C1DB-3B5C-6D89BE88541D}"/>
              </a:ext>
            </a:extLst>
          </p:cNvPr>
          <p:cNvSpPr>
            <a:spLocks noGrp="1"/>
          </p:cNvSpPr>
          <p:nvPr>
            <p:ph idx="1"/>
          </p:nvPr>
        </p:nvSpPr>
        <p:spPr/>
        <p:txBody>
          <a:bodyPr>
            <a:normAutofit fontScale="62500" lnSpcReduction="20000"/>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1. Basic COCOMO Model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Basic COCOMO model is a straightforward way to estimate the effort needed for a software development project. It uses a simple mathematical formula to predict how many person-months of work are required based on the size of the project, measured in thousands of lines of code (KLOC).</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It estimates effort and time required for development using the following expression:</a:t>
            </a:r>
          </a:p>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E = a*(KLOC)b PM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i="1" kern="100" dirty="0" err="1">
                <a:effectLst/>
                <a:latin typeface="Calibri" panose="020F0502020204030204" pitchFamily="34" charset="0"/>
                <a:ea typeface="Calibri" panose="020F0502020204030204" pitchFamily="34" charset="0"/>
                <a:cs typeface="Times New Roman" panose="02020603050405020304" pitchFamily="18" charset="0"/>
              </a:rPr>
              <a:t>Tdev</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 = c*(E)d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Person required = Effort/ Time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Where,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E is effort applied in Person-Months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KLOC is the estimated size of the software product indicate in Kilo Lines of Code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i="1" kern="100" dirty="0" err="1">
                <a:effectLst/>
                <a:latin typeface="Calibri" panose="020F0502020204030204" pitchFamily="34" charset="0"/>
                <a:ea typeface="Calibri" panose="020F0502020204030204" pitchFamily="34" charset="0"/>
                <a:cs typeface="Times New Roman" panose="02020603050405020304" pitchFamily="18" charset="0"/>
              </a:rPr>
              <a:t>Tdev</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 is the development time in months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a, b, c are constants determined by the category of software project given in below table.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above formula is used for the cost estimation of the basic COCOMO model and also is used in the subsequent models. The constant values a, b, c, and d for the Basic Model for the different categories of the software projects are:</a:t>
            </a:r>
          </a:p>
          <a:p>
            <a:pPr marL="0" indent="0">
              <a:buNone/>
            </a:pPr>
            <a:endParaRPr lang="en-IN" dirty="0"/>
          </a:p>
        </p:txBody>
      </p:sp>
    </p:spTree>
    <p:extLst>
      <p:ext uri="{BB962C8B-B14F-4D97-AF65-F5344CB8AC3E}">
        <p14:creationId xmlns:p14="http://schemas.microsoft.com/office/powerpoint/2010/main" val="33509149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3EFE-9BCD-9027-8F8E-505067178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808CC-2783-96A2-E3AC-469A36E50741}"/>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E727460C-76E1-B225-4D7C-FBFAAE3EB9DA}"/>
              </a:ext>
            </a:extLst>
          </p:cNvPr>
          <p:cNvGraphicFramePr>
            <a:graphicFrameLocks noGrp="1"/>
          </p:cNvGraphicFramePr>
          <p:nvPr>
            <p:ph idx="1"/>
          </p:nvPr>
        </p:nvGraphicFramePr>
        <p:xfrm>
          <a:off x="717550" y="2581275"/>
          <a:ext cx="6667500" cy="1676400"/>
        </p:xfrm>
        <a:graphic>
          <a:graphicData uri="http://schemas.openxmlformats.org/drawingml/2006/table">
            <a:tbl>
              <a:tblPr firstRow="1" firstCol="1" bandRow="1">
                <a:tableStyleId>{5C22544A-7EE6-4342-B048-85BDC9FD1C3A}</a:tableStyleId>
              </a:tblPr>
              <a:tblGrid>
                <a:gridCol w="1333500">
                  <a:extLst>
                    <a:ext uri="{9D8B030D-6E8A-4147-A177-3AD203B41FA5}">
                      <a16:colId xmlns:a16="http://schemas.microsoft.com/office/drawing/2014/main" val="1800136445"/>
                    </a:ext>
                  </a:extLst>
                </a:gridCol>
                <a:gridCol w="1333500">
                  <a:extLst>
                    <a:ext uri="{9D8B030D-6E8A-4147-A177-3AD203B41FA5}">
                      <a16:colId xmlns:a16="http://schemas.microsoft.com/office/drawing/2014/main" val="2193356735"/>
                    </a:ext>
                  </a:extLst>
                </a:gridCol>
                <a:gridCol w="1333500">
                  <a:extLst>
                    <a:ext uri="{9D8B030D-6E8A-4147-A177-3AD203B41FA5}">
                      <a16:colId xmlns:a16="http://schemas.microsoft.com/office/drawing/2014/main" val="732892730"/>
                    </a:ext>
                  </a:extLst>
                </a:gridCol>
                <a:gridCol w="1333500">
                  <a:extLst>
                    <a:ext uri="{9D8B030D-6E8A-4147-A177-3AD203B41FA5}">
                      <a16:colId xmlns:a16="http://schemas.microsoft.com/office/drawing/2014/main" val="3790339475"/>
                    </a:ext>
                  </a:extLst>
                </a:gridCol>
                <a:gridCol w="1333500">
                  <a:extLst>
                    <a:ext uri="{9D8B030D-6E8A-4147-A177-3AD203B41FA5}">
                      <a16:colId xmlns:a16="http://schemas.microsoft.com/office/drawing/2014/main" val="2698631054"/>
                    </a:ext>
                  </a:extLst>
                </a:gridCol>
              </a:tblGrid>
              <a:tr h="0">
                <a:tc>
                  <a:txBody>
                    <a:bodyPr/>
                    <a:lstStyle/>
                    <a:p>
                      <a:pPr>
                        <a:lnSpc>
                          <a:spcPct val="107000"/>
                        </a:lnSpc>
                        <a:spcAft>
                          <a:spcPts val="800"/>
                        </a:spcAft>
                      </a:pPr>
                      <a:r>
                        <a:rPr lang="en-IN" sz="1100" kern="100">
                          <a:effectLst/>
                        </a:rPr>
                        <a:t>Software Projects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8100" marR="38100" marT="95250" marB="95250" anchor="b"/>
                </a:tc>
                <a:tc>
                  <a:txBody>
                    <a:bodyPr/>
                    <a:lstStyle/>
                    <a:p>
                      <a:pPr>
                        <a:lnSpc>
                          <a:spcPct val="107000"/>
                        </a:lnSpc>
                        <a:spcAft>
                          <a:spcPts val="800"/>
                        </a:spcAft>
                      </a:pPr>
                      <a:r>
                        <a:rPr lang="en-IN" sz="1100" kern="100">
                          <a:effectLst/>
                        </a:rPr>
                        <a:t>a</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pPr>
                      <a:r>
                        <a:rPr lang="en-IN" sz="1100" kern="100">
                          <a:effectLst/>
                        </a:rPr>
                        <a:t>b</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pPr>
                      <a:r>
                        <a:rPr lang="en-IN" sz="1100" kern="100">
                          <a:effectLst/>
                        </a:rPr>
                        <a:t>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tc>
                  <a:txBody>
                    <a:bodyPr/>
                    <a:lstStyle/>
                    <a:p>
                      <a:pPr>
                        <a:lnSpc>
                          <a:spcPct val="107000"/>
                        </a:lnSpc>
                        <a:spcAft>
                          <a:spcPts val="800"/>
                        </a:spcAft>
                      </a:pPr>
                      <a:r>
                        <a:rPr lang="en-IN" sz="1100" kern="100">
                          <a:effectLst/>
                        </a:rPr>
                        <a:t>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95250" marB="95250" anchor="b"/>
                </a:tc>
                <a:extLst>
                  <a:ext uri="{0D108BD9-81ED-4DB2-BD59-A6C34878D82A}">
                    <a16:rowId xmlns:a16="http://schemas.microsoft.com/office/drawing/2014/main" val="3157391153"/>
                  </a:ext>
                </a:extLst>
              </a:tr>
              <a:tr h="0">
                <a:tc>
                  <a:txBody>
                    <a:bodyPr/>
                    <a:lstStyle/>
                    <a:p>
                      <a:pPr>
                        <a:lnSpc>
                          <a:spcPct val="107000"/>
                        </a:lnSpc>
                        <a:spcAft>
                          <a:spcPts val="800"/>
                        </a:spcAft>
                      </a:pPr>
                      <a:r>
                        <a:rPr lang="en-IN" sz="1100" kern="100">
                          <a:effectLst/>
                        </a:rPr>
                        <a:t>Organic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2.4</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1.05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2.5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0.38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282143908"/>
                  </a:ext>
                </a:extLst>
              </a:tr>
              <a:tr h="0">
                <a:tc>
                  <a:txBody>
                    <a:bodyPr/>
                    <a:lstStyle/>
                    <a:p>
                      <a:pPr>
                        <a:lnSpc>
                          <a:spcPct val="107000"/>
                        </a:lnSpc>
                        <a:spcAft>
                          <a:spcPts val="800"/>
                        </a:spcAft>
                      </a:pPr>
                      <a:r>
                        <a:rPr lang="en-IN" sz="1100" kern="100">
                          <a:effectLst/>
                        </a:rPr>
                        <a:t>Semi-Detached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3.0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1.12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2.5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0.35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2222833316"/>
                  </a:ext>
                </a:extLst>
              </a:tr>
              <a:tr h="0">
                <a:tc>
                  <a:txBody>
                    <a:bodyPr/>
                    <a:lstStyle/>
                    <a:p>
                      <a:pPr>
                        <a:lnSpc>
                          <a:spcPct val="107000"/>
                        </a:lnSpc>
                        <a:spcAft>
                          <a:spcPts val="800"/>
                        </a:spcAft>
                      </a:pPr>
                      <a:r>
                        <a:rPr lang="en-IN" sz="1100" kern="100">
                          <a:effectLst/>
                        </a:rPr>
                        <a:t>Embedded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3.6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1.20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a:effectLst/>
                        </a:rPr>
                        <a:t>2.5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tc>
                  <a:txBody>
                    <a:bodyPr/>
                    <a:lstStyle/>
                    <a:p>
                      <a:pPr>
                        <a:lnSpc>
                          <a:spcPct val="107000"/>
                        </a:lnSpc>
                        <a:spcAft>
                          <a:spcPts val="800"/>
                        </a:spcAft>
                      </a:pPr>
                      <a:r>
                        <a:rPr lang="en-IN" sz="1100" kern="100" dirty="0">
                          <a:effectLst/>
                        </a:rPr>
                        <a:t>0.32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539083724"/>
                  </a:ext>
                </a:extLst>
              </a:tr>
            </a:tbl>
          </a:graphicData>
        </a:graphic>
      </p:graphicFrame>
    </p:spTree>
    <p:extLst>
      <p:ext uri="{BB962C8B-B14F-4D97-AF65-F5344CB8AC3E}">
        <p14:creationId xmlns:p14="http://schemas.microsoft.com/office/powerpoint/2010/main" val="20880275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91452-7FE1-F95E-78DE-7B8030AC8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3BAA8-9C64-578A-7779-F5B029F16AF5}"/>
              </a:ext>
            </a:extLst>
          </p:cNvPr>
          <p:cNvSpPr>
            <a:spLocks noGrp="1"/>
          </p:cNvSpPr>
          <p:nvPr>
            <p:ph type="title"/>
          </p:nvPr>
        </p:nvSpPr>
        <p:spPr/>
        <p:txBody>
          <a:bodyPr/>
          <a:lstStyle/>
          <a:p>
            <a:r>
              <a:rPr lang="en-IN" dirty="0"/>
              <a:t>COCOMO MODEL</a:t>
            </a:r>
          </a:p>
        </p:txBody>
      </p:sp>
      <p:sp>
        <p:nvSpPr>
          <p:cNvPr id="3" name="Content Placeholder 2">
            <a:extLst>
              <a:ext uri="{FF2B5EF4-FFF2-40B4-BE49-F238E27FC236}">
                <a16:creationId xmlns:a16="http://schemas.microsoft.com/office/drawing/2014/main" id="{91F29E12-CAAE-EE76-613F-354982876ADF}"/>
              </a:ext>
            </a:extLst>
          </p:cNvPr>
          <p:cNvSpPr>
            <a:spLocks noGrp="1"/>
          </p:cNvSpPr>
          <p:nvPr>
            <p:ph idx="1"/>
          </p:nvPr>
        </p:nvSpPr>
        <p:spPr/>
        <p:txBody>
          <a:bodyPr>
            <a:normAutofit/>
          </a:bodyPr>
          <a:lstStyle/>
          <a:p>
            <a:pPr marL="342900" lvl="0" indent="-342900">
              <a:lnSpc>
                <a:spcPct val="107000"/>
              </a:lnSpc>
              <a:spcAft>
                <a:spcPts val="800"/>
              </a:spcAft>
              <a:buFont typeface="+mj-lt"/>
              <a:buAutoNum type="arabicPeriod"/>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effort is measured in Person-Months and as evident from the formula is dependent on Kilo-Lines of code. The development time is measured in months.</a:t>
            </a:r>
          </a:p>
          <a:p>
            <a:pPr marL="342900" lvl="0" indent="-342900">
              <a:lnSpc>
                <a:spcPct val="107000"/>
              </a:lnSpc>
              <a:spcAft>
                <a:spcPts val="800"/>
              </a:spcAft>
              <a:buFont typeface="+mj-lt"/>
              <a:buAutoNum type="arabicPeriod"/>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These formulas are used as such in the Basic Model calculations, as not much consideration of different factors such as reliability, and expertise is taken into account, henceforth the estimate is rough. </a:t>
            </a:r>
          </a:p>
          <a:p>
            <a:pPr marL="0" indent="0">
              <a:buNone/>
            </a:pPr>
            <a:endParaRPr lang="en-IN" dirty="0"/>
          </a:p>
        </p:txBody>
      </p:sp>
    </p:spTree>
    <p:extLst>
      <p:ext uri="{BB962C8B-B14F-4D97-AF65-F5344CB8AC3E}">
        <p14:creationId xmlns:p14="http://schemas.microsoft.com/office/powerpoint/2010/main" val="24274689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1455F-4AA2-A4D4-83D1-483CC20D7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2FDFD-5F5A-2D2C-CA64-970CCA62A8E2}"/>
              </a:ext>
            </a:extLst>
          </p:cNvPr>
          <p:cNvSpPr>
            <a:spLocks noGrp="1"/>
          </p:cNvSpPr>
          <p:nvPr>
            <p:ph type="title"/>
          </p:nvPr>
        </p:nvSpPr>
        <p:spPr/>
        <p:txBody>
          <a:bodyPr/>
          <a:lstStyle/>
          <a:p>
            <a:r>
              <a:rPr lang="en-IN" dirty="0"/>
              <a:t>EXAMPLE FOR COCOMO MODEL</a:t>
            </a:r>
          </a:p>
        </p:txBody>
      </p:sp>
      <p:sp>
        <p:nvSpPr>
          <p:cNvPr id="3" name="Content Placeholder 2">
            <a:extLst>
              <a:ext uri="{FF2B5EF4-FFF2-40B4-BE49-F238E27FC236}">
                <a16:creationId xmlns:a16="http://schemas.microsoft.com/office/drawing/2014/main" id="{0B9207BF-D852-99BC-A114-E517B572CDA4}"/>
              </a:ext>
            </a:extLst>
          </p:cNvPr>
          <p:cNvSpPr>
            <a:spLocks noGrp="1"/>
          </p:cNvSpPr>
          <p:nvPr>
            <p:ph idx="1"/>
          </p:nvPr>
        </p:nvSpPr>
        <p:spPr/>
        <p:txBody>
          <a:bodyPr>
            <a:normAutofit fontScale="85000" lnSpcReduction="20000"/>
          </a:bodyPr>
          <a:lstStyle/>
          <a:p>
            <a:pPr>
              <a:lnSpc>
                <a:spcPct val="107000"/>
              </a:lnSpc>
              <a:spcAft>
                <a:spcPts val="800"/>
              </a:spcAft>
            </a:pPr>
            <a:r>
              <a:rPr lang="en-IN" sz="1300" b="1" kern="100" dirty="0">
                <a:effectLst/>
                <a:latin typeface="Calibri" panose="020F0502020204030204" pitchFamily="34" charset="0"/>
                <a:ea typeface="Calibri" panose="020F0502020204030204" pitchFamily="34" charset="0"/>
                <a:cs typeface="Times New Roman" panose="02020603050405020304" pitchFamily="18" charset="0"/>
              </a:rPr>
              <a:t>Example of Basic COCOMO Model</a:t>
            </a: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Suppose that a Basic project was estimated to be 400 KLOC (kilo lines of code). Calculate effort and time for each of the three modes of development. All the constants value provided in the following table:</a:t>
            </a:r>
          </a:p>
          <a:p>
            <a:pPr>
              <a:lnSpc>
                <a:spcPct val="107000"/>
              </a:lnSpc>
              <a:spcAft>
                <a:spcPts val="800"/>
              </a:spcAft>
            </a:pPr>
            <a:r>
              <a:rPr lang="en-IN" sz="1300" b="1" kern="100" dirty="0">
                <a:effectLst/>
                <a:latin typeface="Calibri" panose="020F0502020204030204" pitchFamily="34" charset="0"/>
                <a:ea typeface="Calibri" panose="020F0502020204030204" pitchFamily="34" charset="0"/>
                <a:cs typeface="Times New Roman" panose="02020603050405020304" pitchFamily="18" charset="0"/>
              </a:rPr>
              <a:t>Solution</a:t>
            </a: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From the above table we take the value of constant </a:t>
            </a:r>
            <a:r>
              <a:rPr lang="en-IN" sz="1300" kern="100" dirty="0" err="1">
                <a:effectLst/>
                <a:latin typeface="Calibri" panose="020F0502020204030204" pitchFamily="34" charset="0"/>
                <a:ea typeface="Calibri" panose="020F0502020204030204" pitchFamily="34" charset="0"/>
                <a:cs typeface="Times New Roman" panose="02020603050405020304" pitchFamily="18" charset="0"/>
              </a:rPr>
              <a:t>a,b,c</a:t>
            </a: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 and d.</a:t>
            </a:r>
          </a:p>
          <a:p>
            <a:pPr marL="342900" lvl="0" indent="-342900">
              <a:lnSpc>
                <a:spcPct val="107000"/>
              </a:lnSpc>
              <a:spcAft>
                <a:spcPts val="800"/>
              </a:spcAft>
              <a:buFont typeface="+mj-lt"/>
              <a:buAutoNum type="arabicPeriod"/>
              <a:tabLst>
                <a:tab pos="4572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For organic mode, </a:t>
            </a:r>
          </a:p>
          <a:p>
            <a:pPr marL="742950" lvl="1" indent="-285750">
              <a:lnSpc>
                <a:spcPct val="107000"/>
              </a:lnSpc>
              <a:spcAft>
                <a:spcPts val="800"/>
              </a:spcAft>
              <a:buSzPts val="1000"/>
              <a:buFont typeface="Symbol" panose="05050102010706020507" pitchFamily="18" charset="2"/>
              <a:buChar char=""/>
              <a:tabLst>
                <a:tab pos="9144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effort = 2.4 × (400)1.05  ≈ 1295 person-month.</a:t>
            </a:r>
          </a:p>
          <a:p>
            <a:pPr marL="742950" lvl="1" indent="-285750">
              <a:lnSpc>
                <a:spcPct val="107000"/>
              </a:lnSpc>
              <a:spcAft>
                <a:spcPts val="800"/>
              </a:spcAft>
              <a:buSzPts val="1000"/>
              <a:buFont typeface="Symbol" panose="05050102010706020507" pitchFamily="18" charset="2"/>
              <a:buChar char=""/>
              <a:tabLst>
                <a:tab pos="9144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dev. time = 2.5 × (1295)0.38 ≈ 38 months.</a:t>
            </a:r>
          </a:p>
          <a:p>
            <a:pPr marL="342900" lvl="0" indent="-342900">
              <a:lnSpc>
                <a:spcPct val="107000"/>
              </a:lnSpc>
              <a:spcAft>
                <a:spcPts val="800"/>
              </a:spcAft>
              <a:buFont typeface="+mj-lt"/>
              <a:buAutoNum type="arabicPeriod"/>
              <a:tabLst>
                <a:tab pos="4572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For semi-detach mode, </a:t>
            </a:r>
          </a:p>
          <a:p>
            <a:pPr marL="742950" lvl="1" indent="-285750">
              <a:lnSpc>
                <a:spcPct val="107000"/>
              </a:lnSpc>
              <a:spcAft>
                <a:spcPts val="800"/>
              </a:spcAft>
              <a:buSzPts val="1000"/>
              <a:buFont typeface="Symbol" panose="05050102010706020507" pitchFamily="18" charset="2"/>
              <a:buChar char=""/>
              <a:tabLst>
                <a:tab pos="9144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effort = 3 × (400)1.12  ≈ 2462 person-month.</a:t>
            </a:r>
          </a:p>
          <a:p>
            <a:pPr marL="742950" lvl="1" indent="-285750">
              <a:lnSpc>
                <a:spcPct val="107000"/>
              </a:lnSpc>
              <a:spcAft>
                <a:spcPts val="800"/>
              </a:spcAft>
              <a:buSzPts val="1000"/>
              <a:buFont typeface="Symbol" panose="05050102010706020507" pitchFamily="18" charset="2"/>
              <a:buChar char=""/>
              <a:tabLst>
                <a:tab pos="9144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dev. time = 2.5 × (2462)0.35 ≈  38 months.</a:t>
            </a:r>
          </a:p>
          <a:p>
            <a:pPr marL="342900" lvl="0" indent="-342900">
              <a:lnSpc>
                <a:spcPct val="107000"/>
              </a:lnSpc>
              <a:spcAft>
                <a:spcPts val="800"/>
              </a:spcAft>
              <a:buFont typeface="+mj-lt"/>
              <a:buAutoNum type="arabicPeriod"/>
              <a:tabLst>
                <a:tab pos="4572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For Embedded mode, </a:t>
            </a:r>
          </a:p>
          <a:p>
            <a:pPr marL="742950" lvl="1" indent="-285750">
              <a:lnSpc>
                <a:spcPct val="107000"/>
              </a:lnSpc>
              <a:spcAft>
                <a:spcPts val="800"/>
              </a:spcAft>
              <a:buSzPts val="1000"/>
              <a:buFont typeface="Symbol" panose="05050102010706020507" pitchFamily="18" charset="2"/>
              <a:buChar char=""/>
              <a:tabLst>
                <a:tab pos="9144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effort = 3.6 × (400)1.20  ≈ 4772 person-month.</a:t>
            </a:r>
          </a:p>
          <a:p>
            <a:pPr marL="742950" lvl="1" indent="-285750">
              <a:lnSpc>
                <a:spcPct val="107000"/>
              </a:lnSpc>
              <a:spcAft>
                <a:spcPts val="800"/>
              </a:spcAft>
              <a:buSzPts val="1000"/>
              <a:buFont typeface="Symbol" panose="05050102010706020507" pitchFamily="18" charset="2"/>
              <a:buChar char=""/>
              <a:tabLst>
                <a:tab pos="914400" algn="l"/>
              </a:tabLst>
            </a:pPr>
            <a:r>
              <a:rPr lang="en-IN" sz="1300" kern="100" dirty="0">
                <a:effectLst/>
                <a:latin typeface="Calibri" panose="020F0502020204030204" pitchFamily="34" charset="0"/>
                <a:ea typeface="Calibri" panose="020F0502020204030204" pitchFamily="34" charset="0"/>
                <a:cs typeface="Times New Roman" panose="02020603050405020304" pitchFamily="18" charset="0"/>
              </a:rPr>
              <a:t>dev. time = 2.5 × (4772)0.32 ≈ 38 months.</a:t>
            </a:r>
          </a:p>
          <a:p>
            <a:pPr marL="0" indent="0">
              <a:buNone/>
            </a:pPr>
            <a:endParaRPr lang="en-IN" dirty="0"/>
          </a:p>
        </p:txBody>
      </p:sp>
    </p:spTree>
    <p:extLst>
      <p:ext uri="{BB962C8B-B14F-4D97-AF65-F5344CB8AC3E}">
        <p14:creationId xmlns:p14="http://schemas.microsoft.com/office/powerpoint/2010/main" val="23891166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3150" y="821904"/>
            <a:ext cx="2495691" cy="610747"/>
          </a:xfrm>
          <a:prstGeom prst="rect">
            <a:avLst/>
          </a:prstGeom>
        </p:spPr>
        <p:txBody>
          <a:bodyPr vert="horz" wrap="square" lIns="0" tIns="11242" rIns="0" bIns="0" rtlCol="0" anchor="ctr">
            <a:spAutoFit/>
          </a:bodyPr>
          <a:lstStyle/>
          <a:p>
            <a:pPr marL="11242">
              <a:spcBef>
                <a:spcPts val="89"/>
              </a:spcBef>
            </a:pPr>
            <a:r>
              <a:rPr spc="-4" dirty="0"/>
              <a:t>COCOMO-II</a:t>
            </a:r>
          </a:p>
        </p:txBody>
      </p:sp>
      <p:sp>
        <p:nvSpPr>
          <p:cNvPr id="4" name="object 4"/>
          <p:cNvSpPr txBox="1">
            <a:spLocks noGrp="1"/>
          </p:cNvSpPr>
          <p:nvPr>
            <p:ph type="sldNum" sz="quarter" idx="12"/>
          </p:nvPr>
        </p:nvSpPr>
        <p:spPr>
          <a:xfrm>
            <a:off x="5144383" y="5062316"/>
            <a:ext cx="1673537" cy="122534"/>
          </a:xfrm>
          <a:prstGeom prst="rect">
            <a:avLst/>
          </a:prstGeom>
        </p:spPr>
        <p:txBody>
          <a:bodyPr vert="horz" wrap="square" lIns="0" tIns="0" rIns="0" bIns="0" rtlCol="0" anchor="ctr">
            <a:spAutoFit/>
          </a:bodyPr>
          <a:lstStyle/>
          <a:p>
            <a:pPr marL="22484">
              <a:lnSpc>
                <a:spcPts val="947"/>
              </a:lnSpc>
            </a:pPr>
            <a:fld id="{81D60167-4931-47E6-BA6A-407CBD079E47}" type="slidenum">
              <a:rPr dirty="0"/>
              <a:pPr marL="22484">
                <a:lnSpc>
                  <a:spcPts val="947"/>
                </a:lnSpc>
              </a:pPr>
              <a:t>99</a:t>
            </a:fld>
            <a:endParaRPr dirty="0"/>
          </a:p>
        </p:txBody>
      </p:sp>
      <p:sp>
        <p:nvSpPr>
          <p:cNvPr id="3" name="object 3"/>
          <p:cNvSpPr txBox="1"/>
          <p:nvPr/>
        </p:nvSpPr>
        <p:spPr>
          <a:xfrm>
            <a:off x="1692759" y="1715507"/>
            <a:ext cx="5814848" cy="3926735"/>
          </a:xfrm>
          <a:prstGeom prst="rect">
            <a:avLst/>
          </a:prstGeom>
        </p:spPr>
        <p:txBody>
          <a:bodyPr vert="horz" wrap="square" lIns="0" tIns="14052" rIns="0" bIns="0" rtlCol="0">
            <a:spAutoFit/>
          </a:bodyPr>
          <a:lstStyle/>
          <a:p>
            <a:pPr marL="314777" marR="183807" indent="-303535">
              <a:lnSpc>
                <a:spcPct val="99000"/>
              </a:lnSpc>
              <a:spcBef>
                <a:spcPts val="111"/>
              </a:spcBef>
              <a:tabLst>
                <a:tab pos="389537" algn="l"/>
              </a:tabLst>
            </a:pPr>
            <a:r>
              <a:rPr sz="1593" spc="-598" dirty="0">
                <a:solidFill>
                  <a:srgbClr val="9A0000"/>
                </a:solidFill>
                <a:latin typeface="Wingdings"/>
                <a:cs typeface="Wingdings"/>
              </a:rPr>
              <a:t></a:t>
            </a:r>
            <a:r>
              <a:rPr sz="1593" spc="-598" dirty="0">
                <a:solidFill>
                  <a:srgbClr val="9A0000"/>
                </a:solidFill>
                <a:latin typeface="Times New Roman"/>
                <a:cs typeface="Times New Roman"/>
              </a:rPr>
              <a:t>		</a:t>
            </a:r>
            <a:r>
              <a:rPr sz="2124" spc="-4" dirty="0">
                <a:latin typeface="Arial"/>
                <a:cs typeface="Arial"/>
              </a:rPr>
              <a:t>COCOMO II </a:t>
            </a:r>
            <a:r>
              <a:rPr sz="2124" dirty="0">
                <a:latin typeface="Arial"/>
                <a:cs typeface="Arial"/>
              </a:rPr>
              <a:t>is </a:t>
            </a:r>
            <a:r>
              <a:rPr sz="2124" spc="-4" dirty="0">
                <a:latin typeface="Arial"/>
                <a:cs typeface="Arial"/>
              </a:rPr>
              <a:t>actually </a:t>
            </a:r>
            <a:r>
              <a:rPr sz="2124" dirty="0">
                <a:latin typeface="Arial"/>
                <a:cs typeface="Arial"/>
              </a:rPr>
              <a:t>a hierarchy of  </a:t>
            </a:r>
            <a:r>
              <a:rPr sz="2124" spc="-4" dirty="0">
                <a:latin typeface="Arial"/>
                <a:cs typeface="Arial"/>
              </a:rPr>
              <a:t>estimation </a:t>
            </a:r>
            <a:r>
              <a:rPr sz="2124" dirty="0">
                <a:latin typeface="Arial"/>
                <a:cs typeface="Arial"/>
              </a:rPr>
              <a:t>models </a:t>
            </a:r>
            <a:r>
              <a:rPr sz="2124" spc="-4" dirty="0">
                <a:latin typeface="Arial"/>
                <a:cs typeface="Arial"/>
              </a:rPr>
              <a:t>that </a:t>
            </a:r>
            <a:r>
              <a:rPr sz="2124" dirty="0">
                <a:latin typeface="Arial"/>
                <a:cs typeface="Arial"/>
              </a:rPr>
              <a:t>address </a:t>
            </a:r>
            <a:r>
              <a:rPr sz="2124" spc="-4" dirty="0">
                <a:latin typeface="Arial"/>
                <a:cs typeface="Arial"/>
              </a:rPr>
              <a:t>the following  </a:t>
            </a:r>
            <a:r>
              <a:rPr sz="2124" dirty="0">
                <a:latin typeface="Arial"/>
                <a:cs typeface="Arial"/>
              </a:rPr>
              <a:t>areas:</a:t>
            </a:r>
            <a:endParaRPr sz="2124">
              <a:latin typeface="Arial"/>
              <a:cs typeface="Arial"/>
            </a:endParaRPr>
          </a:p>
          <a:p>
            <a:pPr marL="1023026" marR="4497" indent="-202357">
              <a:lnSpc>
                <a:spcPct val="99500"/>
              </a:lnSpc>
              <a:spcBef>
                <a:spcPts val="562"/>
              </a:spcBef>
              <a:buClr>
                <a:srgbClr val="003366"/>
              </a:buClr>
              <a:buFont typeface="Arial"/>
              <a:buChar char="•"/>
              <a:tabLst>
                <a:tab pos="1022464" algn="l"/>
                <a:tab pos="1023026" algn="l"/>
              </a:tabLst>
            </a:pPr>
            <a:r>
              <a:rPr sz="1593" i="1" spc="-4" dirty="0">
                <a:solidFill>
                  <a:srgbClr val="9A0000"/>
                </a:solidFill>
                <a:latin typeface="Arial"/>
                <a:cs typeface="Arial"/>
              </a:rPr>
              <a:t>Application composition </a:t>
            </a:r>
            <a:r>
              <a:rPr sz="1593" i="1" dirty="0">
                <a:solidFill>
                  <a:srgbClr val="9A0000"/>
                </a:solidFill>
                <a:latin typeface="Arial"/>
                <a:cs typeface="Arial"/>
              </a:rPr>
              <a:t>model. </a:t>
            </a:r>
            <a:r>
              <a:rPr sz="1593" dirty="0">
                <a:latin typeface="Arial"/>
                <a:cs typeface="Arial"/>
              </a:rPr>
              <a:t>Used during </a:t>
            </a:r>
            <a:r>
              <a:rPr sz="1593" spc="-4" dirty="0">
                <a:latin typeface="Arial"/>
                <a:cs typeface="Arial"/>
              </a:rPr>
              <a:t>the </a:t>
            </a:r>
            <a:r>
              <a:rPr sz="1593" dirty="0">
                <a:latin typeface="Arial"/>
                <a:cs typeface="Arial"/>
              </a:rPr>
              <a:t>early  </a:t>
            </a:r>
            <a:r>
              <a:rPr sz="1593" spc="-4" dirty="0">
                <a:latin typeface="Arial"/>
                <a:cs typeface="Arial"/>
              </a:rPr>
              <a:t>stages </a:t>
            </a:r>
            <a:r>
              <a:rPr sz="1593" dirty="0">
                <a:latin typeface="Arial"/>
                <a:cs typeface="Arial"/>
              </a:rPr>
              <a:t>of </a:t>
            </a:r>
            <a:r>
              <a:rPr sz="1593" spc="-4" dirty="0">
                <a:latin typeface="Arial"/>
                <a:cs typeface="Arial"/>
              </a:rPr>
              <a:t>software </a:t>
            </a:r>
            <a:r>
              <a:rPr sz="1593" dirty="0">
                <a:latin typeface="Arial"/>
                <a:cs typeface="Arial"/>
              </a:rPr>
              <a:t>engineering, when </a:t>
            </a:r>
            <a:r>
              <a:rPr sz="1593" spc="-4" dirty="0">
                <a:latin typeface="Arial"/>
                <a:cs typeface="Arial"/>
              </a:rPr>
              <a:t>prototyping </a:t>
            </a:r>
            <a:r>
              <a:rPr sz="1593" dirty="0">
                <a:latin typeface="Arial"/>
                <a:cs typeface="Arial"/>
              </a:rPr>
              <a:t>of  user </a:t>
            </a:r>
            <a:r>
              <a:rPr sz="1593" spc="-4" dirty="0">
                <a:latin typeface="Arial"/>
                <a:cs typeface="Arial"/>
              </a:rPr>
              <a:t>interfaces, consideration </a:t>
            </a:r>
            <a:r>
              <a:rPr sz="1593" dirty="0">
                <a:latin typeface="Arial"/>
                <a:cs typeface="Arial"/>
              </a:rPr>
              <a:t>of </a:t>
            </a:r>
            <a:r>
              <a:rPr sz="1593" spc="-4" dirty="0">
                <a:latin typeface="Arial"/>
                <a:cs typeface="Arial"/>
              </a:rPr>
              <a:t>software </a:t>
            </a:r>
            <a:r>
              <a:rPr sz="1593" dirty="0">
                <a:latin typeface="Arial"/>
                <a:cs typeface="Arial"/>
              </a:rPr>
              <a:t>and </a:t>
            </a:r>
            <a:r>
              <a:rPr sz="1593" spc="-4" dirty="0">
                <a:latin typeface="Arial"/>
                <a:cs typeface="Arial"/>
              </a:rPr>
              <a:t>system  interaction, </a:t>
            </a:r>
            <a:r>
              <a:rPr sz="1593" dirty="0">
                <a:latin typeface="Arial"/>
                <a:cs typeface="Arial"/>
              </a:rPr>
              <a:t>assessment of </a:t>
            </a:r>
            <a:r>
              <a:rPr sz="1593" spc="-4" dirty="0">
                <a:latin typeface="Arial"/>
                <a:cs typeface="Arial"/>
              </a:rPr>
              <a:t>performance, </a:t>
            </a:r>
            <a:r>
              <a:rPr sz="1593" dirty="0">
                <a:latin typeface="Arial"/>
                <a:cs typeface="Arial"/>
              </a:rPr>
              <a:t>and  </a:t>
            </a:r>
            <a:r>
              <a:rPr sz="1593" spc="-4" dirty="0">
                <a:latin typeface="Arial"/>
                <a:cs typeface="Arial"/>
              </a:rPr>
              <a:t>evaluation </a:t>
            </a:r>
            <a:r>
              <a:rPr sz="1593" dirty="0">
                <a:latin typeface="Arial"/>
                <a:cs typeface="Arial"/>
              </a:rPr>
              <a:t>of </a:t>
            </a:r>
            <a:r>
              <a:rPr sz="1593" spc="-4" dirty="0">
                <a:latin typeface="Arial"/>
                <a:cs typeface="Arial"/>
              </a:rPr>
              <a:t>technology maturity </a:t>
            </a:r>
            <a:r>
              <a:rPr sz="1593" dirty="0">
                <a:latin typeface="Arial"/>
                <a:cs typeface="Arial"/>
              </a:rPr>
              <a:t>are</a:t>
            </a:r>
            <a:r>
              <a:rPr sz="1593" spc="22" dirty="0">
                <a:latin typeface="Arial"/>
                <a:cs typeface="Arial"/>
              </a:rPr>
              <a:t> </a:t>
            </a:r>
            <a:r>
              <a:rPr sz="1593" spc="-4" dirty="0">
                <a:latin typeface="Arial"/>
                <a:cs typeface="Arial"/>
              </a:rPr>
              <a:t>paramount.</a:t>
            </a:r>
            <a:endParaRPr sz="1593">
              <a:latin typeface="Arial"/>
              <a:cs typeface="Arial"/>
            </a:endParaRPr>
          </a:p>
          <a:p>
            <a:pPr marL="1023026" marR="82629" indent="-202357">
              <a:lnSpc>
                <a:spcPct val="99500"/>
              </a:lnSpc>
              <a:spcBef>
                <a:spcPts val="310"/>
              </a:spcBef>
              <a:buClr>
                <a:srgbClr val="003366"/>
              </a:buClr>
              <a:buFont typeface="Arial"/>
              <a:buChar char="•"/>
              <a:tabLst>
                <a:tab pos="1022464" algn="l"/>
                <a:tab pos="1023026" algn="l"/>
              </a:tabLst>
            </a:pPr>
            <a:r>
              <a:rPr sz="1593" i="1" dirty="0">
                <a:solidFill>
                  <a:srgbClr val="9A0000"/>
                </a:solidFill>
                <a:latin typeface="Arial"/>
                <a:cs typeface="Arial"/>
              </a:rPr>
              <a:t>Early design </a:t>
            </a:r>
            <a:r>
              <a:rPr sz="1593" i="1" spc="-4" dirty="0">
                <a:solidFill>
                  <a:srgbClr val="9A0000"/>
                </a:solidFill>
                <a:latin typeface="Arial"/>
                <a:cs typeface="Arial"/>
              </a:rPr>
              <a:t>stage </a:t>
            </a:r>
            <a:r>
              <a:rPr sz="1593" i="1" dirty="0">
                <a:solidFill>
                  <a:srgbClr val="9A0000"/>
                </a:solidFill>
                <a:latin typeface="Arial"/>
                <a:cs typeface="Arial"/>
              </a:rPr>
              <a:t>model. </a:t>
            </a:r>
            <a:r>
              <a:rPr sz="1593" dirty="0">
                <a:latin typeface="Arial"/>
                <a:cs typeface="Arial"/>
              </a:rPr>
              <a:t>Used once </a:t>
            </a:r>
            <a:r>
              <a:rPr sz="1593" spc="-4" dirty="0">
                <a:latin typeface="Arial"/>
                <a:cs typeface="Arial"/>
              </a:rPr>
              <a:t>requirements  </a:t>
            </a:r>
            <a:r>
              <a:rPr sz="1593" dirty="0">
                <a:latin typeface="Arial"/>
                <a:cs typeface="Arial"/>
              </a:rPr>
              <a:t>have been </a:t>
            </a:r>
            <a:r>
              <a:rPr sz="1593" spc="-4" dirty="0">
                <a:latin typeface="Arial"/>
                <a:cs typeface="Arial"/>
              </a:rPr>
              <a:t>stabilized </a:t>
            </a:r>
            <a:r>
              <a:rPr sz="1593" dirty="0">
                <a:latin typeface="Arial"/>
                <a:cs typeface="Arial"/>
              </a:rPr>
              <a:t>and basic </a:t>
            </a:r>
            <a:r>
              <a:rPr sz="1593" spc="-4" dirty="0">
                <a:latin typeface="Arial"/>
                <a:cs typeface="Arial"/>
              </a:rPr>
              <a:t>software architecture  </a:t>
            </a:r>
            <a:r>
              <a:rPr sz="1593" dirty="0">
                <a:latin typeface="Arial"/>
                <a:cs typeface="Arial"/>
              </a:rPr>
              <a:t>has been</a:t>
            </a:r>
            <a:r>
              <a:rPr sz="1593" spc="-9" dirty="0">
                <a:latin typeface="Arial"/>
                <a:cs typeface="Arial"/>
              </a:rPr>
              <a:t> </a:t>
            </a:r>
            <a:r>
              <a:rPr sz="1593" spc="-4" dirty="0">
                <a:latin typeface="Arial"/>
                <a:cs typeface="Arial"/>
              </a:rPr>
              <a:t>established.</a:t>
            </a:r>
            <a:endParaRPr sz="1593">
              <a:latin typeface="Arial"/>
              <a:cs typeface="Arial"/>
            </a:endParaRPr>
          </a:p>
          <a:p>
            <a:pPr marL="1023026" marR="544115" indent="-202357">
              <a:spcBef>
                <a:spcPts val="416"/>
              </a:spcBef>
              <a:buClr>
                <a:srgbClr val="003366"/>
              </a:buClr>
              <a:buFont typeface="Arial"/>
              <a:buChar char="•"/>
              <a:tabLst>
                <a:tab pos="1022464" algn="l"/>
                <a:tab pos="1023026" algn="l"/>
              </a:tabLst>
            </a:pPr>
            <a:r>
              <a:rPr sz="1593" i="1" spc="-4" dirty="0">
                <a:solidFill>
                  <a:srgbClr val="9A0000"/>
                </a:solidFill>
                <a:latin typeface="Arial"/>
                <a:cs typeface="Arial"/>
              </a:rPr>
              <a:t>Post-architecture-stage </a:t>
            </a:r>
            <a:r>
              <a:rPr sz="1593" i="1" dirty="0">
                <a:solidFill>
                  <a:srgbClr val="9A0000"/>
                </a:solidFill>
                <a:latin typeface="Arial"/>
                <a:cs typeface="Arial"/>
              </a:rPr>
              <a:t>model. </a:t>
            </a:r>
            <a:r>
              <a:rPr sz="1593" dirty="0">
                <a:latin typeface="Arial"/>
                <a:cs typeface="Arial"/>
              </a:rPr>
              <a:t>Used during </a:t>
            </a:r>
            <a:r>
              <a:rPr sz="1593" spc="-4" dirty="0">
                <a:latin typeface="Arial"/>
                <a:cs typeface="Arial"/>
              </a:rPr>
              <a:t>the  construction </a:t>
            </a:r>
            <a:r>
              <a:rPr sz="1593" dirty="0">
                <a:latin typeface="Arial"/>
                <a:cs typeface="Arial"/>
              </a:rPr>
              <a:t>of </a:t>
            </a:r>
            <a:r>
              <a:rPr sz="1593" spc="-4" dirty="0">
                <a:latin typeface="Arial"/>
                <a:cs typeface="Arial"/>
              </a:rPr>
              <a:t>the software.</a:t>
            </a:r>
            <a:endParaRPr sz="1593">
              <a:latin typeface="Arial"/>
              <a:cs typeface="Arial"/>
            </a:endParaRPr>
          </a:p>
          <a:p>
            <a:pPr marL="415955">
              <a:spcBef>
                <a:spcPts val="381"/>
              </a:spcBef>
              <a:tabLst>
                <a:tab pos="668339" algn="l"/>
              </a:tabLst>
            </a:pPr>
            <a:r>
              <a:rPr sz="1239" spc="-465" dirty="0">
                <a:solidFill>
                  <a:srgbClr val="9A0000"/>
                </a:solidFill>
                <a:latin typeface="Wingdings"/>
                <a:cs typeface="Wingdings"/>
              </a:rPr>
              <a:t></a:t>
            </a:r>
            <a:r>
              <a:rPr sz="1239" spc="-465" dirty="0">
                <a:solidFill>
                  <a:srgbClr val="9A0000"/>
                </a:solidFill>
                <a:latin typeface="Times New Roman"/>
                <a:cs typeface="Times New Roman"/>
              </a:rPr>
              <a:t>	</a:t>
            </a:r>
            <a:r>
              <a:rPr sz="1770" dirty="0">
                <a:latin typeface="Arial"/>
                <a:cs typeface="Arial"/>
              </a:rPr>
              <a:t>Empirical model </a:t>
            </a:r>
            <a:r>
              <a:rPr sz="1770" spc="-4" dirty="0">
                <a:latin typeface="Arial"/>
                <a:cs typeface="Arial"/>
              </a:rPr>
              <a:t>that </a:t>
            </a:r>
            <a:r>
              <a:rPr sz="1770" dirty="0">
                <a:latin typeface="Arial"/>
                <a:cs typeface="Arial"/>
              </a:rPr>
              <a:t>relies on size</a:t>
            </a:r>
            <a:r>
              <a:rPr sz="1770" spc="-22" dirty="0">
                <a:latin typeface="Arial"/>
                <a:cs typeface="Arial"/>
              </a:rPr>
              <a:t> </a:t>
            </a:r>
            <a:r>
              <a:rPr sz="1770" spc="-4" dirty="0">
                <a:latin typeface="Arial"/>
                <a:cs typeface="Arial"/>
              </a:rPr>
              <a:t>information</a:t>
            </a:r>
            <a:endParaRPr sz="1770">
              <a:latin typeface="Arial"/>
              <a:cs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E899F-DF4C-6A9B-3D9B-80C60BD58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B7B3C-0003-ADE0-28E8-70C4DF97355D}"/>
              </a:ext>
            </a:extLst>
          </p:cNvPr>
          <p:cNvSpPr>
            <a:spLocks noGrp="1"/>
          </p:cNvSpPr>
          <p:nvPr>
            <p:ph type="title"/>
          </p:nvPr>
        </p:nvSpPr>
        <p:spPr/>
        <p:txBody>
          <a:bodyPr/>
          <a:lstStyle/>
          <a:p>
            <a:r>
              <a:rPr lang="en-IN" dirty="0"/>
              <a:t>COCOMO II MODEL</a:t>
            </a:r>
          </a:p>
        </p:txBody>
      </p:sp>
      <p:sp>
        <p:nvSpPr>
          <p:cNvPr id="3" name="Content Placeholder 2">
            <a:extLst>
              <a:ext uri="{FF2B5EF4-FFF2-40B4-BE49-F238E27FC236}">
                <a16:creationId xmlns:a16="http://schemas.microsoft.com/office/drawing/2014/main" id="{F001C215-B394-21BF-E4C7-E1A97F0B9310}"/>
              </a:ext>
            </a:extLst>
          </p:cNvPr>
          <p:cNvSpPr>
            <a:spLocks noGrp="1"/>
          </p:cNvSpPr>
          <p:nvPr>
            <p:ph idx="1"/>
          </p:nvPr>
        </p:nvSpPr>
        <p:spPr/>
        <p:txBody>
          <a:bodyPr>
            <a:normAutofit fontScale="77500" lnSpcReduction="20000"/>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COCOMO-II is the revised version of the original COCOMO (Constructive Cost Model) and is developed at University of Southern California. It is the model that allows one to estimate the cost, effort and schedule when planning a new software development activity.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It consists of three sub-models: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1. End User Programming: Application generators are used in this sub-model. End user write the code by using these application generators. Example – Spreadsheets, report generator, etc.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2. Intermediate Sector : (a). Application Generators and Composition Aids – This category will create largely prepackaged capabilities for user programming. Their product will have many reusable components. Typical firms operating in this sector are Microsoft,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Lotus,Oracle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IBM, Borland, Novell.</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 Application Composition Sector – This category is too diversified and to be handled by prepackaged solutions. It includes GUI, Databases, domain specific components such as financial, medical or industrial process control packages. (c). System Integration – This category deals with large scale and highly embedded systems. 3. Infrastructure Sector: This category provides infrastructure for the software development like Operating System, Database Management System, User Interface Management System, Networking System, etc..</a:t>
            </a:r>
          </a:p>
          <a:p>
            <a:pPr marL="0" indent="0">
              <a:buNone/>
            </a:pPr>
            <a:endParaRPr lang="en-IN" dirty="0"/>
          </a:p>
        </p:txBody>
      </p:sp>
    </p:spTree>
    <p:extLst>
      <p:ext uri="{BB962C8B-B14F-4D97-AF65-F5344CB8AC3E}">
        <p14:creationId xmlns:p14="http://schemas.microsoft.com/office/powerpoint/2010/main" val="255596006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C824-4E3C-87A9-2AFB-9A2FA5F35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1DDB2-8038-D7CE-55C8-0488357E668D}"/>
              </a:ext>
            </a:extLst>
          </p:cNvPr>
          <p:cNvSpPr>
            <a:spLocks noGrp="1"/>
          </p:cNvSpPr>
          <p:nvPr>
            <p:ph type="title"/>
          </p:nvPr>
        </p:nvSpPr>
        <p:spPr/>
        <p:txBody>
          <a:bodyPr/>
          <a:lstStyle/>
          <a:p>
            <a:r>
              <a:rPr lang="en-IN" dirty="0"/>
              <a:t>COCOMO II MODEL</a:t>
            </a:r>
          </a:p>
        </p:txBody>
      </p:sp>
      <p:sp>
        <p:nvSpPr>
          <p:cNvPr id="3" name="Content Placeholder 2">
            <a:extLst>
              <a:ext uri="{FF2B5EF4-FFF2-40B4-BE49-F238E27FC236}">
                <a16:creationId xmlns:a16="http://schemas.microsoft.com/office/drawing/2014/main" id="{542A4F11-E6EC-EA17-E3D2-2D2B805AD06A}"/>
              </a:ext>
            </a:extLst>
          </p:cNvPr>
          <p:cNvSpPr>
            <a:spLocks noGrp="1"/>
          </p:cNvSpPr>
          <p:nvPr>
            <p:ph idx="1"/>
          </p:nvPr>
        </p:nvSpPr>
        <p:spPr/>
        <p:txBody>
          <a:bodyPr>
            <a:normAutofit/>
          </a:bodyPr>
          <a:lstStyle/>
          <a:p>
            <a:pPr marL="0" indent="0">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Stages of COCOMO II 1.</a:t>
            </a:r>
          </a:p>
          <a:p>
            <a:pPr marL="0" indent="0">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Stage-I: It supports estimation of prototyping. For this it uses Application Composition Estimation Model. This model is used for the prototyping stage of application generator and system integration. </a:t>
            </a:r>
          </a:p>
          <a:p>
            <a:pPr marL="0" indent="0">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2. Stage-II: It supports estimation in the early design stage of the project, when we less know about it. For this it uses Early Design Estimation Model. This model is used in early design stage of application generators, infrastructure, system integration.</a:t>
            </a:r>
          </a:p>
          <a:p>
            <a:pPr marL="0" indent="0">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3. Stage-III: It supports estimation in the post architecture stage of a project. For this it uses Post Architecture Estimation Model. This model is used after the completion of the detailed architecture of application generator, infrastructure, system integration. </a:t>
            </a:r>
          </a:p>
          <a:p>
            <a:pPr marL="0" indent="0">
              <a:buNone/>
            </a:pPr>
            <a:endParaRPr lang="en-IN" dirty="0"/>
          </a:p>
        </p:txBody>
      </p:sp>
    </p:spTree>
    <p:extLst>
      <p:ext uri="{BB962C8B-B14F-4D97-AF65-F5344CB8AC3E}">
        <p14:creationId xmlns:p14="http://schemas.microsoft.com/office/powerpoint/2010/main" val="6925807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B15B2-C55F-9454-88A5-5F3482A3F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796D1-A838-A470-728B-E68BC69FA043}"/>
              </a:ext>
            </a:extLst>
          </p:cNvPr>
          <p:cNvSpPr>
            <a:spLocks noGrp="1"/>
          </p:cNvSpPr>
          <p:nvPr>
            <p:ph type="title"/>
          </p:nvPr>
        </p:nvSpPr>
        <p:spPr/>
        <p:txBody>
          <a:bodyPr>
            <a:normAutofit fontScale="90000"/>
          </a:bodyPr>
          <a:lstStyle/>
          <a:p>
            <a:r>
              <a:rPr lang="en-IN" dirty="0"/>
              <a:t>DIFFERENCE BETWEEN COCOMO I AND COCOMO II MODEL</a:t>
            </a:r>
          </a:p>
        </p:txBody>
      </p:sp>
      <p:graphicFrame>
        <p:nvGraphicFramePr>
          <p:cNvPr id="4" name="Content Placeholder 3">
            <a:extLst>
              <a:ext uri="{FF2B5EF4-FFF2-40B4-BE49-F238E27FC236}">
                <a16:creationId xmlns:a16="http://schemas.microsoft.com/office/drawing/2014/main" id="{0B5801B1-0596-78CE-8AC8-779AF6876B7A}"/>
              </a:ext>
            </a:extLst>
          </p:cNvPr>
          <p:cNvGraphicFramePr>
            <a:graphicFrameLocks noGrp="1"/>
          </p:cNvGraphicFramePr>
          <p:nvPr>
            <p:ph idx="1"/>
            <p:extLst>
              <p:ext uri="{D42A27DB-BD31-4B8C-83A1-F6EECF244321}">
                <p14:modId xmlns:p14="http://schemas.microsoft.com/office/powerpoint/2010/main" val="667055559"/>
              </p:ext>
            </p:extLst>
          </p:nvPr>
        </p:nvGraphicFramePr>
        <p:xfrm>
          <a:off x="774700" y="1390128"/>
          <a:ext cx="6019800" cy="4018040"/>
        </p:xfrm>
        <a:graphic>
          <a:graphicData uri="http://schemas.openxmlformats.org/drawingml/2006/table">
            <a:tbl>
              <a:tblPr firstRow="1" firstCol="1" bandRow="1">
                <a:tableStyleId>{5C22544A-7EE6-4342-B048-85BDC9FD1C3A}</a:tableStyleId>
              </a:tblPr>
              <a:tblGrid>
                <a:gridCol w="2006600">
                  <a:extLst>
                    <a:ext uri="{9D8B030D-6E8A-4147-A177-3AD203B41FA5}">
                      <a16:colId xmlns:a16="http://schemas.microsoft.com/office/drawing/2014/main" val="4087418164"/>
                    </a:ext>
                  </a:extLst>
                </a:gridCol>
                <a:gridCol w="2006600">
                  <a:extLst>
                    <a:ext uri="{9D8B030D-6E8A-4147-A177-3AD203B41FA5}">
                      <a16:colId xmlns:a16="http://schemas.microsoft.com/office/drawing/2014/main" val="212976128"/>
                    </a:ext>
                  </a:extLst>
                </a:gridCol>
                <a:gridCol w="2006600">
                  <a:extLst>
                    <a:ext uri="{9D8B030D-6E8A-4147-A177-3AD203B41FA5}">
                      <a16:colId xmlns:a16="http://schemas.microsoft.com/office/drawing/2014/main" val="3387103407"/>
                    </a:ext>
                  </a:extLst>
                </a:gridCol>
              </a:tblGrid>
              <a:tr h="258580">
                <a:tc>
                  <a:txBody>
                    <a:bodyPr/>
                    <a:lstStyle/>
                    <a:p>
                      <a:pPr>
                        <a:lnSpc>
                          <a:spcPct val="107000"/>
                        </a:lnSpc>
                        <a:spcAft>
                          <a:spcPts val="800"/>
                        </a:spcAft>
                      </a:pPr>
                      <a:r>
                        <a:rPr lang="en-IN" sz="800" kern="100">
                          <a:effectLst/>
                        </a:rPr>
                        <a:t>Features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68047" marR="68047" marT="68047" marB="68047"/>
                </a:tc>
                <a:tc>
                  <a:txBody>
                    <a:bodyPr/>
                    <a:lstStyle/>
                    <a:p>
                      <a:pPr>
                        <a:lnSpc>
                          <a:spcPct val="107000"/>
                        </a:lnSpc>
                        <a:spcAft>
                          <a:spcPts val="800"/>
                        </a:spcAft>
                      </a:pPr>
                      <a:r>
                        <a:rPr lang="en-IN" sz="800" kern="100">
                          <a:effectLst/>
                        </a:rPr>
                        <a:t>COCOMO 1</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68047" marR="68047" marT="68047" marB="68047"/>
                </a:tc>
                <a:tc>
                  <a:txBody>
                    <a:bodyPr/>
                    <a:lstStyle/>
                    <a:p>
                      <a:pPr>
                        <a:lnSpc>
                          <a:spcPct val="107000"/>
                        </a:lnSpc>
                        <a:spcAft>
                          <a:spcPts val="800"/>
                        </a:spcAft>
                      </a:pPr>
                      <a:r>
                        <a:rPr lang="en-IN" sz="800" kern="100">
                          <a:effectLst/>
                        </a:rPr>
                        <a:t>COCOMO 2</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68047" marR="68047" marT="68047" marB="68047"/>
                </a:tc>
                <a:extLst>
                  <a:ext uri="{0D108BD9-81ED-4DB2-BD59-A6C34878D82A}">
                    <a16:rowId xmlns:a16="http://schemas.microsoft.com/office/drawing/2014/main" val="362202162"/>
                  </a:ext>
                </a:extLst>
              </a:tr>
              <a:tr h="359517">
                <a:tc>
                  <a:txBody>
                    <a:bodyPr/>
                    <a:lstStyle/>
                    <a:p>
                      <a:pPr>
                        <a:lnSpc>
                          <a:spcPct val="107000"/>
                        </a:lnSpc>
                        <a:spcAft>
                          <a:spcPts val="800"/>
                        </a:spcAft>
                      </a:pPr>
                      <a:r>
                        <a:rPr lang="en-IN" sz="800" kern="100">
                          <a:effectLst/>
                        </a:rPr>
                        <a:t>Full Forms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COCOMO 1 is an abbreviation for Constructive Cost Model 1.</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COCOMO 2 is an abbreviation for Constructive Cost Model 2.</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1789327273"/>
                  </a:ext>
                </a:extLst>
              </a:tr>
              <a:tr h="487672">
                <a:tc>
                  <a:txBody>
                    <a:bodyPr/>
                    <a:lstStyle/>
                    <a:p>
                      <a:pPr>
                        <a:lnSpc>
                          <a:spcPct val="107000"/>
                        </a:lnSpc>
                        <a:spcAft>
                          <a:spcPts val="800"/>
                        </a:spcAft>
                      </a:pPr>
                      <a:r>
                        <a:rPr lang="en-IN" sz="800" kern="100">
                          <a:effectLst/>
                        </a:rPr>
                        <a:t>Utilization Models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is utilized in the waterfall model of SDLC.</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is useful in quick development, non-sequential, and reuses software models.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885875802"/>
                  </a:ext>
                </a:extLst>
              </a:tr>
              <a:tr h="359517">
                <a:tc>
                  <a:txBody>
                    <a:bodyPr/>
                    <a:lstStyle/>
                    <a:p>
                      <a:pPr>
                        <a:lnSpc>
                          <a:spcPct val="107000"/>
                        </a:lnSpc>
                        <a:spcAft>
                          <a:spcPts val="800"/>
                        </a:spcAft>
                      </a:pPr>
                      <a:r>
                        <a:rPr lang="en-IN" sz="800" kern="100">
                          <a:effectLst/>
                        </a:rPr>
                        <a:t>Basic</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is based on the linear reuse formula.</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is based on the non-linear formula.</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1254813266"/>
                  </a:ext>
                </a:extLst>
              </a:tr>
              <a:tr h="487672">
                <a:tc>
                  <a:txBody>
                    <a:bodyPr/>
                    <a:lstStyle/>
                    <a:p>
                      <a:pPr>
                        <a:lnSpc>
                          <a:spcPct val="107000"/>
                        </a:lnSpc>
                        <a:spcAft>
                          <a:spcPts val="800"/>
                        </a:spcAft>
                      </a:pPr>
                      <a:r>
                        <a:rPr lang="en-IN" sz="800" kern="100">
                          <a:effectLst/>
                        </a:rPr>
                        <a:t>Estimation Precision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offers estimates of the effort and timeline.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offers estimates that are one standard deviation from the most common estimate.</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2115479093"/>
                  </a:ext>
                </a:extLst>
              </a:tr>
              <a:tr h="615828">
                <a:tc>
                  <a:txBody>
                    <a:bodyPr/>
                    <a:lstStyle/>
                    <a:p>
                      <a:pPr>
                        <a:lnSpc>
                          <a:spcPct val="107000"/>
                        </a:lnSpc>
                        <a:spcAft>
                          <a:spcPts val="800"/>
                        </a:spcAft>
                      </a:pPr>
                      <a:r>
                        <a:rPr lang="en-IN" sz="800" kern="100">
                          <a:effectLst/>
                        </a:rPr>
                        <a:t>Size of program statements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The program's size is indicated in code lines.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has extra factors for expressing software size, including lines of code, object points, and function points.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3133696485"/>
                  </a:ext>
                </a:extLst>
              </a:tr>
              <a:tr h="487672">
                <a:tc>
                  <a:txBody>
                    <a:bodyPr/>
                    <a:lstStyle/>
                    <a:p>
                      <a:pPr>
                        <a:lnSpc>
                          <a:spcPct val="107000"/>
                        </a:lnSpc>
                        <a:spcAft>
                          <a:spcPts val="800"/>
                        </a:spcAft>
                      </a:pPr>
                      <a:r>
                        <a:rPr lang="en-IN" sz="800" kern="100">
                          <a:effectLst/>
                        </a:rPr>
                        <a:t>Model framework</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The requirements given to the software come first in the development process.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utilizes the spiral type of development.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482640708"/>
                  </a:ext>
                </a:extLst>
              </a:tr>
              <a:tr h="487672">
                <a:tc>
                  <a:txBody>
                    <a:bodyPr/>
                    <a:lstStyle/>
                    <a:p>
                      <a:pPr>
                        <a:lnSpc>
                          <a:spcPct val="107000"/>
                        </a:lnSpc>
                        <a:spcAft>
                          <a:spcPts val="800"/>
                        </a:spcAft>
                      </a:pPr>
                      <a:r>
                        <a:rPr lang="en-IN" sz="800" kern="100">
                          <a:effectLst/>
                        </a:rPr>
                        <a:t>Effort equation's exponent</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The 3 development methods define the exponent of the effort equation.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The 5 scale methods define the exponent of the effort equation.</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3307358629"/>
                  </a:ext>
                </a:extLst>
              </a:tr>
              <a:tr h="231361">
                <a:tc>
                  <a:txBody>
                    <a:bodyPr/>
                    <a:lstStyle/>
                    <a:p>
                      <a:pPr>
                        <a:lnSpc>
                          <a:spcPct val="107000"/>
                        </a:lnSpc>
                        <a:spcAft>
                          <a:spcPts val="800"/>
                        </a:spcAft>
                      </a:pPr>
                      <a:r>
                        <a:rPr lang="en-IN" sz="800" kern="100">
                          <a:effectLst/>
                        </a:rPr>
                        <a:t>Sub models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has 3 submodels.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has 4 submodels.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4051539254"/>
                  </a:ext>
                </a:extLst>
              </a:tr>
              <a:tr h="231361">
                <a:tc>
                  <a:txBody>
                    <a:bodyPr/>
                    <a:lstStyle/>
                    <a:p>
                      <a:pPr>
                        <a:lnSpc>
                          <a:spcPct val="107000"/>
                        </a:lnSpc>
                        <a:spcAft>
                          <a:spcPts val="800"/>
                        </a:spcAft>
                      </a:pPr>
                      <a:r>
                        <a:rPr lang="en-IN" sz="800" kern="100">
                          <a:effectLst/>
                        </a:rPr>
                        <a:t>Cost Drivers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a:effectLst/>
                        </a:rPr>
                        <a:t>It utilizes 15 cost drivers.</a:t>
                      </a:r>
                      <a:endParaRPr lang="en-IN"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tc>
                  <a:txBody>
                    <a:bodyPr/>
                    <a:lstStyle/>
                    <a:p>
                      <a:pPr>
                        <a:lnSpc>
                          <a:spcPct val="107000"/>
                        </a:lnSpc>
                        <a:spcAft>
                          <a:spcPts val="800"/>
                        </a:spcAft>
                      </a:pPr>
                      <a:r>
                        <a:rPr lang="en-IN" sz="800" kern="100" dirty="0">
                          <a:effectLst/>
                        </a:rPr>
                        <a:t>It utilizes 17 cost drivers.</a:t>
                      </a:r>
                      <a:endParaRPr lang="en-IN"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4438" marR="54438" marT="54438" marB="54438" anchor="ctr"/>
                </a:tc>
                <a:extLst>
                  <a:ext uri="{0D108BD9-81ED-4DB2-BD59-A6C34878D82A}">
                    <a16:rowId xmlns:a16="http://schemas.microsoft.com/office/drawing/2014/main" val="1311390327"/>
                  </a:ext>
                </a:extLst>
              </a:tr>
            </a:tbl>
          </a:graphicData>
        </a:graphic>
      </p:graphicFrame>
    </p:spTree>
    <p:extLst>
      <p:ext uri="{BB962C8B-B14F-4D97-AF65-F5344CB8AC3E}">
        <p14:creationId xmlns:p14="http://schemas.microsoft.com/office/powerpoint/2010/main" val="10456900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816-2CF5-262B-8C6C-3B36C3160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84F62-DAC5-3A42-8BC2-50046D8F57A3}"/>
              </a:ext>
            </a:extLst>
          </p:cNvPr>
          <p:cNvSpPr>
            <a:spLocks noGrp="1"/>
          </p:cNvSpPr>
          <p:nvPr>
            <p:ph type="title"/>
          </p:nvPr>
        </p:nvSpPr>
        <p:spPr/>
        <p:txBody>
          <a:bodyPr>
            <a:normAutofit/>
          </a:bodyPr>
          <a:lstStyle/>
          <a:p>
            <a:r>
              <a:rPr lang="en-IN" dirty="0"/>
              <a:t>FUNCTION POINT METRICS</a:t>
            </a:r>
          </a:p>
        </p:txBody>
      </p:sp>
      <p:sp>
        <p:nvSpPr>
          <p:cNvPr id="5" name="Content Placeholder 4">
            <a:extLst>
              <a:ext uri="{FF2B5EF4-FFF2-40B4-BE49-F238E27FC236}">
                <a16:creationId xmlns:a16="http://schemas.microsoft.com/office/drawing/2014/main" id="{FB8BC3B3-1FAD-2A6E-763C-F8FB1F6C7466}"/>
              </a:ext>
            </a:extLst>
          </p:cNvPr>
          <p:cNvSpPr>
            <a:spLocks noGrp="1"/>
          </p:cNvSpPr>
          <p:nvPr>
            <p:ph idx="1"/>
          </p:nvPr>
        </p:nvSpPr>
        <p:spPr/>
        <p:txBody>
          <a:bodyPr>
            <a:normAutofit fontScale="92500" lnSpcReduction="10000"/>
          </a:bodyPr>
          <a:lstStyle/>
          <a:p>
            <a:pPr algn="l"/>
            <a:r>
              <a:rPr lang="en-US" b="0" i="0" dirty="0">
                <a:solidFill>
                  <a:srgbClr val="000000"/>
                </a:solidFill>
                <a:effectLst/>
                <a:latin typeface="Verdana" panose="020B0604030504040204" pitchFamily="34" charset="0"/>
              </a:rPr>
              <a:t>A </a:t>
            </a:r>
            <a:r>
              <a:rPr lang="en-US" b="1" i="0" dirty="0">
                <a:solidFill>
                  <a:srgbClr val="000000"/>
                </a:solidFill>
                <a:effectLst/>
                <a:latin typeface="inherit"/>
              </a:rPr>
              <a:t>Function Point</a:t>
            </a:r>
            <a:r>
              <a:rPr lang="en-US" b="0" i="0" dirty="0">
                <a:solidFill>
                  <a:srgbClr val="000000"/>
                </a:solidFill>
                <a:effectLst/>
                <a:latin typeface="Verdana" panose="020B0604030504040204" pitchFamily="34" charset="0"/>
              </a:rPr>
              <a:t> (FP) is a unit of measurement to express the amount of business functionality, an information system (as a product) provides to a user. FPs measure software size. They are widely accepted as an industry standard for functional sizing.</a:t>
            </a:r>
          </a:p>
          <a:p>
            <a:pPr algn="l"/>
            <a:r>
              <a:rPr lang="en-US" b="0" i="0" dirty="0">
                <a:solidFill>
                  <a:srgbClr val="000000"/>
                </a:solidFill>
                <a:effectLst/>
                <a:latin typeface="Verdana" panose="020B0604030504040204" pitchFamily="34" charset="0"/>
              </a:rPr>
              <a:t>For sizing software based on FP, several recognized standards and/or public specifications have come into existence. </a:t>
            </a:r>
          </a:p>
          <a:p>
            <a:pPr marL="0" indent="0">
              <a:buNone/>
            </a:pPr>
            <a:endParaRPr lang="en-IN" dirty="0"/>
          </a:p>
        </p:txBody>
      </p:sp>
    </p:spTree>
    <p:extLst>
      <p:ext uri="{BB962C8B-B14F-4D97-AF65-F5344CB8AC3E}">
        <p14:creationId xmlns:p14="http://schemas.microsoft.com/office/powerpoint/2010/main" val="39772153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AFEE-FBEF-52D0-07DE-7A6115EBB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AAEB8-B24C-02AB-25AA-B6A782804E74}"/>
              </a:ext>
            </a:extLst>
          </p:cNvPr>
          <p:cNvSpPr>
            <a:spLocks noGrp="1"/>
          </p:cNvSpPr>
          <p:nvPr>
            <p:ph type="title"/>
          </p:nvPr>
        </p:nvSpPr>
        <p:spPr/>
        <p:txBody>
          <a:bodyPr>
            <a:normAutofit/>
          </a:bodyPr>
          <a:lstStyle/>
          <a:p>
            <a:r>
              <a:rPr lang="en-IN" dirty="0"/>
              <a:t>FUNCTION POINT METRICS</a:t>
            </a:r>
          </a:p>
        </p:txBody>
      </p:sp>
      <p:sp>
        <p:nvSpPr>
          <p:cNvPr id="5" name="Content Placeholder 4">
            <a:extLst>
              <a:ext uri="{FF2B5EF4-FFF2-40B4-BE49-F238E27FC236}">
                <a16:creationId xmlns:a16="http://schemas.microsoft.com/office/drawing/2014/main" id="{4D253EF5-3DC1-5BFF-74B4-4A2480E081AA}"/>
              </a:ext>
            </a:extLst>
          </p:cNvPr>
          <p:cNvSpPr>
            <a:spLocks noGrp="1"/>
          </p:cNvSpPr>
          <p:nvPr>
            <p:ph idx="1"/>
          </p:nvPr>
        </p:nvSpPr>
        <p:spPr/>
        <p:txBody>
          <a:bodyPr>
            <a:normAutofit fontScale="70000" lnSpcReduction="20000"/>
          </a:bodyPr>
          <a:lstStyle/>
          <a:p>
            <a:pPr algn="just">
              <a:buFont typeface="Arial" panose="020B0604020202020204" pitchFamily="34" charset="0"/>
              <a:buChar char="•"/>
            </a:pPr>
            <a:r>
              <a:rPr lang="en-IN" b="1" i="0" dirty="0">
                <a:solidFill>
                  <a:srgbClr val="000000"/>
                </a:solidFill>
                <a:effectLst/>
                <a:latin typeface="inherit"/>
              </a:rPr>
              <a:t>COSMIC</a:t>
            </a:r>
            <a:r>
              <a:rPr lang="en-IN" b="0" i="0" dirty="0">
                <a:solidFill>
                  <a:srgbClr val="000000"/>
                </a:solidFill>
                <a:effectLst/>
                <a:latin typeface="Verdana" panose="020B0604030504040204" pitchFamily="34" charset="0"/>
              </a:rPr>
              <a:t> − ISO/IEC 19761:2011 Software engineering. A functional size measurement method.</a:t>
            </a:r>
          </a:p>
          <a:p>
            <a:pPr algn="just">
              <a:buFont typeface="Arial" panose="020B0604020202020204" pitchFamily="34" charset="0"/>
              <a:buChar char="•"/>
            </a:pPr>
            <a:r>
              <a:rPr lang="en-IN" b="1" i="0" dirty="0" err="1">
                <a:solidFill>
                  <a:srgbClr val="000000"/>
                </a:solidFill>
                <a:effectLst/>
                <a:latin typeface="inherit"/>
              </a:rPr>
              <a:t>FiSMA</a:t>
            </a:r>
            <a:r>
              <a:rPr lang="en-IN" b="0" i="0" dirty="0">
                <a:solidFill>
                  <a:srgbClr val="000000"/>
                </a:solidFill>
                <a:effectLst/>
                <a:latin typeface="Verdana" panose="020B0604030504040204" pitchFamily="34" charset="0"/>
              </a:rPr>
              <a:t> − ISO/IEC 29881:2008 Information technology - Software and systems engineering - </a:t>
            </a:r>
            <a:r>
              <a:rPr lang="en-IN" b="0" i="0" dirty="0" err="1">
                <a:solidFill>
                  <a:srgbClr val="000000"/>
                </a:solidFill>
                <a:effectLst/>
                <a:latin typeface="Verdana" panose="020B0604030504040204" pitchFamily="34" charset="0"/>
              </a:rPr>
              <a:t>FiSMA</a:t>
            </a:r>
            <a:r>
              <a:rPr lang="en-IN" b="0" i="0" dirty="0">
                <a:solidFill>
                  <a:srgbClr val="000000"/>
                </a:solidFill>
                <a:effectLst/>
                <a:latin typeface="Verdana" panose="020B0604030504040204" pitchFamily="34" charset="0"/>
              </a:rPr>
              <a:t> 1.1 functional size measurement method.</a:t>
            </a:r>
          </a:p>
          <a:p>
            <a:pPr algn="just">
              <a:buFont typeface="Arial" panose="020B0604020202020204" pitchFamily="34" charset="0"/>
              <a:buChar char="•"/>
            </a:pPr>
            <a:r>
              <a:rPr lang="en-IN" b="1" i="0" dirty="0">
                <a:solidFill>
                  <a:srgbClr val="000000"/>
                </a:solidFill>
                <a:effectLst/>
                <a:latin typeface="inherit"/>
              </a:rPr>
              <a:t>IFPUG</a:t>
            </a:r>
            <a:r>
              <a:rPr lang="en-IN" b="0" i="0" dirty="0">
                <a:solidFill>
                  <a:srgbClr val="000000"/>
                </a:solidFill>
                <a:effectLst/>
                <a:latin typeface="Verdana" panose="020B0604030504040204" pitchFamily="34" charset="0"/>
              </a:rPr>
              <a:t> − ISO/IEC 20926:2009 Software and systems engineering - Software measurement - IFPUG functional size measurement method.</a:t>
            </a:r>
          </a:p>
          <a:p>
            <a:pPr algn="just">
              <a:buFont typeface="Arial" panose="020B0604020202020204" pitchFamily="34" charset="0"/>
              <a:buChar char="•"/>
            </a:pPr>
            <a:r>
              <a:rPr lang="en-IN" b="1" i="0" dirty="0">
                <a:solidFill>
                  <a:srgbClr val="000000"/>
                </a:solidFill>
                <a:effectLst/>
                <a:latin typeface="inherit"/>
              </a:rPr>
              <a:t>Mark-II</a:t>
            </a:r>
            <a:r>
              <a:rPr lang="en-IN" b="0" i="0" dirty="0">
                <a:solidFill>
                  <a:srgbClr val="000000"/>
                </a:solidFill>
                <a:effectLst/>
                <a:latin typeface="Verdana" panose="020B0604030504040204" pitchFamily="34" charset="0"/>
              </a:rPr>
              <a:t> − ISO/IEC 20968:2002 Software engineering - </a:t>
            </a:r>
            <a:r>
              <a:rPr lang="en-IN" b="0" i="0" dirty="0" err="1">
                <a:solidFill>
                  <a:srgbClr val="000000"/>
                </a:solidFill>
                <a:effectLst/>
                <a:latin typeface="Verdana" panose="020B0604030504040204" pitchFamily="34" charset="0"/>
              </a:rPr>
              <a:t>Ml</a:t>
            </a:r>
            <a:r>
              <a:rPr lang="en-IN" b="0" i="0" dirty="0">
                <a:solidFill>
                  <a:srgbClr val="000000"/>
                </a:solidFill>
                <a:effectLst/>
                <a:latin typeface="Verdana" panose="020B0604030504040204" pitchFamily="34" charset="0"/>
              </a:rPr>
              <a:t> II Function Point Analysis - Counting Practices Manual.</a:t>
            </a:r>
          </a:p>
          <a:p>
            <a:pPr algn="just">
              <a:buFont typeface="Arial" panose="020B0604020202020204" pitchFamily="34" charset="0"/>
              <a:buChar char="•"/>
            </a:pPr>
            <a:r>
              <a:rPr lang="en-IN" b="1" i="0" dirty="0">
                <a:solidFill>
                  <a:srgbClr val="000000"/>
                </a:solidFill>
                <a:effectLst/>
                <a:latin typeface="inherit"/>
              </a:rPr>
              <a:t>NESMA</a:t>
            </a:r>
            <a:r>
              <a:rPr lang="en-IN" b="0" i="0" dirty="0">
                <a:solidFill>
                  <a:srgbClr val="000000"/>
                </a:solidFill>
                <a:effectLst/>
                <a:latin typeface="Verdana" panose="020B0604030504040204" pitchFamily="34" charset="0"/>
              </a:rPr>
              <a:t> − ISO/IEC 24570:2005 Software engineering - NESMA function size measurement method version 2.1 - Definitions and counting guidelines for the application of Function Point Analysis.</a:t>
            </a:r>
          </a:p>
          <a:p>
            <a:pPr marL="0" indent="0">
              <a:buNone/>
            </a:pPr>
            <a:endParaRPr lang="en-IN" dirty="0"/>
          </a:p>
        </p:txBody>
      </p:sp>
    </p:spTree>
    <p:extLst>
      <p:ext uri="{BB962C8B-B14F-4D97-AF65-F5344CB8AC3E}">
        <p14:creationId xmlns:p14="http://schemas.microsoft.com/office/powerpoint/2010/main" val="8391982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E952C-AB9F-A723-9823-989493909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357FC-E9DA-3904-B8EA-23DA93389DF9}"/>
              </a:ext>
            </a:extLst>
          </p:cNvPr>
          <p:cNvSpPr>
            <a:spLocks noGrp="1"/>
          </p:cNvSpPr>
          <p:nvPr>
            <p:ph type="title"/>
          </p:nvPr>
        </p:nvSpPr>
        <p:spPr/>
        <p:txBody>
          <a:bodyPr>
            <a:normAutofit/>
          </a:bodyPr>
          <a:lstStyle/>
          <a:p>
            <a:r>
              <a:rPr lang="en-IN" dirty="0"/>
              <a:t>FUNCTION POINT METRICS</a:t>
            </a:r>
          </a:p>
        </p:txBody>
      </p:sp>
      <p:sp>
        <p:nvSpPr>
          <p:cNvPr id="5" name="Content Placeholder 4">
            <a:extLst>
              <a:ext uri="{FF2B5EF4-FFF2-40B4-BE49-F238E27FC236}">
                <a16:creationId xmlns:a16="http://schemas.microsoft.com/office/drawing/2014/main" id="{FC4C4F3F-4DEC-CD50-E277-D6A7AB0E6C33}"/>
              </a:ext>
            </a:extLst>
          </p:cNvPr>
          <p:cNvSpPr>
            <a:spLocks noGrp="1"/>
          </p:cNvSpPr>
          <p:nvPr>
            <p:ph idx="1"/>
          </p:nvPr>
        </p:nvSpPr>
        <p:spPr/>
        <p:txBody>
          <a:bodyPr>
            <a:normAutofit fontScale="62500" lnSpcReduction="20000"/>
          </a:bodyPr>
          <a:lstStyle/>
          <a:p>
            <a:pPr algn="l">
              <a:lnSpc>
                <a:spcPts val="2250"/>
              </a:lnSpc>
            </a:pPr>
            <a:r>
              <a:rPr lang="en-US" b="0" i="0" dirty="0">
                <a:solidFill>
                  <a:srgbClr val="000000"/>
                </a:solidFill>
                <a:effectLst/>
                <a:latin typeface="var(--ff-lato)"/>
              </a:rPr>
              <a:t>Object Management Group Specification for Automated Function Point</a:t>
            </a:r>
          </a:p>
          <a:p>
            <a:pPr algn="l"/>
            <a:r>
              <a:rPr lang="en-US" b="0" i="0" dirty="0">
                <a:solidFill>
                  <a:srgbClr val="000000"/>
                </a:solidFill>
                <a:effectLst/>
                <a:latin typeface="Verdana" panose="020B0604030504040204" pitchFamily="34" charset="0"/>
              </a:rPr>
              <a:t>Object Management Group (OMG), an open membership and not-for-profit computer industry standards consortium, has adopted the Automated Function Point (AFP) specification led by the Consortium for IT Software Quality. It provides a standard for automating FP counting according to the guidelines of the International Function Point User Group (IFPUG).</a:t>
            </a:r>
          </a:p>
          <a:p>
            <a:pPr algn="l"/>
            <a:r>
              <a:rPr lang="en-US" b="1" i="0" dirty="0">
                <a:solidFill>
                  <a:srgbClr val="000000"/>
                </a:solidFill>
                <a:effectLst/>
                <a:latin typeface="inherit"/>
              </a:rPr>
              <a:t>Function Point Analysis (FPA) technique</a:t>
            </a:r>
            <a:r>
              <a:rPr lang="en-US" b="0" i="0" dirty="0">
                <a:solidFill>
                  <a:srgbClr val="000000"/>
                </a:solidFill>
                <a:effectLst/>
                <a:latin typeface="Verdana" panose="020B0604030504040204" pitchFamily="34" charset="0"/>
              </a:rPr>
              <a:t> quantifies the functions contained within software in terms that are meaningful to the software users. FPs consider the number of functions being developed based on the requirements specification.</a:t>
            </a:r>
          </a:p>
          <a:p>
            <a:pPr algn="l"/>
            <a:r>
              <a:rPr lang="en-US" b="1" i="0" dirty="0">
                <a:solidFill>
                  <a:srgbClr val="000000"/>
                </a:solidFill>
                <a:effectLst/>
                <a:latin typeface="inherit"/>
              </a:rPr>
              <a:t>Function Points (FP) Counting</a:t>
            </a:r>
            <a:r>
              <a:rPr lang="en-US" b="0" i="0" dirty="0">
                <a:solidFill>
                  <a:srgbClr val="000000"/>
                </a:solidFill>
                <a:effectLst/>
                <a:latin typeface="Verdana" panose="020B0604030504040204" pitchFamily="34" charset="0"/>
              </a:rPr>
              <a:t> is governed by a standard set of rules, processes and guidelines as defined by the International Function Point Users Group (IFPUG). These are published in Counting Practices Manual (CPM).</a:t>
            </a:r>
          </a:p>
          <a:p>
            <a:pPr marL="0" indent="0">
              <a:buNone/>
            </a:pPr>
            <a:endParaRPr lang="en-IN" dirty="0"/>
          </a:p>
        </p:txBody>
      </p:sp>
    </p:spTree>
    <p:extLst>
      <p:ext uri="{BB962C8B-B14F-4D97-AF65-F5344CB8AC3E}">
        <p14:creationId xmlns:p14="http://schemas.microsoft.com/office/powerpoint/2010/main" val="153149546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2EB52-044C-A7AD-B5F1-8AC715331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1A093-F4B6-5065-B429-84857B72A45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D076021-5BE9-3BFF-A078-C66242C91C94}"/>
              </a:ext>
            </a:extLst>
          </p:cNvPr>
          <p:cNvSpPr>
            <a:spLocks noGrp="1"/>
          </p:cNvSpPr>
          <p:nvPr>
            <p:ph idx="1"/>
          </p:nvPr>
        </p:nvSpPr>
        <p:spPr/>
        <p:txBody>
          <a:bodyPr>
            <a:normAutofit/>
          </a:bodyPr>
          <a:lstStyle/>
          <a:p>
            <a:pPr marL="0" indent="0">
              <a:buNone/>
            </a:pPr>
            <a:endParaRPr lang="en-IN" dirty="0"/>
          </a:p>
          <a:p>
            <a:pPr marL="0" indent="0">
              <a:buNone/>
            </a:pPr>
            <a:endParaRPr lang="en-IN" dirty="0"/>
          </a:p>
          <a:p>
            <a:pPr marL="0" indent="0" algn="ctr">
              <a:buNone/>
            </a:pPr>
            <a:endParaRPr lang="en-IN" sz="4800" dirty="0">
              <a:highlight>
                <a:srgbClr val="008000"/>
              </a:highlight>
            </a:endParaRPr>
          </a:p>
          <a:p>
            <a:pPr marL="0" indent="0" algn="ctr">
              <a:buNone/>
            </a:pPr>
            <a:r>
              <a:rPr lang="en-IN" sz="4800" dirty="0">
                <a:solidFill>
                  <a:schemeClr val="accent3">
                    <a:lumMod val="50000"/>
                  </a:schemeClr>
                </a:solidFill>
              </a:rPr>
              <a:t>THANK YOU</a:t>
            </a:r>
          </a:p>
        </p:txBody>
      </p:sp>
    </p:spTree>
    <p:extLst>
      <p:ext uri="{BB962C8B-B14F-4D97-AF65-F5344CB8AC3E}">
        <p14:creationId xmlns:p14="http://schemas.microsoft.com/office/powerpoint/2010/main" val="3080022021"/>
      </p:ext>
    </p:extLst>
  </p:cSld>
  <p:clrMapOvr>
    <a:masterClrMapping/>
  </p:clrMapOvr>
</p:sld>
</file>

<file path=ppt/theme/theme1.xml><?xml version="1.0" encoding="utf-8"?>
<a:theme xmlns:a="http://schemas.openxmlformats.org/drawingml/2006/main" name="Theme1SR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SRM" id="{A3F6591A-1505-430F-8399-C95832AAD3E2}" vid="{58A25B04-FE50-4224-BD08-25F695F71DBD}"/>
    </a:ext>
  </a:extLst>
</a:theme>
</file>

<file path=docProps/app.xml><?xml version="1.0" encoding="utf-8"?>
<Properties xmlns="http://schemas.openxmlformats.org/officeDocument/2006/extended-properties" xmlns:vt="http://schemas.openxmlformats.org/officeDocument/2006/docPropsVTypes">
  <Template>Theme1SRM</Template>
  <TotalTime>254</TotalTime>
  <Words>8560</Words>
  <Application>Microsoft Office PowerPoint</Application>
  <PresentationFormat>Custom</PresentationFormat>
  <Paragraphs>898</Paragraphs>
  <Slides>106</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106</vt:i4>
      </vt:variant>
    </vt:vector>
  </HeadingPairs>
  <TitlesOfParts>
    <vt:vector size="124" baseType="lpstr">
      <vt:lpstr>MS PGothic</vt:lpstr>
      <vt:lpstr>Arial</vt:lpstr>
      <vt:lpstr>Arial MT</vt:lpstr>
      <vt:lpstr>Book Antiqua</vt:lpstr>
      <vt:lpstr>Calibri</vt:lpstr>
      <vt:lpstr>Calibri Light</vt:lpstr>
      <vt:lpstr>Cambria</vt:lpstr>
      <vt:lpstr>Consolas</vt:lpstr>
      <vt:lpstr>Courier New</vt:lpstr>
      <vt:lpstr>inherit</vt:lpstr>
      <vt:lpstr>Nunito</vt:lpstr>
      <vt:lpstr>Symbol</vt:lpstr>
      <vt:lpstr>Tahoma</vt:lpstr>
      <vt:lpstr>Times New Roman</vt:lpstr>
      <vt:lpstr>var(--ff-lato)</vt:lpstr>
      <vt:lpstr>Verdana</vt:lpstr>
      <vt:lpstr>Wingdings</vt:lpstr>
      <vt:lpstr>Theme1SRM</vt:lpstr>
      <vt:lpstr>PowerPoint Presentation</vt:lpstr>
      <vt:lpstr>Requirements Engineering</vt:lpstr>
      <vt:lpstr>TYPES OF SOFTWARE REQUIREMENTS</vt:lpstr>
      <vt:lpstr>FUNCTIONAL REQUIREMENTS</vt:lpstr>
      <vt:lpstr>NON FUNCTIONAL REQUIREMENTS</vt:lpstr>
      <vt:lpstr>DOMAIN REQUIREMENTS</vt:lpstr>
      <vt:lpstr>functional and Non-Functional Requirements -Summary</vt:lpstr>
      <vt:lpstr>Level of the requirements</vt:lpstr>
      <vt:lpstr>Classification</vt:lpstr>
      <vt:lpstr>Other classifications of software requirements</vt:lpstr>
      <vt:lpstr>Other classifications of software requirements</vt:lpstr>
      <vt:lpstr>Advantages of classifying software requirements</vt:lpstr>
      <vt:lpstr>Disadvantages of classifying software requirements</vt:lpstr>
      <vt:lpstr>Functional requirements</vt:lpstr>
      <vt:lpstr>Software requirement document(SRD)</vt:lpstr>
      <vt:lpstr>Software requirement document</vt:lpstr>
      <vt:lpstr>Software requirement document</vt:lpstr>
      <vt:lpstr>Software requirement document</vt:lpstr>
      <vt:lpstr>Software requirement document</vt:lpstr>
      <vt:lpstr>Summary of SRS document</vt:lpstr>
      <vt:lpstr>Use cases</vt:lpstr>
      <vt:lpstr>User stories</vt:lpstr>
      <vt:lpstr>Functional decomposition (WBS)</vt:lpstr>
      <vt:lpstr>Software prototypes</vt:lpstr>
      <vt:lpstr>Non-functional requirements</vt:lpstr>
      <vt:lpstr>Typical non-functional requirements</vt:lpstr>
      <vt:lpstr>Summary of Requirements</vt:lpstr>
      <vt:lpstr>INTERFACE SPECIFICATION</vt:lpstr>
      <vt:lpstr>INTERFACE SPECIFICATION TEMPLATE</vt:lpstr>
      <vt:lpstr>INTERFACE SPECIFICATION TEMPLATE</vt:lpstr>
      <vt:lpstr>INTERFACE SPECIFICATION TEMPLATE</vt:lpstr>
      <vt:lpstr>Requirements Engineering</vt:lpstr>
      <vt:lpstr>The Problems with our Requirements Practices</vt:lpstr>
      <vt:lpstr>The Problems with out Requirements Practices (continued)</vt:lpstr>
      <vt:lpstr>Solution: Requirements Engineering</vt:lpstr>
      <vt:lpstr>Requirements Engineering Tasks</vt:lpstr>
      <vt:lpstr>PowerPoint Presentation</vt:lpstr>
      <vt:lpstr>Inception Task</vt:lpstr>
      <vt:lpstr>The First Set of Questions</vt:lpstr>
      <vt:lpstr>The Next Set of Questions</vt:lpstr>
      <vt:lpstr>PowerPoint Presentation</vt:lpstr>
      <vt:lpstr>Elicitation Work Products</vt:lpstr>
      <vt:lpstr>Elicitation Task</vt:lpstr>
      <vt:lpstr>Basic Guidelines of Collaborative Requirements Gathering</vt:lpstr>
      <vt:lpstr>Quality Function Deployment</vt:lpstr>
      <vt:lpstr>Elaboration Task</vt:lpstr>
      <vt:lpstr>Developing Use Cases</vt:lpstr>
      <vt:lpstr>questions Commonly Answered </vt:lpstr>
      <vt:lpstr>PowerPoint Presentation</vt:lpstr>
      <vt:lpstr>Negotiation Task</vt:lpstr>
      <vt:lpstr>Specification Task</vt:lpstr>
      <vt:lpstr>Typical Contents of       a Software</vt:lpstr>
      <vt:lpstr>Validation Task</vt:lpstr>
      <vt:lpstr>questions to ask when</vt:lpstr>
      <vt:lpstr>Questions - Validating Requirements  </vt:lpstr>
      <vt:lpstr>Requirements Management Task</vt:lpstr>
      <vt:lpstr>PowerPoint Presentation</vt:lpstr>
      <vt:lpstr>PowerPoint Presentation</vt:lpstr>
      <vt:lpstr>PowerPoint Presentation</vt:lpstr>
      <vt:lpstr>PowerPoint Presentation</vt:lpstr>
      <vt:lpstr>PowerPoint Presentation</vt:lpstr>
      <vt:lpstr>PowerPoint Presentation</vt:lpstr>
      <vt:lpstr>PROJECT ESTIMATION</vt:lpstr>
      <vt:lpstr>Project Planning Task Set-I</vt:lpstr>
      <vt:lpstr>Project Planning Task Set-II</vt:lpstr>
      <vt:lpstr>Estimation</vt:lpstr>
      <vt:lpstr>Write it Down!</vt:lpstr>
      <vt:lpstr>To Understand Scope ...</vt:lpstr>
      <vt:lpstr>What is Scope?</vt:lpstr>
      <vt:lpstr>Resources</vt:lpstr>
      <vt:lpstr>Reusable Software Resources</vt:lpstr>
      <vt:lpstr>PowerPoint Presentation</vt:lpstr>
      <vt:lpstr>Project Estimation</vt:lpstr>
      <vt:lpstr>Estimation Techniques</vt:lpstr>
      <vt:lpstr>Estimation Accuracy</vt:lpstr>
      <vt:lpstr>Conventional Methods:  LOC/FP Approach</vt:lpstr>
      <vt:lpstr>Example: LOC Approach</vt:lpstr>
      <vt:lpstr>Example: FP Approach</vt:lpstr>
      <vt:lpstr>Process-Based Estimation</vt:lpstr>
      <vt:lpstr>Process based Estimation</vt:lpstr>
      <vt:lpstr>Process-Based Estimation Example</vt:lpstr>
      <vt:lpstr>Estimation with Use-Cases</vt:lpstr>
      <vt:lpstr>Empirical Estimation Models</vt:lpstr>
      <vt:lpstr>The Software Equation</vt:lpstr>
      <vt:lpstr>COCOMO</vt:lpstr>
      <vt:lpstr>Types of Projects in the COCOMO Model </vt:lpstr>
      <vt:lpstr>PowerPoint Presentation</vt:lpstr>
      <vt:lpstr>Comparison of these three types of Projects in COCOMO Model </vt:lpstr>
      <vt:lpstr>COCOMO MODEL</vt:lpstr>
      <vt:lpstr>SIX PHASES OF COCOMO MODEL</vt:lpstr>
      <vt:lpstr>SIX PHASES OF COCOMO MODEL</vt:lpstr>
      <vt:lpstr>SIX PHASES OF COCOMO MODEL</vt:lpstr>
      <vt:lpstr>IMPORTANCE  OF COCOMO MODEL</vt:lpstr>
      <vt:lpstr>TYPES OF COCOMO MODEL</vt:lpstr>
      <vt:lpstr>TYPES OF  COCOMO MODEL</vt:lpstr>
      <vt:lpstr>PowerPoint Presentation</vt:lpstr>
      <vt:lpstr>COCOMO MODEL</vt:lpstr>
      <vt:lpstr>EXAMPLE FOR COCOMO MODEL</vt:lpstr>
      <vt:lpstr>COCOMO-II</vt:lpstr>
      <vt:lpstr>COCOMO II MODEL</vt:lpstr>
      <vt:lpstr>COCOMO II MODEL</vt:lpstr>
      <vt:lpstr>DIFFERENCE BETWEEN COCOMO I AND COCOMO II MODEL</vt:lpstr>
      <vt:lpstr>FUNCTION POINT METRICS</vt:lpstr>
      <vt:lpstr>FUNCTION POINT METRICS</vt:lpstr>
      <vt:lpstr>FUNCTION POINT METRICS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slidesaver.app_uvmctz</dc:title>
  <cp:lastModifiedBy>gmkm1982@hotmail.com</cp:lastModifiedBy>
  <cp:revision>48</cp:revision>
  <dcterms:created xsi:type="dcterms:W3CDTF">2025-02-13T14:43:52Z</dcterms:created>
  <dcterms:modified xsi:type="dcterms:W3CDTF">2025-03-02T08:13:56Z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2025-02-13T00:00:00Z</vt:filetime>
  </property>
  <property fmtid="{D5CDD505-2E9C-101B-9397-08002B2CF9AE}" pid="3" name="LastSaved">
    <vt:filetime>2025-02-13T00:00:00Z</vt:filetime>
  </property>
</Properties>
</file>